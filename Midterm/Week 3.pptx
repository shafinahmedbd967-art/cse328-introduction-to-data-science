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iiqyVseFbuiut6bITvpgO/yqhQ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8" name="Google Shape;9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04" name="Google Shape;10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10" name="Google Shape;11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16" name="Google Shape;11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22" name="Google Shape;12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28" name="Google Shape;12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34" name="Google Shape;13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40" name="Google Shape;14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46" name="Google Shape;14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52" name="Google Shape;15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59" name="Google Shape;15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66" name="Google Shape;16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72" name="Google Shape;17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79" name="Google Shape;17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86" name="Google Shape;18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92" name="Google Shape;19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99" name="Google Shape;19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06" name="Google Shape;20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13" name="Google Shape;21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20" name="Google Shape;22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28" name="Google Shape;228;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37" name="Google Shape;23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50" name="Google Shape;25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62" name="Google Shape;26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71" name="Google Shape;27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81" name="Google Shape;28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88" name="Google Shape;28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5"/>
          <p:cNvSpPr/>
          <p:nvPr>
            <p:ph idx="2" type="pic"/>
          </p:nvPr>
        </p:nvSpPr>
        <p:spPr>
          <a:xfrm>
            <a:off x="5183188" y="987425"/>
            <a:ext cx="6172200" cy="4873625"/>
          </a:xfrm>
          <a:prstGeom prst="rect">
            <a:avLst/>
          </a:prstGeom>
          <a:noFill/>
          <a:ln>
            <a:noFill/>
          </a:ln>
        </p:spPr>
      </p:sp>
      <p:sp>
        <p:nvSpPr>
          <p:cNvPr id="68" name="Google Shape;68;p4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CSE315:Introduction to Data Science</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None/>
            </a:pPr>
            <a:r>
              <a:rPr lang="en-US" sz="3600"/>
              <a:t>WEEK-3</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Statistics Introduction</a:t>
            </a:r>
            <a:endParaRPr/>
          </a:p>
        </p:txBody>
      </p:sp>
      <p:sp>
        <p:nvSpPr>
          <p:cNvPr id="95" name="Google Shape;95;p2"/>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n-US"/>
              <a:t>Statistics is the study of the collection, organization, analysis, interpretation, and presentation of data. No statistics are possible without data.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Types of Statistics</a:t>
            </a:r>
            <a:endParaRPr/>
          </a:p>
        </p:txBody>
      </p:sp>
      <p:sp>
        <p:nvSpPr>
          <p:cNvPr id="101" name="Google Shape;101;p3"/>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n-US"/>
              <a:t>Descriptive Statistics: </a:t>
            </a:r>
            <a:r>
              <a:rPr lang="en-US"/>
              <a:t>The data is described by descriptive statistics.</a:t>
            </a:r>
            <a:endParaRPr/>
          </a:p>
          <a:p>
            <a:pPr indent="-342900" lvl="0" marL="342900" rtl="0" algn="just">
              <a:lnSpc>
                <a:spcPct val="100000"/>
              </a:lnSpc>
              <a:spcBef>
                <a:spcPts val="640"/>
              </a:spcBef>
              <a:spcAft>
                <a:spcPts val="0"/>
              </a:spcAft>
              <a:buClr>
                <a:schemeClr val="dk1"/>
              </a:buClr>
              <a:buSzPts val="3200"/>
              <a:buChar char="•"/>
            </a:pPr>
            <a:r>
              <a:rPr b="1" lang="en-US"/>
              <a:t>Inferential Statistics: </a:t>
            </a:r>
            <a:r>
              <a:rPr lang="en-US"/>
              <a:t>Inferential statistics help in decision making by examining (Test of hypothesis) the project.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Types of Data used in statistics</a:t>
            </a:r>
            <a:endParaRPr/>
          </a:p>
        </p:txBody>
      </p:sp>
      <p:sp>
        <p:nvSpPr>
          <p:cNvPr id="107" name="Google Shape;107;p4"/>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Char char="•"/>
            </a:pPr>
            <a:r>
              <a:rPr lang="en-US"/>
              <a:t>The data used in statistics can be of two types</a:t>
            </a:r>
            <a:endParaRPr/>
          </a:p>
          <a:p>
            <a:pPr indent="-342900" lvl="0" marL="342900" rtl="0" algn="just">
              <a:lnSpc>
                <a:spcPct val="100000"/>
              </a:lnSpc>
              <a:spcBef>
                <a:spcPts val="592"/>
              </a:spcBef>
              <a:spcAft>
                <a:spcPts val="0"/>
              </a:spcAft>
              <a:buClr>
                <a:schemeClr val="dk1"/>
              </a:buClr>
              <a:buSzPts val="2800"/>
              <a:buChar char="•"/>
            </a:pPr>
            <a:r>
              <a:rPr b="1" lang="en-US"/>
              <a:t>Primary Data </a:t>
            </a:r>
            <a:r>
              <a:rPr lang="en-US"/>
              <a:t>- When a statistician collects data by himself or through his own team it is called primary data. </a:t>
            </a:r>
            <a:endParaRPr/>
          </a:p>
          <a:p>
            <a:pPr indent="-342900" lvl="0" marL="342900" rtl="0" algn="just">
              <a:lnSpc>
                <a:spcPct val="100000"/>
              </a:lnSpc>
              <a:spcBef>
                <a:spcPts val="592"/>
              </a:spcBef>
              <a:spcAft>
                <a:spcPts val="0"/>
              </a:spcAft>
              <a:buClr>
                <a:schemeClr val="dk1"/>
              </a:buClr>
              <a:buSzPts val="2800"/>
              <a:buChar char="•"/>
            </a:pPr>
            <a:r>
              <a:rPr b="1" lang="en-US"/>
              <a:t>Secondary Data </a:t>
            </a:r>
            <a:r>
              <a:rPr lang="en-US"/>
              <a:t>- Secondary data are data collected from any other source. Secondary data is not collected by the statistician himself, but from any other statistic or source. Secondary data source is always to be mentioned.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Statistical Method</a:t>
            </a:r>
            <a:endParaRPr/>
          </a:p>
        </p:txBody>
      </p:sp>
      <p:pic>
        <p:nvPicPr>
          <p:cNvPr id="113" name="Google Shape;113;p5"/>
          <p:cNvPicPr preferRelativeResize="0"/>
          <p:nvPr>
            <p:ph idx="1" type="body"/>
          </p:nvPr>
        </p:nvPicPr>
        <p:blipFill rotWithShape="1">
          <a:blip r:embed="rId3">
            <a:alphaModFix/>
          </a:blip>
          <a:srcRect b="0" l="0" r="0" t="0"/>
          <a:stretch/>
        </p:blipFill>
        <p:spPr>
          <a:xfrm>
            <a:off x="4343400" y="1600201"/>
            <a:ext cx="3886200" cy="45259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Population and Sample</a:t>
            </a:r>
            <a:endParaRPr/>
          </a:p>
        </p:txBody>
      </p:sp>
      <p:pic>
        <p:nvPicPr>
          <p:cNvPr id="119" name="Google Shape;119;p6"/>
          <p:cNvPicPr preferRelativeResize="0"/>
          <p:nvPr>
            <p:ph idx="1" type="body"/>
          </p:nvPr>
        </p:nvPicPr>
        <p:blipFill rotWithShape="1">
          <a:blip r:embed="rId3">
            <a:alphaModFix/>
          </a:blip>
          <a:srcRect b="0" l="0" r="0" t="0"/>
          <a:stretch/>
        </p:blipFill>
        <p:spPr>
          <a:xfrm>
            <a:off x="1981200" y="1600201"/>
            <a:ext cx="8229600" cy="45259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Sample from Population</a:t>
            </a:r>
            <a:endParaRPr/>
          </a:p>
        </p:txBody>
      </p:sp>
      <p:sp>
        <p:nvSpPr>
          <p:cNvPr id="125" name="Google Shape;125;p7"/>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The sample must be representative, that is, the sample must represent the whole population. </a:t>
            </a:r>
            <a:endParaRPr/>
          </a:p>
          <a:p>
            <a:pPr indent="-342900" lvl="0" marL="342900" rtl="0" algn="just">
              <a:lnSpc>
                <a:spcPct val="100000"/>
              </a:lnSpc>
              <a:spcBef>
                <a:spcPts val="480"/>
              </a:spcBef>
              <a:spcAft>
                <a:spcPts val="0"/>
              </a:spcAft>
              <a:buClr>
                <a:schemeClr val="dk1"/>
              </a:buClr>
              <a:buSzPts val="2400"/>
              <a:buChar char="•"/>
            </a:pPr>
            <a:r>
              <a:rPr b="1" lang="en-US" sz="2400"/>
              <a:t>Example</a:t>
            </a:r>
            <a:r>
              <a:rPr lang="en-US" sz="2400"/>
              <a:t>: If an ordinary person is asked to pick a mango from a basket, he will only choose a big, fresh and ripe one. As a result, the collected specimens became one-sided, meaning that not all of these specimen represent different types of mango. So the sample has to be selected in such a way that there is no chance of bias.</a:t>
            </a:r>
            <a:endParaRPr/>
          </a:p>
          <a:p>
            <a:pPr indent="-342900" lvl="0" marL="342900" rtl="0" algn="just">
              <a:lnSpc>
                <a:spcPct val="100000"/>
              </a:lnSpc>
              <a:spcBef>
                <a:spcPts val="480"/>
              </a:spcBef>
              <a:spcAft>
                <a:spcPts val="0"/>
              </a:spcAft>
              <a:buClr>
                <a:schemeClr val="dk1"/>
              </a:buClr>
              <a:buSzPts val="2400"/>
              <a:buChar char="•"/>
            </a:pPr>
            <a:r>
              <a:rPr lang="en-US" sz="2400"/>
              <a:t>If we </a:t>
            </a:r>
            <a:r>
              <a:rPr b="1" lang="en-US" sz="2400"/>
              <a:t>do not select the correct sample </a:t>
            </a:r>
            <a:r>
              <a:rPr lang="en-US" sz="2400"/>
              <a:t>then the results of the study will be </a:t>
            </a:r>
            <a:r>
              <a:rPr b="1" lang="en-US" sz="2400"/>
              <a:t>wrong</a:t>
            </a:r>
            <a:r>
              <a:rPr lang="en-US" sz="2400"/>
              <a:t>, so sampling is considered important in any study.</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Necessity of Sampling</a:t>
            </a:r>
            <a:endParaRPr/>
          </a:p>
        </p:txBody>
      </p:sp>
      <p:sp>
        <p:nvSpPr>
          <p:cNvPr id="131" name="Google Shape;131;p8"/>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2400"/>
              <a:buChar char="•"/>
            </a:pPr>
            <a:r>
              <a:rPr lang="en-US" sz="2400"/>
              <a:t>Suppose you want to know the average salary of all the IT professionals in Bangladesh, that is, all the IT professionals in Bangladesh are the </a:t>
            </a:r>
            <a:r>
              <a:rPr b="1" lang="en-US" sz="2400"/>
              <a:t>population</a:t>
            </a:r>
            <a:r>
              <a:rPr lang="en-US" sz="2400"/>
              <a:t>. </a:t>
            </a:r>
            <a:endParaRPr sz="2400"/>
          </a:p>
          <a:p>
            <a:pPr indent="-342900" lvl="0" marL="342900" rtl="0" algn="just">
              <a:lnSpc>
                <a:spcPct val="100000"/>
              </a:lnSpc>
              <a:spcBef>
                <a:spcPts val="444"/>
              </a:spcBef>
              <a:spcAft>
                <a:spcPts val="0"/>
              </a:spcAft>
              <a:buClr>
                <a:schemeClr val="dk1"/>
              </a:buClr>
              <a:buSzPts val="2400"/>
              <a:buChar char="•"/>
            </a:pPr>
            <a:r>
              <a:rPr lang="en-US" sz="2400"/>
              <a:t>In that case you have to go to all the IT professionals in Bangladesh and find out their salary and the average that will be obtained from the data obtained will be the actual average. </a:t>
            </a:r>
            <a:endParaRPr sz="2400"/>
          </a:p>
          <a:p>
            <a:pPr indent="-342900" lvl="0" marL="342900" rtl="0" algn="just">
              <a:lnSpc>
                <a:spcPct val="100000"/>
              </a:lnSpc>
              <a:spcBef>
                <a:spcPts val="444"/>
              </a:spcBef>
              <a:spcAft>
                <a:spcPts val="0"/>
              </a:spcAft>
              <a:buClr>
                <a:schemeClr val="dk1"/>
              </a:buClr>
              <a:buSzPts val="2400"/>
              <a:buChar char="•"/>
            </a:pPr>
            <a:r>
              <a:rPr lang="en-US" sz="2400"/>
              <a:t>When the data of all the members of the population is taken it is called </a:t>
            </a:r>
            <a:r>
              <a:rPr b="1" lang="en-US" sz="2400"/>
              <a:t>census survey</a:t>
            </a:r>
            <a:r>
              <a:rPr lang="en-US" sz="2400"/>
              <a:t>.</a:t>
            </a:r>
            <a:endParaRPr/>
          </a:p>
          <a:p>
            <a:pPr indent="-342900" lvl="0" marL="342900" rtl="0" algn="just">
              <a:lnSpc>
                <a:spcPct val="100000"/>
              </a:lnSpc>
              <a:spcBef>
                <a:spcPts val="444"/>
              </a:spcBef>
              <a:spcAft>
                <a:spcPts val="0"/>
              </a:spcAft>
              <a:buClr>
                <a:schemeClr val="dk1"/>
              </a:buClr>
              <a:buSzPts val="2400"/>
              <a:buChar char="•"/>
            </a:pPr>
            <a:r>
              <a:rPr lang="en-US" sz="2400"/>
              <a:t>In fact, in most cases it is not possible to collect data from all members of the population. </a:t>
            </a:r>
            <a:r>
              <a:rPr b="1" lang="en-US" sz="2400"/>
              <a:t>Because it requires a lot of time, manpower and money.</a:t>
            </a:r>
            <a:r>
              <a:rPr lang="en-US" sz="2400"/>
              <a:t> That is why a </a:t>
            </a:r>
            <a:r>
              <a:rPr b="1" lang="en-US" sz="2400"/>
              <a:t>small part </a:t>
            </a:r>
            <a:r>
              <a:rPr lang="en-US" sz="2400"/>
              <a:t>representing the population is taken instead of the whole population.</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Types of Sampling</a:t>
            </a:r>
            <a:endParaRPr/>
          </a:p>
        </p:txBody>
      </p:sp>
      <p:pic>
        <p:nvPicPr>
          <p:cNvPr id="137" name="Google Shape;137;p9"/>
          <p:cNvPicPr preferRelativeResize="0"/>
          <p:nvPr>
            <p:ph idx="1" type="body"/>
          </p:nvPr>
        </p:nvPicPr>
        <p:blipFill rotWithShape="1">
          <a:blip r:embed="rId3">
            <a:alphaModFix/>
          </a:blip>
          <a:srcRect b="12690" l="0" r="0" t="0"/>
          <a:stretch/>
        </p:blipFill>
        <p:spPr>
          <a:xfrm>
            <a:off x="2350900" y="1600200"/>
            <a:ext cx="7526100" cy="4385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0"/>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Probability and Non-probability Sampling</a:t>
            </a:r>
            <a:endParaRPr/>
          </a:p>
        </p:txBody>
      </p:sp>
      <p:sp>
        <p:nvSpPr>
          <p:cNvPr id="143" name="Google Shape;143;p10"/>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b="1" lang="en-US" sz="2400"/>
              <a:t>Probability Sampling </a:t>
            </a:r>
            <a:r>
              <a:rPr lang="en-US" sz="2400"/>
              <a:t>- Probability Sampling has the probability of being selected as a sample of each member of the population.</a:t>
            </a:r>
            <a:endParaRPr/>
          </a:p>
          <a:p>
            <a:pPr indent="-342900" lvl="0" marL="342900" rtl="0" algn="just">
              <a:lnSpc>
                <a:spcPct val="100000"/>
              </a:lnSpc>
              <a:spcBef>
                <a:spcPts val="480"/>
              </a:spcBef>
              <a:spcAft>
                <a:spcPts val="0"/>
              </a:spcAft>
              <a:buClr>
                <a:schemeClr val="dk1"/>
              </a:buClr>
              <a:buSzPts val="2400"/>
              <a:buChar char="•"/>
            </a:pPr>
            <a:r>
              <a:rPr b="1" lang="en-US" sz="2400"/>
              <a:t>Non-Probability Sampling </a:t>
            </a:r>
            <a:r>
              <a:rPr lang="en-US" sz="2400"/>
              <a:t>- This method is called non-probability sampling because the researcher's judgment is important in selecting samples in non-probability sampling. Non-probability sampling usually does not use probability mechanism. The decision of the researcher is the rule in this case.</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Types of Probability Sampling</a:t>
            </a:r>
            <a:endParaRPr/>
          </a:p>
        </p:txBody>
      </p:sp>
      <p:sp>
        <p:nvSpPr>
          <p:cNvPr id="149" name="Google Shape;149;p11"/>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Simple Random Sampling</a:t>
            </a:r>
            <a:endParaRPr/>
          </a:p>
          <a:p>
            <a:pPr indent="-342900" lvl="0" marL="342900" rtl="0" algn="l">
              <a:lnSpc>
                <a:spcPct val="100000"/>
              </a:lnSpc>
              <a:spcBef>
                <a:spcPts val="640"/>
              </a:spcBef>
              <a:spcAft>
                <a:spcPts val="0"/>
              </a:spcAft>
              <a:buClr>
                <a:schemeClr val="dk1"/>
              </a:buClr>
              <a:buSzPts val="3200"/>
              <a:buChar char="•"/>
            </a:pPr>
            <a:r>
              <a:rPr lang="en-US"/>
              <a:t>Cluster Sampling</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2"/>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Simple Random Sampling</a:t>
            </a:r>
            <a:endParaRPr/>
          </a:p>
        </p:txBody>
      </p:sp>
      <p:sp>
        <p:nvSpPr>
          <p:cNvPr id="155" name="Google Shape;155;p12"/>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b="1" lang="en-US" sz="2400"/>
              <a:t>Simple Random Sampling </a:t>
            </a:r>
            <a:r>
              <a:rPr lang="en-US" sz="2400"/>
              <a:t>- The most fundamental method of probability sampling is simple random sampling. In this method a certain number of samples are selected from the population through probability mechanism. </a:t>
            </a:r>
            <a:endParaRPr/>
          </a:p>
          <a:p>
            <a:pPr indent="-342900" lvl="0" marL="342900" rtl="0" algn="just">
              <a:lnSpc>
                <a:spcPct val="100000"/>
              </a:lnSpc>
              <a:spcBef>
                <a:spcPts val="480"/>
              </a:spcBef>
              <a:spcAft>
                <a:spcPts val="0"/>
              </a:spcAft>
              <a:buClr>
                <a:schemeClr val="dk1"/>
              </a:buClr>
              <a:buSzPts val="2400"/>
              <a:buChar char="•"/>
            </a:pPr>
            <a:r>
              <a:rPr b="1" lang="en-US" sz="2400"/>
              <a:t>For example </a:t>
            </a:r>
            <a:r>
              <a:rPr lang="en-US" sz="2400"/>
              <a:t>lottery ticket. Each ticket in the basket is likely to be selected at the time of ticket selection. Simple random sampling can also be done through random number generation.</a:t>
            </a:r>
            <a:endParaRPr sz="2400"/>
          </a:p>
        </p:txBody>
      </p:sp>
      <p:pic>
        <p:nvPicPr>
          <p:cNvPr id="156" name="Google Shape;156;p12"/>
          <p:cNvPicPr preferRelativeResize="0"/>
          <p:nvPr/>
        </p:nvPicPr>
        <p:blipFill rotWithShape="1">
          <a:blip r:embed="rId3">
            <a:alphaModFix/>
          </a:blip>
          <a:srcRect b="0" l="0" r="0" t="0"/>
          <a:stretch/>
        </p:blipFill>
        <p:spPr>
          <a:xfrm>
            <a:off x="4648200" y="4495800"/>
            <a:ext cx="3505200" cy="170478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3"/>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Cluster Sampling</a:t>
            </a:r>
            <a:endParaRPr/>
          </a:p>
        </p:txBody>
      </p:sp>
      <p:sp>
        <p:nvSpPr>
          <p:cNvPr id="162" name="Google Shape;162;p13"/>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lang="en-US" sz="2000"/>
              <a:t>Cluster sampling- Cluster sampling is called geographical location based sampling. For example, if a district-upazila union based sample is taken in Bangladesh, it will be a cluster sample. </a:t>
            </a:r>
            <a:endParaRPr sz="2000"/>
          </a:p>
          <a:p>
            <a:pPr indent="-342900" lvl="0" marL="342900" rtl="0" algn="just">
              <a:lnSpc>
                <a:spcPct val="100000"/>
              </a:lnSpc>
              <a:spcBef>
                <a:spcPts val="0"/>
              </a:spcBef>
              <a:spcAft>
                <a:spcPts val="0"/>
              </a:spcAft>
              <a:buClr>
                <a:schemeClr val="dk1"/>
              </a:buClr>
              <a:buSzPts val="2000"/>
              <a:buChar char="•"/>
            </a:pPr>
            <a:r>
              <a:rPr lang="en-US" sz="2000"/>
              <a:t>Cluster samples can also be taken from other geographical divisions. Cluster sampling can again be divided into two parts, one stage cluster and two stage cluster.</a:t>
            </a:r>
            <a:endParaRPr/>
          </a:p>
        </p:txBody>
      </p:sp>
      <p:pic>
        <p:nvPicPr>
          <p:cNvPr id="163" name="Google Shape;163;p13"/>
          <p:cNvPicPr preferRelativeResize="0"/>
          <p:nvPr/>
        </p:nvPicPr>
        <p:blipFill rotWithShape="1">
          <a:blip r:embed="rId3">
            <a:alphaModFix/>
          </a:blip>
          <a:srcRect b="0" l="0" r="0" t="0"/>
          <a:stretch/>
        </p:blipFill>
        <p:spPr>
          <a:xfrm>
            <a:off x="4191001" y="3352801"/>
            <a:ext cx="3920477" cy="2638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4"/>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One and two  stage cluster sampling</a:t>
            </a:r>
            <a:endParaRPr/>
          </a:p>
        </p:txBody>
      </p:sp>
      <p:sp>
        <p:nvSpPr>
          <p:cNvPr id="169" name="Google Shape;169;p14"/>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lang="en-US" sz="2000"/>
              <a:t>When all the components inside a cluster are taken as samples it is a one stage cluster. Suppose each ward of Dhaka city is considered as a cluster, in which case samples of all the people of the ward will be taken in one stage cluster.</a:t>
            </a:r>
            <a:endParaRPr/>
          </a:p>
          <a:p>
            <a:pPr indent="-342900" lvl="0" marL="342900" rtl="0" algn="just">
              <a:lnSpc>
                <a:spcPct val="100000"/>
              </a:lnSpc>
              <a:spcBef>
                <a:spcPts val="400"/>
              </a:spcBef>
              <a:spcAft>
                <a:spcPts val="0"/>
              </a:spcAft>
              <a:buClr>
                <a:schemeClr val="dk1"/>
              </a:buClr>
              <a:buSzPts val="2000"/>
              <a:buChar char="•"/>
            </a:pPr>
            <a:r>
              <a:rPr lang="en-US" sz="2000"/>
              <a:t>In the case of two stage clustering, instead of taking everyone inside a cluster as a sample, a certain number of samples are selected by following a simple random sampling method. In other words, we want to take data of 100 people from each cluster so 100 people will be selected again from each cluster through simple random sampling.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5"/>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Stratified Sampling</a:t>
            </a:r>
            <a:endParaRPr/>
          </a:p>
        </p:txBody>
      </p:sp>
      <p:sp>
        <p:nvSpPr>
          <p:cNvPr id="175" name="Google Shape;175;p15"/>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b="1" lang="en-US" sz="2000"/>
              <a:t>Stratified Sampling </a:t>
            </a:r>
            <a:r>
              <a:rPr lang="en-US" sz="2000"/>
              <a:t>- Stratified sampling is a homogenous group based sampling method. All members of the same group usually have the same characteristics, such groups are called strata. </a:t>
            </a:r>
            <a:endParaRPr/>
          </a:p>
          <a:p>
            <a:pPr indent="-342900" lvl="0" marL="342900" rtl="0" algn="just">
              <a:lnSpc>
                <a:spcPct val="100000"/>
              </a:lnSpc>
              <a:spcBef>
                <a:spcPts val="400"/>
              </a:spcBef>
              <a:spcAft>
                <a:spcPts val="0"/>
              </a:spcAft>
              <a:buClr>
                <a:schemeClr val="dk1"/>
              </a:buClr>
              <a:buSzPts val="2000"/>
              <a:buChar char="•"/>
            </a:pPr>
            <a:r>
              <a:rPr b="1" lang="en-US" sz="2000"/>
              <a:t>For example</a:t>
            </a:r>
            <a:r>
              <a:rPr lang="en-US" sz="2000"/>
              <a:t>, we want to </a:t>
            </a:r>
            <a:r>
              <a:rPr b="1" lang="en-US" sz="2000"/>
              <a:t>find out the average age</a:t>
            </a:r>
            <a:r>
              <a:rPr lang="en-US" sz="2000"/>
              <a:t> of students in a class. This is why we can </a:t>
            </a:r>
            <a:r>
              <a:rPr b="1" lang="en-US" sz="2000"/>
              <a:t>create two separate groups </a:t>
            </a:r>
            <a:r>
              <a:rPr lang="en-US" sz="2000"/>
              <a:t>of female students and male students, so that it is possible to </a:t>
            </a:r>
            <a:r>
              <a:rPr b="1" lang="en-US" sz="2000"/>
              <a:t>take separate samples from each homogenous group </a:t>
            </a:r>
            <a:r>
              <a:rPr lang="en-US" sz="2000"/>
              <a:t>and each sample represents a group whose members are all homogenous or possess the same characteristics.</a:t>
            </a:r>
            <a:endParaRPr sz="2000"/>
          </a:p>
        </p:txBody>
      </p:sp>
      <p:pic>
        <p:nvPicPr>
          <p:cNvPr id="176" name="Google Shape;176;p15"/>
          <p:cNvPicPr preferRelativeResize="0"/>
          <p:nvPr/>
        </p:nvPicPr>
        <p:blipFill rotWithShape="1">
          <a:blip r:embed="rId3">
            <a:alphaModFix/>
          </a:blip>
          <a:srcRect b="0" l="0" r="0" t="0"/>
          <a:stretch/>
        </p:blipFill>
        <p:spPr>
          <a:xfrm>
            <a:off x="4267200" y="4291013"/>
            <a:ext cx="4038600" cy="196881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Systematic Sampling</a:t>
            </a:r>
            <a:endParaRPr/>
          </a:p>
        </p:txBody>
      </p:sp>
      <p:sp>
        <p:nvSpPr>
          <p:cNvPr id="182" name="Google Shape;182;p16"/>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b="1" lang="en-US" sz="2400"/>
              <a:t>Systematic Sampling </a:t>
            </a:r>
            <a:r>
              <a:rPr lang="en-US" sz="2400"/>
              <a:t>- Systematic sampling follows a specific sequence. For example, every 2, 3, 4 or any number of data is taken. For example, if a researcher wants to study the number of family members living in a ward of Dhaka city, he wants to collect data of 100 families through systematic sampling.</a:t>
            </a:r>
            <a:endParaRPr sz="2400"/>
          </a:p>
        </p:txBody>
      </p:sp>
      <p:pic>
        <p:nvPicPr>
          <p:cNvPr id="183" name="Google Shape;183;p16"/>
          <p:cNvPicPr preferRelativeResize="0"/>
          <p:nvPr/>
        </p:nvPicPr>
        <p:blipFill rotWithShape="1">
          <a:blip r:embed="rId3">
            <a:alphaModFix/>
          </a:blip>
          <a:srcRect b="0" l="0" r="0" t="0"/>
          <a:stretch/>
        </p:blipFill>
        <p:spPr>
          <a:xfrm>
            <a:off x="4191000" y="3581401"/>
            <a:ext cx="4419600" cy="264071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Types of Non-probability Sampling</a:t>
            </a:r>
            <a:endParaRPr/>
          </a:p>
        </p:txBody>
      </p:sp>
      <p:sp>
        <p:nvSpPr>
          <p:cNvPr id="189" name="Google Shape;189;p17"/>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Judgmental Sampling</a:t>
            </a:r>
            <a:endParaRPr/>
          </a:p>
          <a:p>
            <a:pPr indent="-342900" lvl="0" marL="342900" rtl="0" algn="l">
              <a:lnSpc>
                <a:spcPct val="100000"/>
              </a:lnSpc>
              <a:spcBef>
                <a:spcPts val="640"/>
              </a:spcBef>
              <a:spcAft>
                <a:spcPts val="0"/>
              </a:spcAft>
              <a:buClr>
                <a:schemeClr val="dk1"/>
              </a:buClr>
              <a:buSzPts val="3200"/>
              <a:buChar char="•"/>
            </a:pPr>
            <a:r>
              <a:rPr lang="en-US"/>
              <a:t>Snow-Ball Sampling</a:t>
            </a:r>
            <a:endParaRPr/>
          </a:p>
          <a:p>
            <a:pPr indent="-342900" lvl="0" marL="342900" rtl="0" algn="l">
              <a:lnSpc>
                <a:spcPct val="100000"/>
              </a:lnSpc>
              <a:spcBef>
                <a:spcPts val="640"/>
              </a:spcBef>
              <a:spcAft>
                <a:spcPts val="0"/>
              </a:spcAft>
              <a:buClr>
                <a:schemeClr val="dk1"/>
              </a:buClr>
              <a:buSzPts val="3200"/>
              <a:buChar char="•"/>
            </a:pPr>
            <a:r>
              <a:rPr lang="en-US"/>
              <a:t>Convenience Sampling</a:t>
            </a:r>
            <a:endParaRPr/>
          </a:p>
          <a:p>
            <a:pPr indent="-342900" lvl="0" marL="342900" rtl="0" algn="l">
              <a:lnSpc>
                <a:spcPct val="100000"/>
              </a:lnSpc>
              <a:spcBef>
                <a:spcPts val="640"/>
              </a:spcBef>
              <a:spcAft>
                <a:spcPts val="0"/>
              </a:spcAft>
              <a:buClr>
                <a:schemeClr val="dk1"/>
              </a:buClr>
              <a:buSzPts val="3200"/>
              <a:buChar char="•"/>
            </a:pPr>
            <a:r>
              <a:rPr lang="en-US"/>
              <a:t>Quota Sampling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8"/>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Judgmental Sampling</a:t>
            </a:r>
            <a:endParaRPr/>
          </a:p>
        </p:txBody>
      </p:sp>
      <p:sp>
        <p:nvSpPr>
          <p:cNvPr id="195" name="Google Shape;195;p18"/>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b="1" lang="en-US" sz="2400"/>
              <a:t>Judgmental Sampling </a:t>
            </a:r>
            <a:r>
              <a:rPr lang="en-US" sz="2400"/>
              <a:t>- In judgmental sampling, the researcher selects samples from the population according to his own discretion.</a:t>
            </a:r>
            <a:endParaRPr sz="2400"/>
          </a:p>
        </p:txBody>
      </p:sp>
      <p:pic>
        <p:nvPicPr>
          <p:cNvPr id="196" name="Google Shape;196;p18"/>
          <p:cNvPicPr preferRelativeResize="0"/>
          <p:nvPr/>
        </p:nvPicPr>
        <p:blipFill rotWithShape="1">
          <a:blip r:embed="rId3">
            <a:alphaModFix/>
          </a:blip>
          <a:srcRect b="0" l="0" r="0" t="0"/>
          <a:stretch/>
        </p:blipFill>
        <p:spPr>
          <a:xfrm>
            <a:off x="3581400" y="2819401"/>
            <a:ext cx="5486400" cy="32852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Snow-Ball Sampling</a:t>
            </a:r>
            <a:endParaRPr/>
          </a:p>
        </p:txBody>
      </p:sp>
      <p:sp>
        <p:nvSpPr>
          <p:cNvPr id="202" name="Google Shape;202;p19"/>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b="1" lang="en-US" sz="2000"/>
              <a:t>Snow-Ball Sampling </a:t>
            </a:r>
            <a:r>
              <a:rPr lang="en-US" sz="2000"/>
              <a:t>- It usually takes samples that are difficult to reach in parts of the population. In this case a sample serves as a reference to the next sample. </a:t>
            </a:r>
            <a:endParaRPr/>
          </a:p>
          <a:p>
            <a:pPr indent="-342900" lvl="0" marL="342900" rtl="0" algn="just">
              <a:lnSpc>
                <a:spcPct val="100000"/>
              </a:lnSpc>
              <a:spcBef>
                <a:spcPts val="400"/>
              </a:spcBef>
              <a:spcAft>
                <a:spcPts val="0"/>
              </a:spcAft>
              <a:buClr>
                <a:schemeClr val="dk1"/>
              </a:buClr>
              <a:buSzPts val="2000"/>
              <a:buChar char="•"/>
            </a:pPr>
            <a:r>
              <a:rPr b="1" lang="en-US" sz="2000"/>
              <a:t>For example</a:t>
            </a:r>
            <a:r>
              <a:rPr lang="en-US" sz="2000"/>
              <a:t>, it is naturally difficult to find HIV patients or drug addicts because in most cases such people hide their identities or find them difficult to find. In such cases samples are collected by means of snow-ball sampling, in which case the reference is passed from one person to another, thus gradually reaching the entire population.</a:t>
            </a:r>
            <a:endParaRPr sz="2000"/>
          </a:p>
        </p:txBody>
      </p:sp>
      <p:pic>
        <p:nvPicPr>
          <p:cNvPr id="203" name="Google Shape;203;p19"/>
          <p:cNvPicPr preferRelativeResize="0"/>
          <p:nvPr/>
        </p:nvPicPr>
        <p:blipFill rotWithShape="1">
          <a:blip r:embed="rId3">
            <a:alphaModFix/>
          </a:blip>
          <a:srcRect b="0" l="0" r="0" t="0"/>
          <a:stretch/>
        </p:blipFill>
        <p:spPr>
          <a:xfrm>
            <a:off x="4114801" y="4211898"/>
            <a:ext cx="4657725" cy="196943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0"/>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Convenience Sampling</a:t>
            </a:r>
            <a:endParaRPr/>
          </a:p>
        </p:txBody>
      </p:sp>
      <p:sp>
        <p:nvSpPr>
          <p:cNvPr id="209" name="Google Shape;209;p20"/>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b="1" lang="en-US" sz="2000"/>
              <a:t>Convenience Sampling </a:t>
            </a:r>
            <a:r>
              <a:rPr lang="en-US" sz="2000"/>
              <a:t>– It allows the researcher to select a member from his or her hand or a relatively readily available sample. </a:t>
            </a:r>
            <a:endParaRPr/>
          </a:p>
          <a:p>
            <a:pPr indent="-342900" lvl="0" marL="342900" rtl="0" algn="just">
              <a:lnSpc>
                <a:spcPct val="100000"/>
              </a:lnSpc>
              <a:spcBef>
                <a:spcPts val="400"/>
              </a:spcBef>
              <a:spcAft>
                <a:spcPts val="0"/>
              </a:spcAft>
              <a:buClr>
                <a:schemeClr val="dk1"/>
              </a:buClr>
              <a:buSzPts val="2000"/>
              <a:buChar char="•"/>
            </a:pPr>
            <a:r>
              <a:rPr b="1" lang="en-US" sz="2000"/>
              <a:t>For example</a:t>
            </a:r>
            <a:r>
              <a:rPr lang="en-US" sz="2000"/>
              <a:t>, if a company wants to give feedback to customers about a product that is newly marketed, then feedback is taken from the buyers who are available in the market.</a:t>
            </a:r>
            <a:endParaRPr sz="2000"/>
          </a:p>
        </p:txBody>
      </p:sp>
      <p:pic>
        <p:nvPicPr>
          <p:cNvPr id="210" name="Google Shape;210;p20"/>
          <p:cNvPicPr preferRelativeResize="0"/>
          <p:nvPr/>
        </p:nvPicPr>
        <p:blipFill rotWithShape="1">
          <a:blip r:embed="rId3">
            <a:alphaModFix/>
          </a:blip>
          <a:srcRect b="0" l="0" r="0" t="0"/>
          <a:stretch/>
        </p:blipFill>
        <p:spPr>
          <a:xfrm>
            <a:off x="4495800" y="3429000"/>
            <a:ext cx="4267200" cy="254965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1"/>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Quota Sampling</a:t>
            </a:r>
            <a:endParaRPr/>
          </a:p>
        </p:txBody>
      </p:sp>
      <p:sp>
        <p:nvSpPr>
          <p:cNvPr id="216" name="Google Shape;216;p21"/>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b="1" lang="en-US" sz="2000"/>
              <a:t>Quota Sampling </a:t>
            </a:r>
            <a:r>
              <a:rPr lang="en-US" sz="2000"/>
              <a:t>- In the case of quota sampling, usually a certain proportion or quota quota is followed in the sample selection. </a:t>
            </a:r>
            <a:endParaRPr/>
          </a:p>
          <a:p>
            <a:pPr indent="-342900" lvl="0" marL="342900" rtl="0" algn="just">
              <a:lnSpc>
                <a:spcPct val="100000"/>
              </a:lnSpc>
              <a:spcBef>
                <a:spcPts val="400"/>
              </a:spcBef>
              <a:spcAft>
                <a:spcPts val="0"/>
              </a:spcAft>
              <a:buClr>
                <a:schemeClr val="dk1"/>
              </a:buClr>
              <a:buSzPts val="2000"/>
              <a:buChar char="•"/>
            </a:pPr>
            <a:r>
              <a:rPr b="1" lang="en-US" sz="2000"/>
              <a:t>For example</a:t>
            </a:r>
            <a:r>
              <a:rPr lang="en-US" sz="2000"/>
              <a:t>, if 80% of the population is male and 40% female, then the same ratio will be followed during sample selection.</a:t>
            </a:r>
            <a:endParaRPr sz="2000"/>
          </a:p>
        </p:txBody>
      </p:sp>
      <p:pic>
        <p:nvPicPr>
          <p:cNvPr id="217" name="Google Shape;217;p21"/>
          <p:cNvPicPr preferRelativeResize="0"/>
          <p:nvPr/>
        </p:nvPicPr>
        <p:blipFill rotWithShape="1">
          <a:blip r:embed="rId3">
            <a:alphaModFix/>
          </a:blip>
          <a:srcRect b="0" l="0" r="0" t="0"/>
          <a:stretch/>
        </p:blipFill>
        <p:spPr>
          <a:xfrm>
            <a:off x="3352800" y="3167743"/>
            <a:ext cx="4713726" cy="233838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2"/>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Central Tendency</a:t>
            </a:r>
            <a:endParaRPr/>
          </a:p>
        </p:txBody>
      </p:sp>
      <p:sp>
        <p:nvSpPr>
          <p:cNvPr id="223" name="Google Shape;223;p22"/>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lang="en-US" sz="2000"/>
              <a:t>Mean, mode and median is a measure of the central tendency of any data. </a:t>
            </a:r>
            <a:endParaRPr/>
          </a:p>
          <a:p>
            <a:pPr indent="-342900" lvl="0" marL="342900" rtl="0" algn="just">
              <a:lnSpc>
                <a:spcPct val="100000"/>
              </a:lnSpc>
              <a:spcBef>
                <a:spcPts val="400"/>
              </a:spcBef>
              <a:spcAft>
                <a:spcPts val="0"/>
              </a:spcAft>
              <a:buClr>
                <a:schemeClr val="dk1"/>
              </a:buClr>
              <a:buSzPts val="2000"/>
              <a:buChar char="•"/>
            </a:pPr>
            <a:r>
              <a:rPr lang="en-US" sz="2000"/>
              <a:t>Many of us look at the shape of a mountain peak, sand dune or bell shape when we format any data. Most of the data is concentrated in the middle. This tendency to have data in the middle is called central tendency.</a:t>
            </a:r>
            <a:endParaRPr sz="2000"/>
          </a:p>
        </p:txBody>
      </p:sp>
      <p:pic>
        <p:nvPicPr>
          <p:cNvPr id="224" name="Google Shape;224;p22"/>
          <p:cNvPicPr preferRelativeResize="0"/>
          <p:nvPr/>
        </p:nvPicPr>
        <p:blipFill rotWithShape="1">
          <a:blip r:embed="rId3">
            <a:alphaModFix/>
          </a:blip>
          <a:srcRect b="0" l="0" r="0" t="0"/>
          <a:stretch/>
        </p:blipFill>
        <p:spPr>
          <a:xfrm>
            <a:off x="4038600" y="3162082"/>
            <a:ext cx="4038600" cy="252701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Mean</a:t>
            </a:r>
            <a:endParaRPr/>
          </a:p>
        </p:txBody>
      </p:sp>
      <p:sp>
        <p:nvSpPr>
          <p:cNvPr id="231" name="Google Shape;231;p23"/>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b="1" lang="en-US" sz="2000"/>
              <a:t>Mean</a:t>
            </a:r>
            <a:r>
              <a:rPr lang="en-US" sz="2000"/>
              <a:t> - Mean is average. In simple words, the sum of all the numbers is divided by the total number of numbers. </a:t>
            </a:r>
            <a:endParaRPr/>
          </a:p>
          <a:p>
            <a:pPr indent="-342900" lvl="0" marL="342900" rtl="0" algn="l">
              <a:lnSpc>
                <a:spcPct val="100000"/>
              </a:lnSpc>
              <a:spcBef>
                <a:spcPts val="400"/>
              </a:spcBef>
              <a:spcAft>
                <a:spcPts val="0"/>
              </a:spcAft>
              <a:buClr>
                <a:schemeClr val="dk1"/>
              </a:buClr>
              <a:buSzPts val="2000"/>
              <a:buChar char="•"/>
            </a:pPr>
            <a:r>
              <a:rPr b="1" lang="en-US" sz="2000"/>
              <a:t>Suppose</a:t>
            </a:r>
            <a:r>
              <a:rPr lang="en-US" sz="2000"/>
              <a:t> the age of 10 students in a class is 14,13,11,14,15,12,16,17,11,14 respectively.</a:t>
            </a:r>
            <a:endParaRPr sz="2000"/>
          </a:p>
        </p:txBody>
      </p:sp>
      <p:pic>
        <p:nvPicPr>
          <p:cNvPr id="232" name="Google Shape;232;p23"/>
          <p:cNvPicPr preferRelativeResize="0"/>
          <p:nvPr/>
        </p:nvPicPr>
        <p:blipFill rotWithShape="1">
          <a:blip r:embed="rId3">
            <a:alphaModFix/>
          </a:blip>
          <a:srcRect b="0" l="0" r="0" t="27691"/>
          <a:stretch/>
        </p:blipFill>
        <p:spPr>
          <a:xfrm>
            <a:off x="2743200" y="3624943"/>
            <a:ext cx="6719888" cy="1307546"/>
          </a:xfrm>
          <a:prstGeom prst="rect">
            <a:avLst/>
          </a:prstGeom>
          <a:noFill/>
          <a:ln>
            <a:noFill/>
          </a:ln>
        </p:spPr>
      </p:pic>
      <p:sp>
        <p:nvSpPr>
          <p:cNvPr id="233" name="Google Shape;233;p23"/>
          <p:cNvSpPr/>
          <p:nvPr/>
        </p:nvSpPr>
        <p:spPr>
          <a:xfrm>
            <a:off x="2971800" y="3276600"/>
            <a:ext cx="838200" cy="304800"/>
          </a:xfrm>
          <a:prstGeom prst="roundRect">
            <a:avLst>
              <a:gd fmla="val 16667" name="adj"/>
            </a:avLst>
          </a:prstGeom>
          <a:gradFill>
            <a:gsLst>
              <a:gs pos="0">
                <a:srgbClr val="C86C1F"/>
              </a:gs>
              <a:gs pos="80000">
                <a:srgbClr val="FF8E29"/>
              </a:gs>
              <a:gs pos="100000">
                <a:srgbClr val="FF8D25"/>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Data</a:t>
            </a:r>
            <a:endParaRPr b="0" i="0" sz="1800" u="none" cap="none" strike="noStrike">
              <a:solidFill>
                <a:schemeClr val="lt1"/>
              </a:solidFill>
              <a:latin typeface="Calibri"/>
              <a:ea typeface="Calibri"/>
              <a:cs typeface="Calibri"/>
              <a:sym typeface="Calibri"/>
            </a:endParaRPr>
          </a:p>
        </p:txBody>
      </p:sp>
      <p:sp>
        <p:nvSpPr>
          <p:cNvPr id="234" name="Google Shape;234;p23"/>
          <p:cNvSpPr/>
          <p:nvPr/>
        </p:nvSpPr>
        <p:spPr>
          <a:xfrm>
            <a:off x="3390901" y="5089375"/>
            <a:ext cx="5171287" cy="492443"/>
          </a:xfrm>
          <a:prstGeom prst="rect">
            <a:avLst/>
          </a:prstGeom>
          <a:solidFill>
            <a:srgbClr val="F8F9FA"/>
          </a:solid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202124"/>
                </a:solidFill>
                <a:latin typeface="Arial"/>
                <a:ea typeface="Arial"/>
                <a:cs typeface="Arial"/>
                <a:sym typeface="Arial"/>
              </a:rPr>
              <a:t>That means we can say that the average age of students</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rgbClr val="202124"/>
                </a:solidFill>
                <a:latin typeface="Arial"/>
                <a:ea typeface="Arial"/>
                <a:cs typeface="Arial"/>
                <a:sym typeface="Arial"/>
              </a:rPr>
              <a:t> in that class is 13.7 years.</a:t>
            </a:r>
            <a:r>
              <a:rPr b="0" i="0" lang="en-US" sz="5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4"/>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Mode</a:t>
            </a:r>
            <a:endParaRPr/>
          </a:p>
        </p:txBody>
      </p:sp>
      <p:sp>
        <p:nvSpPr>
          <p:cNvPr id="240" name="Google Shape;240;p24"/>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b="1" lang="en-US" sz="2000"/>
              <a:t>Mode-</a:t>
            </a:r>
            <a:r>
              <a:rPr lang="en-US" sz="2000"/>
              <a:t> </a:t>
            </a:r>
            <a:r>
              <a:rPr lang="en-US" sz="2400"/>
              <a:t>Mode is the most common number or the number that comes up the most times.</a:t>
            </a:r>
            <a:endParaRPr sz="2400"/>
          </a:p>
        </p:txBody>
      </p:sp>
      <p:grpSp>
        <p:nvGrpSpPr>
          <p:cNvPr id="241" name="Google Shape;241;p24"/>
          <p:cNvGrpSpPr/>
          <p:nvPr/>
        </p:nvGrpSpPr>
        <p:grpSpPr>
          <a:xfrm>
            <a:off x="2857501" y="2819401"/>
            <a:ext cx="5716101" cy="3287375"/>
            <a:chOff x="1333500" y="2895600"/>
            <a:chExt cx="5716101" cy="3287375"/>
          </a:xfrm>
        </p:grpSpPr>
        <p:grpSp>
          <p:nvGrpSpPr>
            <p:cNvPr id="242" name="Google Shape;242;p24"/>
            <p:cNvGrpSpPr/>
            <p:nvPr/>
          </p:nvGrpSpPr>
          <p:grpSpPr>
            <a:xfrm>
              <a:off x="1333500" y="2895600"/>
              <a:ext cx="5716101" cy="3287375"/>
              <a:chOff x="1333500" y="2895600"/>
              <a:chExt cx="5716101" cy="3287375"/>
            </a:xfrm>
          </p:grpSpPr>
          <p:sp>
            <p:nvSpPr>
              <p:cNvPr id="243" name="Google Shape;243;p24"/>
              <p:cNvSpPr/>
              <p:nvPr/>
            </p:nvSpPr>
            <p:spPr>
              <a:xfrm>
                <a:off x="1447800" y="2895600"/>
                <a:ext cx="838200" cy="304800"/>
              </a:xfrm>
              <a:prstGeom prst="roundRect">
                <a:avLst>
                  <a:gd fmla="val 16667" name="adj"/>
                </a:avLst>
              </a:prstGeom>
              <a:gradFill>
                <a:gsLst>
                  <a:gs pos="0">
                    <a:srgbClr val="C86C1F"/>
                  </a:gs>
                  <a:gs pos="80000">
                    <a:srgbClr val="FF8E29"/>
                  </a:gs>
                  <a:gs pos="100000">
                    <a:srgbClr val="FF8D25"/>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Data</a:t>
                </a:r>
                <a:endParaRPr b="0" i="0" sz="1800" u="none" cap="none" strike="noStrike">
                  <a:solidFill>
                    <a:schemeClr val="lt1"/>
                  </a:solidFill>
                  <a:latin typeface="Calibri"/>
                  <a:ea typeface="Calibri"/>
                  <a:cs typeface="Calibri"/>
                  <a:sym typeface="Calibri"/>
                </a:endParaRPr>
              </a:p>
            </p:txBody>
          </p:sp>
          <p:pic>
            <p:nvPicPr>
              <p:cNvPr id="244" name="Google Shape;244;p24"/>
              <p:cNvPicPr preferRelativeResize="0"/>
              <p:nvPr/>
            </p:nvPicPr>
            <p:blipFill rotWithShape="1">
              <a:blip r:embed="rId3">
                <a:alphaModFix/>
              </a:blip>
              <a:srcRect b="0" l="0" r="0" t="0"/>
              <a:stretch/>
            </p:blipFill>
            <p:spPr>
              <a:xfrm>
                <a:off x="1333500" y="3276600"/>
                <a:ext cx="5716101" cy="2906375"/>
              </a:xfrm>
              <a:prstGeom prst="rect">
                <a:avLst/>
              </a:prstGeom>
              <a:noFill/>
              <a:ln>
                <a:noFill/>
              </a:ln>
            </p:spPr>
          </p:pic>
        </p:grpSp>
        <p:sp>
          <p:nvSpPr>
            <p:cNvPr id="245" name="Google Shape;245;p24"/>
            <p:cNvSpPr/>
            <p:nvPr/>
          </p:nvSpPr>
          <p:spPr>
            <a:xfrm>
              <a:off x="1447800" y="3962401"/>
              <a:ext cx="685800" cy="304800"/>
            </a:xfrm>
            <a:prstGeom prst="roundRect">
              <a:avLst>
                <a:gd fmla="val 16667" name="adj"/>
              </a:avLst>
            </a:prstGeom>
            <a:gradFill>
              <a:gsLst>
                <a:gs pos="0">
                  <a:srgbClr val="C86C1F"/>
                </a:gs>
                <a:gs pos="80000">
                  <a:srgbClr val="FF8E29"/>
                </a:gs>
                <a:gs pos="100000">
                  <a:srgbClr val="FF8D25"/>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lt1"/>
                  </a:solidFill>
                  <a:latin typeface="Calibri"/>
                  <a:ea typeface="Calibri"/>
                  <a:cs typeface="Calibri"/>
                  <a:sym typeface="Calibri"/>
                </a:rPr>
                <a:t>Data</a:t>
              </a:r>
              <a:endParaRPr b="0" i="0" sz="1400" u="none" cap="none" strike="noStrike">
                <a:solidFill>
                  <a:schemeClr val="lt1"/>
                </a:solidFill>
                <a:latin typeface="Calibri"/>
                <a:ea typeface="Calibri"/>
                <a:cs typeface="Calibri"/>
                <a:sym typeface="Calibri"/>
              </a:endParaRPr>
            </a:p>
          </p:txBody>
        </p:sp>
        <p:sp>
          <p:nvSpPr>
            <p:cNvPr id="246" name="Google Shape;246;p24"/>
            <p:cNvSpPr/>
            <p:nvPr/>
          </p:nvSpPr>
          <p:spPr>
            <a:xfrm>
              <a:off x="2166257" y="3962400"/>
              <a:ext cx="1447800" cy="304800"/>
            </a:xfrm>
            <a:prstGeom prst="roundRect">
              <a:avLst>
                <a:gd fmla="val 16667" name="adj"/>
              </a:avLst>
            </a:prstGeom>
            <a:gradFill>
              <a:gsLst>
                <a:gs pos="0">
                  <a:srgbClr val="C86C1F"/>
                </a:gs>
                <a:gs pos="80000">
                  <a:srgbClr val="FF8E29"/>
                </a:gs>
                <a:gs pos="100000">
                  <a:srgbClr val="FF8D25"/>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lt1"/>
                  </a:solidFill>
                  <a:latin typeface="Calibri"/>
                  <a:ea typeface="Calibri"/>
                  <a:cs typeface="Calibri"/>
                  <a:sym typeface="Calibri"/>
                </a:rPr>
                <a:t>Frequency</a:t>
              </a:r>
              <a:endParaRPr b="0" i="0" sz="1400" u="none" cap="none" strike="noStrike">
                <a:solidFill>
                  <a:schemeClr val="lt1"/>
                </a:solidFill>
                <a:latin typeface="Calibri"/>
                <a:ea typeface="Calibri"/>
                <a:cs typeface="Calibri"/>
                <a:sym typeface="Calibri"/>
              </a:endParaRPr>
            </a:p>
          </p:txBody>
        </p:sp>
      </p:grpSp>
      <p:sp>
        <p:nvSpPr>
          <p:cNvPr id="247" name="Google Shape;247;p24"/>
          <p:cNvSpPr/>
          <p:nvPr/>
        </p:nvSpPr>
        <p:spPr>
          <a:xfrm>
            <a:off x="6096000" y="4139978"/>
            <a:ext cx="25908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Number 14 comes up most (3 times).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So, Mode=14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5"/>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Median</a:t>
            </a:r>
            <a:endParaRPr/>
          </a:p>
        </p:txBody>
      </p:sp>
      <p:sp>
        <p:nvSpPr>
          <p:cNvPr id="253" name="Google Shape;253;p25"/>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b="1" lang="en-US" sz="2000"/>
              <a:t>Median</a:t>
            </a:r>
            <a:r>
              <a:rPr lang="en-US" sz="2000"/>
              <a:t> - Median is called the middle value. Median is the middle value that is obtained by sorting the data. The median value is easily obtained if the total observation of the data is an odd number, but if the observation is an even number then the average of any two data in the middle is taken as median.</a:t>
            </a:r>
            <a:endParaRPr/>
          </a:p>
          <a:p>
            <a:pPr indent="-342900" lvl="0" marL="342900" rtl="0" algn="just">
              <a:lnSpc>
                <a:spcPct val="150000"/>
              </a:lnSpc>
              <a:spcBef>
                <a:spcPts val="400"/>
              </a:spcBef>
              <a:spcAft>
                <a:spcPts val="0"/>
              </a:spcAft>
              <a:buClr>
                <a:schemeClr val="dk1"/>
              </a:buClr>
              <a:buSzPts val="2000"/>
              <a:buChar char="•"/>
            </a:pPr>
            <a:r>
              <a:rPr lang="en-US" sz="2000"/>
              <a:t>If the no. of observations are odd, then                      5</a:t>
            </a:r>
            <a:r>
              <a:rPr baseline="30000" lang="en-US" sz="2000"/>
              <a:t>th</a:t>
            </a:r>
            <a:r>
              <a:rPr lang="en-US" sz="2000"/>
              <a:t> data= 14</a:t>
            </a:r>
            <a:endParaRPr/>
          </a:p>
          <a:p>
            <a:pPr indent="-342900" lvl="0" marL="342900" rtl="0" algn="just">
              <a:lnSpc>
                <a:spcPct val="150000"/>
              </a:lnSpc>
              <a:spcBef>
                <a:spcPts val="400"/>
              </a:spcBef>
              <a:spcAft>
                <a:spcPts val="0"/>
              </a:spcAft>
              <a:buClr>
                <a:schemeClr val="dk1"/>
              </a:buClr>
              <a:buSzPts val="2000"/>
              <a:buChar char="•"/>
            </a:pPr>
            <a:r>
              <a:rPr lang="en-US" sz="2000"/>
              <a:t>If the no. of observations are even, then</a:t>
            </a:r>
            <a:endParaRPr sz="2000"/>
          </a:p>
        </p:txBody>
      </p:sp>
      <p:grpSp>
        <p:nvGrpSpPr>
          <p:cNvPr id="254" name="Google Shape;254;p25"/>
          <p:cNvGrpSpPr/>
          <p:nvPr/>
        </p:nvGrpSpPr>
        <p:grpSpPr>
          <a:xfrm>
            <a:off x="3733800" y="4392487"/>
            <a:ext cx="4571999" cy="1198689"/>
            <a:chOff x="838201" y="3429000"/>
            <a:chExt cx="4571999" cy="1198689"/>
          </a:xfrm>
        </p:grpSpPr>
        <p:pic>
          <p:nvPicPr>
            <p:cNvPr id="255" name="Google Shape;255;p25"/>
            <p:cNvPicPr preferRelativeResize="0"/>
            <p:nvPr/>
          </p:nvPicPr>
          <p:blipFill rotWithShape="1">
            <a:blip r:embed="rId3">
              <a:alphaModFix/>
            </a:blip>
            <a:srcRect b="0" l="0" r="0" t="0"/>
            <a:stretch/>
          </p:blipFill>
          <p:spPr>
            <a:xfrm>
              <a:off x="838201" y="3678312"/>
              <a:ext cx="4571999" cy="949377"/>
            </a:xfrm>
            <a:prstGeom prst="rect">
              <a:avLst/>
            </a:prstGeom>
            <a:noFill/>
            <a:ln>
              <a:noFill/>
            </a:ln>
          </p:spPr>
        </p:pic>
        <p:sp>
          <p:nvSpPr>
            <p:cNvPr id="256" name="Google Shape;256;p25"/>
            <p:cNvSpPr/>
            <p:nvPr/>
          </p:nvSpPr>
          <p:spPr>
            <a:xfrm>
              <a:off x="914400" y="3429000"/>
              <a:ext cx="685800" cy="152400"/>
            </a:xfrm>
            <a:prstGeom prst="roundRect">
              <a:avLst>
                <a:gd fmla="val 16667" name="adj"/>
              </a:avLst>
            </a:prstGeom>
            <a:gradFill>
              <a:gsLst>
                <a:gs pos="0">
                  <a:srgbClr val="C86C1F"/>
                </a:gs>
                <a:gs pos="80000">
                  <a:srgbClr val="FF8E29"/>
                </a:gs>
                <a:gs pos="100000">
                  <a:srgbClr val="FF8D25"/>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lt1"/>
                  </a:solidFill>
                  <a:latin typeface="Calibri"/>
                  <a:ea typeface="Calibri"/>
                  <a:cs typeface="Calibri"/>
                  <a:sym typeface="Calibri"/>
                </a:rPr>
                <a:t>Data</a:t>
              </a:r>
              <a:endParaRPr b="1" i="0" sz="1400" u="none" cap="none" strike="noStrike">
                <a:solidFill>
                  <a:schemeClr val="lt1"/>
                </a:solidFill>
                <a:latin typeface="Calibri"/>
                <a:ea typeface="Calibri"/>
                <a:cs typeface="Calibri"/>
                <a:sym typeface="Calibri"/>
              </a:endParaRPr>
            </a:p>
          </p:txBody>
        </p:sp>
        <p:sp>
          <p:nvSpPr>
            <p:cNvPr id="257" name="Google Shape;257;p25"/>
            <p:cNvSpPr/>
            <p:nvPr/>
          </p:nvSpPr>
          <p:spPr>
            <a:xfrm>
              <a:off x="914400" y="4153000"/>
              <a:ext cx="1181100" cy="152400"/>
            </a:xfrm>
            <a:prstGeom prst="roundRect">
              <a:avLst>
                <a:gd fmla="val 16667" name="adj"/>
              </a:avLst>
            </a:prstGeom>
            <a:gradFill>
              <a:gsLst>
                <a:gs pos="0">
                  <a:srgbClr val="C86C1F"/>
                </a:gs>
                <a:gs pos="80000">
                  <a:srgbClr val="FF8E29"/>
                </a:gs>
                <a:gs pos="100000">
                  <a:srgbClr val="FF8D25"/>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lt1"/>
                  </a:solidFill>
                  <a:latin typeface="Calibri"/>
                  <a:ea typeface="Calibri"/>
                  <a:cs typeface="Calibri"/>
                  <a:sym typeface="Calibri"/>
                </a:rPr>
                <a:t>Sorted Data</a:t>
              </a:r>
              <a:endParaRPr b="1" i="0" sz="1400" u="none" cap="none" strike="noStrike">
                <a:solidFill>
                  <a:schemeClr val="lt1"/>
                </a:solidFill>
                <a:latin typeface="Calibri"/>
                <a:ea typeface="Calibri"/>
                <a:cs typeface="Calibri"/>
                <a:sym typeface="Calibri"/>
              </a:endParaRPr>
            </a:p>
          </p:txBody>
        </p:sp>
      </p:grpSp>
      <p:pic>
        <p:nvPicPr>
          <p:cNvPr id="258" name="Google Shape;258;p25"/>
          <p:cNvPicPr preferRelativeResize="0"/>
          <p:nvPr/>
        </p:nvPicPr>
        <p:blipFill rotWithShape="1">
          <a:blip r:embed="rId4">
            <a:alphaModFix/>
          </a:blip>
          <a:srcRect b="0" l="0" r="0" t="0"/>
          <a:stretch/>
        </p:blipFill>
        <p:spPr>
          <a:xfrm>
            <a:off x="6451910" y="3190842"/>
            <a:ext cx="1190791" cy="476316"/>
          </a:xfrm>
          <a:prstGeom prst="rect">
            <a:avLst/>
          </a:prstGeom>
          <a:noFill/>
          <a:ln>
            <a:noFill/>
          </a:ln>
        </p:spPr>
      </p:pic>
      <p:pic>
        <p:nvPicPr>
          <p:cNvPr id="259" name="Google Shape;259;p25"/>
          <p:cNvPicPr preferRelativeResize="0"/>
          <p:nvPr/>
        </p:nvPicPr>
        <p:blipFill rotWithShape="1">
          <a:blip r:embed="rId5">
            <a:alphaModFix/>
          </a:blip>
          <a:srcRect b="0" l="0" r="0" t="0"/>
          <a:stretch/>
        </p:blipFill>
        <p:spPr>
          <a:xfrm>
            <a:off x="6705600" y="3757120"/>
            <a:ext cx="2324456" cy="62448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grpSp>
        <p:nvGrpSpPr>
          <p:cNvPr id="264" name="Google Shape;264;p26"/>
          <p:cNvGrpSpPr/>
          <p:nvPr/>
        </p:nvGrpSpPr>
        <p:grpSpPr>
          <a:xfrm>
            <a:off x="5539120" y="3886200"/>
            <a:ext cx="3071481" cy="2471714"/>
            <a:chOff x="2895600" y="3352800"/>
            <a:chExt cx="3670195" cy="2700314"/>
          </a:xfrm>
        </p:grpSpPr>
        <p:pic>
          <p:nvPicPr>
            <p:cNvPr id="265" name="Google Shape;265;p26"/>
            <p:cNvPicPr preferRelativeResize="0"/>
            <p:nvPr/>
          </p:nvPicPr>
          <p:blipFill rotWithShape="1">
            <a:blip r:embed="rId3">
              <a:alphaModFix/>
            </a:blip>
            <a:srcRect b="0" l="0" r="0" t="0"/>
            <a:stretch/>
          </p:blipFill>
          <p:spPr>
            <a:xfrm>
              <a:off x="2895600" y="3352800"/>
              <a:ext cx="3670195" cy="2700314"/>
            </a:xfrm>
            <a:prstGeom prst="rect">
              <a:avLst/>
            </a:prstGeom>
            <a:noFill/>
            <a:ln>
              <a:noFill/>
            </a:ln>
          </p:spPr>
        </p:pic>
        <p:sp>
          <p:nvSpPr>
            <p:cNvPr id="266" name="Google Shape;266;p26"/>
            <p:cNvSpPr/>
            <p:nvPr/>
          </p:nvSpPr>
          <p:spPr>
            <a:xfrm>
              <a:off x="3532974" y="4016829"/>
              <a:ext cx="962827" cy="304800"/>
            </a:xfrm>
            <a:prstGeom prst="roundRect">
              <a:avLst>
                <a:gd fmla="val 16667" name="adj"/>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Calibri"/>
                  <a:ea typeface="Calibri"/>
                  <a:cs typeface="Calibri"/>
                  <a:sym typeface="Calibri"/>
                </a:rPr>
                <a:t>Outlier</a:t>
              </a:r>
              <a:endParaRPr b="1" i="0" sz="1400" u="none" cap="none" strike="noStrike">
                <a:solidFill>
                  <a:schemeClr val="dk1"/>
                </a:solidFill>
                <a:latin typeface="Calibri"/>
                <a:ea typeface="Calibri"/>
                <a:cs typeface="Calibri"/>
                <a:sym typeface="Calibri"/>
              </a:endParaRPr>
            </a:p>
          </p:txBody>
        </p:sp>
      </p:grpSp>
      <p:sp>
        <p:nvSpPr>
          <p:cNvPr id="267" name="Google Shape;267;p26"/>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Why need median when mean has</a:t>
            </a:r>
            <a:endParaRPr/>
          </a:p>
        </p:txBody>
      </p:sp>
      <p:sp>
        <p:nvSpPr>
          <p:cNvPr id="268" name="Google Shape;268;p26"/>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lang="en-US" sz="2000"/>
              <a:t>The question that may come to your mind is why do you need median again to have mean? </a:t>
            </a:r>
            <a:endParaRPr/>
          </a:p>
          <a:p>
            <a:pPr indent="-342900" lvl="0" marL="342900" rtl="0" algn="just">
              <a:lnSpc>
                <a:spcPct val="100000"/>
              </a:lnSpc>
              <a:spcBef>
                <a:spcPts val="400"/>
              </a:spcBef>
              <a:spcAft>
                <a:spcPts val="0"/>
              </a:spcAft>
              <a:buClr>
                <a:schemeClr val="dk1"/>
              </a:buClr>
              <a:buSzPts val="2000"/>
              <a:buChar char="•"/>
            </a:pPr>
            <a:r>
              <a:rPr lang="en-US" sz="2000"/>
              <a:t>The median is not affected by outlier. </a:t>
            </a:r>
            <a:endParaRPr/>
          </a:p>
          <a:p>
            <a:pPr indent="-342900" lvl="0" marL="342900" rtl="0" algn="just">
              <a:lnSpc>
                <a:spcPct val="100000"/>
              </a:lnSpc>
              <a:spcBef>
                <a:spcPts val="400"/>
              </a:spcBef>
              <a:spcAft>
                <a:spcPts val="0"/>
              </a:spcAft>
              <a:buClr>
                <a:schemeClr val="dk1"/>
              </a:buClr>
              <a:buSzPts val="2000"/>
              <a:buChar char="•"/>
            </a:pPr>
            <a:r>
              <a:rPr b="1" lang="en-US" sz="2000"/>
              <a:t>Outlier</a:t>
            </a:r>
            <a:r>
              <a:rPr lang="en-US" sz="2000"/>
              <a:t> - outlier is outsourced data, which means it is not like others. Whose value is much lower or much higher than most values. </a:t>
            </a:r>
            <a:endParaRPr/>
          </a:p>
          <a:p>
            <a:pPr indent="-342900" lvl="0" marL="342900" rtl="0" algn="just">
              <a:lnSpc>
                <a:spcPct val="100000"/>
              </a:lnSpc>
              <a:spcBef>
                <a:spcPts val="400"/>
              </a:spcBef>
              <a:spcAft>
                <a:spcPts val="0"/>
              </a:spcAft>
              <a:buClr>
                <a:schemeClr val="dk1"/>
              </a:buClr>
              <a:buSzPts val="2000"/>
              <a:buChar char="•"/>
            </a:pPr>
            <a:r>
              <a:rPr lang="en-US" sz="2000"/>
              <a:t>Outliers may change the mean, that is, average values ​​may decrease or increase, but </a:t>
            </a:r>
            <a:r>
              <a:rPr b="1" lang="en-US" sz="2000"/>
              <a:t>outliers do not affect the median value</a:t>
            </a:r>
            <a:r>
              <a:rPr lang="en-US" sz="2000"/>
              <a:t>. That is why the media is needed.</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7"/>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Data Spread</a:t>
            </a:r>
            <a:endParaRPr/>
          </a:p>
        </p:txBody>
      </p:sp>
      <p:sp>
        <p:nvSpPr>
          <p:cNvPr id="274" name="Google Shape;274;p27"/>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b="1" lang="en-US" sz="2000"/>
              <a:t>Range</a:t>
            </a:r>
            <a:r>
              <a:rPr lang="en-US" sz="2000"/>
              <a:t> - Range is the sum of the maximum and minimum values ​​of the data. </a:t>
            </a:r>
            <a:endParaRPr/>
          </a:p>
          <a:p>
            <a:pPr indent="-342900" lvl="0" marL="342900" rtl="0" algn="just">
              <a:lnSpc>
                <a:spcPct val="100000"/>
              </a:lnSpc>
              <a:spcBef>
                <a:spcPts val="400"/>
              </a:spcBef>
              <a:spcAft>
                <a:spcPts val="0"/>
              </a:spcAft>
              <a:buClr>
                <a:schemeClr val="dk1"/>
              </a:buClr>
              <a:buSzPts val="2000"/>
              <a:buChar char="•"/>
            </a:pPr>
            <a:r>
              <a:rPr lang="en-US" sz="2000"/>
              <a:t>For example, the maximum value is 18 and the minimum value is 11 and the difference between them is 8, this is the range. This shows how much data is stored.</a:t>
            </a:r>
            <a:endParaRPr/>
          </a:p>
          <a:p>
            <a:pPr indent="-342900" lvl="0" marL="342900" rtl="0" algn="just">
              <a:lnSpc>
                <a:spcPct val="100000"/>
              </a:lnSpc>
              <a:spcBef>
                <a:spcPts val="400"/>
              </a:spcBef>
              <a:spcAft>
                <a:spcPts val="0"/>
              </a:spcAft>
              <a:buClr>
                <a:schemeClr val="dk1"/>
              </a:buClr>
              <a:buSzPts val="2000"/>
              <a:buChar char="•"/>
            </a:pPr>
            <a:r>
              <a:rPr lang="en-US" sz="2000"/>
              <a:t>Range= Maximum-Minimum= 17-11=6</a:t>
            </a:r>
            <a:endParaRPr sz="2000"/>
          </a:p>
        </p:txBody>
      </p:sp>
      <p:grpSp>
        <p:nvGrpSpPr>
          <p:cNvPr id="275" name="Google Shape;275;p27"/>
          <p:cNvGrpSpPr/>
          <p:nvPr/>
        </p:nvGrpSpPr>
        <p:grpSpPr>
          <a:xfrm>
            <a:off x="3886201" y="3962401"/>
            <a:ext cx="4571999" cy="1198689"/>
            <a:chOff x="838201" y="3429000"/>
            <a:chExt cx="4571999" cy="1198689"/>
          </a:xfrm>
        </p:grpSpPr>
        <p:pic>
          <p:nvPicPr>
            <p:cNvPr id="276" name="Google Shape;276;p27"/>
            <p:cNvPicPr preferRelativeResize="0"/>
            <p:nvPr/>
          </p:nvPicPr>
          <p:blipFill rotWithShape="1">
            <a:blip r:embed="rId3">
              <a:alphaModFix/>
            </a:blip>
            <a:srcRect b="0" l="0" r="0" t="0"/>
            <a:stretch/>
          </p:blipFill>
          <p:spPr>
            <a:xfrm>
              <a:off x="838201" y="3678312"/>
              <a:ext cx="4571999" cy="949377"/>
            </a:xfrm>
            <a:prstGeom prst="rect">
              <a:avLst/>
            </a:prstGeom>
            <a:noFill/>
            <a:ln>
              <a:noFill/>
            </a:ln>
          </p:spPr>
        </p:pic>
        <p:sp>
          <p:nvSpPr>
            <p:cNvPr id="277" name="Google Shape;277;p27"/>
            <p:cNvSpPr/>
            <p:nvPr/>
          </p:nvSpPr>
          <p:spPr>
            <a:xfrm>
              <a:off x="914400" y="3429000"/>
              <a:ext cx="685800" cy="152400"/>
            </a:xfrm>
            <a:prstGeom prst="roundRect">
              <a:avLst>
                <a:gd fmla="val 16667" name="adj"/>
              </a:avLst>
            </a:prstGeom>
            <a:gradFill>
              <a:gsLst>
                <a:gs pos="0">
                  <a:srgbClr val="C86C1F"/>
                </a:gs>
                <a:gs pos="80000">
                  <a:srgbClr val="FF8E29"/>
                </a:gs>
                <a:gs pos="100000">
                  <a:srgbClr val="FF8D25"/>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lt1"/>
                  </a:solidFill>
                  <a:latin typeface="Calibri"/>
                  <a:ea typeface="Calibri"/>
                  <a:cs typeface="Calibri"/>
                  <a:sym typeface="Calibri"/>
                </a:rPr>
                <a:t>Data</a:t>
              </a:r>
              <a:endParaRPr b="1" i="0" sz="1400" u="none" cap="none" strike="noStrike">
                <a:solidFill>
                  <a:schemeClr val="lt1"/>
                </a:solidFill>
                <a:latin typeface="Calibri"/>
                <a:ea typeface="Calibri"/>
                <a:cs typeface="Calibri"/>
                <a:sym typeface="Calibri"/>
              </a:endParaRPr>
            </a:p>
          </p:txBody>
        </p:sp>
        <p:sp>
          <p:nvSpPr>
            <p:cNvPr id="278" name="Google Shape;278;p27"/>
            <p:cNvSpPr/>
            <p:nvPr/>
          </p:nvSpPr>
          <p:spPr>
            <a:xfrm>
              <a:off x="914400" y="4153000"/>
              <a:ext cx="1181100" cy="152400"/>
            </a:xfrm>
            <a:prstGeom prst="roundRect">
              <a:avLst>
                <a:gd fmla="val 16667" name="adj"/>
              </a:avLst>
            </a:prstGeom>
            <a:gradFill>
              <a:gsLst>
                <a:gs pos="0">
                  <a:srgbClr val="C86C1F"/>
                </a:gs>
                <a:gs pos="80000">
                  <a:srgbClr val="FF8E29"/>
                </a:gs>
                <a:gs pos="100000">
                  <a:srgbClr val="FF8D25"/>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lt1"/>
                  </a:solidFill>
                  <a:latin typeface="Calibri"/>
                  <a:ea typeface="Calibri"/>
                  <a:cs typeface="Calibri"/>
                  <a:sym typeface="Calibri"/>
                </a:rPr>
                <a:t>Sorted Data</a:t>
              </a:r>
              <a:endParaRPr b="1" i="0" sz="1400" u="none" cap="none" strike="noStrike">
                <a:solidFill>
                  <a:schemeClr val="lt1"/>
                </a:solidFill>
                <a:latin typeface="Calibri"/>
                <a:ea typeface="Calibri"/>
                <a:cs typeface="Calibri"/>
                <a:sym typeface="Calibri"/>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8"/>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Data Spread</a:t>
            </a:r>
            <a:endParaRPr/>
          </a:p>
        </p:txBody>
      </p:sp>
      <p:sp>
        <p:nvSpPr>
          <p:cNvPr id="284" name="Google Shape;284;p28"/>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b="1" lang="en-US" sz="2000"/>
              <a:t>Quartiles and IQR </a:t>
            </a:r>
            <a:r>
              <a:rPr lang="en-US" sz="2000"/>
              <a:t>- Data is divided into </a:t>
            </a:r>
            <a:r>
              <a:rPr b="1" lang="en-US" sz="2000"/>
              <a:t>4 parts </a:t>
            </a:r>
            <a:r>
              <a:rPr lang="en-US" sz="2000"/>
              <a:t>by quartiles. Each section contains 25% data. It contains 50% data in the second quartiles and 25% data in the first and last quartiles.</a:t>
            </a:r>
            <a:endParaRPr/>
          </a:p>
          <a:p>
            <a:pPr indent="-342900" lvl="0" marL="342900" rtl="0" algn="just">
              <a:lnSpc>
                <a:spcPct val="100000"/>
              </a:lnSpc>
              <a:spcBef>
                <a:spcPts val="400"/>
              </a:spcBef>
              <a:spcAft>
                <a:spcPts val="0"/>
              </a:spcAft>
              <a:buClr>
                <a:schemeClr val="dk1"/>
              </a:buClr>
              <a:buSzPts val="2000"/>
              <a:buChar char="•"/>
            </a:pPr>
            <a:r>
              <a:rPr lang="en-US" sz="2000"/>
              <a:t>The subtraction of 3rd quartile and 1st quartile is called inter quartile range or IQR.</a:t>
            </a:r>
            <a:endParaRPr sz="2000"/>
          </a:p>
        </p:txBody>
      </p:sp>
      <p:pic>
        <p:nvPicPr>
          <p:cNvPr id="285" name="Google Shape;285;p28"/>
          <p:cNvPicPr preferRelativeResize="0"/>
          <p:nvPr/>
        </p:nvPicPr>
        <p:blipFill rotWithShape="1">
          <a:blip r:embed="rId3">
            <a:alphaModFix/>
          </a:blip>
          <a:srcRect b="0" l="0" r="0" t="0"/>
          <a:stretch/>
        </p:blipFill>
        <p:spPr>
          <a:xfrm>
            <a:off x="4638675" y="3429000"/>
            <a:ext cx="2914650" cy="1504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9"/>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Box Plot</a:t>
            </a:r>
            <a:endParaRPr/>
          </a:p>
        </p:txBody>
      </p:sp>
      <p:sp>
        <p:nvSpPr>
          <p:cNvPr id="291" name="Google Shape;291;p29"/>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If a data box is plotted, maximum and minimum value of data, outlier, IQR etc. can be visualized.</a:t>
            </a:r>
            <a:endParaRPr sz="2400"/>
          </a:p>
        </p:txBody>
      </p:sp>
      <p:pic>
        <p:nvPicPr>
          <p:cNvPr id="292" name="Google Shape;292;p29"/>
          <p:cNvPicPr preferRelativeResize="0"/>
          <p:nvPr/>
        </p:nvPicPr>
        <p:blipFill rotWithShape="1">
          <a:blip r:embed="rId3">
            <a:alphaModFix/>
          </a:blip>
          <a:srcRect b="0" l="0" r="0" t="0"/>
          <a:stretch/>
        </p:blipFill>
        <p:spPr>
          <a:xfrm>
            <a:off x="4800600" y="2590801"/>
            <a:ext cx="2730852" cy="32861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Finding the Outliers of a Data Set</a:t>
            </a:r>
            <a:endParaRPr>
              <a:latin typeface="Times New Roman"/>
              <a:ea typeface="Times New Roman"/>
              <a:cs typeface="Times New Roman"/>
              <a:sym typeface="Times New Roman"/>
            </a:endParaRPr>
          </a:p>
        </p:txBody>
      </p:sp>
      <p:sp>
        <p:nvSpPr>
          <p:cNvPr id="298" name="Google Shape;29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1" lang="en-US" sz="2400" u="sng">
                <a:latin typeface="Times New Roman"/>
                <a:ea typeface="Times New Roman"/>
                <a:cs typeface="Times New Roman"/>
                <a:sym typeface="Times New Roman"/>
              </a:rPr>
              <a:t>Outlier: </a:t>
            </a:r>
            <a:r>
              <a:rPr lang="en-US" sz="2400">
                <a:latin typeface="Times New Roman"/>
                <a:ea typeface="Times New Roman"/>
                <a:cs typeface="Times New Roman"/>
                <a:sym typeface="Times New Roman"/>
              </a:rPr>
              <a:t>An outlier is an observation that lies an abnormal distance from other values in a random sample from a population. In a sense, this definition leaves it up to the analyst (or a consensus process) to decide what will be considered abnormal. Before abnormal observations can be singled out, it is necessary to characterize normal observations.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Finding the Outliers of a Data Set</a:t>
            </a:r>
            <a:endParaRPr>
              <a:latin typeface="Times New Roman"/>
              <a:ea typeface="Times New Roman"/>
              <a:cs typeface="Times New Roman"/>
              <a:sym typeface="Times New Roman"/>
            </a:endParaRPr>
          </a:p>
        </p:txBody>
      </p:sp>
      <p:sp>
        <p:nvSpPr>
          <p:cNvPr id="304" name="Google Shape;304;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pic>
        <p:nvPicPr>
          <p:cNvPr id="305" name="Google Shape;305;p31"/>
          <p:cNvPicPr preferRelativeResize="0"/>
          <p:nvPr/>
        </p:nvPicPr>
        <p:blipFill>
          <a:blip r:embed="rId3">
            <a:alphaModFix/>
          </a:blip>
          <a:stretch>
            <a:fillRect/>
          </a:stretch>
        </p:blipFill>
        <p:spPr>
          <a:xfrm>
            <a:off x="634663" y="1822763"/>
            <a:ext cx="10922675" cy="45094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Finding the Outliers of a Data Set</a:t>
            </a:r>
            <a:endParaRPr>
              <a:latin typeface="Times New Roman"/>
              <a:ea typeface="Times New Roman"/>
              <a:cs typeface="Times New Roman"/>
              <a:sym typeface="Times New Roman"/>
            </a:endParaRPr>
          </a:p>
        </p:txBody>
      </p:sp>
      <p:sp>
        <p:nvSpPr>
          <p:cNvPr id="311" name="Google Shape;311;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76200" lvl="0" marL="228600" rtl="0" algn="just">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t/>
            </a:r>
            <a:endParaRPr sz="2400"/>
          </a:p>
          <a:p>
            <a:pPr indent="0" lvl="0" marL="0" rtl="0" algn="just">
              <a:lnSpc>
                <a:spcPct val="90000"/>
              </a:lnSpc>
              <a:spcBef>
                <a:spcPts val="1000"/>
              </a:spcBef>
              <a:spcAft>
                <a:spcPts val="0"/>
              </a:spcAft>
              <a:buClr>
                <a:schemeClr val="dk1"/>
              </a:buClr>
              <a:buSzPts val="2400"/>
              <a:buNone/>
            </a:pPr>
            <a:r>
              <a:t/>
            </a:r>
            <a:endParaRPr sz="2400"/>
          </a:p>
          <a:p>
            <a:pPr indent="0" lvl="0" marL="0" rtl="0" algn="just">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76200" lvl="0" marL="228600" rtl="0" algn="just">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pic>
        <p:nvPicPr>
          <p:cNvPr id="312" name="Google Shape;312;p32"/>
          <p:cNvPicPr preferRelativeResize="0"/>
          <p:nvPr/>
        </p:nvPicPr>
        <p:blipFill>
          <a:blip r:embed="rId3">
            <a:alphaModFix/>
          </a:blip>
          <a:stretch>
            <a:fillRect/>
          </a:stretch>
        </p:blipFill>
        <p:spPr>
          <a:xfrm>
            <a:off x="408187" y="1825625"/>
            <a:ext cx="11375626" cy="46037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Finding the Outliers of a Data Set</a:t>
            </a:r>
            <a:endParaRPr>
              <a:latin typeface="Times New Roman"/>
              <a:ea typeface="Times New Roman"/>
              <a:cs typeface="Times New Roman"/>
              <a:sym typeface="Times New Roman"/>
            </a:endParaRPr>
          </a:p>
        </p:txBody>
      </p:sp>
      <p:sp>
        <p:nvSpPr>
          <p:cNvPr id="318" name="Google Shape;318;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a:t> </a:t>
            </a:r>
            <a:endParaRPr/>
          </a:p>
        </p:txBody>
      </p:sp>
      <p:pic>
        <p:nvPicPr>
          <p:cNvPr id="319" name="Google Shape;319;p33"/>
          <p:cNvPicPr preferRelativeResize="0"/>
          <p:nvPr/>
        </p:nvPicPr>
        <p:blipFill>
          <a:blip r:embed="rId3">
            <a:alphaModFix/>
          </a:blip>
          <a:stretch>
            <a:fillRect/>
          </a:stretch>
        </p:blipFill>
        <p:spPr>
          <a:xfrm>
            <a:off x="729549" y="1570424"/>
            <a:ext cx="10732901" cy="504140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Finding the Outliers of a Data Set</a:t>
            </a:r>
            <a:endParaRPr>
              <a:latin typeface="Times New Roman"/>
              <a:ea typeface="Times New Roman"/>
              <a:cs typeface="Times New Roman"/>
              <a:sym typeface="Times New Roman"/>
            </a:endParaRPr>
          </a:p>
        </p:txBody>
      </p:sp>
      <p:sp>
        <p:nvSpPr>
          <p:cNvPr id="325" name="Google Shape;325;p34"/>
          <p:cNvSpPr txBox="1"/>
          <p:nvPr>
            <p:ph idx="1" type="body"/>
          </p:nvPr>
        </p:nvSpPr>
        <p:spPr>
          <a:xfrm>
            <a:off x="838200" y="1825624"/>
            <a:ext cx="10515600" cy="4731929"/>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a:t> </a:t>
            </a:r>
            <a:endParaRPr/>
          </a:p>
        </p:txBody>
      </p:sp>
      <p:pic>
        <p:nvPicPr>
          <p:cNvPr id="326" name="Google Shape;326;p34"/>
          <p:cNvPicPr preferRelativeResize="0"/>
          <p:nvPr/>
        </p:nvPicPr>
        <p:blipFill>
          <a:blip r:embed="rId3">
            <a:alphaModFix/>
          </a:blip>
          <a:stretch>
            <a:fillRect/>
          </a:stretch>
        </p:blipFill>
        <p:spPr>
          <a:xfrm>
            <a:off x="609421" y="1601425"/>
            <a:ext cx="10973166" cy="47319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Finding the Outliers of a Data Set</a:t>
            </a:r>
            <a:endParaRPr/>
          </a:p>
        </p:txBody>
      </p:sp>
      <p:sp>
        <p:nvSpPr>
          <p:cNvPr id="332" name="Google Shape;332;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Exercise: </a:t>
            </a:r>
            <a:endParaRPr/>
          </a:p>
          <a:p>
            <a:pPr indent="0" lvl="0" marL="0" rtl="0" algn="l">
              <a:lnSpc>
                <a:spcPct val="90000"/>
              </a:lnSpc>
              <a:spcBef>
                <a:spcPts val="1000"/>
              </a:spcBef>
              <a:spcAft>
                <a:spcPts val="0"/>
              </a:spcAft>
              <a:buClr>
                <a:schemeClr val="dk1"/>
              </a:buClr>
              <a:buSzPts val="2800"/>
              <a:buNone/>
            </a:pPr>
            <a:r>
              <a:rPr b="1" lang="en-US">
                <a:latin typeface="Times New Roman"/>
                <a:ea typeface="Times New Roman"/>
                <a:cs typeface="Times New Roman"/>
                <a:sym typeface="Times New Roman"/>
              </a:rPr>
              <a:t> </a:t>
            </a:r>
            <a:r>
              <a:rPr lang="en-US" sz="2400">
                <a:latin typeface="Times New Roman"/>
                <a:ea typeface="Times New Roman"/>
                <a:cs typeface="Times New Roman"/>
                <a:sym typeface="Times New Roman"/>
              </a:rPr>
              <a:t>Find all possible outliers for the following set of data: </a:t>
            </a:r>
            <a:endParaRPr sz="24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108, 31, 75, 87, 79, 88, 89, 118, 51, 89, 174, 95, 51, 70, and 73.</a:t>
            </a:r>
            <a:endParaRPr sz="24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None/>
            </a:pPr>
            <a:r>
              <a:rPr b="1" lang="en-US">
                <a:latin typeface="Times New Roman"/>
                <a:ea typeface="Times New Roman"/>
                <a:cs typeface="Times New Roman"/>
                <a:sym typeface="Times New Roman"/>
              </a:rPr>
              <a:t>Exercise: </a:t>
            </a:r>
            <a:endParaRPr b="1">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rPr lang="en-US" sz="2400">
                <a:latin typeface="Times New Roman"/>
                <a:ea typeface="Times New Roman"/>
                <a:cs typeface="Times New Roman"/>
                <a:sym typeface="Times New Roman"/>
              </a:rPr>
              <a:t>Your dataset has 11 values. You have a couple of extreme values in your dataset, so you’ll use the IQR method to check whether they are outliers.</a:t>
            </a:r>
            <a:endParaRPr sz="2400">
              <a:latin typeface="Times New Roman"/>
              <a:ea typeface="Times New Roman"/>
              <a:cs typeface="Times New Roman"/>
              <a:sym typeface="Times New Roman"/>
            </a:endParaRPr>
          </a:p>
          <a:p>
            <a:pPr indent="0" lvl="0" marL="0" rtl="0" algn="ctr">
              <a:spcBef>
                <a:spcPts val="1000"/>
              </a:spcBef>
              <a:spcAft>
                <a:spcPts val="0"/>
              </a:spcAft>
              <a:buClr>
                <a:schemeClr val="dk1"/>
              </a:buClr>
              <a:buSzPts val="1100"/>
              <a:buFont typeface="Arial"/>
              <a:buNone/>
            </a:pPr>
            <a:r>
              <a:t/>
            </a:r>
            <a:endParaRPr sz="2400">
              <a:latin typeface="Times New Roman"/>
              <a:ea typeface="Times New Roman"/>
              <a:cs typeface="Times New Roman"/>
              <a:sym typeface="Times New Roman"/>
            </a:endParaRPr>
          </a:p>
          <a:p>
            <a:pPr indent="0" lvl="0" marL="0" rtl="0" algn="ctr">
              <a:spcBef>
                <a:spcPts val="1000"/>
              </a:spcBef>
              <a:spcAft>
                <a:spcPts val="0"/>
              </a:spcAft>
              <a:buClr>
                <a:schemeClr val="dk1"/>
              </a:buClr>
              <a:buSzPts val="1100"/>
              <a:buFont typeface="Arial"/>
              <a:buNone/>
            </a:pPr>
            <a:r>
              <a:rPr lang="en-US" sz="2400">
                <a:latin typeface="Times New Roman"/>
                <a:ea typeface="Times New Roman"/>
                <a:cs typeface="Times New Roman"/>
                <a:sym typeface="Times New Roman"/>
              </a:rPr>
              <a:t>26	37	24	28	35	22	31	53	41	64	29</a:t>
            </a:r>
            <a:endParaRPr sz="24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2024-01-23T07:13:02Z</dcterms:created>
  <dc:creator>RAKA-PC</dc:creator>
</cp:coreProperties>
</file>