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53"/>
  </p:notesMasterIdLst>
  <p:sldIdLst>
    <p:sldId id="256" r:id="rId2"/>
    <p:sldId id="257" r:id="rId3"/>
    <p:sldId id="306" r:id="rId4"/>
    <p:sldId id="305" r:id="rId5"/>
    <p:sldId id="308" r:id="rId6"/>
    <p:sldId id="307" r:id="rId7"/>
    <p:sldId id="258" r:id="rId8"/>
    <p:sldId id="259" r:id="rId9"/>
    <p:sldId id="260" r:id="rId10"/>
    <p:sldId id="261" r:id="rId11"/>
    <p:sldId id="262" r:id="rId12"/>
    <p:sldId id="263"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304" r:id="rId31"/>
    <p:sldId id="282" r:id="rId32"/>
    <p:sldId id="283" r:id="rId33"/>
    <p:sldId id="284" r:id="rId34"/>
    <p:sldId id="309"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3" r:id="rId52"/>
  </p:sldIdLst>
  <p:sldSz cx="12192000" cy="6858000"/>
  <p:notesSz cx="6858000" cy="9144000"/>
  <p:embeddedFontLst>
    <p:embeddedFont>
      <p:font typeface="Calibri" panose="020F0502020204030204" pitchFamily="34" charset="0"/>
      <p:regular r:id="rId54"/>
      <p:bold r:id="rId55"/>
      <p:italic r:id="rId56"/>
      <p:boldItalic r:id="rId57"/>
    </p:embeddedFont>
    <p:embeddedFont>
      <p:font typeface="Quattrocento Sans" panose="020B0604020202020204" charset="0"/>
      <p:regular r:id="rId58"/>
      <p:bold r:id="rId59"/>
      <p:italic r:id="rId60"/>
      <p:boldItalic r:id="rId61"/>
    </p:embeddedFont>
    <p:embeddedFont>
      <p:font typeface="Tw Cen MT Condensed" panose="020B0606020104020203" pitchFamily="34" charset="0"/>
      <p:regular r:id="rId62"/>
      <p:bold r:id="rId63"/>
    </p:embeddedFont>
    <p:embeddedFont>
      <p:font typeface="Tw Cen MT" panose="020B0602020104020603" pitchFamily="34" charset="0"/>
      <p:regular r:id="rId64"/>
      <p:bold r:id="rId65"/>
      <p:italic r:id="rId66"/>
      <p:boldItalic r:id="rId67"/>
    </p:embeddedFont>
    <p:embeddedFont>
      <p:font typeface="Wingdings 3" panose="05040102010807070707" pitchFamily="18" charset="2"/>
      <p:regular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9" roundtripDataSignature="AMtx7mjufPRy4rrKBflUkrnvCUOTGVwun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F00C7D5-8C73-40C0-9A0A-1D9064C391A0}">
  <a:tblStyle styleId="{BF00C7D5-8C73-40C0-9A0A-1D9064C391A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8428E21D-70E7-48E0-B2D0-276C6B2AB42B}"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70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0.fntdata"/><Relationship Id="rId68"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5.fntdata"/><Relationship Id="rId66" Type="http://schemas.openxmlformats.org/officeDocument/2006/relationships/font" Target="fonts/font13.fntdata"/><Relationship Id="rId5" Type="http://schemas.openxmlformats.org/officeDocument/2006/relationships/slide" Target="slides/slide4.xml"/><Relationship Id="rId61"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64" Type="http://schemas.openxmlformats.org/officeDocument/2006/relationships/font" Target="fonts/font11.fntdata"/><Relationship Id="rId69"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6.fntdata"/><Relationship Id="rId67"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font" Target="fonts/font9.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7.fntdata"/><Relationship Id="rId65" Type="http://schemas.openxmlformats.org/officeDocument/2006/relationships/font" Target="fonts/font12.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9322994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1508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38799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030740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50298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40" name="Google Shape;14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09815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54455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8289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05" name="Google Shape;10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83846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94346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10324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69850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5541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46" name="Google Shape;14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020974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57390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45977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66" name="Google Shape;16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60860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5418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47301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16125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94" name="Google Shape;194;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26629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200" name="Google Shape;20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807044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06" name="Google Shape;20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761602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14" name="Google Shape;214;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372723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94687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28" name="Google Shape;22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362495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07772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68100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48" name="Google Shape;248;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971975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91008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78897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269" name="Google Shape;269;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394562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29486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45896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92468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12613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90413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42826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39094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31875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3834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70569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45627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8331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48120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71311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39867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6" name="Google Shape;366;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7469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21621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0593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9" name="Google Shape;399;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4336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0638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59774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8096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83841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67455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14660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06942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81120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9362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68502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8080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974850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ts val="4800"/>
              <a:buFont typeface="Calibri"/>
              <a:buNone/>
            </a:pPr>
            <a:r>
              <a:rPr lang="en-US" sz="4800" b="1"/>
              <a:t>CSE315:Introduction to Data Science</a:t>
            </a:r>
            <a:br>
              <a:rPr lang="en-US" sz="4800" b="1"/>
            </a:br>
            <a:r>
              <a:rPr lang="en-US" sz="4800" b="1" i="1">
                <a:solidFill>
                  <a:srgbClr val="0070C0"/>
                </a:solidFill>
              </a:rPr>
              <a:t>Feature Engineering</a:t>
            </a:r>
            <a:endParaRPr/>
          </a:p>
        </p:txBody>
      </p:sp>
      <p:sp>
        <p:nvSpPr>
          <p:cNvPr id="89" name="Google Shape;89;p1"/>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3600"/>
              <a:buNone/>
            </a:pPr>
            <a:r>
              <a:rPr lang="en-US" sz="3600" dirty="0" smtClean="0"/>
              <a:t>WEEK-8</a:t>
            </a: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dirty="0" smtClean="0"/>
              <a:t>What is Feature Engineering?</a:t>
            </a:r>
            <a:endParaRPr dirty="0"/>
          </a:p>
        </p:txBody>
      </p:sp>
      <p:sp>
        <p:nvSpPr>
          <p:cNvPr id="95" name="Google Shape;95;p2"/>
          <p:cNvSpPr txBox="1">
            <a:spLocks noGrp="1"/>
          </p:cNvSpPr>
          <p:nvPr>
            <p:ph idx="1"/>
          </p:nvPr>
        </p:nvSpPr>
        <p:spPr>
          <a:xfrm>
            <a:off x="1981200" y="1417638"/>
            <a:ext cx="8229600" cy="5103477"/>
          </a:xfrm>
          <a:prstGeom prst="rect">
            <a:avLst/>
          </a:prstGeom>
          <a:noFill/>
          <a:ln>
            <a:noFill/>
          </a:ln>
        </p:spPr>
        <p:txBody>
          <a:bodyPr spcFirstLastPara="1" wrap="square" lIns="91425" tIns="45700" rIns="91425" bIns="45700" anchor="t" anchorCtr="0">
            <a:noAutofit/>
          </a:bodyPr>
          <a:lstStyle/>
          <a:p>
            <a:pPr marL="0" lvl="0" indent="0">
              <a:lnSpc>
                <a:spcPct val="107000"/>
              </a:lnSpc>
              <a:spcBef>
                <a:spcPts val="0"/>
              </a:spcBef>
              <a:buSzPts val="2000"/>
              <a:buNone/>
            </a:pPr>
            <a:r>
              <a:rPr lang="en-US" sz="2400" dirty="0"/>
              <a:t>Feature engineering is the process of </a:t>
            </a:r>
            <a:r>
              <a:rPr lang="en-US" sz="2400" b="1" dirty="0"/>
              <a:t>creating, transforming, or selecting meaningful features from raw data</a:t>
            </a:r>
            <a:r>
              <a:rPr lang="en-US" sz="2400" dirty="0"/>
              <a:t> to improve machine learning model performance</a:t>
            </a:r>
            <a:r>
              <a:rPr lang="en-US" sz="2400" dirty="0" smtClean="0"/>
              <a:t>.</a:t>
            </a:r>
          </a:p>
          <a:p>
            <a:pPr marL="0" lvl="0" indent="0">
              <a:lnSpc>
                <a:spcPct val="107000"/>
              </a:lnSpc>
              <a:spcBef>
                <a:spcPts val="0"/>
              </a:spcBef>
              <a:buSzPts val="2000"/>
              <a:buNone/>
            </a:pPr>
            <a:endParaRPr lang="en-US" sz="2400" b="1" dirty="0">
              <a:latin typeface="Times New Roman"/>
              <a:ea typeface="Times New Roman"/>
              <a:cs typeface="Times New Roman"/>
              <a:sym typeface="Times New Roman"/>
            </a:endParaRPr>
          </a:p>
          <a:p>
            <a:pPr marL="0" lvl="0" indent="0">
              <a:lnSpc>
                <a:spcPct val="107000"/>
              </a:lnSpc>
              <a:spcBef>
                <a:spcPts val="0"/>
              </a:spcBef>
              <a:buSzPts val="2000"/>
              <a:buNone/>
            </a:pPr>
            <a:r>
              <a:rPr lang="en-US" sz="2400" b="1" dirty="0">
                <a:latin typeface="Times New Roman"/>
                <a:ea typeface="Times New Roman"/>
                <a:cs typeface="Times New Roman"/>
                <a:sym typeface="Times New Roman"/>
              </a:rPr>
              <a:t>Raw Data → Better Features → Better Model</a:t>
            </a:r>
            <a:endParaRPr lang="en-US" sz="2400" b="1" dirty="0" smtClean="0">
              <a:latin typeface="Times New Roman"/>
              <a:ea typeface="Times New Roman"/>
              <a:cs typeface="Times New Roman"/>
              <a:sym typeface="Times New Roman"/>
            </a:endParaRPr>
          </a:p>
          <a:p>
            <a:pPr marL="342900" lvl="0" indent="-203200" algn="just" rtl="0">
              <a:lnSpc>
                <a:spcPct val="100000"/>
              </a:lnSpc>
              <a:spcBef>
                <a:spcPts val="800"/>
              </a:spcBef>
              <a:spcAft>
                <a:spcPts val="0"/>
              </a:spcAft>
              <a:buClr>
                <a:schemeClr val="dk1"/>
              </a:buClr>
              <a:buSzPts val="2200"/>
              <a:buNone/>
            </a:pPr>
            <a:endParaRPr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dirty="0" smtClean="0"/>
              <a:t>Importance</a:t>
            </a:r>
            <a:endParaRPr dirty="0"/>
          </a:p>
        </p:txBody>
      </p:sp>
      <p:sp>
        <p:nvSpPr>
          <p:cNvPr id="95" name="Google Shape;95;p2"/>
          <p:cNvSpPr txBox="1">
            <a:spLocks noGrp="1"/>
          </p:cNvSpPr>
          <p:nvPr>
            <p:ph idx="1"/>
          </p:nvPr>
        </p:nvSpPr>
        <p:spPr>
          <a:xfrm>
            <a:off x="1981200" y="1417638"/>
            <a:ext cx="8229600" cy="5103477"/>
          </a:xfrm>
          <a:prstGeom prst="rect">
            <a:avLst/>
          </a:prstGeom>
          <a:noFill/>
          <a:ln>
            <a:noFill/>
          </a:ln>
        </p:spPr>
        <p:txBody>
          <a:bodyPr spcFirstLastPara="1" wrap="square" lIns="91425" tIns="45700" rIns="91425" bIns="45700" anchor="t" anchorCtr="0">
            <a:noAutofit/>
          </a:bodyPr>
          <a:lstStyle/>
          <a:p>
            <a:pPr marL="482600" indent="-342900" algn="just">
              <a:lnSpc>
                <a:spcPct val="100000"/>
              </a:lnSpc>
              <a:spcBef>
                <a:spcPts val="800"/>
              </a:spcBef>
              <a:spcAft>
                <a:spcPts val="0"/>
              </a:spcAft>
              <a:buClr>
                <a:schemeClr val="dk1"/>
              </a:buClr>
              <a:buSzPts val="2200"/>
              <a:buFont typeface="Wingdings" panose="05000000000000000000" pitchFamily="2" charset="2"/>
              <a:buChar char="§"/>
            </a:pPr>
            <a:r>
              <a:rPr lang="en-US" sz="2400" dirty="0" smtClean="0"/>
              <a:t>Improves </a:t>
            </a:r>
            <a:r>
              <a:rPr lang="en-US" sz="2400" dirty="0"/>
              <a:t>model </a:t>
            </a:r>
            <a:r>
              <a:rPr lang="en-US" sz="2400" dirty="0" smtClean="0"/>
              <a:t>accuracy</a:t>
            </a:r>
          </a:p>
          <a:p>
            <a:pPr marL="482600" indent="-342900" algn="just">
              <a:lnSpc>
                <a:spcPct val="100000"/>
              </a:lnSpc>
              <a:spcBef>
                <a:spcPts val="800"/>
              </a:spcBef>
              <a:spcAft>
                <a:spcPts val="0"/>
              </a:spcAft>
              <a:buClr>
                <a:schemeClr val="dk1"/>
              </a:buClr>
              <a:buSzPts val="2200"/>
              <a:buFont typeface="Wingdings" panose="05000000000000000000" pitchFamily="2" charset="2"/>
              <a:buChar char="§"/>
            </a:pPr>
            <a:r>
              <a:rPr lang="en-US" sz="2400" dirty="0" smtClean="0"/>
              <a:t>Helps </a:t>
            </a:r>
            <a:r>
              <a:rPr lang="en-US" sz="2400" dirty="0"/>
              <a:t>algorithms learn patterns </a:t>
            </a:r>
            <a:r>
              <a:rPr lang="en-US" sz="2400" dirty="0" smtClean="0"/>
              <a:t>better</a:t>
            </a:r>
          </a:p>
          <a:p>
            <a:pPr marL="482600" indent="-342900" algn="just">
              <a:lnSpc>
                <a:spcPct val="100000"/>
              </a:lnSpc>
              <a:spcBef>
                <a:spcPts val="800"/>
              </a:spcBef>
              <a:spcAft>
                <a:spcPts val="0"/>
              </a:spcAft>
              <a:buClr>
                <a:schemeClr val="dk1"/>
              </a:buClr>
              <a:buSzPts val="2200"/>
              <a:buFont typeface="Wingdings" panose="05000000000000000000" pitchFamily="2" charset="2"/>
              <a:buChar char="§"/>
            </a:pPr>
            <a:r>
              <a:rPr lang="en-US" sz="2400" dirty="0" smtClean="0"/>
              <a:t>Reduces </a:t>
            </a:r>
            <a:r>
              <a:rPr lang="en-US" sz="2400" dirty="0"/>
              <a:t>noise and irrelevant </a:t>
            </a:r>
            <a:r>
              <a:rPr lang="en-US" sz="2400" dirty="0" smtClean="0"/>
              <a:t>data</a:t>
            </a:r>
          </a:p>
          <a:p>
            <a:pPr marL="482600" indent="-342900" algn="just">
              <a:lnSpc>
                <a:spcPct val="100000"/>
              </a:lnSpc>
              <a:spcBef>
                <a:spcPts val="800"/>
              </a:spcBef>
              <a:spcAft>
                <a:spcPts val="0"/>
              </a:spcAft>
              <a:buClr>
                <a:schemeClr val="dk1"/>
              </a:buClr>
              <a:buSzPts val="2200"/>
              <a:buFont typeface="Wingdings" panose="05000000000000000000" pitchFamily="2" charset="2"/>
              <a:buChar char="§"/>
            </a:pPr>
            <a:r>
              <a:rPr lang="en-US" sz="2400" dirty="0" smtClean="0"/>
              <a:t>Reduces dimensionality</a:t>
            </a:r>
          </a:p>
          <a:p>
            <a:pPr marL="482600" indent="-342900" algn="just">
              <a:lnSpc>
                <a:spcPct val="100000"/>
              </a:lnSpc>
              <a:spcBef>
                <a:spcPts val="800"/>
              </a:spcBef>
              <a:spcAft>
                <a:spcPts val="0"/>
              </a:spcAft>
              <a:buClr>
                <a:schemeClr val="dk1"/>
              </a:buClr>
              <a:buSzPts val="2200"/>
              <a:buFont typeface="Wingdings" panose="05000000000000000000" pitchFamily="2" charset="2"/>
              <a:buChar char="§"/>
            </a:pPr>
            <a:endParaRPr lang="en-US" sz="2400" dirty="0"/>
          </a:p>
          <a:p>
            <a:pPr marL="139700" indent="0" algn="just">
              <a:lnSpc>
                <a:spcPct val="100000"/>
              </a:lnSpc>
              <a:spcBef>
                <a:spcPts val="800"/>
              </a:spcBef>
              <a:spcAft>
                <a:spcPts val="0"/>
              </a:spcAft>
              <a:buClr>
                <a:schemeClr val="dk1"/>
              </a:buClr>
              <a:buSzPts val="2200"/>
              <a:buNone/>
            </a:pPr>
            <a:r>
              <a:rPr lang="en-US" sz="2400" b="1" dirty="0"/>
              <a:t>Machine learning models are only as good as the features provided</a:t>
            </a:r>
            <a:endParaRPr sz="2400" b="1" dirty="0"/>
          </a:p>
        </p:txBody>
      </p:sp>
    </p:spTree>
    <p:extLst>
      <p:ext uri="{BB962C8B-B14F-4D97-AF65-F5344CB8AC3E}">
        <p14:creationId xmlns:p14="http://schemas.microsoft.com/office/powerpoint/2010/main" val="12814040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dirty="0"/>
              <a:t>Feature Engineering</a:t>
            </a:r>
            <a:endParaRPr dirty="0"/>
          </a:p>
        </p:txBody>
      </p:sp>
      <p:sp>
        <p:nvSpPr>
          <p:cNvPr id="95" name="Google Shape;95;p2"/>
          <p:cNvSpPr txBox="1">
            <a:spLocks noGrp="1"/>
          </p:cNvSpPr>
          <p:nvPr>
            <p:ph idx="1"/>
          </p:nvPr>
        </p:nvSpPr>
        <p:spPr>
          <a:xfrm>
            <a:off x="1108953" y="1417638"/>
            <a:ext cx="9961124" cy="5103477"/>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0"/>
              </a:spcBef>
              <a:spcAft>
                <a:spcPts val="0"/>
              </a:spcAft>
              <a:buClr>
                <a:schemeClr val="dk1"/>
              </a:buClr>
              <a:buSzPts val="2000"/>
              <a:buNone/>
            </a:pPr>
            <a:r>
              <a:rPr lang="en-US" sz="2400" b="1" i="1" dirty="0">
                <a:ea typeface="Times New Roman"/>
                <a:cs typeface="Times New Roman"/>
                <a:sym typeface="Times New Roman"/>
              </a:rPr>
              <a:t>Feature engineering is the process of extracting meaningful features from raw data. </a:t>
            </a:r>
            <a:r>
              <a:rPr lang="en-US" sz="2400" dirty="0">
                <a:ea typeface="Times New Roman"/>
                <a:cs typeface="Times New Roman"/>
                <a:sym typeface="Times New Roman"/>
              </a:rPr>
              <a:t>We can experiment with different features based on our domain knowledge or understanding of the data. </a:t>
            </a:r>
            <a:endParaRPr sz="2400" dirty="0">
              <a:ea typeface="Calibri"/>
              <a:cs typeface="Calibri"/>
              <a:sym typeface="Calibri"/>
            </a:endParaRPr>
          </a:p>
          <a:p>
            <a:pPr marL="0" marR="0" lvl="0" indent="0" algn="l" rtl="0">
              <a:lnSpc>
                <a:spcPct val="107000"/>
              </a:lnSpc>
              <a:spcBef>
                <a:spcPts val="800"/>
              </a:spcBef>
              <a:spcAft>
                <a:spcPts val="0"/>
              </a:spcAft>
              <a:buClr>
                <a:schemeClr val="dk1"/>
              </a:buClr>
              <a:buSzPts val="1800"/>
              <a:buChar char="•"/>
            </a:pPr>
            <a:r>
              <a:rPr lang="en-US" sz="2400" b="1" dirty="0">
                <a:ea typeface="Times New Roman"/>
                <a:cs typeface="Times New Roman"/>
                <a:sym typeface="Times New Roman"/>
              </a:rPr>
              <a:t>There are mainly four different ways to do feature engineering:</a:t>
            </a:r>
            <a:endParaRPr sz="2400" dirty="0">
              <a:ea typeface="Calibri"/>
              <a:cs typeface="Calibri"/>
              <a:sym typeface="Calibri"/>
            </a:endParaRPr>
          </a:p>
          <a:p>
            <a:pPr marL="690563" marR="0" lvl="0" indent="-233362" algn="l" rtl="0">
              <a:lnSpc>
                <a:spcPct val="107000"/>
              </a:lnSpc>
              <a:spcBef>
                <a:spcPts val="0"/>
              </a:spcBef>
              <a:spcAft>
                <a:spcPts val="0"/>
              </a:spcAft>
              <a:buClr>
                <a:schemeClr val="dk1"/>
              </a:buClr>
              <a:buSzPts val="1000"/>
              <a:buFont typeface="Calibri"/>
              <a:buAutoNum type="arabicPeriod"/>
            </a:pPr>
            <a:r>
              <a:rPr lang="en-US" sz="2400" dirty="0">
                <a:ea typeface="Times New Roman"/>
                <a:cs typeface="Times New Roman"/>
                <a:sym typeface="Times New Roman"/>
              </a:rPr>
              <a:t>Feature Transformation (FT) </a:t>
            </a:r>
            <a:endParaRPr sz="2400" dirty="0">
              <a:ea typeface="Calibri"/>
              <a:cs typeface="Calibri"/>
              <a:sym typeface="Calibri"/>
            </a:endParaRPr>
          </a:p>
          <a:p>
            <a:pPr marL="690563" marR="0" lvl="0" indent="-233362" algn="l" rtl="0">
              <a:lnSpc>
                <a:spcPct val="107000"/>
              </a:lnSpc>
              <a:spcBef>
                <a:spcPts val="0"/>
              </a:spcBef>
              <a:spcAft>
                <a:spcPts val="0"/>
              </a:spcAft>
              <a:buClr>
                <a:schemeClr val="dk1"/>
              </a:buClr>
              <a:buSzPts val="1000"/>
              <a:buFont typeface="Calibri"/>
              <a:buAutoNum type="arabicPeriod"/>
            </a:pPr>
            <a:r>
              <a:rPr lang="en-US" sz="2400" dirty="0">
                <a:ea typeface="Times New Roman"/>
                <a:cs typeface="Times New Roman"/>
                <a:sym typeface="Times New Roman"/>
              </a:rPr>
              <a:t>Feature Construction</a:t>
            </a:r>
            <a:endParaRPr sz="2400" dirty="0">
              <a:ea typeface="Calibri"/>
              <a:cs typeface="Calibri"/>
              <a:sym typeface="Calibri"/>
            </a:endParaRPr>
          </a:p>
          <a:p>
            <a:pPr marL="690563" marR="0" lvl="0" indent="-233362" algn="l" rtl="0">
              <a:lnSpc>
                <a:spcPct val="107000"/>
              </a:lnSpc>
              <a:spcBef>
                <a:spcPts val="0"/>
              </a:spcBef>
              <a:spcAft>
                <a:spcPts val="0"/>
              </a:spcAft>
              <a:buClr>
                <a:schemeClr val="dk1"/>
              </a:buClr>
              <a:buSzPts val="1000"/>
              <a:buFont typeface="Calibri"/>
              <a:buAutoNum type="arabicPeriod"/>
            </a:pPr>
            <a:r>
              <a:rPr lang="en-US" sz="2400" dirty="0">
                <a:ea typeface="Times New Roman"/>
                <a:cs typeface="Times New Roman"/>
                <a:sym typeface="Times New Roman"/>
              </a:rPr>
              <a:t>Feature Selection</a:t>
            </a:r>
            <a:endParaRPr sz="2400" dirty="0">
              <a:ea typeface="Calibri"/>
              <a:cs typeface="Calibri"/>
              <a:sym typeface="Calibri"/>
            </a:endParaRPr>
          </a:p>
          <a:p>
            <a:pPr marL="690563" marR="0" lvl="0" indent="-233362" algn="l" rtl="0">
              <a:lnSpc>
                <a:spcPct val="107000"/>
              </a:lnSpc>
              <a:spcBef>
                <a:spcPts val="0"/>
              </a:spcBef>
              <a:spcAft>
                <a:spcPts val="0"/>
              </a:spcAft>
              <a:buClr>
                <a:schemeClr val="dk1"/>
              </a:buClr>
              <a:buSzPts val="1000"/>
              <a:buFont typeface="Calibri"/>
              <a:buAutoNum type="arabicPeriod"/>
            </a:pPr>
            <a:r>
              <a:rPr lang="en-US" sz="2400" dirty="0">
                <a:ea typeface="Times New Roman"/>
                <a:cs typeface="Times New Roman"/>
                <a:sym typeface="Times New Roman"/>
              </a:rPr>
              <a:t>Feature Extraction</a:t>
            </a:r>
            <a:endParaRPr sz="2400" dirty="0"/>
          </a:p>
          <a:p>
            <a:pPr marL="690563" marR="0" lvl="0" indent="-169862" algn="l" rtl="0">
              <a:lnSpc>
                <a:spcPct val="107000"/>
              </a:lnSpc>
              <a:spcBef>
                <a:spcPts val="0"/>
              </a:spcBef>
              <a:spcAft>
                <a:spcPts val="0"/>
              </a:spcAft>
              <a:buClr>
                <a:schemeClr val="dk1"/>
              </a:buClr>
              <a:buSzPts val="1000"/>
              <a:buFont typeface="Calibri"/>
              <a:buNone/>
            </a:pPr>
            <a:endParaRPr sz="2400" dirty="0">
              <a:ea typeface="Calibri"/>
              <a:cs typeface="Calibri"/>
              <a:sym typeface="Calibri"/>
            </a:endParaRPr>
          </a:p>
          <a:p>
            <a:pPr marL="0" marR="0" lvl="0" indent="0" algn="l" rtl="0">
              <a:lnSpc>
                <a:spcPct val="107000"/>
              </a:lnSpc>
              <a:spcBef>
                <a:spcPts val="0"/>
              </a:spcBef>
              <a:spcAft>
                <a:spcPts val="0"/>
              </a:spcAft>
              <a:buClr>
                <a:schemeClr val="dk1"/>
              </a:buClr>
              <a:buSzPts val="1800"/>
              <a:buNone/>
            </a:pPr>
            <a:r>
              <a:rPr lang="en-US" sz="2400" b="1" dirty="0">
                <a:ea typeface="Times New Roman"/>
                <a:cs typeface="Times New Roman"/>
                <a:sym typeface="Times New Roman"/>
              </a:rPr>
              <a:t/>
            </a:r>
            <a:br>
              <a:rPr lang="en-US" sz="2400" b="1" dirty="0">
                <a:ea typeface="Times New Roman"/>
                <a:cs typeface="Times New Roman"/>
                <a:sym typeface="Times New Roman"/>
              </a:rPr>
            </a:br>
            <a:r>
              <a:rPr lang="en-US" sz="2400" b="1" dirty="0">
                <a:ea typeface="Times New Roman"/>
                <a:cs typeface="Times New Roman"/>
                <a:sym typeface="Times New Roman"/>
              </a:rPr>
              <a:t> </a:t>
            </a:r>
            <a:endParaRPr sz="2400" dirty="0">
              <a:ea typeface="Calibri"/>
              <a:cs typeface="Calibri"/>
              <a:sym typeface="Calibri"/>
            </a:endParaRPr>
          </a:p>
          <a:p>
            <a:pPr marL="342900" lvl="0" indent="-203200" algn="just" rtl="0">
              <a:lnSpc>
                <a:spcPct val="100000"/>
              </a:lnSpc>
              <a:spcBef>
                <a:spcPts val="800"/>
              </a:spcBef>
              <a:spcAft>
                <a:spcPts val="0"/>
              </a:spcAft>
              <a:buClr>
                <a:schemeClr val="dk1"/>
              </a:buClr>
              <a:buSzPts val="2200"/>
              <a:buNone/>
            </a:pPr>
            <a:endParaRPr sz="2400" dirty="0"/>
          </a:p>
        </p:txBody>
      </p:sp>
      <p:graphicFrame>
        <p:nvGraphicFramePr>
          <p:cNvPr id="2" name="Table 1"/>
          <p:cNvGraphicFramePr>
            <a:graphicFrameLocks noGrp="1"/>
          </p:cNvGraphicFramePr>
          <p:nvPr>
            <p:extLst>
              <p:ext uri="{D42A27DB-BD31-4B8C-83A1-F6EECF244321}">
                <p14:modId xmlns:p14="http://schemas.microsoft.com/office/powerpoint/2010/main" val="817912072"/>
              </p:ext>
            </p:extLst>
          </p:nvPr>
        </p:nvGraphicFramePr>
        <p:xfrm>
          <a:off x="1235869" y="4692315"/>
          <a:ext cx="9720262" cy="1828800"/>
        </p:xfrm>
        <a:graphic>
          <a:graphicData uri="http://schemas.openxmlformats.org/drawingml/2006/table">
            <a:tbl>
              <a:tblPr/>
              <a:tblGrid>
                <a:gridCol w="4860131"/>
                <a:gridCol w="4860131"/>
              </a:tblGrid>
              <a:tr h="0">
                <a:tc>
                  <a:txBody>
                    <a:bodyPr/>
                    <a:lstStyle/>
                    <a:p>
                      <a:r>
                        <a:rPr lang="en-US" dirty="0"/>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a:t>Idea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0">
                <a:tc>
                  <a:txBody>
                    <a:bodyPr/>
                    <a:lstStyle/>
                    <a:p>
                      <a:r>
                        <a:rPr lang="en-US" dirty="0"/>
                        <a:t>Transformation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dirty="0"/>
                        <a:t>Modify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0">
                <a:tc>
                  <a:txBody>
                    <a:bodyPr/>
                    <a:lstStyle/>
                    <a:p>
                      <a:r>
                        <a:rPr lang="en-US" dirty="0"/>
                        <a:t>Construction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a:t>Create new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0">
                <a:tc>
                  <a:txBody>
                    <a:bodyPr/>
                    <a:lstStyle/>
                    <a:p>
                      <a:r>
                        <a:rPr lang="en-US"/>
                        <a:t>Selection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a:t>Choose important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0">
                <a:tc>
                  <a:txBody>
                    <a:bodyPr/>
                    <a:lstStyle/>
                    <a:p>
                      <a:r>
                        <a:rPr lang="en-US"/>
                        <a:t>Extraction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dirty="0"/>
                        <a:t>Reduce dimensions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bl>
          </a:graphicData>
        </a:graphic>
      </p:graphicFrame>
    </p:spTree>
    <p:extLst>
      <p:ext uri="{BB962C8B-B14F-4D97-AF65-F5344CB8AC3E}">
        <p14:creationId xmlns:p14="http://schemas.microsoft.com/office/powerpoint/2010/main" val="18990750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9"/>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dirty="0"/>
              <a:t>Data Transformation</a:t>
            </a:r>
            <a:endParaRPr dirty="0"/>
          </a:p>
        </p:txBody>
      </p:sp>
      <p:sp>
        <p:nvSpPr>
          <p:cNvPr id="143" name="Google Shape;143;p9"/>
          <p:cNvSpPr txBox="1">
            <a:spLocks noGrp="1"/>
          </p:cNvSpPr>
          <p:nvPr>
            <p:ph idx="1"/>
          </p:nvPr>
        </p:nvSpPr>
        <p:spPr>
          <a:xfrm>
            <a:off x="1468244" y="1577899"/>
            <a:ext cx="8846634" cy="4525963"/>
          </a:xfrm>
          <a:prstGeom prst="rect">
            <a:avLst/>
          </a:prstGeom>
          <a:noFill/>
          <a:ln>
            <a:noFill/>
          </a:ln>
        </p:spPr>
        <p:txBody>
          <a:bodyPr spcFirstLastPara="1" wrap="square" lIns="91425" tIns="45700" rIns="91425" bIns="45700" anchor="t" anchorCtr="0">
            <a:noAutofit/>
          </a:bodyPr>
          <a:lstStyle/>
          <a:p>
            <a:pPr marL="342900" lvl="0" indent="-342900" algn="just" rtl="0">
              <a:lnSpc>
                <a:spcPct val="100000"/>
              </a:lnSpc>
              <a:spcBef>
                <a:spcPts val="0"/>
              </a:spcBef>
              <a:spcAft>
                <a:spcPts val="0"/>
              </a:spcAft>
              <a:buClr>
                <a:schemeClr val="dk1"/>
              </a:buClr>
              <a:buSzPts val="2200"/>
              <a:buChar char="•"/>
            </a:pPr>
            <a:r>
              <a:rPr lang="en-US" sz="2400" dirty="0"/>
              <a:t>Data transformation is an important issue for machine learning. </a:t>
            </a:r>
            <a:endParaRPr sz="2400" dirty="0"/>
          </a:p>
          <a:p>
            <a:pPr marL="342900" lvl="0" indent="-342900" algn="just" rtl="0">
              <a:lnSpc>
                <a:spcPct val="100000"/>
              </a:lnSpc>
              <a:spcBef>
                <a:spcPts val="440"/>
              </a:spcBef>
              <a:spcAft>
                <a:spcPts val="0"/>
              </a:spcAft>
              <a:buClr>
                <a:schemeClr val="dk1"/>
              </a:buClr>
              <a:buSzPts val="2200"/>
              <a:buChar char="•"/>
            </a:pPr>
            <a:r>
              <a:rPr lang="en-US" sz="2400" dirty="0"/>
              <a:t>Suppose you have a dataset that contains some people's age and income data. The age range of human beings is usually from 0 to 100, in fact it is seen that those who earn may be between 25 and 60 years of age. </a:t>
            </a:r>
            <a:endParaRPr sz="2400" dirty="0"/>
          </a:p>
          <a:p>
            <a:pPr marL="342900" lvl="0" indent="-342900" algn="just" rtl="0">
              <a:lnSpc>
                <a:spcPct val="100000"/>
              </a:lnSpc>
              <a:spcBef>
                <a:spcPts val="440"/>
              </a:spcBef>
              <a:spcAft>
                <a:spcPts val="0"/>
              </a:spcAft>
              <a:buClr>
                <a:schemeClr val="dk1"/>
              </a:buClr>
              <a:buSzPts val="2200"/>
              <a:buChar char="•"/>
            </a:pPr>
            <a:r>
              <a:rPr lang="en-US" sz="2400" dirty="0"/>
              <a:t>On the other hand, the amount of income can be from a few thousand to a few lakhs. So it is clear to us that there is a big difference between the age range and the income range. Sometimes such differences can cause the model to be biased. </a:t>
            </a:r>
            <a:endParaRPr sz="2400" dirty="0"/>
          </a:p>
          <a:p>
            <a:pPr marL="342900" lvl="0" indent="-342900" algn="just" rtl="0">
              <a:lnSpc>
                <a:spcPct val="100000"/>
              </a:lnSpc>
              <a:spcBef>
                <a:spcPts val="440"/>
              </a:spcBef>
              <a:spcAft>
                <a:spcPts val="0"/>
              </a:spcAft>
              <a:buClr>
                <a:schemeClr val="dk1"/>
              </a:buClr>
              <a:buSzPts val="2200"/>
              <a:buChar char="•"/>
            </a:pPr>
            <a:r>
              <a:rPr lang="en-US" sz="2400" dirty="0"/>
              <a:t>Also, scaling the data increases the performance of the model, in many cases it takes less time to run the model. </a:t>
            </a:r>
            <a:endParaRPr sz="2400" dirty="0"/>
          </a:p>
          <a:p>
            <a:pPr marL="342900" lvl="0" indent="-342900" algn="just" rtl="0">
              <a:lnSpc>
                <a:spcPct val="100000"/>
              </a:lnSpc>
              <a:spcBef>
                <a:spcPts val="440"/>
              </a:spcBef>
              <a:spcAft>
                <a:spcPts val="0"/>
              </a:spcAft>
              <a:buClr>
                <a:schemeClr val="dk1"/>
              </a:buClr>
              <a:buSzPts val="2200"/>
              <a:buChar char="•"/>
            </a:pPr>
            <a:r>
              <a:rPr lang="en-US" sz="2400" dirty="0"/>
              <a:t>Many people also call data transformation as feature engineering.</a:t>
            </a:r>
            <a:endParaRPr sz="2400" dirty="0"/>
          </a:p>
        </p:txBody>
      </p:sp>
    </p:spTree>
    <p:extLst>
      <p:ext uri="{BB962C8B-B14F-4D97-AF65-F5344CB8AC3E}">
        <p14:creationId xmlns:p14="http://schemas.microsoft.com/office/powerpoint/2010/main" val="30579164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dirty="0"/>
              <a:t>Feature </a:t>
            </a:r>
            <a:r>
              <a:rPr lang="en-US" dirty="0" smtClean="0"/>
              <a:t>Transformation</a:t>
            </a:r>
            <a:endParaRPr dirty="0"/>
          </a:p>
        </p:txBody>
      </p:sp>
      <p:sp>
        <p:nvSpPr>
          <p:cNvPr id="95" name="Google Shape;95;p2"/>
          <p:cNvSpPr txBox="1">
            <a:spLocks noGrp="1"/>
          </p:cNvSpPr>
          <p:nvPr>
            <p:ph idx="1"/>
          </p:nvPr>
        </p:nvSpPr>
        <p:spPr>
          <a:xfrm>
            <a:off x="1108953" y="1417638"/>
            <a:ext cx="9961124" cy="5103477"/>
          </a:xfrm>
          <a:prstGeom prst="rect">
            <a:avLst/>
          </a:prstGeom>
          <a:noFill/>
          <a:ln>
            <a:noFill/>
          </a:ln>
        </p:spPr>
        <p:txBody>
          <a:bodyPr spcFirstLastPara="1" wrap="square" lIns="91425" tIns="45700" rIns="91425" bIns="45700" anchor="t" anchorCtr="0">
            <a:noAutofit/>
          </a:bodyPr>
          <a:lstStyle/>
          <a:p>
            <a:pPr marL="690563" marR="0" lvl="0" indent="-169862" algn="l" rtl="0">
              <a:lnSpc>
                <a:spcPct val="107000"/>
              </a:lnSpc>
              <a:spcBef>
                <a:spcPts val="0"/>
              </a:spcBef>
              <a:spcAft>
                <a:spcPts val="0"/>
              </a:spcAft>
              <a:buClr>
                <a:schemeClr val="dk1"/>
              </a:buClr>
              <a:buSzPts val="1000"/>
              <a:buFont typeface="Calibri"/>
              <a:buNone/>
            </a:pPr>
            <a:endParaRPr sz="2400" dirty="0">
              <a:ea typeface="Calibri"/>
              <a:cs typeface="Calibri"/>
              <a:sym typeface="Calibri"/>
            </a:endParaRPr>
          </a:p>
          <a:p>
            <a:pPr marL="0" marR="0" lvl="0" indent="0" algn="l" rtl="0">
              <a:lnSpc>
                <a:spcPct val="107000"/>
              </a:lnSpc>
              <a:spcBef>
                <a:spcPts val="0"/>
              </a:spcBef>
              <a:spcAft>
                <a:spcPts val="0"/>
              </a:spcAft>
              <a:buClr>
                <a:srgbClr val="000000"/>
              </a:buClr>
              <a:buSzPts val="1800"/>
              <a:buNone/>
            </a:pPr>
            <a:r>
              <a:rPr lang="en-US" sz="2400" b="1" dirty="0">
                <a:solidFill>
                  <a:srgbClr val="000000"/>
                </a:solidFill>
                <a:ea typeface="Times New Roman"/>
                <a:cs typeface="Times New Roman"/>
                <a:sym typeface="Times New Roman"/>
              </a:rPr>
              <a:t>1. Feature Transformation</a:t>
            </a:r>
            <a:endParaRPr sz="2400" dirty="0">
              <a:ea typeface="Calibri"/>
              <a:cs typeface="Calibri"/>
              <a:sym typeface="Calibri"/>
            </a:endParaRPr>
          </a:p>
          <a:p>
            <a:pPr marL="0" marR="0" lvl="0" indent="0" algn="l" rtl="0">
              <a:lnSpc>
                <a:spcPct val="107000"/>
              </a:lnSpc>
              <a:spcBef>
                <a:spcPts val="0"/>
              </a:spcBef>
              <a:spcAft>
                <a:spcPts val="0"/>
              </a:spcAft>
              <a:buClr>
                <a:schemeClr val="dk1"/>
              </a:buClr>
              <a:buSzPts val="1800"/>
              <a:buNone/>
            </a:pPr>
            <a:r>
              <a:rPr lang="en-US" sz="2400" i="1" dirty="0">
                <a:ea typeface="Times New Roman"/>
                <a:cs typeface="Times New Roman"/>
                <a:sym typeface="Times New Roman"/>
              </a:rPr>
              <a:t>Feature transformation is the process of modifying features to make them more suitable for machine learning algorithms."</a:t>
            </a:r>
            <a:r>
              <a:rPr lang="en-US" sz="2400" dirty="0">
                <a:ea typeface="Times New Roman"/>
                <a:cs typeface="Times New Roman"/>
                <a:sym typeface="Times New Roman"/>
              </a:rPr>
              <a:t> It includes </a:t>
            </a:r>
            <a:endParaRPr sz="2400" dirty="0">
              <a:ea typeface="Calibri"/>
              <a:cs typeface="Calibri"/>
              <a:sym typeface="Calibri"/>
            </a:endParaRPr>
          </a:p>
          <a:p>
            <a:pPr marL="512763" marR="0" lvl="0" indent="-279399" algn="l" rtl="0">
              <a:lnSpc>
                <a:spcPct val="107000"/>
              </a:lnSpc>
              <a:spcBef>
                <a:spcPts val="0"/>
              </a:spcBef>
              <a:spcAft>
                <a:spcPts val="0"/>
              </a:spcAft>
              <a:buClr>
                <a:schemeClr val="dk1"/>
              </a:buClr>
              <a:buSzPts val="1800"/>
              <a:buFont typeface="Calibri"/>
              <a:buAutoNum type="arabicPeriod"/>
            </a:pPr>
            <a:r>
              <a:rPr lang="en-US" sz="2400" dirty="0">
                <a:ea typeface="Times New Roman"/>
                <a:cs typeface="Times New Roman"/>
                <a:sym typeface="Times New Roman"/>
              </a:rPr>
              <a:t>Handling missing values, </a:t>
            </a:r>
            <a:endParaRPr sz="2400" dirty="0">
              <a:ea typeface="Calibri"/>
              <a:cs typeface="Calibri"/>
              <a:sym typeface="Calibri"/>
            </a:endParaRPr>
          </a:p>
          <a:p>
            <a:pPr marL="512763" marR="0" lvl="0" indent="-279399" algn="l" rtl="0">
              <a:lnSpc>
                <a:spcPct val="107000"/>
              </a:lnSpc>
              <a:spcBef>
                <a:spcPts val="0"/>
              </a:spcBef>
              <a:spcAft>
                <a:spcPts val="0"/>
              </a:spcAft>
              <a:buClr>
                <a:schemeClr val="dk1"/>
              </a:buClr>
              <a:buSzPts val="1800"/>
              <a:buFont typeface="Calibri"/>
              <a:buAutoNum type="arabicPeriod"/>
            </a:pPr>
            <a:r>
              <a:rPr lang="en-US" sz="2400" dirty="0">
                <a:ea typeface="Times New Roman"/>
                <a:cs typeface="Times New Roman"/>
                <a:sym typeface="Times New Roman"/>
              </a:rPr>
              <a:t>Handling categorical values (converting categorical features to numerical values)</a:t>
            </a:r>
            <a:endParaRPr sz="2400" dirty="0">
              <a:ea typeface="Calibri"/>
              <a:cs typeface="Calibri"/>
              <a:sym typeface="Calibri"/>
            </a:endParaRPr>
          </a:p>
          <a:p>
            <a:pPr marL="512763" marR="0" lvl="0" indent="-279399" algn="l" rtl="0">
              <a:lnSpc>
                <a:spcPct val="107000"/>
              </a:lnSpc>
              <a:spcBef>
                <a:spcPts val="0"/>
              </a:spcBef>
              <a:spcAft>
                <a:spcPts val="0"/>
              </a:spcAft>
              <a:buClr>
                <a:schemeClr val="dk1"/>
              </a:buClr>
              <a:buSzPts val="1800"/>
              <a:buFont typeface="Calibri"/>
              <a:buAutoNum type="arabicPeriod"/>
            </a:pPr>
            <a:r>
              <a:rPr lang="en-US" sz="2400" dirty="0">
                <a:ea typeface="Times New Roman"/>
                <a:cs typeface="Times New Roman"/>
                <a:sym typeface="Times New Roman"/>
              </a:rPr>
              <a:t>Detecting outliers, and </a:t>
            </a:r>
            <a:endParaRPr sz="2400" dirty="0">
              <a:ea typeface="Calibri"/>
              <a:cs typeface="Calibri"/>
              <a:sym typeface="Calibri"/>
            </a:endParaRPr>
          </a:p>
          <a:p>
            <a:pPr marL="512763" marR="0" lvl="0" indent="-279399" algn="l" rtl="0">
              <a:lnSpc>
                <a:spcPct val="107000"/>
              </a:lnSpc>
              <a:spcBef>
                <a:spcPts val="0"/>
              </a:spcBef>
              <a:spcAft>
                <a:spcPts val="0"/>
              </a:spcAft>
              <a:buClr>
                <a:schemeClr val="dk1"/>
              </a:buClr>
              <a:buSzPts val="1800"/>
              <a:buFont typeface="Calibri"/>
              <a:buAutoNum type="arabicPeriod"/>
            </a:pPr>
            <a:r>
              <a:rPr lang="en-US" sz="2400" dirty="0">
                <a:ea typeface="Times New Roman"/>
                <a:cs typeface="Times New Roman"/>
                <a:sym typeface="Times New Roman"/>
              </a:rPr>
              <a:t>Calling features to a standard or common range.</a:t>
            </a:r>
            <a:endParaRPr sz="2400" dirty="0">
              <a:ea typeface="Calibri"/>
              <a:cs typeface="Calibri"/>
              <a:sym typeface="Calibri"/>
            </a:endParaRPr>
          </a:p>
          <a:p>
            <a:pPr marL="0" marR="0" lvl="0" indent="0" algn="l" rtl="0">
              <a:lnSpc>
                <a:spcPct val="107000"/>
              </a:lnSpc>
              <a:spcBef>
                <a:spcPts val="0"/>
              </a:spcBef>
              <a:spcAft>
                <a:spcPts val="0"/>
              </a:spcAft>
              <a:buClr>
                <a:schemeClr val="dk1"/>
              </a:buClr>
              <a:buSzPts val="1800"/>
              <a:buNone/>
            </a:pPr>
            <a:r>
              <a:rPr lang="en-US" sz="2400" b="1" dirty="0">
                <a:ea typeface="Times New Roman"/>
                <a:cs typeface="Times New Roman"/>
                <a:sym typeface="Times New Roman"/>
              </a:rPr>
              <a:t/>
            </a:r>
            <a:br>
              <a:rPr lang="en-US" sz="2400" b="1" dirty="0">
                <a:ea typeface="Times New Roman"/>
                <a:cs typeface="Times New Roman"/>
                <a:sym typeface="Times New Roman"/>
              </a:rPr>
            </a:br>
            <a:r>
              <a:rPr lang="en-US" sz="2400" b="1" dirty="0">
                <a:ea typeface="Times New Roman"/>
                <a:cs typeface="Times New Roman"/>
                <a:sym typeface="Times New Roman"/>
              </a:rPr>
              <a:t> </a:t>
            </a:r>
            <a:endParaRPr sz="2400" dirty="0">
              <a:ea typeface="Calibri"/>
              <a:cs typeface="Calibri"/>
              <a:sym typeface="Calibri"/>
            </a:endParaRPr>
          </a:p>
          <a:p>
            <a:pPr marL="342900" lvl="0" indent="-203200" algn="just" rtl="0">
              <a:lnSpc>
                <a:spcPct val="100000"/>
              </a:lnSpc>
              <a:spcBef>
                <a:spcPts val="800"/>
              </a:spcBef>
              <a:spcAft>
                <a:spcPts val="0"/>
              </a:spcAft>
              <a:buClr>
                <a:schemeClr val="dk1"/>
              </a:buClr>
              <a:buSzPts val="2200"/>
              <a:buNone/>
            </a:pPr>
            <a:endParaRPr sz="2400" dirty="0"/>
          </a:p>
        </p:txBody>
      </p:sp>
    </p:spTree>
    <p:extLst>
      <p:ext uri="{BB962C8B-B14F-4D97-AF65-F5344CB8AC3E}">
        <p14:creationId xmlns:p14="http://schemas.microsoft.com/office/powerpoint/2010/main" val="36265026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9"/>
        <p:cNvGrpSpPr/>
        <p:nvPr/>
      </p:nvGrpSpPr>
      <p:grpSpPr>
        <a:xfrm>
          <a:off x="0" y="0"/>
          <a:ext cx="0" cy="0"/>
          <a:chOff x="0" y="0"/>
          <a:chExt cx="0" cy="0"/>
        </a:xfrm>
      </p:grpSpPr>
      <p:sp>
        <p:nvSpPr>
          <p:cNvPr id="100" name="Google Shape;100;p3"/>
          <p:cNvSpPr txBox="1">
            <a:spLocks noGrp="1"/>
          </p:cNvSpPr>
          <p:nvPr>
            <p:ph type="title"/>
          </p:nvPr>
        </p:nvSpPr>
        <p:spPr>
          <a:xfrm>
            <a:off x="838200" y="75616"/>
            <a:ext cx="10515600" cy="605421"/>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ct val="100000"/>
              <a:buFont typeface="Times New Roman"/>
              <a:buNone/>
            </a:pPr>
            <a:r>
              <a:rPr lang="en-US" dirty="0">
                <a:ea typeface="Times New Roman"/>
                <a:cs typeface="Times New Roman"/>
                <a:sym typeface="Times New Roman"/>
              </a:rPr>
              <a:t>                </a:t>
            </a:r>
            <a:br>
              <a:rPr lang="en-US" dirty="0">
                <a:ea typeface="Times New Roman"/>
                <a:cs typeface="Times New Roman"/>
                <a:sym typeface="Times New Roman"/>
              </a:rPr>
            </a:br>
            <a:r>
              <a:rPr lang="en-US" dirty="0">
                <a:ea typeface="Times New Roman"/>
                <a:cs typeface="Times New Roman"/>
                <a:sym typeface="Times New Roman"/>
              </a:rPr>
              <a:t>                   Handling Missing Values</a:t>
            </a:r>
            <a:r>
              <a:rPr lang="en-US" dirty="0">
                <a:ea typeface="Calibri"/>
                <a:cs typeface="Calibri"/>
                <a:sym typeface="Calibri"/>
              </a:rPr>
              <a:t/>
            </a:r>
            <a:br>
              <a:rPr lang="en-US" dirty="0">
                <a:ea typeface="Calibri"/>
                <a:cs typeface="Calibri"/>
                <a:sym typeface="Calibri"/>
              </a:rPr>
            </a:br>
            <a:endParaRPr dirty="0"/>
          </a:p>
        </p:txBody>
      </p:sp>
      <p:sp>
        <p:nvSpPr>
          <p:cNvPr id="101" name="Google Shape;101;p3"/>
          <p:cNvSpPr txBox="1">
            <a:spLocks noGrp="1"/>
          </p:cNvSpPr>
          <p:nvPr>
            <p:ph idx="1"/>
          </p:nvPr>
        </p:nvSpPr>
        <p:spPr>
          <a:xfrm>
            <a:off x="838200" y="681036"/>
            <a:ext cx="10515600" cy="6101347"/>
          </a:xfrm>
          <a:prstGeom prst="rect">
            <a:avLst/>
          </a:prstGeom>
          <a:noFill/>
          <a:ln>
            <a:noFill/>
          </a:ln>
        </p:spPr>
        <p:txBody>
          <a:bodyPr spcFirstLastPara="1" wrap="square" lIns="91425" tIns="45700" rIns="91425" bIns="45700" anchor="t" anchorCtr="0">
            <a:normAutofit/>
          </a:bodyPr>
          <a:lstStyle/>
          <a:p>
            <a:pPr marL="0" marR="0" lvl="0" indent="0" algn="l" rtl="0">
              <a:lnSpc>
                <a:spcPct val="107000"/>
              </a:lnSpc>
              <a:spcBef>
                <a:spcPts val="0"/>
              </a:spcBef>
              <a:spcAft>
                <a:spcPts val="0"/>
              </a:spcAft>
              <a:buClr>
                <a:schemeClr val="dk1"/>
              </a:buClr>
              <a:buSzPct val="100000"/>
              <a:buChar char="•"/>
            </a:pPr>
            <a:r>
              <a:rPr lang="en-US" sz="2400" dirty="0">
                <a:ea typeface="Times New Roman"/>
                <a:cs typeface="Times New Roman"/>
                <a:sym typeface="Times New Roman"/>
              </a:rPr>
              <a:t>Missing values can crash our data and ruin the model due to overlooking them.</a:t>
            </a:r>
            <a:endParaRPr sz="2400" dirty="0">
              <a:ea typeface="Calibri"/>
              <a:cs typeface="Calibri"/>
              <a:sym typeface="Calibri"/>
            </a:endParaRPr>
          </a:p>
          <a:p>
            <a:pPr marL="0" marR="0" lvl="0" indent="0" algn="l" rtl="0">
              <a:lnSpc>
                <a:spcPct val="107000"/>
              </a:lnSpc>
              <a:spcBef>
                <a:spcPts val="800"/>
              </a:spcBef>
              <a:spcAft>
                <a:spcPts val="0"/>
              </a:spcAft>
              <a:buClr>
                <a:schemeClr val="dk1"/>
              </a:buClr>
              <a:buSzPct val="100000"/>
              <a:buChar char="•"/>
            </a:pPr>
            <a:r>
              <a:rPr lang="en-US" sz="2400" dirty="0">
                <a:ea typeface="Times New Roman"/>
                <a:cs typeface="Times New Roman"/>
                <a:sym typeface="Times New Roman"/>
              </a:rPr>
              <a:t>There are two main approaches to handling missing values:</a:t>
            </a:r>
            <a:endParaRPr sz="2400" dirty="0">
              <a:ea typeface="Calibri"/>
              <a:cs typeface="Calibri"/>
              <a:sym typeface="Calibri"/>
            </a:endParaRPr>
          </a:p>
          <a:p>
            <a:pPr marL="342900" marR="0" lvl="0" indent="-342900" algn="l" rtl="0">
              <a:lnSpc>
                <a:spcPct val="107000"/>
              </a:lnSpc>
              <a:spcBef>
                <a:spcPts val="800"/>
              </a:spcBef>
              <a:spcAft>
                <a:spcPts val="0"/>
              </a:spcAft>
              <a:buClr>
                <a:schemeClr val="dk1"/>
              </a:buClr>
              <a:buSzPct val="49019"/>
              <a:buFont typeface="Noto Sans Symbols"/>
              <a:buChar char="∙"/>
            </a:pPr>
            <a:r>
              <a:rPr lang="en-US" sz="2400" b="1" dirty="0">
                <a:ea typeface="Times New Roman"/>
                <a:cs typeface="Times New Roman"/>
                <a:sym typeface="Times New Roman"/>
              </a:rPr>
              <a:t>Imputation:</a:t>
            </a:r>
            <a:r>
              <a:rPr lang="en-US" sz="2400" dirty="0">
                <a:ea typeface="Times New Roman"/>
                <a:cs typeface="Times New Roman"/>
                <a:sym typeface="Times New Roman"/>
              </a:rPr>
              <a:t> This is like filling in the blanks with estimates. We can use the mean, median, or mode of the nearest values, or we can use some logic to fill in the blanks.</a:t>
            </a:r>
            <a:endParaRPr dirty="0"/>
          </a:p>
          <a:p>
            <a:pPr marL="342900" marR="0" lvl="0" indent="-279400" algn="l" rtl="0">
              <a:lnSpc>
                <a:spcPct val="107000"/>
              </a:lnSpc>
              <a:spcBef>
                <a:spcPts val="800"/>
              </a:spcBef>
              <a:spcAft>
                <a:spcPts val="0"/>
              </a:spcAft>
              <a:buClr>
                <a:schemeClr val="dk1"/>
              </a:buClr>
              <a:buSzPct val="49019"/>
              <a:buFont typeface="Noto Sans Symbols"/>
              <a:buNone/>
            </a:pPr>
            <a:endParaRPr sz="2400" dirty="0">
              <a:ea typeface="Times New Roman"/>
              <a:cs typeface="Times New Roman"/>
              <a:sym typeface="Times New Roman"/>
            </a:endParaRPr>
          </a:p>
          <a:p>
            <a:pPr marL="342900" marR="0" lvl="0" indent="-279400" algn="l" rtl="0">
              <a:lnSpc>
                <a:spcPct val="107000"/>
              </a:lnSpc>
              <a:spcBef>
                <a:spcPts val="800"/>
              </a:spcBef>
              <a:spcAft>
                <a:spcPts val="0"/>
              </a:spcAft>
              <a:buClr>
                <a:schemeClr val="dk1"/>
              </a:buClr>
              <a:buSzPct val="49019"/>
              <a:buFont typeface="Noto Sans Symbols"/>
              <a:buNone/>
            </a:pPr>
            <a:endParaRPr sz="2400" dirty="0">
              <a:ea typeface="Times New Roman"/>
              <a:cs typeface="Times New Roman"/>
              <a:sym typeface="Times New Roman"/>
            </a:endParaRPr>
          </a:p>
          <a:p>
            <a:pPr marL="342900" marR="0" lvl="0" indent="-279400" algn="l" rtl="0">
              <a:lnSpc>
                <a:spcPct val="107000"/>
              </a:lnSpc>
              <a:spcBef>
                <a:spcPts val="800"/>
              </a:spcBef>
              <a:spcAft>
                <a:spcPts val="0"/>
              </a:spcAft>
              <a:buClr>
                <a:schemeClr val="dk1"/>
              </a:buClr>
              <a:buSzPct val="49019"/>
              <a:buFont typeface="Noto Sans Symbols"/>
              <a:buNone/>
            </a:pPr>
            <a:endParaRPr sz="2400" dirty="0">
              <a:ea typeface="Times New Roman"/>
              <a:cs typeface="Times New Roman"/>
              <a:sym typeface="Times New Roman"/>
            </a:endParaRPr>
          </a:p>
          <a:p>
            <a:pPr marL="342900" marR="0" lvl="0" indent="-279400" algn="l" rtl="0">
              <a:lnSpc>
                <a:spcPct val="107000"/>
              </a:lnSpc>
              <a:spcBef>
                <a:spcPts val="800"/>
              </a:spcBef>
              <a:spcAft>
                <a:spcPts val="0"/>
              </a:spcAft>
              <a:buClr>
                <a:schemeClr val="dk1"/>
              </a:buClr>
              <a:buSzPct val="49019"/>
              <a:buFont typeface="Noto Sans Symbols"/>
              <a:buNone/>
            </a:pPr>
            <a:endParaRPr sz="2400" dirty="0">
              <a:ea typeface="Times New Roman"/>
              <a:cs typeface="Times New Roman"/>
              <a:sym typeface="Times New Roman"/>
            </a:endParaRPr>
          </a:p>
          <a:p>
            <a:pPr marL="342900" marR="0" lvl="0" indent="-279400" algn="l" rtl="0">
              <a:lnSpc>
                <a:spcPct val="107000"/>
              </a:lnSpc>
              <a:spcBef>
                <a:spcPts val="800"/>
              </a:spcBef>
              <a:spcAft>
                <a:spcPts val="0"/>
              </a:spcAft>
              <a:buClr>
                <a:schemeClr val="dk1"/>
              </a:buClr>
              <a:buSzPct val="49019"/>
              <a:buFont typeface="Noto Sans Symbols"/>
              <a:buNone/>
            </a:pPr>
            <a:endParaRPr sz="2400" dirty="0">
              <a:ea typeface="Times New Roman"/>
              <a:cs typeface="Times New Roman"/>
              <a:sym typeface="Times New Roman"/>
            </a:endParaRPr>
          </a:p>
          <a:p>
            <a:pPr marL="342900" marR="0" lvl="0" indent="-279400" algn="l" rtl="0">
              <a:lnSpc>
                <a:spcPct val="107000"/>
              </a:lnSpc>
              <a:spcBef>
                <a:spcPts val="800"/>
              </a:spcBef>
              <a:spcAft>
                <a:spcPts val="0"/>
              </a:spcAft>
              <a:buClr>
                <a:schemeClr val="dk1"/>
              </a:buClr>
              <a:buSzPct val="49019"/>
              <a:buFont typeface="Noto Sans Symbols"/>
              <a:buNone/>
            </a:pPr>
            <a:endParaRPr sz="2400" dirty="0">
              <a:ea typeface="Times New Roman"/>
              <a:cs typeface="Times New Roman"/>
              <a:sym typeface="Times New Roman"/>
            </a:endParaRPr>
          </a:p>
          <a:p>
            <a:pPr marL="342900" marR="0" lvl="0" indent="-279400" algn="l" rtl="0">
              <a:lnSpc>
                <a:spcPct val="107000"/>
              </a:lnSpc>
              <a:spcBef>
                <a:spcPts val="800"/>
              </a:spcBef>
              <a:spcAft>
                <a:spcPts val="0"/>
              </a:spcAft>
              <a:buClr>
                <a:schemeClr val="dk1"/>
              </a:buClr>
              <a:buSzPct val="49019"/>
              <a:buFont typeface="Noto Sans Symbols"/>
              <a:buNone/>
            </a:pPr>
            <a:endParaRPr sz="2400" dirty="0">
              <a:ea typeface="Times New Roman"/>
              <a:cs typeface="Times New Roman"/>
              <a:sym typeface="Times New Roman"/>
            </a:endParaRPr>
          </a:p>
          <a:p>
            <a:pPr marL="342900" marR="0" lvl="0" indent="-279400" algn="l" rtl="0">
              <a:lnSpc>
                <a:spcPct val="107000"/>
              </a:lnSpc>
              <a:spcBef>
                <a:spcPts val="800"/>
              </a:spcBef>
              <a:spcAft>
                <a:spcPts val="0"/>
              </a:spcAft>
              <a:buClr>
                <a:schemeClr val="dk1"/>
              </a:buClr>
              <a:buSzPct val="49019"/>
              <a:buFont typeface="Noto Sans Symbols"/>
              <a:buNone/>
            </a:pPr>
            <a:endParaRPr sz="2400" dirty="0">
              <a:ea typeface="Times New Roman"/>
              <a:cs typeface="Times New Roman"/>
              <a:sym typeface="Times New Roman"/>
            </a:endParaRPr>
          </a:p>
        </p:txBody>
      </p:sp>
      <p:pic>
        <p:nvPicPr>
          <p:cNvPr id="102" name="Google Shape;102;p3"/>
          <p:cNvPicPr preferRelativeResize="0"/>
          <p:nvPr/>
        </p:nvPicPr>
        <p:blipFill rotWithShape="1">
          <a:blip r:embed="rId4">
            <a:alphaModFix/>
          </a:blip>
          <a:srcRect/>
          <a:stretch/>
        </p:blipFill>
        <p:spPr>
          <a:xfrm>
            <a:off x="1746028" y="3319883"/>
            <a:ext cx="8699943" cy="2788443"/>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4"/>
          <p:cNvSpPr txBox="1">
            <a:spLocks noGrp="1"/>
          </p:cNvSpPr>
          <p:nvPr>
            <p:ph type="title"/>
          </p:nvPr>
        </p:nvSpPr>
        <p:spPr>
          <a:xfrm>
            <a:off x="1981200" y="274638"/>
            <a:ext cx="8229600" cy="73601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ct val="111111"/>
              <a:buFont typeface="Calibri"/>
              <a:buNone/>
            </a:pPr>
            <a:r>
              <a:rPr lang="en-US" dirty="0"/>
              <a:t>Deletion</a:t>
            </a:r>
            <a:endParaRPr dirty="0"/>
          </a:p>
        </p:txBody>
      </p:sp>
      <p:sp>
        <p:nvSpPr>
          <p:cNvPr id="108" name="Google Shape;108;p4"/>
          <p:cNvSpPr txBox="1">
            <a:spLocks noGrp="1"/>
          </p:cNvSpPr>
          <p:nvPr>
            <p:ph idx="1"/>
          </p:nvPr>
        </p:nvSpPr>
        <p:spPr>
          <a:xfrm>
            <a:off x="1981200" y="1010653"/>
            <a:ext cx="8229600" cy="5572709"/>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7000"/>
              </a:lnSpc>
              <a:spcBef>
                <a:spcPts val="0"/>
              </a:spcBef>
              <a:spcAft>
                <a:spcPts val="0"/>
              </a:spcAft>
              <a:buClr>
                <a:schemeClr val="dk1"/>
              </a:buClr>
              <a:buSzPts val="1000"/>
              <a:buFont typeface="Noto Sans Symbols"/>
              <a:buChar char="∙"/>
            </a:pPr>
            <a:r>
              <a:rPr lang="en-US" sz="2400" b="1" dirty="0">
                <a:ea typeface="Times New Roman"/>
                <a:cs typeface="Times New Roman"/>
                <a:sym typeface="Times New Roman"/>
              </a:rPr>
              <a:t>Deletion:</a:t>
            </a:r>
            <a:r>
              <a:rPr lang="en-US" sz="2400" dirty="0">
                <a:ea typeface="Times New Roman"/>
                <a:cs typeface="Times New Roman"/>
                <a:sym typeface="Times New Roman"/>
              </a:rPr>
              <a:t> We can remove the rows or columns with missing values.</a:t>
            </a:r>
            <a:endParaRPr sz="2400" dirty="0"/>
          </a:p>
          <a:p>
            <a:pPr marL="342900" marR="0" lvl="0" indent="-279400" algn="l" rtl="0">
              <a:lnSpc>
                <a:spcPct val="107000"/>
              </a:lnSpc>
              <a:spcBef>
                <a:spcPts val="800"/>
              </a:spcBef>
              <a:spcAft>
                <a:spcPts val="0"/>
              </a:spcAft>
              <a:buClr>
                <a:schemeClr val="dk1"/>
              </a:buClr>
              <a:buSzPts val="1000"/>
              <a:buFont typeface="Noto Sans Symbols"/>
              <a:buNone/>
            </a:pPr>
            <a:endParaRPr sz="2400" dirty="0">
              <a:ea typeface="Calibri"/>
              <a:cs typeface="Calibri"/>
              <a:sym typeface="Calibri"/>
            </a:endParaRPr>
          </a:p>
          <a:p>
            <a:pPr marL="342900" marR="0" lvl="0" indent="-279400" algn="l" rtl="0">
              <a:lnSpc>
                <a:spcPct val="107000"/>
              </a:lnSpc>
              <a:spcBef>
                <a:spcPts val="800"/>
              </a:spcBef>
              <a:spcAft>
                <a:spcPts val="0"/>
              </a:spcAft>
              <a:buClr>
                <a:schemeClr val="dk1"/>
              </a:buClr>
              <a:buSzPts val="1000"/>
              <a:buFont typeface="Noto Sans Symbols"/>
              <a:buNone/>
            </a:pPr>
            <a:endParaRPr sz="2400" dirty="0">
              <a:ea typeface="Calibri"/>
              <a:cs typeface="Calibri"/>
              <a:sym typeface="Calibri"/>
            </a:endParaRPr>
          </a:p>
          <a:p>
            <a:pPr marL="342900" marR="0" lvl="0" indent="-279400" algn="l" rtl="0">
              <a:lnSpc>
                <a:spcPct val="107000"/>
              </a:lnSpc>
              <a:spcBef>
                <a:spcPts val="800"/>
              </a:spcBef>
              <a:spcAft>
                <a:spcPts val="0"/>
              </a:spcAft>
              <a:buClr>
                <a:schemeClr val="dk1"/>
              </a:buClr>
              <a:buSzPts val="1000"/>
              <a:buFont typeface="Noto Sans Symbols"/>
              <a:buNone/>
            </a:pPr>
            <a:endParaRPr sz="2400" dirty="0">
              <a:ea typeface="Calibri"/>
              <a:cs typeface="Calibri"/>
              <a:sym typeface="Calibri"/>
            </a:endParaRPr>
          </a:p>
          <a:p>
            <a:pPr marL="342900" marR="0" lvl="0" indent="-279400" algn="l" rtl="0">
              <a:lnSpc>
                <a:spcPct val="107000"/>
              </a:lnSpc>
              <a:spcBef>
                <a:spcPts val="800"/>
              </a:spcBef>
              <a:spcAft>
                <a:spcPts val="0"/>
              </a:spcAft>
              <a:buClr>
                <a:schemeClr val="dk1"/>
              </a:buClr>
              <a:buSzPts val="1000"/>
              <a:buFont typeface="Noto Sans Symbols"/>
              <a:buNone/>
            </a:pPr>
            <a:endParaRPr sz="2400" dirty="0">
              <a:ea typeface="Calibri"/>
              <a:cs typeface="Calibri"/>
              <a:sym typeface="Calibri"/>
            </a:endParaRPr>
          </a:p>
          <a:p>
            <a:pPr marL="342900" marR="0" lvl="0" indent="-279400" algn="l" rtl="0">
              <a:lnSpc>
                <a:spcPct val="107000"/>
              </a:lnSpc>
              <a:spcBef>
                <a:spcPts val="800"/>
              </a:spcBef>
              <a:spcAft>
                <a:spcPts val="0"/>
              </a:spcAft>
              <a:buClr>
                <a:schemeClr val="dk1"/>
              </a:buClr>
              <a:buSzPts val="1000"/>
              <a:buFont typeface="Noto Sans Symbols"/>
              <a:buNone/>
            </a:pPr>
            <a:endParaRPr sz="2400" dirty="0">
              <a:ea typeface="Calibri"/>
              <a:cs typeface="Calibri"/>
              <a:sym typeface="Calibri"/>
            </a:endParaRPr>
          </a:p>
        </p:txBody>
      </p:sp>
      <p:graphicFrame>
        <p:nvGraphicFramePr>
          <p:cNvPr id="109" name="Google Shape;109;p4"/>
          <p:cNvGraphicFramePr/>
          <p:nvPr>
            <p:extLst>
              <p:ext uri="{D42A27DB-BD31-4B8C-83A1-F6EECF244321}">
                <p14:modId xmlns:p14="http://schemas.microsoft.com/office/powerpoint/2010/main" val="516489309"/>
              </p:ext>
            </p:extLst>
          </p:nvPr>
        </p:nvGraphicFramePr>
        <p:xfrm>
          <a:off x="4078037" y="2913830"/>
          <a:ext cx="4035925" cy="1766355"/>
        </p:xfrm>
        <a:graphic>
          <a:graphicData uri="http://schemas.openxmlformats.org/drawingml/2006/table">
            <a:tbl>
              <a:tblPr firstRow="1" firstCol="1" bandRow="1">
                <a:noFill/>
                <a:tableStyleId>{BF00C7D5-8C73-40C0-9A0A-1D9064C391A0}</a:tableStyleId>
              </a:tblPr>
              <a:tblGrid>
                <a:gridCol w="647550"/>
                <a:gridCol w="888500"/>
                <a:gridCol w="978875"/>
                <a:gridCol w="1521000"/>
              </a:tblGrid>
              <a:tr h="0">
                <a:tc>
                  <a:txBody>
                    <a:bodyPr/>
                    <a:lstStyle/>
                    <a:p>
                      <a:pPr marL="0" marR="0" lvl="0" indent="0" algn="ctr" rtl="0">
                        <a:lnSpc>
                          <a:spcPct val="107000"/>
                        </a:lnSpc>
                        <a:spcBef>
                          <a:spcPts val="0"/>
                        </a:spcBef>
                        <a:spcAft>
                          <a:spcPts val="0"/>
                        </a:spcAft>
                        <a:buNone/>
                      </a:pPr>
                      <a:r>
                        <a:rPr lang="en-US" sz="1800" u="none" strike="noStrike" cap="none"/>
                        <a:t>User </a:t>
                      </a:r>
                      <a:endParaRPr sz="1100" u="none" strike="noStrike" cap="none">
                        <a:latin typeface="Calibri"/>
                        <a:ea typeface="Calibri"/>
                        <a:cs typeface="Calibri"/>
                        <a:sym typeface="Calibri"/>
                      </a:endParaRPr>
                    </a:p>
                  </a:txBody>
                  <a:tcPr marL="68575" marR="68575" marT="0" marB="0" anchor="b"/>
                </a:tc>
                <a:tc>
                  <a:txBody>
                    <a:bodyPr/>
                    <a:lstStyle/>
                    <a:p>
                      <a:pPr marL="0" marR="0" lvl="0" indent="0" algn="ctr" rtl="0">
                        <a:lnSpc>
                          <a:spcPct val="107000"/>
                        </a:lnSpc>
                        <a:spcBef>
                          <a:spcPts val="0"/>
                        </a:spcBef>
                        <a:spcAft>
                          <a:spcPts val="0"/>
                        </a:spcAft>
                        <a:buNone/>
                      </a:pPr>
                      <a:r>
                        <a:rPr lang="en-US" sz="1800" u="none" strike="noStrike" cap="none"/>
                        <a:t>Device</a:t>
                      </a:r>
                      <a:endParaRPr sz="1100" u="none" strike="noStrike" cap="none">
                        <a:latin typeface="Calibri"/>
                        <a:ea typeface="Calibri"/>
                        <a:cs typeface="Calibri"/>
                        <a:sym typeface="Calibri"/>
                      </a:endParaRPr>
                    </a:p>
                  </a:txBody>
                  <a:tcPr marL="68575" marR="68575" marT="0" marB="0" anchor="b"/>
                </a:tc>
                <a:tc>
                  <a:txBody>
                    <a:bodyPr/>
                    <a:lstStyle/>
                    <a:p>
                      <a:pPr marL="0" marR="0" lvl="0" indent="0" algn="ctr" rtl="0">
                        <a:lnSpc>
                          <a:spcPct val="107000"/>
                        </a:lnSpc>
                        <a:spcBef>
                          <a:spcPts val="0"/>
                        </a:spcBef>
                        <a:spcAft>
                          <a:spcPts val="0"/>
                        </a:spcAft>
                        <a:buNone/>
                      </a:pPr>
                      <a:r>
                        <a:rPr lang="en-US" sz="1800" u="none" strike="noStrike" cap="none"/>
                        <a:t>OS</a:t>
                      </a:r>
                      <a:endParaRPr sz="1100" u="none" strike="noStrike" cap="none">
                        <a:latin typeface="Calibri"/>
                        <a:ea typeface="Calibri"/>
                        <a:cs typeface="Calibri"/>
                        <a:sym typeface="Calibri"/>
                      </a:endParaRPr>
                    </a:p>
                  </a:txBody>
                  <a:tcPr marL="68575" marR="68575" marT="0" marB="0" anchor="b"/>
                </a:tc>
                <a:tc>
                  <a:txBody>
                    <a:bodyPr/>
                    <a:lstStyle/>
                    <a:p>
                      <a:pPr marL="0" marR="0" lvl="0" indent="0" algn="ctr" rtl="0">
                        <a:lnSpc>
                          <a:spcPct val="107000"/>
                        </a:lnSpc>
                        <a:spcBef>
                          <a:spcPts val="0"/>
                        </a:spcBef>
                        <a:spcAft>
                          <a:spcPts val="0"/>
                        </a:spcAft>
                        <a:buNone/>
                      </a:pPr>
                      <a:r>
                        <a:rPr lang="en-US" sz="1800" u="none" strike="noStrike" cap="none"/>
                        <a:t>Transactions</a:t>
                      </a:r>
                      <a:endParaRPr sz="1100" u="none" strike="noStrike" cap="none">
                        <a:latin typeface="Calibri"/>
                        <a:ea typeface="Calibri"/>
                        <a:cs typeface="Calibri"/>
                        <a:sym typeface="Calibri"/>
                      </a:endParaRPr>
                    </a:p>
                  </a:txBody>
                  <a:tcPr marL="68575" marR="68575" marT="0" marB="0" anchor="b"/>
                </a:tc>
              </a:tr>
              <a:tr h="297175">
                <a:tc>
                  <a:txBody>
                    <a:bodyPr/>
                    <a:lstStyle/>
                    <a:p>
                      <a:pPr marL="0" marR="0" lvl="0" indent="0" algn="ctr" rtl="0">
                        <a:lnSpc>
                          <a:spcPct val="107000"/>
                        </a:lnSpc>
                        <a:spcBef>
                          <a:spcPts val="0"/>
                        </a:spcBef>
                        <a:spcAft>
                          <a:spcPts val="0"/>
                        </a:spcAft>
                        <a:buNone/>
                      </a:pPr>
                      <a:r>
                        <a:rPr lang="en-US" sz="1800" u="none" strike="noStrike" cap="none"/>
                        <a:t>A</a:t>
                      </a:r>
                      <a:endParaRPr sz="1100" u="none" strike="noStrike" cap="none">
                        <a:latin typeface="Calibri"/>
                        <a:ea typeface="Calibri"/>
                        <a:cs typeface="Calibri"/>
                        <a:sym typeface="Calibri"/>
                      </a:endParaRPr>
                    </a:p>
                  </a:txBody>
                  <a:tcPr marL="68575" marR="68575" marT="0" marB="0" anchor="b"/>
                </a:tc>
                <a:tc>
                  <a:txBody>
                    <a:bodyPr/>
                    <a:lstStyle/>
                    <a:p>
                      <a:pPr marL="0" marR="0" lvl="0" indent="0" algn="ctr" rtl="0">
                        <a:lnSpc>
                          <a:spcPct val="107000"/>
                        </a:lnSpc>
                        <a:spcBef>
                          <a:spcPts val="0"/>
                        </a:spcBef>
                        <a:spcAft>
                          <a:spcPts val="0"/>
                        </a:spcAft>
                        <a:buNone/>
                      </a:pPr>
                      <a:r>
                        <a:rPr lang="en-US" sz="1800" u="none" strike="noStrike" cap="none"/>
                        <a:t>Mobile</a:t>
                      </a:r>
                      <a:endParaRPr sz="1100" u="none" strike="noStrike" cap="none">
                        <a:latin typeface="Calibri"/>
                        <a:ea typeface="Calibri"/>
                        <a:cs typeface="Calibri"/>
                        <a:sym typeface="Calibri"/>
                      </a:endParaRPr>
                    </a:p>
                  </a:txBody>
                  <a:tcPr marL="68575" marR="68575" marT="0" marB="0" anchor="b"/>
                </a:tc>
                <a:tc>
                  <a:txBody>
                    <a:bodyPr/>
                    <a:lstStyle/>
                    <a:p>
                      <a:pPr marL="0" marR="0" lvl="0" indent="0" algn="ctr" rtl="0">
                        <a:lnSpc>
                          <a:spcPct val="107000"/>
                        </a:lnSpc>
                        <a:spcBef>
                          <a:spcPts val="0"/>
                        </a:spcBef>
                        <a:spcAft>
                          <a:spcPts val="0"/>
                        </a:spcAft>
                        <a:buNone/>
                      </a:pPr>
                      <a:r>
                        <a:rPr lang="en-US" sz="1800" u="none" strike="noStrike" cap="none"/>
                        <a:t>NA</a:t>
                      </a:r>
                      <a:endParaRPr sz="1100" u="none" strike="noStrike" cap="none">
                        <a:latin typeface="Calibri"/>
                        <a:ea typeface="Calibri"/>
                        <a:cs typeface="Calibri"/>
                        <a:sym typeface="Calibri"/>
                      </a:endParaRPr>
                    </a:p>
                  </a:txBody>
                  <a:tcPr marL="68575" marR="68575" marT="0" marB="0" anchor="b"/>
                </a:tc>
                <a:tc>
                  <a:txBody>
                    <a:bodyPr/>
                    <a:lstStyle/>
                    <a:p>
                      <a:pPr marL="0" marR="0" lvl="0" indent="0" algn="ctr" rtl="0">
                        <a:lnSpc>
                          <a:spcPct val="107000"/>
                        </a:lnSpc>
                        <a:spcBef>
                          <a:spcPts val="0"/>
                        </a:spcBef>
                        <a:spcAft>
                          <a:spcPts val="0"/>
                        </a:spcAft>
                        <a:buNone/>
                      </a:pPr>
                      <a:r>
                        <a:rPr lang="en-US" sz="1800" u="none" strike="noStrike" cap="none"/>
                        <a:t>5</a:t>
                      </a:r>
                      <a:endParaRPr sz="1100" u="none" strike="noStrike" cap="none">
                        <a:latin typeface="Calibri"/>
                        <a:ea typeface="Calibri"/>
                        <a:cs typeface="Calibri"/>
                        <a:sym typeface="Calibri"/>
                      </a:endParaRPr>
                    </a:p>
                  </a:txBody>
                  <a:tcPr marL="68575" marR="68575" marT="0" marB="0" anchor="b"/>
                </a:tc>
              </a:tr>
              <a:tr h="297175">
                <a:tc>
                  <a:txBody>
                    <a:bodyPr/>
                    <a:lstStyle/>
                    <a:p>
                      <a:pPr marL="0" marR="0" lvl="0" indent="0" algn="ctr" rtl="0">
                        <a:lnSpc>
                          <a:spcPct val="107000"/>
                        </a:lnSpc>
                        <a:spcBef>
                          <a:spcPts val="0"/>
                        </a:spcBef>
                        <a:spcAft>
                          <a:spcPts val="0"/>
                        </a:spcAft>
                        <a:buNone/>
                      </a:pPr>
                      <a:r>
                        <a:rPr lang="en-US" sz="1800" u="none" strike="noStrike" cap="none"/>
                        <a:t>B</a:t>
                      </a:r>
                      <a:endParaRPr sz="1100" u="none" strike="noStrike" cap="none">
                        <a:latin typeface="Calibri"/>
                        <a:ea typeface="Calibri"/>
                        <a:cs typeface="Calibri"/>
                        <a:sym typeface="Calibri"/>
                      </a:endParaRPr>
                    </a:p>
                  </a:txBody>
                  <a:tcPr marL="68575" marR="68575" marT="0" marB="0" anchor="b"/>
                </a:tc>
                <a:tc>
                  <a:txBody>
                    <a:bodyPr/>
                    <a:lstStyle/>
                    <a:p>
                      <a:pPr marL="0" marR="0" lvl="0" indent="0" algn="ctr" rtl="0">
                        <a:lnSpc>
                          <a:spcPct val="107000"/>
                        </a:lnSpc>
                        <a:spcBef>
                          <a:spcPts val="0"/>
                        </a:spcBef>
                        <a:spcAft>
                          <a:spcPts val="0"/>
                        </a:spcAft>
                        <a:buNone/>
                      </a:pPr>
                      <a:r>
                        <a:rPr lang="en-US" sz="1800" u="none" strike="noStrike" cap="none"/>
                        <a:t>Mobile</a:t>
                      </a:r>
                      <a:endParaRPr sz="1100" u="none" strike="noStrike" cap="none">
                        <a:latin typeface="Calibri"/>
                        <a:ea typeface="Calibri"/>
                        <a:cs typeface="Calibri"/>
                        <a:sym typeface="Calibri"/>
                      </a:endParaRPr>
                    </a:p>
                  </a:txBody>
                  <a:tcPr marL="68575" marR="68575" marT="0" marB="0" anchor="b"/>
                </a:tc>
                <a:tc>
                  <a:txBody>
                    <a:bodyPr/>
                    <a:lstStyle/>
                    <a:p>
                      <a:pPr marL="0" marR="0" lvl="0" indent="0" algn="ctr" rtl="0">
                        <a:lnSpc>
                          <a:spcPct val="107000"/>
                        </a:lnSpc>
                        <a:spcBef>
                          <a:spcPts val="0"/>
                        </a:spcBef>
                        <a:spcAft>
                          <a:spcPts val="0"/>
                        </a:spcAft>
                        <a:buNone/>
                      </a:pPr>
                      <a:r>
                        <a:rPr lang="en-US" sz="1800" u="none" strike="noStrike" cap="none"/>
                        <a:t>Android</a:t>
                      </a:r>
                      <a:endParaRPr sz="1100" u="none" strike="noStrike" cap="none">
                        <a:latin typeface="Calibri"/>
                        <a:ea typeface="Calibri"/>
                        <a:cs typeface="Calibri"/>
                        <a:sym typeface="Calibri"/>
                      </a:endParaRPr>
                    </a:p>
                  </a:txBody>
                  <a:tcPr marL="68575" marR="68575" marT="0" marB="0" anchor="b"/>
                </a:tc>
                <a:tc>
                  <a:txBody>
                    <a:bodyPr/>
                    <a:lstStyle/>
                    <a:p>
                      <a:pPr marL="0" marR="0" lvl="0" indent="0" algn="ctr" rtl="0">
                        <a:lnSpc>
                          <a:spcPct val="107000"/>
                        </a:lnSpc>
                        <a:spcBef>
                          <a:spcPts val="0"/>
                        </a:spcBef>
                        <a:spcAft>
                          <a:spcPts val="0"/>
                        </a:spcAft>
                        <a:buNone/>
                      </a:pPr>
                      <a:r>
                        <a:rPr lang="en-US" sz="1800" u="none" strike="noStrike" cap="none"/>
                        <a:t>3</a:t>
                      </a:r>
                      <a:endParaRPr sz="1100" u="none" strike="noStrike" cap="none">
                        <a:latin typeface="Calibri"/>
                        <a:ea typeface="Calibri"/>
                        <a:cs typeface="Calibri"/>
                        <a:sym typeface="Calibri"/>
                      </a:endParaRPr>
                    </a:p>
                  </a:txBody>
                  <a:tcPr marL="68575" marR="68575" marT="0" marB="0" anchor="b"/>
                </a:tc>
              </a:tr>
              <a:tr h="297175">
                <a:tc>
                  <a:txBody>
                    <a:bodyPr/>
                    <a:lstStyle/>
                    <a:p>
                      <a:pPr marL="0" marR="0" lvl="0" indent="0" algn="ctr" rtl="0">
                        <a:lnSpc>
                          <a:spcPct val="107000"/>
                        </a:lnSpc>
                        <a:spcBef>
                          <a:spcPts val="0"/>
                        </a:spcBef>
                        <a:spcAft>
                          <a:spcPts val="0"/>
                        </a:spcAft>
                        <a:buNone/>
                      </a:pPr>
                      <a:r>
                        <a:rPr lang="en-US" sz="1800" u="none" strike="noStrike" cap="none"/>
                        <a:t>C</a:t>
                      </a:r>
                      <a:endParaRPr sz="1100" u="none" strike="noStrike" cap="none">
                        <a:latin typeface="Calibri"/>
                        <a:ea typeface="Calibri"/>
                        <a:cs typeface="Calibri"/>
                        <a:sym typeface="Calibri"/>
                      </a:endParaRPr>
                    </a:p>
                  </a:txBody>
                  <a:tcPr marL="68575" marR="68575" marT="0" marB="0" anchor="b"/>
                </a:tc>
                <a:tc>
                  <a:txBody>
                    <a:bodyPr/>
                    <a:lstStyle/>
                    <a:p>
                      <a:pPr marL="0" marR="0" lvl="0" indent="0" algn="ctr" rtl="0">
                        <a:lnSpc>
                          <a:spcPct val="107000"/>
                        </a:lnSpc>
                        <a:spcBef>
                          <a:spcPts val="0"/>
                        </a:spcBef>
                        <a:spcAft>
                          <a:spcPts val="0"/>
                        </a:spcAft>
                        <a:buNone/>
                      </a:pPr>
                      <a:r>
                        <a:rPr lang="en-US" sz="1800" u="none" strike="noStrike" cap="none"/>
                        <a:t>NA</a:t>
                      </a:r>
                      <a:endParaRPr sz="1100" u="none" strike="noStrike" cap="none">
                        <a:latin typeface="Calibri"/>
                        <a:ea typeface="Calibri"/>
                        <a:cs typeface="Calibri"/>
                        <a:sym typeface="Calibri"/>
                      </a:endParaRPr>
                    </a:p>
                  </a:txBody>
                  <a:tcPr marL="68575" marR="68575" marT="0" marB="0" anchor="b"/>
                </a:tc>
                <a:tc>
                  <a:txBody>
                    <a:bodyPr/>
                    <a:lstStyle/>
                    <a:p>
                      <a:pPr marL="0" marR="0" lvl="0" indent="0" algn="ctr" rtl="0">
                        <a:lnSpc>
                          <a:spcPct val="107000"/>
                        </a:lnSpc>
                        <a:spcBef>
                          <a:spcPts val="0"/>
                        </a:spcBef>
                        <a:spcAft>
                          <a:spcPts val="0"/>
                        </a:spcAft>
                        <a:buNone/>
                      </a:pPr>
                      <a:r>
                        <a:rPr lang="en-US" sz="1800" u="none" strike="noStrike" cap="none"/>
                        <a:t>IOS</a:t>
                      </a:r>
                      <a:endParaRPr sz="1100" u="none" strike="noStrike" cap="none">
                        <a:latin typeface="Calibri"/>
                        <a:ea typeface="Calibri"/>
                        <a:cs typeface="Calibri"/>
                        <a:sym typeface="Calibri"/>
                      </a:endParaRPr>
                    </a:p>
                  </a:txBody>
                  <a:tcPr marL="68575" marR="68575" marT="0" marB="0" anchor="b"/>
                </a:tc>
                <a:tc>
                  <a:txBody>
                    <a:bodyPr/>
                    <a:lstStyle/>
                    <a:p>
                      <a:pPr marL="0" marR="0" lvl="0" indent="0" algn="ctr" rtl="0">
                        <a:lnSpc>
                          <a:spcPct val="107000"/>
                        </a:lnSpc>
                        <a:spcBef>
                          <a:spcPts val="0"/>
                        </a:spcBef>
                        <a:spcAft>
                          <a:spcPts val="0"/>
                        </a:spcAft>
                        <a:buNone/>
                      </a:pPr>
                      <a:r>
                        <a:rPr lang="en-US" sz="1800" u="none" strike="noStrike" cap="none"/>
                        <a:t>2</a:t>
                      </a:r>
                      <a:endParaRPr sz="1100" u="none" strike="noStrike" cap="none">
                        <a:latin typeface="Calibri"/>
                        <a:ea typeface="Calibri"/>
                        <a:cs typeface="Calibri"/>
                        <a:sym typeface="Calibri"/>
                      </a:endParaRPr>
                    </a:p>
                  </a:txBody>
                  <a:tcPr marL="68575" marR="68575" marT="0" marB="0" anchor="b"/>
                </a:tc>
              </a:tr>
              <a:tr h="297175">
                <a:tc>
                  <a:txBody>
                    <a:bodyPr/>
                    <a:lstStyle/>
                    <a:p>
                      <a:pPr marL="0" marR="0" lvl="0" indent="0" algn="ctr" rtl="0">
                        <a:lnSpc>
                          <a:spcPct val="107000"/>
                        </a:lnSpc>
                        <a:spcBef>
                          <a:spcPts val="0"/>
                        </a:spcBef>
                        <a:spcAft>
                          <a:spcPts val="0"/>
                        </a:spcAft>
                        <a:buNone/>
                      </a:pPr>
                      <a:r>
                        <a:rPr lang="en-US" sz="1800" u="none" strike="noStrike" cap="none"/>
                        <a:t>D</a:t>
                      </a:r>
                      <a:endParaRPr sz="1100" u="none" strike="noStrike" cap="none">
                        <a:latin typeface="Calibri"/>
                        <a:ea typeface="Calibri"/>
                        <a:cs typeface="Calibri"/>
                        <a:sym typeface="Calibri"/>
                      </a:endParaRPr>
                    </a:p>
                  </a:txBody>
                  <a:tcPr marL="68575" marR="68575" marT="0" marB="0" anchor="b"/>
                </a:tc>
                <a:tc>
                  <a:txBody>
                    <a:bodyPr/>
                    <a:lstStyle/>
                    <a:p>
                      <a:pPr marL="0" marR="0" lvl="0" indent="0" algn="ctr" rtl="0">
                        <a:lnSpc>
                          <a:spcPct val="107000"/>
                        </a:lnSpc>
                        <a:spcBef>
                          <a:spcPts val="0"/>
                        </a:spcBef>
                        <a:spcAft>
                          <a:spcPts val="0"/>
                        </a:spcAft>
                        <a:buNone/>
                      </a:pPr>
                      <a:r>
                        <a:rPr lang="en-US" sz="1800" u="none" strike="noStrike" cap="none"/>
                        <a:t>Tablet</a:t>
                      </a:r>
                      <a:endParaRPr sz="1100" u="none" strike="noStrike" cap="none">
                        <a:latin typeface="Calibri"/>
                        <a:ea typeface="Calibri"/>
                        <a:cs typeface="Calibri"/>
                        <a:sym typeface="Calibri"/>
                      </a:endParaRPr>
                    </a:p>
                  </a:txBody>
                  <a:tcPr marL="68575" marR="68575" marT="0" marB="0" anchor="b"/>
                </a:tc>
                <a:tc>
                  <a:txBody>
                    <a:bodyPr/>
                    <a:lstStyle/>
                    <a:p>
                      <a:pPr marL="0" marR="0" lvl="0" indent="0" algn="ctr" rtl="0">
                        <a:lnSpc>
                          <a:spcPct val="107000"/>
                        </a:lnSpc>
                        <a:spcBef>
                          <a:spcPts val="0"/>
                        </a:spcBef>
                        <a:spcAft>
                          <a:spcPts val="0"/>
                        </a:spcAft>
                        <a:buNone/>
                      </a:pPr>
                      <a:r>
                        <a:rPr lang="en-US" sz="1800" u="none" strike="noStrike" cap="none"/>
                        <a:t>Android</a:t>
                      </a:r>
                      <a:endParaRPr sz="1100" u="none" strike="noStrike" cap="none">
                        <a:latin typeface="Calibri"/>
                        <a:ea typeface="Calibri"/>
                        <a:cs typeface="Calibri"/>
                        <a:sym typeface="Calibri"/>
                      </a:endParaRPr>
                    </a:p>
                  </a:txBody>
                  <a:tcPr marL="68575" marR="68575" marT="0" marB="0" anchor="b"/>
                </a:tc>
                <a:tc>
                  <a:txBody>
                    <a:bodyPr/>
                    <a:lstStyle/>
                    <a:p>
                      <a:pPr marL="0" marR="0" lvl="0" indent="0" algn="ctr" rtl="0">
                        <a:lnSpc>
                          <a:spcPct val="107000"/>
                        </a:lnSpc>
                        <a:spcBef>
                          <a:spcPts val="0"/>
                        </a:spcBef>
                        <a:spcAft>
                          <a:spcPts val="0"/>
                        </a:spcAft>
                        <a:buNone/>
                      </a:pPr>
                      <a:r>
                        <a:rPr lang="en-US" sz="1800" u="none" strike="noStrike" cap="none"/>
                        <a:t>1</a:t>
                      </a:r>
                      <a:endParaRPr sz="1100" u="none" strike="noStrike" cap="none">
                        <a:latin typeface="Calibri"/>
                        <a:ea typeface="Calibri"/>
                        <a:cs typeface="Calibri"/>
                        <a:sym typeface="Calibri"/>
                      </a:endParaRPr>
                    </a:p>
                  </a:txBody>
                  <a:tcPr marL="68575" marR="68575" marT="0" marB="0" anchor="b"/>
                </a:tc>
              </a:tr>
              <a:tr h="297175">
                <a:tc>
                  <a:txBody>
                    <a:bodyPr/>
                    <a:lstStyle/>
                    <a:p>
                      <a:pPr marL="0" marR="0" lvl="0" indent="0" algn="ctr" rtl="0">
                        <a:lnSpc>
                          <a:spcPct val="107000"/>
                        </a:lnSpc>
                        <a:spcBef>
                          <a:spcPts val="0"/>
                        </a:spcBef>
                        <a:spcAft>
                          <a:spcPts val="0"/>
                        </a:spcAft>
                        <a:buNone/>
                      </a:pPr>
                      <a:r>
                        <a:rPr lang="en-US" sz="1800" u="none" strike="noStrike" cap="none"/>
                        <a:t>E</a:t>
                      </a:r>
                      <a:endParaRPr sz="1100" u="none" strike="noStrike" cap="none">
                        <a:latin typeface="Calibri"/>
                        <a:ea typeface="Calibri"/>
                        <a:cs typeface="Calibri"/>
                        <a:sym typeface="Calibri"/>
                      </a:endParaRPr>
                    </a:p>
                  </a:txBody>
                  <a:tcPr marL="68575" marR="68575" marT="0" marB="0" anchor="b"/>
                </a:tc>
                <a:tc>
                  <a:txBody>
                    <a:bodyPr/>
                    <a:lstStyle/>
                    <a:p>
                      <a:pPr marL="0" marR="0" lvl="0" indent="0" algn="ctr" rtl="0">
                        <a:lnSpc>
                          <a:spcPct val="107000"/>
                        </a:lnSpc>
                        <a:spcBef>
                          <a:spcPts val="0"/>
                        </a:spcBef>
                        <a:spcAft>
                          <a:spcPts val="0"/>
                        </a:spcAft>
                        <a:buNone/>
                      </a:pPr>
                      <a:r>
                        <a:rPr lang="en-US" sz="1800" u="none" strike="noStrike" cap="none"/>
                        <a:t>Mobile</a:t>
                      </a:r>
                      <a:endParaRPr sz="1100" u="none" strike="noStrike" cap="none">
                        <a:latin typeface="Calibri"/>
                        <a:ea typeface="Calibri"/>
                        <a:cs typeface="Calibri"/>
                        <a:sym typeface="Calibri"/>
                      </a:endParaRPr>
                    </a:p>
                  </a:txBody>
                  <a:tcPr marL="68575" marR="68575" marT="0" marB="0" anchor="b"/>
                </a:tc>
                <a:tc>
                  <a:txBody>
                    <a:bodyPr/>
                    <a:lstStyle/>
                    <a:p>
                      <a:pPr marL="0" marR="0" lvl="0" indent="0" algn="ctr" rtl="0">
                        <a:lnSpc>
                          <a:spcPct val="107000"/>
                        </a:lnSpc>
                        <a:spcBef>
                          <a:spcPts val="0"/>
                        </a:spcBef>
                        <a:spcAft>
                          <a:spcPts val="0"/>
                        </a:spcAft>
                        <a:buNone/>
                      </a:pPr>
                      <a:r>
                        <a:rPr lang="en-US" sz="1800" u="none" strike="noStrike" cap="none"/>
                        <a:t>IOS</a:t>
                      </a:r>
                      <a:endParaRPr sz="1100" u="none" strike="noStrike" cap="none">
                        <a:latin typeface="Calibri"/>
                        <a:ea typeface="Calibri"/>
                        <a:cs typeface="Calibri"/>
                        <a:sym typeface="Calibri"/>
                      </a:endParaRPr>
                    </a:p>
                  </a:txBody>
                  <a:tcPr marL="68575" marR="68575" marT="0" marB="0" anchor="b"/>
                </a:tc>
                <a:tc>
                  <a:txBody>
                    <a:bodyPr/>
                    <a:lstStyle/>
                    <a:p>
                      <a:pPr marL="0" marR="0" lvl="0" indent="0" algn="ctr" rtl="0">
                        <a:lnSpc>
                          <a:spcPct val="107000"/>
                        </a:lnSpc>
                        <a:spcBef>
                          <a:spcPts val="0"/>
                        </a:spcBef>
                        <a:spcAft>
                          <a:spcPts val="0"/>
                        </a:spcAft>
                        <a:buNone/>
                      </a:pPr>
                      <a:r>
                        <a:rPr lang="en-US" sz="1800" u="none" strike="noStrike" cap="none" dirty="0"/>
                        <a:t>4</a:t>
                      </a:r>
                      <a:endParaRPr sz="1100" u="none" strike="noStrike" cap="none" dirty="0">
                        <a:latin typeface="Calibri"/>
                        <a:ea typeface="Calibri"/>
                        <a:cs typeface="Calibri"/>
                        <a:sym typeface="Calibri"/>
                      </a:endParaRPr>
                    </a:p>
                  </a:txBody>
                  <a:tcPr marL="68575" marR="68575" marT="0" marB="0" anchor="b"/>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5"/>
          <p:cNvSpPr txBox="1">
            <a:spLocks noGrp="1"/>
          </p:cNvSpPr>
          <p:nvPr>
            <p:ph type="title"/>
          </p:nvPr>
        </p:nvSpPr>
        <p:spPr>
          <a:xfrm>
            <a:off x="1403683" y="601348"/>
            <a:ext cx="9557965" cy="100071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ct val="111111"/>
              <a:buFont typeface="Calibri"/>
              <a:buNone/>
            </a:pPr>
            <a:r>
              <a:rPr lang="en-US" dirty="0"/>
              <a:t>Encoding: Handling Categorical Variable</a:t>
            </a:r>
            <a:endParaRPr dirty="0"/>
          </a:p>
        </p:txBody>
      </p:sp>
      <p:sp>
        <p:nvSpPr>
          <p:cNvPr id="115" name="Google Shape;115;p5"/>
          <p:cNvSpPr txBox="1">
            <a:spLocks noGrp="1"/>
          </p:cNvSpPr>
          <p:nvPr>
            <p:ph idx="1"/>
          </p:nvPr>
        </p:nvSpPr>
        <p:spPr>
          <a:xfrm>
            <a:off x="1981200" y="2159620"/>
            <a:ext cx="8229600" cy="3296653"/>
          </a:xfrm>
          <a:prstGeom prst="rect">
            <a:avLst/>
          </a:prstGeom>
          <a:noFill/>
          <a:ln>
            <a:noFill/>
          </a:ln>
        </p:spPr>
        <p:txBody>
          <a:bodyPr spcFirstLastPara="1" wrap="square" lIns="91425" tIns="45700" rIns="91425" bIns="45700" anchor="t" anchorCtr="0">
            <a:noAutofit/>
          </a:bodyPr>
          <a:lstStyle/>
          <a:p>
            <a:pPr marL="0" marR="0" lvl="0" indent="0" algn="just" rtl="0">
              <a:lnSpc>
                <a:spcPct val="107000"/>
              </a:lnSpc>
              <a:spcBef>
                <a:spcPts val="0"/>
              </a:spcBef>
              <a:spcAft>
                <a:spcPts val="0"/>
              </a:spcAft>
              <a:buClr>
                <a:schemeClr val="dk1"/>
              </a:buClr>
              <a:buSzPts val="2400"/>
              <a:buNone/>
            </a:pPr>
            <a:r>
              <a:rPr lang="en-US" sz="2400" dirty="0">
                <a:ea typeface="Times New Roman"/>
                <a:cs typeface="Times New Roman"/>
                <a:sym typeface="Times New Roman"/>
              </a:rPr>
              <a:t>Data can be divided into numerical (quantitative) and categorical (qualitative). Categorical data can be divided into nominal and ordinal data. Depending on the data type, there are different ways to convert categorical data to numerical data. This process is called </a:t>
            </a:r>
            <a:r>
              <a:rPr lang="en-US" sz="2400" b="1" dirty="0">
                <a:ea typeface="Times New Roman"/>
                <a:cs typeface="Times New Roman"/>
                <a:sym typeface="Times New Roman"/>
              </a:rPr>
              <a:t>encoding</a:t>
            </a:r>
            <a:r>
              <a:rPr lang="en-US" sz="2400" dirty="0">
                <a:ea typeface="Times New Roman"/>
                <a:cs typeface="Times New Roman"/>
                <a:sym typeface="Times New Roman"/>
              </a:rPr>
              <a:t>.</a:t>
            </a:r>
            <a:endParaRPr dirty="0"/>
          </a:p>
          <a:p>
            <a:pPr marL="0" marR="0" lvl="0" indent="0" algn="just" rtl="0">
              <a:lnSpc>
                <a:spcPct val="107000"/>
              </a:lnSpc>
              <a:spcBef>
                <a:spcPts val="0"/>
              </a:spcBef>
              <a:spcAft>
                <a:spcPts val="0"/>
              </a:spcAft>
              <a:buClr>
                <a:schemeClr val="dk1"/>
              </a:buClr>
              <a:buSzPts val="2400"/>
              <a:buNone/>
            </a:pPr>
            <a:r>
              <a:rPr lang="en-US" sz="2400" b="1" i="1" dirty="0">
                <a:ea typeface="Times New Roman"/>
                <a:cs typeface="Times New Roman"/>
                <a:sym typeface="Times New Roman"/>
              </a:rPr>
              <a:t>Encoding refers to the process of converting categorical data into a numerical format.</a:t>
            </a:r>
            <a:endParaRPr sz="2400" dirty="0">
              <a:ea typeface="Calibri"/>
              <a:cs typeface="Calibri"/>
              <a:sym typeface="Calibri"/>
            </a:endParaRPr>
          </a:p>
          <a:p>
            <a:pPr marL="228600" marR="0" lvl="0" indent="-228600" algn="l" rtl="0">
              <a:lnSpc>
                <a:spcPct val="107000"/>
              </a:lnSpc>
              <a:spcBef>
                <a:spcPts val="800"/>
              </a:spcBef>
              <a:spcAft>
                <a:spcPts val="0"/>
              </a:spcAft>
              <a:buClr>
                <a:schemeClr val="dk1"/>
              </a:buClr>
              <a:buSzPts val="1800"/>
              <a:buChar char="•"/>
            </a:pPr>
            <a:r>
              <a:rPr lang="en-US" sz="1800" dirty="0">
                <a:ea typeface="Times New Roman"/>
                <a:cs typeface="Times New Roman"/>
                <a:sym typeface="Times New Roman"/>
              </a:rPr>
              <a:t> </a:t>
            </a:r>
            <a:endParaRPr sz="1800" dirty="0">
              <a:ea typeface="Calibri"/>
              <a:cs typeface="Calibri"/>
              <a:sym typeface="Calibri"/>
            </a:endParaRPr>
          </a:p>
          <a:p>
            <a:pPr marL="0" marR="0" lvl="0" indent="0" algn="l" rtl="0">
              <a:lnSpc>
                <a:spcPct val="107000"/>
              </a:lnSpc>
              <a:spcBef>
                <a:spcPts val="800"/>
              </a:spcBef>
              <a:spcAft>
                <a:spcPts val="0"/>
              </a:spcAft>
              <a:buClr>
                <a:schemeClr val="dk1"/>
              </a:buClr>
              <a:buSzPts val="1800"/>
              <a:buNone/>
            </a:pPr>
            <a:endParaRPr sz="1800" dirty="0">
              <a:ea typeface="Calibri"/>
              <a:cs typeface="Calibri"/>
              <a:sym typeface="Calibri"/>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6"/>
          <p:cNvSpPr txBox="1">
            <a:spLocks noGrp="1"/>
          </p:cNvSpPr>
          <p:nvPr>
            <p:ph type="title"/>
          </p:nvPr>
        </p:nvSpPr>
        <p:spPr>
          <a:xfrm>
            <a:off x="838200" y="365126"/>
            <a:ext cx="10515600" cy="86209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ea typeface="Calibri"/>
                <a:cs typeface="Calibri"/>
                <a:sym typeface="Calibri"/>
              </a:rPr>
              <a:t>                       One-hot encoding</a:t>
            </a:r>
            <a:endParaRPr dirty="0"/>
          </a:p>
        </p:txBody>
      </p:sp>
      <p:sp>
        <p:nvSpPr>
          <p:cNvPr id="121" name="Google Shape;121;p6"/>
          <p:cNvSpPr txBox="1">
            <a:spLocks noGrp="1"/>
          </p:cNvSpPr>
          <p:nvPr>
            <p:ph idx="1"/>
          </p:nvPr>
        </p:nvSpPr>
        <p:spPr>
          <a:xfrm>
            <a:off x="838200" y="1371600"/>
            <a:ext cx="10515600" cy="4805363"/>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0"/>
              </a:spcBef>
              <a:spcAft>
                <a:spcPts val="0"/>
              </a:spcAft>
              <a:buClr>
                <a:schemeClr val="dk1"/>
              </a:buClr>
              <a:buSzPct val="100000"/>
              <a:buChar char="•"/>
            </a:pPr>
            <a:r>
              <a:rPr lang="en-US" sz="2400" dirty="0">
                <a:ea typeface="Calibri"/>
                <a:cs typeface="Calibri"/>
                <a:sym typeface="Calibri"/>
              </a:rPr>
              <a:t>By far the most common way to represent categorical variables is using the one-hot encoding or one-out-of-N encoding, also known as dummy variables.</a:t>
            </a:r>
            <a:endParaRPr sz="2400" dirty="0"/>
          </a:p>
          <a:p>
            <a:pPr>
              <a:lnSpc>
                <a:spcPct val="107000"/>
              </a:lnSpc>
              <a:spcBef>
                <a:spcPts val="800"/>
              </a:spcBef>
              <a:spcAft>
                <a:spcPts val="0"/>
              </a:spcAft>
              <a:buClr>
                <a:schemeClr val="dk1"/>
              </a:buClr>
              <a:buSzPct val="46082"/>
              <a:buFont typeface="Arial" panose="020B0604020202020204" pitchFamily="34" charset="0"/>
              <a:buChar char="•"/>
            </a:pPr>
            <a:r>
              <a:rPr lang="en-US" sz="2400" b="1" dirty="0">
                <a:ea typeface="Times New Roman"/>
                <a:cs typeface="Times New Roman"/>
                <a:sym typeface="Times New Roman"/>
              </a:rPr>
              <a:t> </a:t>
            </a:r>
            <a:r>
              <a:rPr lang="en-US" sz="2400" dirty="0">
                <a:ea typeface="Times New Roman"/>
                <a:cs typeface="Times New Roman"/>
                <a:sym typeface="Times New Roman"/>
              </a:rPr>
              <a:t>One Hot Encoder is a popular encoder through which categorical variables can be converted into separate columns and their presence can be expressed in each column by Boolean True/False or 0/1.  </a:t>
            </a:r>
            <a:endParaRPr lang="en-US" sz="2400" dirty="0">
              <a:ea typeface="Calibri"/>
              <a:cs typeface="Calibri"/>
              <a:sym typeface="Calibri"/>
            </a:endParaRPr>
          </a:p>
          <a:p>
            <a:pPr>
              <a:lnSpc>
                <a:spcPct val="107000"/>
              </a:lnSpc>
              <a:spcBef>
                <a:spcPts val="800"/>
              </a:spcBef>
              <a:spcAft>
                <a:spcPts val="0"/>
              </a:spcAft>
              <a:buClr>
                <a:schemeClr val="dk1"/>
              </a:buClr>
              <a:buSzPct val="46082"/>
              <a:buFont typeface="Arial" panose="020B0604020202020204" pitchFamily="34" charset="0"/>
              <a:buChar char="•"/>
            </a:pPr>
            <a:r>
              <a:rPr lang="en-US" sz="2400" dirty="0">
                <a:ea typeface="Calibri"/>
                <a:cs typeface="Calibri"/>
                <a:sym typeface="Calibri"/>
              </a:rPr>
              <a:t> </a:t>
            </a:r>
            <a:r>
              <a:rPr lang="en-US" sz="2400" dirty="0" smtClean="0">
                <a:ea typeface="Times New Roman"/>
                <a:cs typeface="Times New Roman"/>
                <a:sym typeface="Times New Roman"/>
              </a:rPr>
              <a:t>This </a:t>
            </a:r>
            <a:r>
              <a:rPr lang="en-US" sz="2400" dirty="0">
                <a:ea typeface="Times New Roman"/>
                <a:cs typeface="Times New Roman"/>
                <a:sym typeface="Times New Roman"/>
              </a:rPr>
              <a:t>is encoded by the </a:t>
            </a:r>
            <a:r>
              <a:rPr lang="en-US" sz="2400" dirty="0" err="1">
                <a:ea typeface="Times New Roman"/>
                <a:cs typeface="Times New Roman"/>
                <a:sym typeface="Times New Roman"/>
              </a:rPr>
              <a:t>OneHotEncoder</a:t>
            </a:r>
            <a:r>
              <a:rPr lang="en-US" sz="2400" dirty="0">
                <a:ea typeface="Times New Roman"/>
                <a:cs typeface="Times New Roman"/>
                <a:sym typeface="Times New Roman"/>
              </a:rPr>
              <a:t> function, but we will see its application in the following example by its dummy variable using the </a:t>
            </a:r>
            <a:r>
              <a:rPr lang="en-US" sz="2400" dirty="0" err="1">
                <a:ea typeface="Times New Roman"/>
                <a:cs typeface="Times New Roman"/>
                <a:sym typeface="Times New Roman"/>
              </a:rPr>
              <a:t>get_dummies</a:t>
            </a:r>
            <a:r>
              <a:rPr lang="en-US" sz="2400" dirty="0">
                <a:ea typeface="Times New Roman"/>
                <a:cs typeface="Times New Roman"/>
                <a:sym typeface="Times New Roman"/>
              </a:rPr>
              <a:t> function. </a:t>
            </a:r>
            <a:endParaRPr sz="2400" dirty="0">
              <a:ea typeface="Calibri"/>
              <a:cs typeface="Calibri"/>
              <a:sym typeface="Calibri"/>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7"/>
          <p:cNvSpPr txBox="1">
            <a:spLocks noGrp="1"/>
          </p:cNvSpPr>
          <p:nvPr>
            <p:ph type="title"/>
          </p:nvPr>
        </p:nvSpPr>
        <p:spPr>
          <a:xfrm>
            <a:off x="838200" y="63612"/>
            <a:ext cx="10515600" cy="71771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dirty="0"/>
              <a:t>           Example  of one-hot coding</a:t>
            </a:r>
            <a:endParaRPr dirty="0"/>
          </a:p>
        </p:txBody>
      </p:sp>
      <p:sp>
        <p:nvSpPr>
          <p:cNvPr id="127" name="Google Shape;127;p7"/>
          <p:cNvSpPr txBox="1">
            <a:spLocks noGrp="1"/>
          </p:cNvSpPr>
          <p:nvPr>
            <p:ph idx="1"/>
          </p:nvPr>
        </p:nvSpPr>
        <p:spPr>
          <a:xfrm>
            <a:off x="621631" y="952541"/>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Example 1</a:t>
            </a: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lang="en-US" dirty="0" smtClean="0"/>
          </a:p>
          <a:p>
            <a:pPr marL="228600" lvl="0" indent="-50800" algn="l" rtl="0">
              <a:lnSpc>
                <a:spcPct val="90000"/>
              </a:lnSpc>
              <a:spcBef>
                <a:spcPts val="1000"/>
              </a:spcBef>
              <a:spcAft>
                <a:spcPts val="0"/>
              </a:spcAft>
              <a:buClr>
                <a:schemeClr val="dk1"/>
              </a:buClr>
              <a:buSzPts val="2800"/>
              <a:buNone/>
            </a:pPr>
            <a:endParaRPr lang="en-US" dirty="0" smtClean="0"/>
          </a:p>
          <a:p>
            <a:pPr marL="228600" lvl="0" indent="-50800" algn="l" rtl="0">
              <a:lnSpc>
                <a:spcPct val="90000"/>
              </a:lnSpc>
              <a:spcBef>
                <a:spcPts val="1000"/>
              </a:spcBef>
              <a:spcAft>
                <a:spcPts val="0"/>
              </a:spcAft>
              <a:buClr>
                <a:schemeClr val="dk1"/>
              </a:buClr>
              <a:buSzPts val="2800"/>
              <a:buNone/>
            </a:pPr>
            <a:endParaRPr dirty="0"/>
          </a:p>
          <a:p>
            <a:pPr marL="228600" lvl="0" indent="-228600" algn="l" rtl="0">
              <a:lnSpc>
                <a:spcPct val="90000"/>
              </a:lnSpc>
              <a:spcBef>
                <a:spcPts val="1000"/>
              </a:spcBef>
              <a:spcAft>
                <a:spcPts val="0"/>
              </a:spcAft>
              <a:buClr>
                <a:schemeClr val="dk1"/>
              </a:buClr>
              <a:buSzPts val="1800"/>
              <a:buChar char="•"/>
            </a:pPr>
            <a:r>
              <a:rPr lang="en-US" sz="1800" dirty="0">
                <a:latin typeface="Times New Roman"/>
                <a:ea typeface="Times New Roman"/>
                <a:cs typeface="Times New Roman"/>
                <a:sym typeface="Times New Roman"/>
              </a:rPr>
              <a:t>Example 2: Consider the data where fruits, their corresponding categorical values, and prices are given.</a:t>
            </a:r>
            <a:endParaRPr dirty="0"/>
          </a:p>
          <a:p>
            <a:pPr marL="0" lvl="0" indent="0" algn="l" rtl="0">
              <a:lnSpc>
                <a:spcPct val="90000"/>
              </a:lnSpc>
              <a:spcBef>
                <a:spcPts val="1000"/>
              </a:spcBef>
              <a:spcAft>
                <a:spcPts val="0"/>
              </a:spcAft>
              <a:buClr>
                <a:schemeClr val="dk1"/>
              </a:buClr>
              <a:buSzPts val="1800"/>
              <a:buNone/>
            </a:pPr>
            <a:endParaRPr sz="1800" dirty="0">
              <a:latin typeface="Calibri"/>
              <a:ea typeface="Calibri"/>
              <a:cs typeface="Calibri"/>
              <a:sym typeface="Calibri"/>
            </a:endParaRPr>
          </a:p>
        </p:txBody>
      </p:sp>
      <p:pic>
        <p:nvPicPr>
          <p:cNvPr id="128" name="Google Shape;128;p7"/>
          <p:cNvPicPr preferRelativeResize="0"/>
          <p:nvPr/>
        </p:nvPicPr>
        <p:blipFill rotWithShape="1">
          <a:blip r:embed="rId3">
            <a:alphaModFix/>
          </a:blip>
          <a:srcRect/>
          <a:stretch/>
        </p:blipFill>
        <p:spPr>
          <a:xfrm>
            <a:off x="2701991" y="952541"/>
            <a:ext cx="5768240" cy="1973179"/>
          </a:xfrm>
          <a:prstGeom prst="rect">
            <a:avLst/>
          </a:prstGeom>
          <a:noFill/>
          <a:ln>
            <a:noFill/>
          </a:ln>
        </p:spPr>
      </p:pic>
      <p:graphicFrame>
        <p:nvGraphicFramePr>
          <p:cNvPr id="129" name="Google Shape;129;p7"/>
          <p:cNvGraphicFramePr/>
          <p:nvPr>
            <p:extLst>
              <p:ext uri="{D42A27DB-BD31-4B8C-83A1-F6EECF244321}">
                <p14:modId xmlns:p14="http://schemas.microsoft.com/office/powerpoint/2010/main" val="3696281264"/>
              </p:ext>
            </p:extLst>
          </p:nvPr>
        </p:nvGraphicFramePr>
        <p:xfrm>
          <a:off x="1054769" y="4361300"/>
          <a:ext cx="4126850" cy="1399860"/>
        </p:xfrm>
        <a:graphic>
          <a:graphicData uri="http://schemas.openxmlformats.org/drawingml/2006/table">
            <a:tbl>
              <a:tblPr firstRow="1" firstCol="1" bandRow="1">
                <a:noFill/>
                <a:tableStyleId>{BF00C7D5-8C73-40C0-9A0A-1D9064C391A0}</a:tableStyleId>
              </a:tblPr>
              <a:tblGrid>
                <a:gridCol w="891425"/>
                <a:gridCol w="2268375"/>
                <a:gridCol w="967050"/>
              </a:tblGrid>
              <a:tr h="244475">
                <a:tc>
                  <a:txBody>
                    <a:bodyPr/>
                    <a:lstStyle/>
                    <a:p>
                      <a:pPr marL="0" marR="0" lvl="0" indent="0" algn="ctr" rtl="0">
                        <a:lnSpc>
                          <a:spcPct val="107000"/>
                        </a:lnSpc>
                        <a:spcBef>
                          <a:spcPts val="0"/>
                        </a:spcBef>
                        <a:spcAft>
                          <a:spcPts val="0"/>
                        </a:spcAft>
                        <a:buNone/>
                      </a:pPr>
                      <a:r>
                        <a:rPr lang="en-US" sz="1600" u="none" strike="noStrike" cap="none" dirty="0"/>
                        <a:t>Fruit</a:t>
                      </a:r>
                      <a:endParaRPr sz="1600" u="none" strike="noStrike" cap="none" dirty="0">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Categorical value of fruit</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Price</a:t>
                      </a:r>
                      <a:endParaRPr sz="1600" u="none" strike="noStrike" cap="none">
                        <a:latin typeface="Calibri"/>
                        <a:ea typeface="Calibri"/>
                        <a:cs typeface="Calibri"/>
                        <a:sym typeface="Calibri"/>
                      </a:endParaRPr>
                    </a:p>
                  </a:txBody>
                  <a:tcPr marL="9525" marR="9525" marT="9525" marB="9525" anchor="ctr"/>
                </a:tc>
              </a:tr>
              <a:tr h="244475">
                <a:tc>
                  <a:txBody>
                    <a:bodyPr/>
                    <a:lstStyle/>
                    <a:p>
                      <a:pPr marL="0" marR="0" lvl="0" indent="0" algn="ctr" rtl="0">
                        <a:lnSpc>
                          <a:spcPct val="107000"/>
                        </a:lnSpc>
                        <a:spcBef>
                          <a:spcPts val="0"/>
                        </a:spcBef>
                        <a:spcAft>
                          <a:spcPts val="0"/>
                        </a:spcAft>
                        <a:buNone/>
                      </a:pPr>
                      <a:r>
                        <a:rPr lang="en-US" sz="1600" u="none" strike="noStrike" cap="none"/>
                        <a:t>apple</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1</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5</a:t>
                      </a:r>
                      <a:endParaRPr sz="1600" u="none" strike="noStrike" cap="none">
                        <a:latin typeface="Calibri"/>
                        <a:ea typeface="Calibri"/>
                        <a:cs typeface="Calibri"/>
                        <a:sym typeface="Calibri"/>
                      </a:endParaRPr>
                    </a:p>
                  </a:txBody>
                  <a:tcPr marL="9525" marR="9525" marT="9525" marB="9525" anchor="ctr"/>
                </a:tc>
              </a:tr>
              <a:tr h="244475">
                <a:tc>
                  <a:txBody>
                    <a:bodyPr/>
                    <a:lstStyle/>
                    <a:p>
                      <a:pPr marL="0" marR="0" lvl="0" indent="0" algn="ctr" rtl="0">
                        <a:lnSpc>
                          <a:spcPct val="107000"/>
                        </a:lnSpc>
                        <a:spcBef>
                          <a:spcPts val="0"/>
                        </a:spcBef>
                        <a:spcAft>
                          <a:spcPts val="0"/>
                        </a:spcAft>
                        <a:buNone/>
                      </a:pPr>
                      <a:r>
                        <a:rPr lang="en-US" sz="1600" u="none" strike="noStrike" cap="none"/>
                        <a:t>mango</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2</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10</a:t>
                      </a:r>
                      <a:endParaRPr sz="1600" u="none" strike="noStrike" cap="none">
                        <a:latin typeface="Calibri"/>
                        <a:ea typeface="Calibri"/>
                        <a:cs typeface="Calibri"/>
                        <a:sym typeface="Calibri"/>
                      </a:endParaRPr>
                    </a:p>
                  </a:txBody>
                  <a:tcPr marL="9525" marR="9525" marT="9525" marB="9525" anchor="ctr"/>
                </a:tc>
              </a:tr>
              <a:tr h="244475">
                <a:tc>
                  <a:txBody>
                    <a:bodyPr/>
                    <a:lstStyle/>
                    <a:p>
                      <a:pPr marL="0" marR="0" lvl="0" indent="0" algn="ctr" rtl="0">
                        <a:lnSpc>
                          <a:spcPct val="107000"/>
                        </a:lnSpc>
                        <a:spcBef>
                          <a:spcPts val="0"/>
                        </a:spcBef>
                        <a:spcAft>
                          <a:spcPts val="0"/>
                        </a:spcAft>
                        <a:buNone/>
                      </a:pPr>
                      <a:r>
                        <a:rPr lang="en-US" sz="1600" u="none" strike="noStrike" cap="none"/>
                        <a:t>apple</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dirty="0"/>
                        <a:t>1</a:t>
                      </a:r>
                      <a:endParaRPr sz="1600" u="none" strike="noStrike" cap="none" dirty="0">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15</a:t>
                      </a:r>
                      <a:endParaRPr sz="1600" u="none" strike="noStrike" cap="none">
                        <a:latin typeface="Calibri"/>
                        <a:ea typeface="Calibri"/>
                        <a:cs typeface="Calibri"/>
                        <a:sym typeface="Calibri"/>
                      </a:endParaRPr>
                    </a:p>
                  </a:txBody>
                  <a:tcPr marL="9525" marR="9525" marT="9525" marB="9525" anchor="ctr"/>
                </a:tc>
              </a:tr>
              <a:tr h="244475">
                <a:tc>
                  <a:txBody>
                    <a:bodyPr/>
                    <a:lstStyle/>
                    <a:p>
                      <a:pPr marL="0" marR="0" lvl="0" indent="0" algn="ctr" rtl="0">
                        <a:lnSpc>
                          <a:spcPct val="107000"/>
                        </a:lnSpc>
                        <a:spcBef>
                          <a:spcPts val="0"/>
                        </a:spcBef>
                        <a:spcAft>
                          <a:spcPts val="0"/>
                        </a:spcAft>
                        <a:buNone/>
                      </a:pPr>
                      <a:r>
                        <a:rPr lang="en-US" sz="1600" u="none" strike="noStrike" cap="none"/>
                        <a:t>orange</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3</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20</a:t>
                      </a:r>
                      <a:endParaRPr sz="1600" u="none" strike="noStrike" cap="none">
                        <a:latin typeface="Calibri"/>
                        <a:ea typeface="Calibri"/>
                        <a:cs typeface="Calibri"/>
                        <a:sym typeface="Calibri"/>
                      </a:endParaRPr>
                    </a:p>
                  </a:txBody>
                  <a:tcPr marL="9525" marR="9525" marT="9525" marB="9525" anchor="ctr"/>
                </a:tc>
              </a:tr>
            </a:tbl>
          </a:graphicData>
        </a:graphic>
      </p:graphicFrame>
      <p:graphicFrame>
        <p:nvGraphicFramePr>
          <p:cNvPr id="130" name="Google Shape;130;p7"/>
          <p:cNvGraphicFramePr/>
          <p:nvPr>
            <p:extLst>
              <p:ext uri="{D42A27DB-BD31-4B8C-83A1-F6EECF244321}">
                <p14:modId xmlns:p14="http://schemas.microsoft.com/office/powerpoint/2010/main" val="327372533"/>
              </p:ext>
            </p:extLst>
          </p:nvPr>
        </p:nvGraphicFramePr>
        <p:xfrm>
          <a:off x="5614738" y="4361300"/>
          <a:ext cx="3447500" cy="1399860"/>
        </p:xfrm>
        <a:graphic>
          <a:graphicData uri="http://schemas.openxmlformats.org/drawingml/2006/table">
            <a:tbl>
              <a:tblPr firstRow="1" firstCol="1" bandRow="1">
                <a:noFill/>
                <a:tableStyleId>{BF00C7D5-8C73-40C0-9A0A-1D9064C391A0}</a:tableStyleId>
              </a:tblPr>
              <a:tblGrid>
                <a:gridCol w="900550"/>
                <a:gridCol w="1016025"/>
                <a:gridCol w="918550"/>
                <a:gridCol w="612375"/>
              </a:tblGrid>
              <a:tr h="244475">
                <a:tc>
                  <a:txBody>
                    <a:bodyPr/>
                    <a:lstStyle/>
                    <a:p>
                      <a:pPr marL="0" marR="0" lvl="0" indent="0" algn="ctr" rtl="0">
                        <a:lnSpc>
                          <a:spcPct val="107000"/>
                        </a:lnSpc>
                        <a:spcBef>
                          <a:spcPts val="0"/>
                        </a:spcBef>
                        <a:spcAft>
                          <a:spcPts val="0"/>
                        </a:spcAft>
                        <a:buNone/>
                      </a:pPr>
                      <a:r>
                        <a:rPr lang="en-US" sz="1600" u="none" strike="noStrike" cap="none"/>
                        <a:t>apple</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mango</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orange</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price</a:t>
                      </a:r>
                      <a:endParaRPr sz="1600" u="none" strike="noStrike" cap="none">
                        <a:latin typeface="Calibri"/>
                        <a:ea typeface="Calibri"/>
                        <a:cs typeface="Calibri"/>
                        <a:sym typeface="Calibri"/>
                      </a:endParaRPr>
                    </a:p>
                  </a:txBody>
                  <a:tcPr marL="9525" marR="9525" marT="9525" marB="9525" anchor="ctr"/>
                </a:tc>
              </a:tr>
              <a:tr h="244475">
                <a:tc>
                  <a:txBody>
                    <a:bodyPr/>
                    <a:lstStyle/>
                    <a:p>
                      <a:pPr marL="0" marR="0" lvl="0" indent="0" algn="ctr" rtl="0">
                        <a:lnSpc>
                          <a:spcPct val="107000"/>
                        </a:lnSpc>
                        <a:spcBef>
                          <a:spcPts val="0"/>
                        </a:spcBef>
                        <a:spcAft>
                          <a:spcPts val="0"/>
                        </a:spcAft>
                        <a:buNone/>
                      </a:pPr>
                      <a:r>
                        <a:rPr lang="en-US" sz="1600" u="none" strike="noStrike" cap="none"/>
                        <a:t>1</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0</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0</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5</a:t>
                      </a:r>
                      <a:endParaRPr sz="1600" u="none" strike="noStrike" cap="none">
                        <a:latin typeface="Calibri"/>
                        <a:ea typeface="Calibri"/>
                        <a:cs typeface="Calibri"/>
                        <a:sym typeface="Calibri"/>
                      </a:endParaRPr>
                    </a:p>
                  </a:txBody>
                  <a:tcPr marL="9525" marR="9525" marT="9525" marB="9525" anchor="ctr"/>
                </a:tc>
              </a:tr>
              <a:tr h="244475">
                <a:tc>
                  <a:txBody>
                    <a:bodyPr/>
                    <a:lstStyle/>
                    <a:p>
                      <a:pPr marL="0" marR="0" lvl="0" indent="0" algn="ctr" rtl="0">
                        <a:lnSpc>
                          <a:spcPct val="107000"/>
                        </a:lnSpc>
                        <a:spcBef>
                          <a:spcPts val="0"/>
                        </a:spcBef>
                        <a:spcAft>
                          <a:spcPts val="0"/>
                        </a:spcAft>
                        <a:buNone/>
                      </a:pPr>
                      <a:r>
                        <a:rPr lang="en-US" sz="1600" u="none" strike="noStrike" cap="none"/>
                        <a:t>0</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1</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0</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10</a:t>
                      </a:r>
                      <a:endParaRPr sz="1600" u="none" strike="noStrike" cap="none">
                        <a:latin typeface="Calibri"/>
                        <a:ea typeface="Calibri"/>
                        <a:cs typeface="Calibri"/>
                        <a:sym typeface="Calibri"/>
                      </a:endParaRPr>
                    </a:p>
                  </a:txBody>
                  <a:tcPr marL="9525" marR="9525" marT="9525" marB="9525" anchor="ctr"/>
                </a:tc>
              </a:tr>
              <a:tr h="244475">
                <a:tc>
                  <a:txBody>
                    <a:bodyPr/>
                    <a:lstStyle/>
                    <a:p>
                      <a:pPr marL="0" marR="0" lvl="0" indent="0" algn="ctr" rtl="0">
                        <a:lnSpc>
                          <a:spcPct val="107000"/>
                        </a:lnSpc>
                        <a:spcBef>
                          <a:spcPts val="0"/>
                        </a:spcBef>
                        <a:spcAft>
                          <a:spcPts val="0"/>
                        </a:spcAft>
                        <a:buNone/>
                      </a:pPr>
                      <a:r>
                        <a:rPr lang="en-US" sz="1600" u="none" strike="noStrike" cap="none"/>
                        <a:t>1</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0</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0</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15</a:t>
                      </a:r>
                      <a:endParaRPr sz="1600" u="none" strike="noStrike" cap="none">
                        <a:latin typeface="Calibri"/>
                        <a:ea typeface="Calibri"/>
                        <a:cs typeface="Calibri"/>
                        <a:sym typeface="Calibri"/>
                      </a:endParaRPr>
                    </a:p>
                  </a:txBody>
                  <a:tcPr marL="9525" marR="9525" marT="9525" marB="9525" anchor="ctr"/>
                </a:tc>
              </a:tr>
              <a:tr h="244475">
                <a:tc>
                  <a:txBody>
                    <a:bodyPr/>
                    <a:lstStyle/>
                    <a:p>
                      <a:pPr marL="0" marR="0" lvl="0" indent="0" algn="ctr" rtl="0">
                        <a:lnSpc>
                          <a:spcPct val="107000"/>
                        </a:lnSpc>
                        <a:spcBef>
                          <a:spcPts val="0"/>
                        </a:spcBef>
                        <a:spcAft>
                          <a:spcPts val="0"/>
                        </a:spcAft>
                        <a:buNone/>
                      </a:pPr>
                      <a:r>
                        <a:rPr lang="en-US" sz="1600" u="none" strike="noStrike" cap="none"/>
                        <a:t>0</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0</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a:t>1</a:t>
                      </a:r>
                      <a:endParaRPr sz="1600" u="none" strike="noStrike" cap="none">
                        <a:latin typeface="Calibri"/>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u="none" strike="noStrike" cap="none" dirty="0"/>
                        <a:t>20</a:t>
                      </a:r>
                      <a:endParaRPr sz="1600" u="none" strike="noStrike" cap="none" dirty="0">
                        <a:latin typeface="Calibri"/>
                        <a:ea typeface="Calibri"/>
                        <a:cs typeface="Calibri"/>
                        <a:sym typeface="Calibri"/>
                      </a:endParaRPr>
                    </a:p>
                  </a:txBody>
                  <a:tcPr marL="9525" marR="9525" marT="9525" marB="9525" anchor="ct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8"/>
          <p:cNvSpPr txBox="1">
            <a:spLocks noGrp="1"/>
          </p:cNvSpPr>
          <p:nvPr>
            <p:ph type="title"/>
          </p:nvPr>
        </p:nvSpPr>
        <p:spPr>
          <a:xfrm>
            <a:off x="573506" y="49914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imes New Roman"/>
              <a:buNone/>
            </a:pPr>
            <a:r>
              <a:rPr lang="en-US" dirty="0">
                <a:ea typeface="Times New Roman"/>
                <a:cs typeface="Times New Roman"/>
                <a:sym typeface="Times New Roman"/>
              </a:rPr>
              <a:t>                         </a:t>
            </a:r>
            <a:r>
              <a:rPr lang="en-US" dirty="0" smtClean="0">
                <a:ea typeface="Times New Roman"/>
                <a:cs typeface="Times New Roman"/>
                <a:sym typeface="Times New Roman"/>
              </a:rPr>
              <a:t>Ordinal </a:t>
            </a:r>
            <a:r>
              <a:rPr lang="en-US" dirty="0">
                <a:ea typeface="Times New Roman"/>
                <a:cs typeface="Times New Roman"/>
                <a:sym typeface="Times New Roman"/>
              </a:rPr>
              <a:t>Encoding</a:t>
            </a:r>
            <a:endParaRPr dirty="0"/>
          </a:p>
        </p:txBody>
      </p:sp>
      <p:pic>
        <p:nvPicPr>
          <p:cNvPr id="136" name="Google Shape;136;p8"/>
          <p:cNvPicPr preferRelativeResize="0">
            <a:picLocks noGrp="1"/>
          </p:cNvPicPr>
          <p:nvPr>
            <p:ph idx="1"/>
          </p:nvPr>
        </p:nvPicPr>
        <p:blipFill rotWithShape="1">
          <a:blip r:embed="rId3">
            <a:alphaModFix/>
          </a:blip>
          <a:stretch/>
        </p:blipFill>
        <p:spPr>
          <a:xfrm>
            <a:off x="3510233" y="2868488"/>
            <a:ext cx="4747671" cy="2857748"/>
          </a:xfrm>
          <a:prstGeom prst="rect">
            <a:avLst/>
          </a:prstGeom>
          <a:noFill/>
          <a:ln>
            <a:noFill/>
          </a:ln>
        </p:spPr>
      </p:pic>
      <p:sp>
        <p:nvSpPr>
          <p:cNvPr id="137" name="Google Shape;137;p8"/>
          <p:cNvSpPr txBox="1"/>
          <p:nvPr/>
        </p:nvSpPr>
        <p:spPr>
          <a:xfrm>
            <a:off x="1447801" y="1443226"/>
            <a:ext cx="10515600" cy="1325563"/>
          </a:xfrm>
          <a:prstGeom prst="rect">
            <a:avLst/>
          </a:prstGeom>
          <a:noFill/>
          <a:ln>
            <a:noFill/>
          </a:ln>
        </p:spPr>
        <p:txBody>
          <a:bodyPr spcFirstLastPara="1" wrap="square" lIns="91425" tIns="45700" rIns="91425" bIns="45700" anchor="ctr" anchorCtr="0">
            <a:noAutofit/>
          </a:bodyPr>
          <a:lstStyle/>
          <a:p>
            <a:pPr marL="0" marR="0" lvl="0" indent="0" algn="l" rtl="0">
              <a:lnSpc>
                <a:spcPct val="107000"/>
              </a:lnSpc>
              <a:spcBef>
                <a:spcPts val="0"/>
              </a:spcBef>
              <a:spcAft>
                <a:spcPts val="0"/>
              </a:spcAft>
              <a:buClr>
                <a:schemeClr val="dk1"/>
              </a:buClr>
              <a:buSzPts val="1800"/>
              <a:buFont typeface="Times New Roman"/>
              <a:buNone/>
            </a:pPr>
            <a:r>
              <a:rPr lang="en-US" sz="2400" i="0" u="none" strike="noStrike" cap="none" dirty="0">
                <a:solidFill>
                  <a:schemeClr val="dk1"/>
                </a:solidFill>
                <a:latin typeface="+mn-lt"/>
                <a:ea typeface="Times New Roman"/>
                <a:cs typeface="Times New Roman"/>
                <a:sym typeface="Times New Roman"/>
              </a:rPr>
              <a:t> </a:t>
            </a:r>
            <a:endParaRPr lang="en-US" sz="2400" i="0" u="none" strike="noStrike" cap="none" dirty="0" smtClean="0">
              <a:solidFill>
                <a:schemeClr val="dk1"/>
              </a:solidFill>
              <a:latin typeface="+mn-lt"/>
              <a:ea typeface="Times New Roman"/>
              <a:cs typeface="Times New Roman"/>
              <a:sym typeface="Times New Roman"/>
            </a:endParaRPr>
          </a:p>
          <a:p>
            <a:pPr marL="0" marR="0" lvl="0" indent="0" algn="l" rtl="0">
              <a:lnSpc>
                <a:spcPct val="107000"/>
              </a:lnSpc>
              <a:spcBef>
                <a:spcPts val="0"/>
              </a:spcBef>
              <a:spcAft>
                <a:spcPts val="0"/>
              </a:spcAft>
              <a:buClr>
                <a:schemeClr val="dk1"/>
              </a:buClr>
              <a:buSzPts val="1800"/>
              <a:buFont typeface="Times New Roman"/>
              <a:buNone/>
            </a:pPr>
            <a:r>
              <a:rPr lang="en-US" sz="2400" i="0" u="none" strike="noStrike" cap="none" dirty="0" smtClean="0">
                <a:solidFill>
                  <a:schemeClr val="dk1"/>
                </a:solidFill>
                <a:latin typeface="+mn-lt"/>
                <a:ea typeface="Times New Roman"/>
                <a:cs typeface="Times New Roman"/>
                <a:sym typeface="Times New Roman"/>
              </a:rPr>
              <a:t>Ordinal </a:t>
            </a:r>
            <a:r>
              <a:rPr lang="en-US" sz="2400" i="0" u="none" strike="noStrike" cap="none" dirty="0">
                <a:solidFill>
                  <a:schemeClr val="dk1"/>
                </a:solidFill>
                <a:latin typeface="+mn-lt"/>
                <a:ea typeface="Times New Roman"/>
                <a:cs typeface="Times New Roman"/>
                <a:sym typeface="Times New Roman"/>
              </a:rPr>
              <a:t>data can be converted to ordinal encoding</a:t>
            </a:r>
            <a:r>
              <a:rPr lang="en-US" sz="2400" i="0" u="none" strike="noStrike" cap="none" dirty="0" smtClean="0">
                <a:solidFill>
                  <a:schemeClr val="dk1"/>
                </a:solidFill>
                <a:latin typeface="+mn-lt"/>
                <a:ea typeface="Times New Roman"/>
                <a:cs typeface="Times New Roman"/>
                <a:sym typeface="Times New Roman"/>
              </a:rPr>
              <a:t>.</a:t>
            </a:r>
            <a:r>
              <a:rPr lang="en-US" sz="2400" i="0" u="none" strike="noStrike" cap="none" dirty="0">
                <a:solidFill>
                  <a:schemeClr val="dk1"/>
                </a:solidFill>
                <a:latin typeface="+mn-lt"/>
                <a:ea typeface="Times New Roman"/>
                <a:cs typeface="Times New Roman"/>
                <a:sym typeface="Times New Roman"/>
              </a:rPr>
              <a:t> </a:t>
            </a:r>
            <a:endParaRPr sz="2400" i="0" u="none" strike="noStrike" cap="none" dirty="0">
              <a:solidFill>
                <a:schemeClr val="dk1"/>
              </a:solidFill>
              <a:latin typeface="+mn-lt"/>
              <a:ea typeface="Calibri"/>
              <a:cs typeface="Calibri"/>
              <a:sym typeface="Calibri"/>
            </a:endParaRPr>
          </a:p>
          <a:p>
            <a:pPr marL="0" marR="0" lvl="0" indent="0" algn="l" rtl="0">
              <a:lnSpc>
                <a:spcPct val="90000"/>
              </a:lnSpc>
              <a:spcBef>
                <a:spcPts val="0"/>
              </a:spcBef>
              <a:spcAft>
                <a:spcPts val="0"/>
              </a:spcAft>
              <a:buClr>
                <a:schemeClr val="dk1"/>
              </a:buClr>
              <a:buSzPts val="2000"/>
              <a:buFont typeface="Calibri"/>
              <a:buNone/>
            </a:pPr>
            <a:r>
              <a:rPr lang="en-US" sz="2400" i="0" u="none" strike="noStrike" cap="none" dirty="0">
                <a:solidFill>
                  <a:schemeClr val="dk1"/>
                </a:solidFill>
                <a:latin typeface="+mn-lt"/>
                <a:ea typeface="Calibri"/>
                <a:cs typeface="Calibri"/>
                <a:sym typeface="Calibri"/>
              </a:rPr>
              <a:t>Example:</a:t>
            </a:r>
            <a:endParaRPr sz="2400" dirty="0">
              <a:latin typeface="+mn-l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0"/>
          <p:cNvSpPr txBox="1">
            <a:spLocks noGrp="1"/>
          </p:cNvSpPr>
          <p:nvPr>
            <p:ph type="title"/>
          </p:nvPr>
        </p:nvSpPr>
        <p:spPr>
          <a:xfrm>
            <a:off x="1981200" y="274638"/>
            <a:ext cx="8229600" cy="63174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ct val="111111"/>
              <a:buFont typeface="Calibri"/>
              <a:buNone/>
            </a:pPr>
            <a:r>
              <a:rPr lang="en-US" dirty="0"/>
              <a:t>Label Encoding</a:t>
            </a:r>
            <a:endParaRPr dirty="0"/>
          </a:p>
        </p:txBody>
      </p:sp>
      <p:sp>
        <p:nvSpPr>
          <p:cNvPr id="149" name="Google Shape;149;p10"/>
          <p:cNvSpPr txBox="1">
            <a:spLocks noGrp="1"/>
          </p:cNvSpPr>
          <p:nvPr>
            <p:ph idx="1"/>
          </p:nvPr>
        </p:nvSpPr>
        <p:spPr>
          <a:xfrm>
            <a:off x="1561171" y="1166018"/>
            <a:ext cx="9166301" cy="4793624"/>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ct val="100000"/>
              <a:buNone/>
            </a:pPr>
            <a:r>
              <a:rPr lang="en-US" sz="2400" dirty="0"/>
              <a:t>One-hot and Ordinal encoders </a:t>
            </a:r>
            <a:r>
              <a:rPr lang="en-US" sz="2400" dirty="0">
                <a:ea typeface="Times New Roman"/>
                <a:cs typeface="Times New Roman"/>
                <a:sym typeface="Times New Roman"/>
              </a:rPr>
              <a:t>can be used for explanatory/independent variables (x). For prediction/target variables (y), we use label encoding, specially designed for output or target variables</a:t>
            </a:r>
            <a:r>
              <a:rPr lang="en-US" sz="2400" dirty="0" smtClean="0">
                <a:ea typeface="Times New Roman"/>
                <a:cs typeface="Times New Roman"/>
                <a:sym typeface="Times New Roman"/>
              </a:rPr>
              <a:t>.</a:t>
            </a:r>
          </a:p>
          <a:p>
            <a:pPr marL="0" lvl="0" indent="0" algn="just" rtl="0">
              <a:lnSpc>
                <a:spcPct val="100000"/>
              </a:lnSpc>
              <a:spcBef>
                <a:spcPts val="0"/>
              </a:spcBef>
              <a:spcAft>
                <a:spcPts val="0"/>
              </a:spcAft>
              <a:buClr>
                <a:schemeClr val="dk1"/>
              </a:buClr>
              <a:buSzPct val="100000"/>
              <a:buNone/>
            </a:pPr>
            <a:endParaRPr sz="2400" dirty="0"/>
          </a:p>
          <a:p>
            <a:pPr marL="0" lvl="0" indent="0" algn="just" rtl="0">
              <a:lnSpc>
                <a:spcPct val="100000"/>
              </a:lnSpc>
              <a:spcBef>
                <a:spcPts val="0"/>
              </a:spcBef>
              <a:spcAft>
                <a:spcPts val="0"/>
              </a:spcAft>
              <a:buClr>
                <a:schemeClr val="dk1"/>
              </a:buClr>
              <a:buSzPct val="100000"/>
              <a:buNone/>
            </a:pPr>
            <a:r>
              <a:rPr lang="en-US" sz="2000" dirty="0"/>
              <a:t>Label encoding is a method of processing categorical data. In this method we can express all the unique values ​​of categorical variables with different numbers. </a:t>
            </a:r>
            <a:endParaRPr sz="2000" dirty="0"/>
          </a:p>
          <a:p>
            <a:pPr marL="342900" lvl="0" indent="-342900" algn="just" rtl="0">
              <a:lnSpc>
                <a:spcPct val="100000"/>
              </a:lnSpc>
              <a:spcBef>
                <a:spcPts val="400"/>
              </a:spcBef>
              <a:spcAft>
                <a:spcPts val="0"/>
              </a:spcAft>
              <a:buClr>
                <a:schemeClr val="dk1"/>
              </a:buClr>
              <a:buSzPct val="100000"/>
              <a:buChar char="•"/>
            </a:pPr>
            <a:r>
              <a:rPr lang="en-US" sz="2000" dirty="0"/>
              <a:t>Suppose you have a dataset where male or female is written as human gender. We can express the males by 1 and the females by 2 by encoding the label. </a:t>
            </a:r>
            <a:endParaRPr sz="2000" dirty="0"/>
          </a:p>
          <a:p>
            <a:pPr marL="342900" lvl="0" indent="-342900" algn="just" rtl="0">
              <a:lnSpc>
                <a:spcPct val="100000"/>
              </a:lnSpc>
              <a:spcBef>
                <a:spcPts val="400"/>
              </a:spcBef>
              <a:spcAft>
                <a:spcPts val="0"/>
              </a:spcAft>
              <a:buClr>
                <a:schemeClr val="dk1"/>
              </a:buClr>
              <a:buSzPct val="100000"/>
              <a:buChar char="•"/>
            </a:pPr>
            <a:r>
              <a:rPr lang="en-US" sz="2000" dirty="0"/>
              <a:t>It is also called dummy variable. The code below shows that the ST_NAME variable is a categorical variable, with different road names. </a:t>
            </a:r>
            <a:endParaRPr sz="2000" dirty="0"/>
          </a:p>
          <a:p>
            <a:pPr marL="342900" lvl="0" indent="-342900" algn="just" rtl="0">
              <a:lnSpc>
                <a:spcPct val="100000"/>
              </a:lnSpc>
              <a:spcBef>
                <a:spcPts val="400"/>
              </a:spcBef>
              <a:spcAft>
                <a:spcPts val="0"/>
              </a:spcAft>
              <a:buClr>
                <a:schemeClr val="dk1"/>
              </a:buClr>
              <a:buSzPct val="100000"/>
              <a:buChar char="•"/>
            </a:pPr>
            <a:r>
              <a:rPr lang="en-US" sz="2000" dirty="0"/>
              <a:t>Through label encoding we have expressed the name of each unique road by a different number. Then when the dataset is shown again, we see that all the roads (unique) are expressed by different numbers.</a:t>
            </a:r>
            <a:endParaRPr sz="2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           Example of label encoding</a:t>
            </a:r>
            <a:endParaRPr dirty="0"/>
          </a:p>
        </p:txBody>
      </p:sp>
      <p:pic>
        <p:nvPicPr>
          <p:cNvPr id="156" name="Google Shape;156;p11"/>
          <p:cNvPicPr preferRelativeResize="0">
            <a:picLocks noGrp="1"/>
          </p:cNvPicPr>
          <p:nvPr>
            <p:ph idx="1"/>
          </p:nvPr>
        </p:nvPicPr>
        <p:blipFill rotWithShape="1">
          <a:blip r:embed="rId3">
            <a:alphaModFix/>
          </a:blip>
          <a:stretch/>
        </p:blipFill>
        <p:spPr>
          <a:xfrm>
            <a:off x="2172807" y="2636058"/>
            <a:ext cx="7422523" cy="3322608"/>
          </a:xfrm>
          <a:prstGeom prst="rect">
            <a:avLst/>
          </a:prstGeom>
          <a:noFill/>
          <a:ln>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838200" y="156578"/>
            <a:ext cx="10515600" cy="63750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ct val="100000"/>
              <a:buFont typeface="Times New Roman"/>
              <a:buNone/>
            </a:pPr>
            <a:r>
              <a:rPr lang="en-US" dirty="0">
                <a:ea typeface="Times New Roman"/>
                <a:cs typeface="Times New Roman"/>
                <a:sym typeface="Times New Roman"/>
              </a:rPr>
              <a:t/>
            </a:r>
            <a:br>
              <a:rPr lang="en-US" dirty="0">
                <a:ea typeface="Times New Roman"/>
                <a:cs typeface="Times New Roman"/>
                <a:sym typeface="Times New Roman"/>
              </a:rPr>
            </a:br>
            <a:r>
              <a:rPr lang="en-US" dirty="0">
                <a:ea typeface="Times New Roman"/>
                <a:cs typeface="Times New Roman"/>
                <a:sym typeface="Times New Roman"/>
              </a:rPr>
              <a:t>  </a:t>
            </a:r>
            <a:r>
              <a:rPr lang="en-US" dirty="0" smtClean="0">
                <a:ea typeface="Times New Roman"/>
                <a:cs typeface="Times New Roman"/>
                <a:sym typeface="Times New Roman"/>
              </a:rPr>
              <a:t>Handling </a:t>
            </a:r>
            <a:r>
              <a:rPr lang="en-US" dirty="0">
                <a:ea typeface="Times New Roman"/>
                <a:cs typeface="Times New Roman"/>
                <a:sym typeface="Times New Roman"/>
              </a:rPr>
              <a:t>Outliers</a:t>
            </a:r>
            <a:r>
              <a:rPr lang="en-US" dirty="0">
                <a:ea typeface="Calibri"/>
                <a:cs typeface="Calibri"/>
                <a:sym typeface="Calibri"/>
              </a:rPr>
              <a:t/>
            </a:r>
            <a:br>
              <a:rPr lang="en-US" dirty="0">
                <a:ea typeface="Calibri"/>
                <a:cs typeface="Calibri"/>
                <a:sym typeface="Calibri"/>
              </a:rPr>
            </a:br>
            <a:endParaRPr dirty="0"/>
          </a:p>
        </p:txBody>
      </p:sp>
      <p:sp>
        <p:nvSpPr>
          <p:cNvPr id="162" name="Google Shape;162;p12"/>
          <p:cNvSpPr txBox="1">
            <a:spLocks noGrp="1"/>
          </p:cNvSpPr>
          <p:nvPr>
            <p:ph idx="1"/>
          </p:nvPr>
        </p:nvSpPr>
        <p:spPr>
          <a:xfrm>
            <a:off x="838200" y="930442"/>
            <a:ext cx="5610726" cy="5562432"/>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ct val="100000"/>
              <a:buChar char="•"/>
            </a:pPr>
            <a:r>
              <a:rPr lang="en-US" sz="2400" i="1" dirty="0">
                <a:ea typeface="Times New Roman"/>
                <a:cs typeface="Times New Roman"/>
                <a:sym typeface="Times New Roman"/>
              </a:rPr>
              <a:t>Outliers are data points significantly different from the rest of the data set. They can affect the accuracy of our model</a:t>
            </a:r>
            <a:r>
              <a:rPr lang="en-US" sz="2400" i="1" dirty="0" smtClean="0">
                <a:ea typeface="Times New Roman"/>
                <a:cs typeface="Times New Roman"/>
                <a:sym typeface="Times New Roman"/>
              </a:rPr>
              <a:t>.</a:t>
            </a:r>
          </a:p>
          <a:p>
            <a:pPr marL="228600" lvl="0" indent="-228600" algn="l" rtl="0">
              <a:lnSpc>
                <a:spcPct val="90000"/>
              </a:lnSpc>
              <a:spcBef>
                <a:spcPts val="0"/>
              </a:spcBef>
              <a:spcAft>
                <a:spcPts val="0"/>
              </a:spcAft>
              <a:buClr>
                <a:schemeClr val="dk1"/>
              </a:buClr>
              <a:buSzPct val="100000"/>
              <a:buChar char="•"/>
            </a:pPr>
            <a:endParaRPr sz="2400" dirty="0"/>
          </a:p>
          <a:p>
            <a:pPr marL="0" marR="0" lvl="0" indent="0" algn="l" rtl="0">
              <a:lnSpc>
                <a:spcPct val="107000"/>
              </a:lnSpc>
              <a:spcBef>
                <a:spcPts val="0"/>
              </a:spcBef>
              <a:spcAft>
                <a:spcPts val="0"/>
              </a:spcAft>
              <a:buClr>
                <a:schemeClr val="dk1"/>
              </a:buClr>
              <a:buSzPct val="100000"/>
              <a:buNone/>
            </a:pPr>
            <a:r>
              <a:rPr lang="en-US" sz="2000" i="1" dirty="0">
                <a:ea typeface="Times New Roman"/>
                <a:cs typeface="Times New Roman"/>
                <a:sym typeface="Times New Roman"/>
              </a:rPr>
              <a:t>There are two main ways to treat outliers:</a:t>
            </a:r>
            <a:endParaRPr sz="2000" dirty="0">
              <a:ea typeface="Calibri"/>
              <a:cs typeface="Calibri"/>
              <a:sym typeface="Calibri"/>
            </a:endParaRPr>
          </a:p>
          <a:p>
            <a:pPr marL="342900" marR="0" lvl="0" indent="-342900" algn="l" rtl="0">
              <a:lnSpc>
                <a:spcPct val="107000"/>
              </a:lnSpc>
              <a:spcBef>
                <a:spcPts val="800"/>
              </a:spcBef>
              <a:spcAft>
                <a:spcPts val="0"/>
              </a:spcAft>
              <a:buClr>
                <a:schemeClr val="dk1"/>
              </a:buClr>
              <a:buSzPct val="46082"/>
              <a:buFont typeface="Noto Sans Symbols"/>
              <a:buChar char="∙"/>
            </a:pPr>
            <a:r>
              <a:rPr lang="en-US" sz="2000" dirty="0">
                <a:ea typeface="Times New Roman"/>
                <a:cs typeface="Times New Roman"/>
                <a:sym typeface="Times New Roman"/>
              </a:rPr>
              <a:t>Trimming: We can remove the outliers from the data set.</a:t>
            </a:r>
            <a:endParaRPr sz="2000" dirty="0">
              <a:ea typeface="Calibri"/>
              <a:cs typeface="Calibri"/>
              <a:sym typeface="Calibri"/>
            </a:endParaRPr>
          </a:p>
          <a:p>
            <a:pPr marL="342900" marR="0" lvl="0" indent="-342900" algn="l" rtl="0">
              <a:lnSpc>
                <a:spcPct val="107000"/>
              </a:lnSpc>
              <a:spcBef>
                <a:spcPts val="800"/>
              </a:spcBef>
              <a:spcAft>
                <a:spcPts val="0"/>
              </a:spcAft>
              <a:buClr>
                <a:schemeClr val="dk1"/>
              </a:buClr>
              <a:buSzPct val="46082"/>
              <a:buFont typeface="Noto Sans Symbols"/>
              <a:buChar char="∙"/>
            </a:pPr>
            <a:r>
              <a:rPr lang="en-US" sz="2000" dirty="0">
                <a:ea typeface="Times New Roman"/>
                <a:cs typeface="Times New Roman"/>
                <a:sym typeface="Times New Roman"/>
              </a:rPr>
              <a:t>Capping: We can replace the outliers with values within the range of the rest of the data.</a:t>
            </a:r>
            <a:endParaRPr sz="2000" dirty="0">
              <a:ea typeface="Calibri"/>
              <a:cs typeface="Calibri"/>
              <a:sym typeface="Calibri"/>
            </a:endParaRPr>
          </a:p>
          <a:p>
            <a:pPr marL="0" marR="0" lvl="0" indent="0" algn="l" rtl="0">
              <a:lnSpc>
                <a:spcPct val="107000"/>
              </a:lnSpc>
              <a:spcBef>
                <a:spcPts val="800"/>
              </a:spcBef>
              <a:spcAft>
                <a:spcPts val="0"/>
              </a:spcAft>
              <a:buClr>
                <a:schemeClr val="dk1"/>
              </a:buClr>
              <a:buSzPct val="100000"/>
              <a:buNone/>
            </a:pPr>
            <a:r>
              <a:rPr lang="en-US" sz="2000" dirty="0">
                <a:ea typeface="Times New Roman"/>
                <a:cs typeface="Times New Roman"/>
                <a:sym typeface="Times New Roman"/>
              </a:rPr>
              <a:t>If the outliers are a small number, e can trim them. But if the outliers are significant, we might cap them.</a:t>
            </a:r>
            <a:endParaRPr sz="2000" dirty="0">
              <a:ea typeface="Calibri"/>
              <a:cs typeface="Calibri"/>
              <a:sym typeface="Calibri"/>
            </a:endParaRPr>
          </a:p>
          <a:p>
            <a:pPr marL="0" marR="0" lvl="0" indent="0" algn="l" rtl="0">
              <a:lnSpc>
                <a:spcPct val="107000"/>
              </a:lnSpc>
              <a:spcBef>
                <a:spcPts val="800"/>
              </a:spcBef>
              <a:spcAft>
                <a:spcPts val="0"/>
              </a:spcAft>
              <a:buClr>
                <a:schemeClr val="dk1"/>
              </a:buClr>
              <a:buSzPct val="100000"/>
              <a:buNone/>
            </a:pPr>
            <a:r>
              <a:rPr lang="en-US" sz="2000" dirty="0">
                <a:ea typeface="Times New Roman"/>
                <a:cs typeface="Times New Roman"/>
                <a:sym typeface="Times New Roman"/>
              </a:rPr>
              <a:t>Several methods can be used to detect and remove outliers, including </a:t>
            </a:r>
            <a:r>
              <a:rPr lang="en-US" sz="2000" i="1" dirty="0">
                <a:ea typeface="Times New Roman"/>
                <a:cs typeface="Times New Roman"/>
                <a:sym typeface="Times New Roman"/>
              </a:rPr>
              <a:t>z-score, IQR, percentile, </a:t>
            </a:r>
            <a:r>
              <a:rPr lang="en-US" sz="2000" dirty="0">
                <a:ea typeface="Times New Roman"/>
                <a:cs typeface="Times New Roman"/>
                <a:sym typeface="Times New Roman"/>
              </a:rPr>
              <a:t>and</a:t>
            </a:r>
            <a:r>
              <a:rPr lang="en-US" sz="2000" i="1" dirty="0">
                <a:ea typeface="Times New Roman"/>
                <a:cs typeface="Times New Roman"/>
                <a:sym typeface="Times New Roman"/>
              </a:rPr>
              <a:t> </a:t>
            </a:r>
            <a:r>
              <a:rPr lang="en-US" sz="2000" i="1" dirty="0" err="1">
                <a:ea typeface="Times New Roman"/>
                <a:cs typeface="Times New Roman"/>
                <a:sym typeface="Times New Roman"/>
              </a:rPr>
              <a:t>Winsorization</a:t>
            </a:r>
            <a:r>
              <a:rPr lang="en-US" sz="2000" i="1" dirty="0">
                <a:ea typeface="Times New Roman"/>
                <a:cs typeface="Times New Roman"/>
                <a:sym typeface="Times New Roman"/>
              </a:rPr>
              <a:t>.</a:t>
            </a:r>
            <a:endParaRPr sz="2000" dirty="0">
              <a:ea typeface="Calibri"/>
              <a:cs typeface="Calibri"/>
              <a:sym typeface="Calibri"/>
            </a:endParaRPr>
          </a:p>
          <a:p>
            <a:pPr marL="0" lvl="0" indent="0" algn="l" rtl="0">
              <a:lnSpc>
                <a:spcPct val="90000"/>
              </a:lnSpc>
              <a:spcBef>
                <a:spcPts val="1800"/>
              </a:spcBef>
              <a:spcAft>
                <a:spcPts val="0"/>
              </a:spcAft>
              <a:buClr>
                <a:schemeClr val="dk1"/>
              </a:buClr>
              <a:buSzPct val="100000"/>
              <a:buNone/>
            </a:pPr>
            <a:endParaRPr sz="2000" dirty="0"/>
          </a:p>
        </p:txBody>
      </p:sp>
      <p:pic>
        <p:nvPicPr>
          <p:cNvPr id="163" name="Google Shape;163;p12"/>
          <p:cNvPicPr preferRelativeResize="0"/>
          <p:nvPr/>
        </p:nvPicPr>
        <p:blipFill rotWithShape="1">
          <a:blip r:embed="rId3">
            <a:alphaModFix/>
          </a:blip>
          <a:srcRect/>
          <a:stretch/>
        </p:blipFill>
        <p:spPr>
          <a:xfrm>
            <a:off x="6774815" y="794084"/>
            <a:ext cx="4578985" cy="2282825"/>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4"/>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dirty="0"/>
              <a:t>Mapping Function</a:t>
            </a:r>
            <a:endParaRPr dirty="0"/>
          </a:p>
        </p:txBody>
      </p:sp>
      <p:sp>
        <p:nvSpPr>
          <p:cNvPr id="169" name="Google Shape;169;p14"/>
          <p:cNvSpPr txBox="1">
            <a:spLocks noGrp="1"/>
          </p:cNvSpPr>
          <p:nvPr>
            <p:ph idx="1"/>
          </p:nvPr>
        </p:nvSpPr>
        <p:spPr>
          <a:xfrm>
            <a:off x="1981200" y="1600201"/>
            <a:ext cx="8229600" cy="2362200"/>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chemeClr val="dk1"/>
              </a:buClr>
              <a:buSzPts val="2800"/>
              <a:buChar char="•"/>
            </a:pPr>
            <a:r>
              <a:rPr lang="en-US" sz="2400" dirty="0"/>
              <a:t>We can also convert data from numerical to categorical or categorical to numerical through the mapping function. In the following example we have mapped Y to 1 and N to 2 of the OWN_OCCUPIED column.</a:t>
            </a:r>
            <a:endParaRPr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t>                    </a:t>
            </a:r>
            <a:r>
              <a:rPr lang="en-US" dirty="0" smtClean="0"/>
              <a:t>Feature </a:t>
            </a:r>
            <a:r>
              <a:rPr lang="en-US" dirty="0"/>
              <a:t>scaling</a:t>
            </a:r>
            <a:endParaRPr dirty="0"/>
          </a:p>
        </p:txBody>
      </p:sp>
      <p:sp>
        <p:nvSpPr>
          <p:cNvPr id="176" name="Google Shape;176;p15"/>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0" marR="0" lvl="0" indent="0" algn="l" rtl="0">
              <a:lnSpc>
                <a:spcPct val="107000"/>
              </a:lnSpc>
              <a:spcBef>
                <a:spcPts val="0"/>
              </a:spcBef>
              <a:spcAft>
                <a:spcPts val="0"/>
              </a:spcAft>
              <a:buClr>
                <a:schemeClr val="dk1"/>
              </a:buClr>
              <a:buSzPts val="2800"/>
              <a:buNone/>
            </a:pPr>
            <a:r>
              <a:rPr lang="en-US" sz="2400" b="1" dirty="0">
                <a:ea typeface="Times New Roman"/>
                <a:cs typeface="Times New Roman"/>
                <a:sym typeface="Times New Roman"/>
              </a:rPr>
              <a:t>Feature scaling is a process of transforming the features in a dataset to have a common scale. </a:t>
            </a:r>
            <a:r>
              <a:rPr lang="en-US" sz="2400" dirty="0">
                <a:ea typeface="Times New Roman"/>
                <a:cs typeface="Times New Roman"/>
                <a:sym typeface="Times New Roman"/>
              </a:rPr>
              <a:t>This helps to prevent certain features from dominating the model.</a:t>
            </a:r>
            <a:endParaRPr sz="2400" dirty="0">
              <a:ea typeface="Calibri"/>
              <a:cs typeface="Calibri"/>
              <a:sym typeface="Calibri"/>
            </a:endParaRPr>
          </a:p>
          <a:p>
            <a:pPr marL="0" marR="0" lvl="0" indent="0" algn="l" rtl="0">
              <a:lnSpc>
                <a:spcPct val="107000"/>
              </a:lnSpc>
              <a:spcBef>
                <a:spcPts val="800"/>
              </a:spcBef>
              <a:spcAft>
                <a:spcPts val="0"/>
              </a:spcAft>
              <a:buClr>
                <a:schemeClr val="dk1"/>
              </a:buClr>
              <a:buSzPts val="2800"/>
              <a:buChar char="•"/>
            </a:pPr>
            <a:r>
              <a:rPr lang="en-US" sz="2400" i="1" dirty="0">
                <a:ea typeface="Times New Roman"/>
                <a:cs typeface="Times New Roman"/>
                <a:sym typeface="Times New Roman"/>
              </a:rPr>
              <a:t>There are two main types of feature scaling:</a:t>
            </a:r>
            <a:endParaRPr sz="2400" dirty="0">
              <a:ea typeface="Calibri"/>
              <a:cs typeface="Calibri"/>
              <a:sym typeface="Calibri"/>
            </a:endParaRPr>
          </a:p>
          <a:p>
            <a:pPr marL="1196975" marR="0" lvl="0" indent="-571500" algn="l" rtl="0">
              <a:lnSpc>
                <a:spcPct val="107000"/>
              </a:lnSpc>
              <a:spcBef>
                <a:spcPts val="800"/>
              </a:spcBef>
              <a:spcAft>
                <a:spcPts val="0"/>
              </a:spcAft>
              <a:buClr>
                <a:schemeClr val="dk1"/>
              </a:buClr>
              <a:buSzPts val="2800"/>
              <a:buFont typeface="Calibri"/>
              <a:buAutoNum type="romanLcPeriod"/>
            </a:pPr>
            <a:r>
              <a:rPr lang="en-US" sz="2400" i="1" dirty="0">
                <a:ea typeface="Times New Roman"/>
                <a:cs typeface="Times New Roman"/>
                <a:sym typeface="Times New Roman"/>
              </a:rPr>
              <a:t>Standardization</a:t>
            </a:r>
            <a:endParaRPr sz="2400" dirty="0">
              <a:ea typeface="Calibri"/>
              <a:cs typeface="Calibri"/>
              <a:sym typeface="Calibri"/>
            </a:endParaRPr>
          </a:p>
          <a:p>
            <a:pPr marL="1196975" marR="0" lvl="0" indent="-571500" algn="l" rtl="0">
              <a:lnSpc>
                <a:spcPct val="107000"/>
              </a:lnSpc>
              <a:spcBef>
                <a:spcPts val="0"/>
              </a:spcBef>
              <a:spcAft>
                <a:spcPts val="0"/>
              </a:spcAft>
              <a:buClr>
                <a:schemeClr val="dk1"/>
              </a:buClr>
              <a:buSzPts val="2800"/>
              <a:buFont typeface="Calibri"/>
              <a:buAutoNum type="romanLcPeriod"/>
            </a:pPr>
            <a:r>
              <a:rPr lang="en-US" sz="2400" i="1" dirty="0">
                <a:ea typeface="Times New Roman"/>
                <a:cs typeface="Times New Roman"/>
                <a:sym typeface="Times New Roman"/>
              </a:rPr>
              <a:t>Normalization</a:t>
            </a:r>
            <a:endParaRPr sz="2400" dirty="0">
              <a:ea typeface="Calibri"/>
              <a:cs typeface="Calibri"/>
              <a:sym typeface="Calibri"/>
            </a:endParaRPr>
          </a:p>
          <a:p>
            <a:pPr marL="228600" lvl="0" indent="-50800" algn="l" rtl="0">
              <a:lnSpc>
                <a:spcPct val="90000"/>
              </a:lnSpc>
              <a:spcBef>
                <a:spcPts val="1800"/>
              </a:spcBef>
              <a:spcAft>
                <a:spcPts val="0"/>
              </a:spcAft>
              <a:buClr>
                <a:schemeClr val="dk1"/>
              </a:buClr>
              <a:buSzPts val="2800"/>
              <a:buNone/>
            </a:pPr>
            <a:endParaRPr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6"/>
          <p:cNvSpPr txBox="1">
            <a:spLocks noGrp="1"/>
          </p:cNvSpPr>
          <p:nvPr>
            <p:ph type="title"/>
          </p:nvPr>
        </p:nvSpPr>
        <p:spPr>
          <a:xfrm>
            <a:off x="83820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                  </a:t>
            </a:r>
            <a:r>
              <a:rPr lang="en-US" dirty="0" smtClean="0"/>
              <a:t>Feature Scaling</a:t>
            </a:r>
            <a:endParaRPr dirty="0"/>
          </a:p>
        </p:txBody>
      </p:sp>
      <p:pic>
        <p:nvPicPr>
          <p:cNvPr id="182" name="Google Shape;182;p16"/>
          <p:cNvPicPr preferRelativeResize="0">
            <a:picLocks noGrp="1"/>
          </p:cNvPicPr>
          <p:nvPr>
            <p:ph idx="1"/>
          </p:nvPr>
        </p:nvPicPr>
        <p:blipFill rotWithShape="1">
          <a:blip r:embed="rId3">
            <a:alphaModFix/>
          </a:blip>
          <a:srcRect/>
          <a:stretch/>
        </p:blipFill>
        <p:spPr>
          <a:xfrm>
            <a:off x="1372190" y="1136211"/>
            <a:ext cx="9447619" cy="3784872"/>
          </a:xfrm>
          <a:prstGeom prst="rect">
            <a:avLst/>
          </a:prstGeom>
          <a:noFill/>
          <a:ln>
            <a:noFill/>
          </a:ln>
        </p:spPr>
      </p:pic>
      <p:sp>
        <p:nvSpPr>
          <p:cNvPr id="183" name="Google Shape;183;p16"/>
          <p:cNvSpPr txBox="1"/>
          <p:nvPr/>
        </p:nvSpPr>
        <p:spPr>
          <a:xfrm>
            <a:off x="1576137" y="5101389"/>
            <a:ext cx="8321842" cy="1602457"/>
          </a:xfrm>
          <a:prstGeom prst="rect">
            <a:avLst/>
          </a:prstGeom>
          <a:noFill/>
          <a:ln>
            <a:noFill/>
          </a:ln>
        </p:spPr>
        <p:txBody>
          <a:bodyPr spcFirstLastPara="1" wrap="square" lIns="91425" tIns="45700" rIns="91425" bIns="45700" anchor="ctr" anchorCtr="0">
            <a:noAutofit/>
          </a:bodyPr>
          <a:lstStyle/>
          <a:p>
            <a:pPr marL="0" marR="0" lvl="0" indent="0" algn="l" rtl="0">
              <a:lnSpc>
                <a:spcPct val="107000"/>
              </a:lnSpc>
              <a:spcBef>
                <a:spcPts val="0"/>
              </a:spcBef>
              <a:spcAft>
                <a:spcPts val="0"/>
              </a:spcAft>
              <a:buClr>
                <a:srgbClr val="000000"/>
              </a:buClr>
              <a:buSzPts val="2400"/>
              <a:buFont typeface="Times New Roman"/>
              <a:buNone/>
            </a:pPr>
            <a:r>
              <a:rPr lang="en-US" sz="2400" b="0" i="0" u="none" strike="noStrike" cap="none" dirty="0">
                <a:solidFill>
                  <a:srgbClr val="000000"/>
                </a:solidFill>
                <a:latin typeface="+mn-lt"/>
                <a:ea typeface="Times New Roman"/>
                <a:cs typeface="Times New Roman"/>
                <a:sym typeface="Times New Roman"/>
              </a:rPr>
              <a:t>Feature scaling is an essential step in the machine-learning process. By scaling the features, we can help improve your model's performance and ensure that all features are given a fair chance.</a:t>
            </a:r>
            <a:endParaRPr sz="2400" b="0" i="0" u="none" strike="noStrike" cap="none" dirty="0">
              <a:solidFill>
                <a:schemeClr val="dk1"/>
              </a:solidFill>
              <a:latin typeface="+mn-lt"/>
              <a:ea typeface="Calibri"/>
              <a:cs typeface="Calibri"/>
              <a:sym typeface="Calibri"/>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7"/>
          <p:cNvSpPr txBox="1">
            <a:spLocks noGrp="1"/>
          </p:cNvSpPr>
          <p:nvPr>
            <p:ph type="title"/>
          </p:nvPr>
        </p:nvSpPr>
        <p:spPr>
          <a:xfrm>
            <a:off x="838200" y="301081"/>
            <a:ext cx="10515600" cy="457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ct val="100000"/>
              <a:buFont typeface="Calibri"/>
              <a:buNone/>
            </a:pPr>
            <a:r>
              <a:rPr lang="en-US" dirty="0"/>
              <a:t/>
            </a:r>
            <a:br>
              <a:rPr lang="en-US" dirty="0"/>
            </a:br>
            <a:r>
              <a:rPr lang="en-US" dirty="0"/>
              <a:t>Standardization</a:t>
            </a:r>
            <a:br>
              <a:rPr lang="en-US" dirty="0"/>
            </a:br>
            <a:endParaRPr dirty="0"/>
          </a:p>
        </p:txBody>
      </p:sp>
      <p:sp>
        <p:nvSpPr>
          <p:cNvPr id="189" name="Google Shape;189;p17"/>
          <p:cNvSpPr txBox="1">
            <a:spLocks noGrp="1"/>
          </p:cNvSpPr>
          <p:nvPr>
            <p:ph idx="1"/>
          </p:nvPr>
        </p:nvSpPr>
        <p:spPr>
          <a:xfrm>
            <a:off x="838200" y="2711307"/>
            <a:ext cx="10515600" cy="400777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dirty="0"/>
              <a:t>A value is standardized as follows:</a:t>
            </a:r>
            <a:endParaRPr dirty="0"/>
          </a:p>
          <a:p>
            <a:pPr marL="0" lvl="0" indent="0" algn="l" rtl="0">
              <a:lnSpc>
                <a:spcPct val="90000"/>
              </a:lnSpc>
              <a:spcBef>
                <a:spcPts val="1000"/>
              </a:spcBef>
              <a:spcAft>
                <a:spcPts val="0"/>
              </a:spcAft>
              <a:buClr>
                <a:schemeClr val="dk1"/>
              </a:buClr>
              <a:buSzPts val="2400"/>
              <a:buNone/>
            </a:pPr>
            <a:endParaRPr sz="2400" dirty="0"/>
          </a:p>
          <a:p>
            <a:pPr marL="0" lvl="0" indent="0" algn="l" rtl="0">
              <a:lnSpc>
                <a:spcPct val="90000"/>
              </a:lnSpc>
              <a:spcBef>
                <a:spcPts val="1000"/>
              </a:spcBef>
              <a:spcAft>
                <a:spcPts val="0"/>
              </a:spcAft>
              <a:buClr>
                <a:schemeClr val="dk1"/>
              </a:buClr>
              <a:buSzPts val="2400"/>
              <a:buNone/>
            </a:pPr>
            <a:endParaRPr sz="2400" dirty="0"/>
          </a:p>
          <a:p>
            <a:pPr marL="0" lvl="0" indent="0" algn="l" rtl="0">
              <a:lnSpc>
                <a:spcPct val="90000"/>
              </a:lnSpc>
              <a:spcBef>
                <a:spcPts val="1000"/>
              </a:spcBef>
              <a:spcAft>
                <a:spcPts val="0"/>
              </a:spcAft>
              <a:buClr>
                <a:schemeClr val="dk1"/>
              </a:buClr>
              <a:buSzPts val="2400"/>
              <a:buNone/>
            </a:pPr>
            <a:r>
              <a:rPr lang="en-US" sz="2400" dirty="0"/>
              <a:t>We can guesstimate a mean of 10.0 and a standard deviation of about 5.0. Using these values, we can standardize the first value of 20.7 as follows:</a:t>
            </a:r>
            <a:endParaRPr dirty="0"/>
          </a:p>
          <a:p>
            <a:pPr marL="3200400" lvl="7" indent="0" algn="just" rtl="0">
              <a:lnSpc>
                <a:spcPct val="90000"/>
              </a:lnSpc>
              <a:spcBef>
                <a:spcPts val="500"/>
              </a:spcBef>
              <a:spcAft>
                <a:spcPts val="0"/>
              </a:spcAft>
              <a:buClr>
                <a:schemeClr val="dk1"/>
              </a:buClr>
              <a:buSzPts val="2400"/>
              <a:buNone/>
            </a:pPr>
            <a:r>
              <a:rPr lang="en-US" sz="2400" dirty="0"/>
              <a:t>y = (x – mean) / </a:t>
            </a:r>
            <a:r>
              <a:rPr lang="en-US" sz="2400" dirty="0" err="1"/>
              <a:t>standard_deviation</a:t>
            </a:r>
            <a:endParaRPr sz="2400" dirty="0"/>
          </a:p>
          <a:p>
            <a:pPr marL="3200400" lvl="7" indent="0" algn="just" rtl="0">
              <a:lnSpc>
                <a:spcPct val="90000"/>
              </a:lnSpc>
              <a:spcBef>
                <a:spcPts val="500"/>
              </a:spcBef>
              <a:spcAft>
                <a:spcPts val="0"/>
              </a:spcAft>
              <a:buClr>
                <a:schemeClr val="dk1"/>
              </a:buClr>
              <a:buSzPts val="2400"/>
              <a:buNone/>
            </a:pPr>
            <a:r>
              <a:rPr lang="en-US" sz="2400" dirty="0"/>
              <a:t>y = (20.7 – 10) / 5= (10.7) / 5= 2.14</a:t>
            </a:r>
            <a:endParaRPr dirty="0"/>
          </a:p>
          <a:p>
            <a:pPr marL="0" lvl="0" indent="0" algn="l" rtl="0">
              <a:lnSpc>
                <a:spcPct val="90000"/>
              </a:lnSpc>
              <a:spcBef>
                <a:spcPts val="1000"/>
              </a:spcBef>
              <a:spcAft>
                <a:spcPts val="0"/>
              </a:spcAft>
              <a:buClr>
                <a:schemeClr val="dk1"/>
              </a:buClr>
              <a:buSzPts val="2400"/>
              <a:buNone/>
            </a:pPr>
            <a:r>
              <a:rPr lang="en-US" sz="2400" dirty="0"/>
              <a:t>The mean and standard deviation estimates of a dataset can be more robust to new data than the minimum and maximum.</a:t>
            </a:r>
            <a:endParaRPr dirty="0"/>
          </a:p>
          <a:p>
            <a:pPr marL="228600" lvl="0" indent="-50800" algn="l" rtl="0">
              <a:lnSpc>
                <a:spcPct val="90000"/>
              </a:lnSpc>
              <a:spcBef>
                <a:spcPts val="1000"/>
              </a:spcBef>
              <a:spcAft>
                <a:spcPts val="0"/>
              </a:spcAft>
              <a:buClr>
                <a:schemeClr val="dk1"/>
              </a:buClr>
              <a:buSzPts val="2800"/>
              <a:buNone/>
            </a:pPr>
            <a:endParaRPr dirty="0"/>
          </a:p>
        </p:txBody>
      </p:sp>
      <p:pic>
        <p:nvPicPr>
          <p:cNvPr id="190" name="Google Shape;190;p17"/>
          <p:cNvPicPr preferRelativeResize="0"/>
          <p:nvPr/>
        </p:nvPicPr>
        <p:blipFill rotWithShape="1">
          <a:blip r:embed="rId3">
            <a:alphaModFix/>
          </a:blip>
          <a:srcRect/>
          <a:stretch/>
        </p:blipFill>
        <p:spPr>
          <a:xfrm>
            <a:off x="1146545" y="2510589"/>
            <a:ext cx="9313775" cy="1346966"/>
          </a:xfrm>
          <a:prstGeom prst="rect">
            <a:avLst/>
          </a:prstGeom>
          <a:noFill/>
          <a:ln>
            <a:noFill/>
          </a:ln>
        </p:spPr>
      </p:pic>
      <p:sp>
        <p:nvSpPr>
          <p:cNvPr id="191" name="Google Shape;191;p17"/>
          <p:cNvSpPr txBox="1"/>
          <p:nvPr/>
        </p:nvSpPr>
        <p:spPr>
          <a:xfrm>
            <a:off x="838200" y="826360"/>
            <a:ext cx="10515600" cy="1564105"/>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Clr>
                <a:schemeClr val="dk1"/>
              </a:buClr>
              <a:buSzPts val="2400"/>
              <a:buFont typeface="Calibri"/>
              <a:buNone/>
            </a:pPr>
            <a:r>
              <a:rPr lang="en-US" sz="2400" b="0" i="0" u="none" strike="noStrike" cap="none" dirty="0">
                <a:solidFill>
                  <a:schemeClr val="dk1"/>
                </a:solidFill>
                <a:latin typeface="+mn-lt"/>
                <a:ea typeface="Calibri"/>
                <a:cs typeface="Calibri"/>
                <a:sym typeface="Calibri"/>
              </a:rPr>
              <a:t/>
            </a:r>
            <a:br>
              <a:rPr lang="en-US" sz="2400" b="0" i="0" u="none" strike="noStrike" cap="none" dirty="0">
                <a:solidFill>
                  <a:schemeClr val="dk1"/>
                </a:solidFill>
                <a:latin typeface="+mn-lt"/>
                <a:ea typeface="Calibri"/>
                <a:cs typeface="Calibri"/>
                <a:sym typeface="Calibri"/>
              </a:rPr>
            </a:br>
            <a:r>
              <a:rPr lang="en-US" sz="2400" b="1" i="0" u="none" strike="noStrike" cap="none" dirty="0">
                <a:solidFill>
                  <a:schemeClr val="dk1"/>
                </a:solidFill>
                <a:latin typeface="+mn-lt"/>
                <a:ea typeface="Times New Roman"/>
                <a:cs typeface="Times New Roman"/>
                <a:sym typeface="Times New Roman"/>
              </a:rPr>
              <a:t>Standardization</a:t>
            </a:r>
            <a:r>
              <a:rPr lang="en-US" sz="2400" b="0" i="1" u="none" strike="noStrike" cap="none" dirty="0">
                <a:solidFill>
                  <a:schemeClr val="dk1"/>
                </a:solidFill>
                <a:latin typeface="+mn-lt"/>
                <a:ea typeface="Times New Roman"/>
                <a:cs typeface="Times New Roman"/>
                <a:sym typeface="Times New Roman"/>
              </a:rPr>
              <a:t>:</a:t>
            </a:r>
            <a:r>
              <a:rPr lang="en-US" sz="2400" b="0" i="0" u="none" strike="noStrike" cap="none" dirty="0">
                <a:solidFill>
                  <a:schemeClr val="dk1"/>
                </a:solidFill>
                <a:latin typeface="+mn-lt"/>
                <a:ea typeface="Times New Roman"/>
                <a:cs typeface="Times New Roman"/>
                <a:sym typeface="Times New Roman"/>
              </a:rPr>
              <a:t> Standardization subtracts each feature's mean and divides it by the standard deviation. This ensures that each feature has a mean of 0 and a standard deviation 1. Standardization is often used for data that follows Gaussian distribution, such as linear regression.</a:t>
            </a:r>
            <a:endParaRPr dirty="0">
              <a:latin typeface="+mn-lt"/>
            </a:endParaRPr>
          </a:p>
          <a:p>
            <a:pPr marL="0" marR="0" lvl="0" indent="0" algn="just" rtl="0">
              <a:lnSpc>
                <a:spcPct val="90000"/>
              </a:lnSpc>
              <a:spcBef>
                <a:spcPts val="0"/>
              </a:spcBef>
              <a:spcAft>
                <a:spcPts val="0"/>
              </a:spcAft>
              <a:buClr>
                <a:schemeClr val="dk1"/>
              </a:buClr>
              <a:buSzPts val="2400"/>
              <a:buFont typeface="Calibri"/>
              <a:buNone/>
            </a:pPr>
            <a:endParaRPr sz="2400" b="0" i="0" u="none" strike="noStrike" cap="none" dirty="0">
              <a:solidFill>
                <a:schemeClr val="dk1"/>
              </a:solidFill>
              <a:latin typeface="+mn-lt"/>
              <a:ea typeface="Calibri"/>
              <a:cs typeface="Calibri"/>
              <a:sym typeface="Calibri"/>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8"/>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dirty="0">
                <a:ea typeface="Times New Roman"/>
                <a:cs typeface="Times New Roman"/>
                <a:sym typeface="Times New Roman"/>
              </a:rPr>
              <a:t>Normalization</a:t>
            </a:r>
            <a:endParaRPr dirty="0">
              <a:ea typeface="Times New Roman"/>
              <a:cs typeface="Times New Roman"/>
              <a:sym typeface="Times New Roman"/>
            </a:endParaRPr>
          </a:p>
        </p:txBody>
      </p:sp>
      <p:sp>
        <p:nvSpPr>
          <p:cNvPr id="197" name="Google Shape;197;p18"/>
          <p:cNvSpPr txBox="1">
            <a:spLocks noGrp="1"/>
          </p:cNvSpPr>
          <p:nvPr>
            <p:ph idx="1"/>
          </p:nvPr>
        </p:nvSpPr>
        <p:spPr>
          <a:xfrm>
            <a:off x="757645" y="1909012"/>
            <a:ext cx="10724605" cy="2807368"/>
          </a:xfrm>
          <a:prstGeom prst="rect">
            <a:avLst/>
          </a:prstGeom>
          <a:noFill/>
          <a:ln>
            <a:noFill/>
          </a:ln>
        </p:spPr>
        <p:txBody>
          <a:bodyPr spcFirstLastPara="1" wrap="square" lIns="91425" tIns="45700" rIns="91425" bIns="45700" anchor="t" anchorCtr="0">
            <a:noAutofit/>
          </a:bodyPr>
          <a:lstStyle/>
          <a:p>
            <a:pPr marL="342900" lvl="0" indent="-342900" algn="just" rtl="0">
              <a:lnSpc>
                <a:spcPct val="90000"/>
              </a:lnSpc>
              <a:spcBef>
                <a:spcPts val="0"/>
              </a:spcBef>
              <a:spcAft>
                <a:spcPts val="0"/>
              </a:spcAft>
              <a:buClr>
                <a:schemeClr val="dk1"/>
              </a:buClr>
              <a:buSzPts val="3200"/>
              <a:buChar char="•"/>
            </a:pPr>
            <a:r>
              <a:rPr lang="en-US" sz="2400" dirty="0" smtClean="0">
                <a:ea typeface="Times New Roman"/>
                <a:cs typeface="Times New Roman"/>
                <a:sym typeface="Times New Roman"/>
              </a:rPr>
              <a:t>The </a:t>
            </a:r>
            <a:r>
              <a:rPr lang="en-US" sz="2400" b="1" dirty="0" smtClean="0">
                <a:ea typeface="Times New Roman"/>
                <a:cs typeface="Times New Roman"/>
                <a:sym typeface="Times New Roman"/>
              </a:rPr>
              <a:t>data normalization</a:t>
            </a:r>
            <a:r>
              <a:rPr lang="en-US" sz="2400" dirty="0" smtClean="0">
                <a:ea typeface="Times New Roman"/>
                <a:cs typeface="Times New Roman"/>
                <a:sym typeface="Times New Roman"/>
              </a:rPr>
              <a:t> (also referred to as </a:t>
            </a:r>
            <a:r>
              <a:rPr lang="en-US" sz="2400" b="1" dirty="0" smtClean="0">
                <a:ea typeface="Times New Roman"/>
                <a:cs typeface="Times New Roman"/>
                <a:sym typeface="Times New Roman"/>
              </a:rPr>
              <a:t>data</a:t>
            </a:r>
            <a:r>
              <a:rPr lang="en-US" sz="2400" dirty="0" smtClean="0">
                <a:ea typeface="Times New Roman"/>
                <a:cs typeface="Times New Roman"/>
                <a:sym typeface="Times New Roman"/>
              </a:rPr>
              <a:t> pre-processing) is a basic element of </a:t>
            </a:r>
            <a:r>
              <a:rPr lang="en-US" sz="2400" b="1" dirty="0" smtClean="0">
                <a:ea typeface="Times New Roman"/>
                <a:cs typeface="Times New Roman"/>
                <a:sym typeface="Times New Roman"/>
              </a:rPr>
              <a:t>data mining</a:t>
            </a:r>
            <a:r>
              <a:rPr lang="en-US" sz="2400" dirty="0" smtClean="0">
                <a:ea typeface="Times New Roman"/>
                <a:cs typeface="Times New Roman"/>
                <a:sym typeface="Times New Roman"/>
              </a:rPr>
              <a:t>. It means transforming the </a:t>
            </a:r>
            <a:r>
              <a:rPr lang="en-US" sz="2400" b="1" dirty="0" smtClean="0">
                <a:ea typeface="Times New Roman"/>
                <a:cs typeface="Times New Roman"/>
                <a:sym typeface="Times New Roman"/>
              </a:rPr>
              <a:t>data</a:t>
            </a:r>
            <a:r>
              <a:rPr lang="en-US" sz="2400" dirty="0" smtClean="0">
                <a:ea typeface="Times New Roman"/>
                <a:cs typeface="Times New Roman"/>
                <a:sym typeface="Times New Roman"/>
              </a:rPr>
              <a:t>, namely converting the source </a:t>
            </a:r>
            <a:r>
              <a:rPr lang="en-US" sz="2400" b="1" dirty="0" smtClean="0">
                <a:ea typeface="Times New Roman"/>
                <a:cs typeface="Times New Roman"/>
                <a:sym typeface="Times New Roman"/>
              </a:rPr>
              <a:t>data</a:t>
            </a:r>
            <a:r>
              <a:rPr lang="en-US" sz="2400" dirty="0" smtClean="0">
                <a:ea typeface="Times New Roman"/>
                <a:cs typeface="Times New Roman"/>
                <a:sym typeface="Times New Roman"/>
              </a:rPr>
              <a:t> in to another format that allows processing </a:t>
            </a:r>
            <a:r>
              <a:rPr lang="en-US" sz="2400" b="1" dirty="0" smtClean="0">
                <a:ea typeface="Times New Roman"/>
                <a:cs typeface="Times New Roman"/>
                <a:sym typeface="Times New Roman"/>
              </a:rPr>
              <a:t>data</a:t>
            </a:r>
            <a:r>
              <a:rPr lang="en-US" sz="2400" dirty="0" smtClean="0">
                <a:ea typeface="Times New Roman"/>
                <a:cs typeface="Times New Roman"/>
                <a:sym typeface="Times New Roman"/>
              </a:rPr>
              <a:t> effectively. The main purpose of </a:t>
            </a:r>
            <a:r>
              <a:rPr lang="en-US" sz="2400" b="1" dirty="0" smtClean="0">
                <a:ea typeface="Times New Roman"/>
                <a:cs typeface="Times New Roman"/>
                <a:sym typeface="Times New Roman"/>
              </a:rPr>
              <a:t>data normalization</a:t>
            </a:r>
            <a:r>
              <a:rPr lang="en-US" sz="2400" dirty="0" smtClean="0">
                <a:ea typeface="Times New Roman"/>
                <a:cs typeface="Times New Roman"/>
                <a:sym typeface="Times New Roman"/>
              </a:rPr>
              <a:t> is to minimize or even exclude duplicated </a:t>
            </a:r>
            <a:r>
              <a:rPr lang="en-US" sz="2400" b="1" dirty="0" smtClean="0">
                <a:ea typeface="Times New Roman"/>
                <a:cs typeface="Times New Roman"/>
                <a:sym typeface="Times New Roman"/>
              </a:rPr>
              <a:t>data</a:t>
            </a:r>
            <a:r>
              <a:rPr lang="en-US" sz="2400" dirty="0" smtClean="0">
                <a:ea typeface="Times New Roman"/>
                <a:cs typeface="Times New Roman"/>
                <a:sym typeface="Times New Roman"/>
              </a:rPr>
              <a:t>.</a:t>
            </a:r>
            <a:endParaRPr sz="2400" dirty="0">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9"/>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dirty="0"/>
              <a:t>Normalization Technique</a:t>
            </a:r>
            <a:endParaRPr dirty="0"/>
          </a:p>
        </p:txBody>
      </p:sp>
      <p:sp>
        <p:nvSpPr>
          <p:cNvPr id="203" name="Google Shape;203;p19"/>
          <p:cNvSpPr txBox="1">
            <a:spLocks noGrp="1"/>
          </p:cNvSpPr>
          <p:nvPr>
            <p:ph idx="1"/>
          </p:nvPr>
        </p:nvSpPr>
        <p:spPr>
          <a:xfrm>
            <a:off x="1981200" y="1600201"/>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640"/>
              </a:spcBef>
              <a:spcAft>
                <a:spcPts val="0"/>
              </a:spcAft>
              <a:buClr>
                <a:schemeClr val="dk1"/>
              </a:buClr>
              <a:buSzPts val="3200"/>
              <a:buChar char="•"/>
            </a:pPr>
            <a:r>
              <a:rPr lang="en-US" sz="2400" dirty="0"/>
              <a:t>Min-Max Normalization</a:t>
            </a:r>
            <a:endParaRPr sz="2400" dirty="0"/>
          </a:p>
          <a:p>
            <a:pPr marL="342900" lvl="0" indent="-342900" algn="l" rtl="0">
              <a:lnSpc>
                <a:spcPct val="100000"/>
              </a:lnSpc>
              <a:spcBef>
                <a:spcPts val="640"/>
              </a:spcBef>
              <a:spcAft>
                <a:spcPts val="0"/>
              </a:spcAft>
              <a:buClr>
                <a:schemeClr val="dk1"/>
              </a:buClr>
              <a:buSzPts val="3200"/>
              <a:buChar char="•"/>
            </a:pPr>
            <a:r>
              <a:rPr lang="en-US" sz="2400" dirty="0"/>
              <a:t>Robust Scaling Normalization</a:t>
            </a:r>
            <a:endParaRPr sz="2400" dirty="0"/>
          </a:p>
          <a:p>
            <a:pPr marL="342900" lvl="0" indent="-342900" algn="l" rtl="0">
              <a:lnSpc>
                <a:spcPct val="100000"/>
              </a:lnSpc>
              <a:spcBef>
                <a:spcPts val="640"/>
              </a:spcBef>
              <a:spcAft>
                <a:spcPts val="0"/>
              </a:spcAft>
              <a:buClr>
                <a:schemeClr val="dk1"/>
              </a:buClr>
              <a:buSzPts val="3200"/>
              <a:buChar char="•"/>
            </a:pPr>
            <a:r>
              <a:rPr lang="en-US" sz="2400" dirty="0"/>
              <a:t>Z-score Normalization</a:t>
            </a:r>
            <a:endParaRPr sz="2400" dirty="0"/>
          </a:p>
          <a:p>
            <a:pPr marL="342900" lvl="0" indent="-342900" algn="l" rtl="0">
              <a:lnSpc>
                <a:spcPct val="100000"/>
              </a:lnSpc>
              <a:spcBef>
                <a:spcPts val="640"/>
              </a:spcBef>
              <a:spcAft>
                <a:spcPts val="0"/>
              </a:spcAft>
              <a:buClr>
                <a:schemeClr val="dk1"/>
              </a:buClr>
              <a:buSzPts val="3200"/>
              <a:buChar char="•"/>
            </a:pPr>
            <a:r>
              <a:rPr lang="en-US" sz="2400" dirty="0"/>
              <a:t>Decimal Scale Normalization</a:t>
            </a:r>
            <a:endParaRPr sz="2400" dirty="0"/>
          </a:p>
          <a:p>
            <a:pPr marL="342900" lvl="0" indent="-342900" algn="l" rtl="0">
              <a:lnSpc>
                <a:spcPct val="100000"/>
              </a:lnSpc>
              <a:spcBef>
                <a:spcPts val="640"/>
              </a:spcBef>
              <a:spcAft>
                <a:spcPts val="0"/>
              </a:spcAft>
              <a:buClr>
                <a:schemeClr val="dk1"/>
              </a:buClr>
              <a:buSzPts val="3200"/>
              <a:buChar char="•"/>
            </a:pPr>
            <a:r>
              <a:rPr lang="en-US" sz="2400" dirty="0"/>
              <a:t>Log Scale Normalization</a:t>
            </a:r>
            <a:endParaRPr sz="24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0"/>
          <p:cNvSpPr txBox="1">
            <a:spLocks noGrp="1"/>
          </p:cNvSpPr>
          <p:nvPr>
            <p:ph type="title"/>
          </p:nvPr>
        </p:nvSpPr>
        <p:spPr>
          <a:xfrm>
            <a:off x="1981200" y="274638"/>
            <a:ext cx="8229600" cy="79419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ea typeface="Times New Roman"/>
                <a:cs typeface="Times New Roman"/>
                <a:sym typeface="Times New Roman"/>
              </a:rPr>
              <a:t>Min-Max Normalization </a:t>
            </a:r>
            <a:endParaRPr b="1" dirty="0">
              <a:ea typeface="Times New Roman"/>
              <a:cs typeface="Times New Roman"/>
              <a:sym typeface="Times New Roman"/>
            </a:endParaRPr>
          </a:p>
        </p:txBody>
      </p:sp>
      <p:graphicFrame>
        <p:nvGraphicFramePr>
          <p:cNvPr id="209" name="Google Shape;209;p20"/>
          <p:cNvGraphicFramePr/>
          <p:nvPr/>
        </p:nvGraphicFramePr>
        <p:xfrm>
          <a:off x="9039727" y="974975"/>
          <a:ext cx="930450" cy="2494340"/>
        </p:xfrm>
        <a:graphic>
          <a:graphicData uri="http://schemas.openxmlformats.org/drawingml/2006/table">
            <a:tbl>
              <a:tblPr>
                <a:noFill/>
                <a:tableStyleId>{8428E21D-70E7-48E0-B2D0-276C6B2AB42B}</a:tableStyleId>
              </a:tblPr>
              <a:tblGrid>
                <a:gridCol w="930450"/>
              </a:tblGrid>
              <a:tr h="370850">
                <a:tc>
                  <a:txBody>
                    <a:bodyPr/>
                    <a:lstStyle/>
                    <a:p>
                      <a:pPr marL="0" marR="0" lvl="0" indent="0" algn="l" rtl="0">
                        <a:spcBef>
                          <a:spcPts val="0"/>
                        </a:spcBef>
                        <a:spcAft>
                          <a:spcPts val="0"/>
                        </a:spcAft>
                        <a:buClr>
                          <a:schemeClr val="dk1"/>
                        </a:buClr>
                        <a:buSzPts val="1800"/>
                        <a:buFont typeface="Calibri"/>
                        <a:buNone/>
                      </a:pPr>
                      <a:r>
                        <a:rPr lang="en-US" sz="1800" u="none" strike="noStrike" cap="none"/>
                        <a:t>Salary</a:t>
                      </a:r>
                      <a:endParaRPr sz="1800" u="none" strike="noStrike" cap="none"/>
                    </a:p>
                  </a:txBody>
                  <a:tcPr marL="91450" marR="91450" marT="45725" marB="45725"/>
                </a:tc>
              </a:tr>
              <a:tr h="370850">
                <a:tc>
                  <a:txBody>
                    <a:bodyPr/>
                    <a:lstStyle/>
                    <a:p>
                      <a:pPr marL="0" marR="0" lvl="0" indent="0" algn="l" rtl="0">
                        <a:spcBef>
                          <a:spcPts val="0"/>
                        </a:spcBef>
                        <a:spcAft>
                          <a:spcPts val="0"/>
                        </a:spcAft>
                        <a:buClr>
                          <a:schemeClr val="dk1"/>
                        </a:buClr>
                        <a:buSzPts val="1800"/>
                        <a:buFont typeface="Calibri"/>
                        <a:buNone/>
                      </a:pPr>
                      <a:r>
                        <a:rPr lang="en-US" sz="1800" u="none" strike="noStrike" cap="none"/>
                        <a:t>64000</a:t>
                      </a:r>
                      <a:endParaRPr sz="1800" u="none" strike="noStrike" cap="none"/>
                    </a:p>
                  </a:txBody>
                  <a:tcPr marL="91450" marR="91450" marT="45725" marB="45725"/>
                </a:tc>
              </a:tr>
              <a:tr h="370850">
                <a:tc>
                  <a:txBody>
                    <a:bodyPr/>
                    <a:lstStyle/>
                    <a:p>
                      <a:pPr marL="0" marR="0" lvl="0" indent="0" algn="l" rtl="0">
                        <a:spcBef>
                          <a:spcPts val="0"/>
                        </a:spcBef>
                        <a:spcAft>
                          <a:spcPts val="0"/>
                        </a:spcAft>
                        <a:buClr>
                          <a:schemeClr val="dk1"/>
                        </a:buClr>
                        <a:buSzPts val="1800"/>
                        <a:buFont typeface="Calibri"/>
                        <a:buNone/>
                      </a:pPr>
                      <a:r>
                        <a:rPr lang="en-US" sz="1800" u="none" strike="noStrike" cap="none"/>
                        <a:t>55000</a:t>
                      </a:r>
                      <a:endParaRPr sz="1800" u="none" strike="noStrike" cap="none"/>
                    </a:p>
                  </a:txBody>
                  <a:tcPr marL="91450" marR="91450" marT="45725" marB="45725"/>
                </a:tc>
              </a:tr>
              <a:tr h="370850">
                <a:tc>
                  <a:txBody>
                    <a:bodyPr/>
                    <a:lstStyle/>
                    <a:p>
                      <a:pPr marL="0" marR="0" lvl="0" indent="0" algn="l" rtl="0">
                        <a:spcBef>
                          <a:spcPts val="0"/>
                        </a:spcBef>
                        <a:spcAft>
                          <a:spcPts val="0"/>
                        </a:spcAft>
                        <a:buClr>
                          <a:srgbClr val="7030A0"/>
                        </a:buClr>
                        <a:buSzPts val="1800"/>
                        <a:buFont typeface="Calibri"/>
                        <a:buNone/>
                      </a:pPr>
                      <a:r>
                        <a:rPr lang="en-US" sz="1800" u="none" strike="noStrike" cap="none">
                          <a:solidFill>
                            <a:srgbClr val="7030A0"/>
                          </a:solidFill>
                        </a:rPr>
                        <a:t>19000</a:t>
                      </a:r>
                      <a:endParaRPr sz="1800" u="none" strike="noStrike" cap="none">
                        <a:solidFill>
                          <a:srgbClr val="7030A0"/>
                        </a:solidFill>
                      </a:endParaRPr>
                    </a:p>
                  </a:txBody>
                  <a:tcPr marL="91450" marR="91450" marT="45725" marB="45725"/>
                </a:tc>
              </a:tr>
              <a:tr h="370850">
                <a:tc>
                  <a:txBody>
                    <a:bodyPr/>
                    <a:lstStyle/>
                    <a:p>
                      <a:pPr marL="0" marR="0" lvl="0" indent="0" algn="l" rtl="0">
                        <a:spcBef>
                          <a:spcPts val="0"/>
                        </a:spcBef>
                        <a:spcAft>
                          <a:spcPts val="0"/>
                        </a:spcAft>
                        <a:buClr>
                          <a:srgbClr val="FF0000"/>
                        </a:buClr>
                        <a:buSzPts val="1800"/>
                        <a:buFont typeface="Calibri"/>
                        <a:buNone/>
                      </a:pPr>
                      <a:r>
                        <a:rPr lang="en-US" sz="1800" u="none" strike="noStrike" cap="none">
                          <a:solidFill>
                            <a:srgbClr val="FF0000"/>
                          </a:solidFill>
                        </a:rPr>
                        <a:t>100000</a:t>
                      </a:r>
                      <a:endParaRPr sz="1800" u="none" strike="noStrike" cap="none">
                        <a:solidFill>
                          <a:srgbClr val="FF0000"/>
                        </a:solidFill>
                      </a:endParaRPr>
                    </a:p>
                  </a:txBody>
                  <a:tcPr marL="91450" marR="91450" marT="45725" marB="45725"/>
                </a:tc>
              </a:tr>
              <a:tr h="370850">
                <a:tc>
                  <a:txBody>
                    <a:bodyPr/>
                    <a:lstStyle/>
                    <a:p>
                      <a:pPr marL="0" marR="0" lvl="0" indent="0" algn="l" rtl="0">
                        <a:spcBef>
                          <a:spcPts val="0"/>
                        </a:spcBef>
                        <a:spcAft>
                          <a:spcPts val="0"/>
                        </a:spcAft>
                        <a:buClr>
                          <a:schemeClr val="dk1"/>
                        </a:buClr>
                        <a:buSzPts val="1800"/>
                        <a:buFont typeface="Calibri"/>
                        <a:buNone/>
                      </a:pPr>
                      <a:r>
                        <a:rPr lang="en-US" sz="1800" u="none" strike="noStrike" cap="none"/>
                        <a:t>75000</a:t>
                      </a:r>
                      <a:endParaRPr sz="1800" u="none" strike="noStrike" cap="none"/>
                    </a:p>
                  </a:txBody>
                  <a:tcPr marL="91450" marR="91450" marT="45725" marB="45725"/>
                </a:tc>
              </a:tr>
            </a:tbl>
          </a:graphicData>
        </a:graphic>
      </p:graphicFrame>
      <p:sp>
        <p:nvSpPr>
          <p:cNvPr id="210" name="Google Shape;210;p20"/>
          <p:cNvSpPr/>
          <p:nvPr/>
        </p:nvSpPr>
        <p:spPr>
          <a:xfrm>
            <a:off x="1034029" y="3784918"/>
            <a:ext cx="10123942" cy="2277547"/>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Arial"/>
              <a:buChar char="•"/>
            </a:pPr>
            <a:r>
              <a:rPr lang="en-US" sz="2400" i="0" u="none" strike="noStrike" cap="none" dirty="0">
                <a:solidFill>
                  <a:schemeClr val="dk1"/>
                </a:solidFill>
                <a:latin typeface="+mn-lt"/>
                <a:ea typeface="Times New Roman"/>
                <a:cs typeface="Times New Roman"/>
                <a:sym typeface="Times New Roman"/>
              </a:rPr>
              <a:t>Apply min max normalization for the salary value of 64000 and 55000</a:t>
            </a:r>
            <a:endParaRPr sz="2400" dirty="0">
              <a:latin typeface="+mn-lt"/>
            </a:endParaRPr>
          </a:p>
          <a:p>
            <a:pPr marL="0" marR="0" lvl="0" indent="0" algn="l" rtl="0">
              <a:spcBef>
                <a:spcPts val="0"/>
              </a:spcBef>
              <a:spcAft>
                <a:spcPts val="0"/>
              </a:spcAft>
              <a:buNone/>
            </a:pPr>
            <a:endParaRPr sz="1800" dirty="0">
              <a:solidFill>
                <a:schemeClr val="dk1"/>
              </a:solidFill>
              <a:latin typeface="+mn-lt"/>
              <a:ea typeface="Calibri"/>
              <a:cs typeface="Calibri"/>
              <a:sym typeface="Calibri"/>
            </a:endParaRPr>
          </a:p>
          <a:p>
            <a:pPr marL="1371600" marR="0" lvl="3" indent="0" algn="l" rtl="0">
              <a:spcBef>
                <a:spcPts val="0"/>
              </a:spcBef>
              <a:spcAft>
                <a:spcPts val="0"/>
              </a:spcAft>
              <a:buNone/>
            </a:pPr>
            <a:r>
              <a:rPr lang="en-US" sz="2000" b="0" i="0" u="none" strike="noStrike" cap="none" dirty="0">
                <a:solidFill>
                  <a:schemeClr val="dk1"/>
                </a:solidFill>
                <a:latin typeface="+mn-lt"/>
                <a:ea typeface="Times New Roman"/>
                <a:cs typeface="Times New Roman"/>
                <a:sym typeface="Times New Roman"/>
              </a:rPr>
              <a:t>Max distance for salary = 100000    Min distance for salary = 19000</a:t>
            </a:r>
            <a:endParaRPr dirty="0">
              <a:latin typeface="+mn-lt"/>
            </a:endParaRPr>
          </a:p>
          <a:p>
            <a:pPr marL="1371600" marR="0" lvl="3" indent="0" algn="l" rtl="0">
              <a:spcBef>
                <a:spcPts val="0"/>
              </a:spcBef>
              <a:spcAft>
                <a:spcPts val="0"/>
              </a:spcAft>
              <a:buNone/>
            </a:pPr>
            <a:endParaRPr sz="2000" b="0" i="0" u="none" strike="noStrike" cap="none" dirty="0">
              <a:solidFill>
                <a:schemeClr val="dk1"/>
              </a:solidFill>
              <a:latin typeface="+mn-lt"/>
              <a:ea typeface="Times New Roman"/>
              <a:cs typeface="Times New Roman"/>
              <a:sym typeface="Times New Roman"/>
            </a:endParaRPr>
          </a:p>
          <a:p>
            <a:pPr marL="1371600" marR="0" lvl="3" indent="0" algn="l" rtl="0">
              <a:spcBef>
                <a:spcPts val="0"/>
              </a:spcBef>
              <a:spcAft>
                <a:spcPts val="0"/>
              </a:spcAft>
              <a:buNone/>
            </a:pPr>
            <a:endParaRPr sz="2000" b="0" i="0" u="none" strike="noStrike" cap="none" dirty="0">
              <a:solidFill>
                <a:schemeClr val="dk1"/>
              </a:solidFill>
              <a:latin typeface="+mn-lt"/>
              <a:ea typeface="Times New Roman"/>
              <a:cs typeface="Times New Roman"/>
              <a:sym typeface="Times New Roman"/>
            </a:endParaRPr>
          </a:p>
          <a:p>
            <a:pPr marL="1371600" marR="0" lvl="3" indent="0" algn="l" rtl="0">
              <a:spcBef>
                <a:spcPts val="0"/>
              </a:spcBef>
              <a:spcAft>
                <a:spcPts val="0"/>
              </a:spcAft>
              <a:buNone/>
            </a:pPr>
            <a:endParaRPr sz="2000" b="0" i="0" u="none" strike="noStrike" cap="none" dirty="0">
              <a:solidFill>
                <a:schemeClr val="dk1"/>
              </a:solidFill>
              <a:latin typeface="+mn-lt"/>
              <a:ea typeface="Times New Roman"/>
              <a:cs typeface="Times New Roman"/>
              <a:sym typeface="Times New Roman"/>
            </a:endParaRPr>
          </a:p>
          <a:p>
            <a:pPr marL="1371600" marR="0" lvl="3" indent="0" algn="l" rtl="0">
              <a:spcBef>
                <a:spcPts val="0"/>
              </a:spcBef>
              <a:spcAft>
                <a:spcPts val="0"/>
              </a:spcAft>
              <a:buNone/>
            </a:pPr>
            <a:endParaRPr sz="2000" b="0" i="0" u="none" strike="noStrike" cap="none" dirty="0">
              <a:solidFill>
                <a:schemeClr val="dk1"/>
              </a:solidFill>
              <a:latin typeface="+mn-lt"/>
              <a:ea typeface="Times New Roman"/>
              <a:cs typeface="Times New Roman"/>
              <a:sym typeface="Times New Roman"/>
            </a:endParaRPr>
          </a:p>
        </p:txBody>
      </p:sp>
      <p:sp>
        <p:nvSpPr>
          <p:cNvPr id="211" name="Google Shape;211;p20"/>
          <p:cNvSpPr txBox="1"/>
          <p:nvPr/>
        </p:nvSpPr>
        <p:spPr>
          <a:xfrm>
            <a:off x="1467853" y="1068830"/>
            <a:ext cx="7170821" cy="2716088"/>
          </a:xfrm>
          <a:prstGeom prst="rect">
            <a:avLst/>
          </a:prstGeom>
          <a:noFill/>
          <a:ln>
            <a:noFill/>
          </a:ln>
        </p:spPr>
        <p:txBody>
          <a:bodyPr spcFirstLastPara="1" wrap="square" lIns="91425" tIns="45700" rIns="91425" bIns="45700" anchor="ctr" anchorCtr="0">
            <a:normAutofit/>
          </a:bodyPr>
          <a:lstStyle/>
          <a:p>
            <a:pPr marL="0" marR="0" lvl="0" indent="0" algn="just" rtl="0">
              <a:lnSpc>
                <a:spcPct val="90000"/>
              </a:lnSpc>
              <a:spcBef>
                <a:spcPts val="0"/>
              </a:spcBef>
              <a:spcAft>
                <a:spcPts val="0"/>
              </a:spcAft>
              <a:buClr>
                <a:schemeClr val="dk1"/>
              </a:buClr>
              <a:buSzPts val="4400"/>
              <a:buFont typeface="Times New Roman"/>
              <a:buNone/>
            </a:pPr>
            <a:r>
              <a:rPr lang="en-US" sz="2000" b="0" u="none" dirty="0">
                <a:solidFill>
                  <a:schemeClr val="dk1"/>
                </a:solidFill>
                <a:latin typeface="+mn-lt"/>
                <a:ea typeface="Times New Roman"/>
                <a:cs typeface="Times New Roman"/>
                <a:sym typeface="Times New Roman"/>
              </a:rPr>
              <a:t>Min-max scaling is very often simply called ‘normalization.’ It transforms features to a specified range, typically between 0 and 1. The formula for min-max scaling is:</a:t>
            </a:r>
            <a:endParaRPr sz="2000" b="0" u="none" dirty="0">
              <a:solidFill>
                <a:schemeClr val="dk1"/>
              </a:solidFill>
              <a:latin typeface="+mn-lt"/>
              <a:ea typeface="Calibri"/>
              <a:cs typeface="Calibri"/>
              <a:sym typeface="Calibri"/>
            </a:endParaRPr>
          </a:p>
          <a:p>
            <a:pPr marL="0" marR="0" lvl="0" indent="0" algn="ctr" rtl="0">
              <a:lnSpc>
                <a:spcPct val="90000"/>
              </a:lnSpc>
              <a:spcBef>
                <a:spcPts val="0"/>
              </a:spcBef>
              <a:spcAft>
                <a:spcPts val="0"/>
              </a:spcAft>
              <a:buClr>
                <a:schemeClr val="dk1"/>
              </a:buClr>
              <a:buSzPts val="4400"/>
              <a:buFont typeface="Times New Roman"/>
              <a:buNone/>
            </a:pPr>
            <a:r>
              <a:rPr lang="en-US" sz="2000" b="0" u="none" dirty="0" err="1">
                <a:solidFill>
                  <a:schemeClr val="dk1"/>
                </a:solidFill>
                <a:latin typeface="+mn-lt"/>
                <a:ea typeface="Times New Roman"/>
                <a:cs typeface="Times New Roman"/>
                <a:sym typeface="Times New Roman"/>
              </a:rPr>
              <a:t>X</a:t>
            </a:r>
            <a:r>
              <a:rPr lang="en-US" sz="2000" b="0" u="none" baseline="-25000" dirty="0" err="1">
                <a:solidFill>
                  <a:schemeClr val="dk1"/>
                </a:solidFill>
                <a:latin typeface="+mn-lt"/>
                <a:ea typeface="Times New Roman"/>
                <a:cs typeface="Times New Roman"/>
                <a:sym typeface="Times New Roman"/>
              </a:rPr>
              <a:t>normalized</a:t>
            </a:r>
            <a:r>
              <a:rPr lang="en-US" sz="2000" b="0" u="none" dirty="0">
                <a:solidFill>
                  <a:schemeClr val="dk1"/>
                </a:solidFill>
                <a:latin typeface="+mn-lt"/>
                <a:ea typeface="Times New Roman"/>
                <a:cs typeface="Times New Roman"/>
                <a:sym typeface="Times New Roman"/>
              </a:rPr>
              <a:t> =(X – </a:t>
            </a:r>
            <a:r>
              <a:rPr lang="en-US" sz="2000" b="0" u="none" dirty="0" err="1">
                <a:solidFill>
                  <a:schemeClr val="dk1"/>
                </a:solidFill>
                <a:latin typeface="+mn-lt"/>
                <a:ea typeface="Times New Roman"/>
                <a:cs typeface="Times New Roman"/>
                <a:sym typeface="Times New Roman"/>
              </a:rPr>
              <a:t>X</a:t>
            </a:r>
            <a:r>
              <a:rPr lang="en-US" sz="2000" b="0" u="none" baseline="-25000" dirty="0" err="1">
                <a:solidFill>
                  <a:schemeClr val="dk1"/>
                </a:solidFill>
                <a:latin typeface="+mn-lt"/>
                <a:ea typeface="Times New Roman"/>
                <a:cs typeface="Times New Roman"/>
                <a:sym typeface="Times New Roman"/>
              </a:rPr>
              <a:t>min</a:t>
            </a:r>
            <a:r>
              <a:rPr lang="en-US" sz="2000" b="0" u="none" dirty="0">
                <a:solidFill>
                  <a:schemeClr val="dk1"/>
                </a:solidFill>
                <a:latin typeface="+mn-lt"/>
                <a:ea typeface="Times New Roman"/>
                <a:cs typeface="Times New Roman"/>
                <a:sym typeface="Times New Roman"/>
              </a:rPr>
              <a:t> ) / (</a:t>
            </a:r>
            <a:r>
              <a:rPr lang="en-US" sz="2000" b="0" u="none" dirty="0" err="1">
                <a:solidFill>
                  <a:schemeClr val="dk1"/>
                </a:solidFill>
                <a:latin typeface="+mn-lt"/>
                <a:ea typeface="Times New Roman"/>
                <a:cs typeface="Times New Roman"/>
                <a:sym typeface="Times New Roman"/>
              </a:rPr>
              <a:t>X</a:t>
            </a:r>
            <a:r>
              <a:rPr lang="en-US" sz="2000" b="0" u="none" baseline="-25000" dirty="0" err="1">
                <a:solidFill>
                  <a:schemeClr val="dk1"/>
                </a:solidFill>
                <a:latin typeface="+mn-lt"/>
                <a:ea typeface="Times New Roman"/>
                <a:cs typeface="Times New Roman"/>
                <a:sym typeface="Times New Roman"/>
              </a:rPr>
              <a:t>max</a:t>
            </a:r>
            <a:r>
              <a:rPr lang="en-US" sz="2000" b="0" u="none" baseline="-25000" dirty="0">
                <a:solidFill>
                  <a:schemeClr val="dk1"/>
                </a:solidFill>
                <a:latin typeface="+mn-lt"/>
                <a:ea typeface="Times New Roman"/>
                <a:cs typeface="Times New Roman"/>
                <a:sym typeface="Times New Roman"/>
              </a:rPr>
              <a:t> </a:t>
            </a:r>
            <a:r>
              <a:rPr lang="en-US" sz="2000" b="0" u="none" dirty="0">
                <a:solidFill>
                  <a:schemeClr val="dk1"/>
                </a:solidFill>
                <a:latin typeface="+mn-lt"/>
                <a:ea typeface="Times New Roman"/>
                <a:cs typeface="Times New Roman"/>
                <a:sym typeface="Times New Roman"/>
              </a:rPr>
              <a:t>– </a:t>
            </a:r>
            <a:r>
              <a:rPr lang="en-US" sz="2000" b="0" u="none" dirty="0" err="1">
                <a:solidFill>
                  <a:schemeClr val="dk1"/>
                </a:solidFill>
                <a:latin typeface="+mn-lt"/>
                <a:ea typeface="Times New Roman"/>
                <a:cs typeface="Times New Roman"/>
                <a:sym typeface="Times New Roman"/>
              </a:rPr>
              <a:t>X</a:t>
            </a:r>
            <a:r>
              <a:rPr lang="en-US" sz="2000" b="0" u="none" baseline="-25000" dirty="0" err="1">
                <a:solidFill>
                  <a:schemeClr val="dk1"/>
                </a:solidFill>
                <a:latin typeface="+mn-lt"/>
                <a:ea typeface="Times New Roman"/>
                <a:cs typeface="Times New Roman"/>
                <a:sym typeface="Times New Roman"/>
              </a:rPr>
              <a:t>min</a:t>
            </a:r>
            <a:r>
              <a:rPr lang="en-US" sz="2000" b="0" u="none" baseline="-25000" dirty="0">
                <a:solidFill>
                  <a:schemeClr val="dk1"/>
                </a:solidFill>
                <a:latin typeface="+mn-lt"/>
                <a:ea typeface="Times New Roman"/>
                <a:cs typeface="Times New Roman"/>
                <a:sym typeface="Times New Roman"/>
              </a:rPr>
              <a:t> </a:t>
            </a:r>
            <a:r>
              <a:rPr lang="en-US" sz="2000" b="0" u="none" dirty="0">
                <a:solidFill>
                  <a:schemeClr val="dk1"/>
                </a:solidFill>
                <a:latin typeface="+mn-lt"/>
                <a:ea typeface="Times New Roman"/>
                <a:cs typeface="Times New Roman"/>
                <a:sym typeface="Times New Roman"/>
              </a:rPr>
              <a:t>),</a:t>
            </a:r>
            <a:endParaRPr sz="2000" b="0" u="none" dirty="0">
              <a:solidFill>
                <a:schemeClr val="dk1"/>
              </a:solidFill>
              <a:latin typeface="+mn-lt"/>
              <a:ea typeface="Calibri"/>
              <a:cs typeface="Calibri"/>
              <a:sym typeface="Calibri"/>
            </a:endParaRPr>
          </a:p>
          <a:p>
            <a:pPr marL="0" marR="0" lvl="0" indent="0" algn="just" rtl="0">
              <a:lnSpc>
                <a:spcPct val="90000"/>
              </a:lnSpc>
              <a:spcBef>
                <a:spcPts val="0"/>
              </a:spcBef>
              <a:spcAft>
                <a:spcPts val="0"/>
              </a:spcAft>
              <a:buClr>
                <a:schemeClr val="dk1"/>
              </a:buClr>
              <a:buSzPts val="4400"/>
              <a:buFont typeface="Calibri"/>
              <a:buNone/>
            </a:pPr>
            <a:endParaRPr sz="2000" b="0" u="none" dirty="0">
              <a:solidFill>
                <a:schemeClr val="dk1"/>
              </a:solidFill>
              <a:latin typeface="+mn-lt"/>
              <a:ea typeface="Times New Roman"/>
              <a:cs typeface="Times New Roman"/>
              <a:sym typeface="Times New Roman"/>
            </a:endParaRPr>
          </a:p>
          <a:p>
            <a:pPr marL="0" marR="0" lvl="0" indent="0" algn="just" rtl="0">
              <a:lnSpc>
                <a:spcPct val="90000"/>
              </a:lnSpc>
              <a:spcBef>
                <a:spcPts val="0"/>
              </a:spcBef>
              <a:spcAft>
                <a:spcPts val="0"/>
              </a:spcAft>
              <a:buClr>
                <a:schemeClr val="dk1"/>
              </a:buClr>
              <a:buSzPts val="4400"/>
              <a:buFont typeface="Times New Roman"/>
              <a:buNone/>
            </a:pPr>
            <a:r>
              <a:rPr lang="en-US" sz="2000" b="0" u="none" dirty="0">
                <a:solidFill>
                  <a:schemeClr val="dk1"/>
                </a:solidFill>
                <a:latin typeface="+mn-lt"/>
                <a:ea typeface="Times New Roman"/>
                <a:cs typeface="Times New Roman"/>
                <a:sym typeface="Times New Roman"/>
              </a:rPr>
              <a:t>where X is a random feature value that is to be normalized. </a:t>
            </a:r>
            <a:r>
              <a:rPr lang="en-US" sz="2000" b="0" u="none" dirty="0" err="1">
                <a:solidFill>
                  <a:schemeClr val="dk1"/>
                </a:solidFill>
                <a:latin typeface="+mn-lt"/>
                <a:ea typeface="Times New Roman"/>
                <a:cs typeface="Times New Roman"/>
                <a:sym typeface="Times New Roman"/>
              </a:rPr>
              <a:t>X</a:t>
            </a:r>
            <a:r>
              <a:rPr lang="en-US" sz="2000" b="0" u="none" baseline="-25000" dirty="0" err="1">
                <a:solidFill>
                  <a:schemeClr val="dk1"/>
                </a:solidFill>
                <a:latin typeface="+mn-lt"/>
                <a:ea typeface="Times New Roman"/>
                <a:cs typeface="Times New Roman"/>
                <a:sym typeface="Times New Roman"/>
              </a:rPr>
              <a:t>min</a:t>
            </a:r>
            <a:r>
              <a:rPr lang="en-US" sz="2000" b="0" u="none" dirty="0">
                <a:solidFill>
                  <a:schemeClr val="dk1"/>
                </a:solidFill>
                <a:latin typeface="+mn-lt"/>
                <a:ea typeface="Times New Roman"/>
                <a:cs typeface="Times New Roman"/>
                <a:sym typeface="Times New Roman"/>
              </a:rPr>
              <a:t> is the minimum feature value in the dataset, and </a:t>
            </a:r>
            <a:r>
              <a:rPr lang="en-US" sz="2000" b="0" u="none" dirty="0" err="1">
                <a:solidFill>
                  <a:schemeClr val="dk1"/>
                </a:solidFill>
                <a:latin typeface="+mn-lt"/>
                <a:ea typeface="Times New Roman"/>
                <a:cs typeface="Times New Roman"/>
                <a:sym typeface="Times New Roman"/>
              </a:rPr>
              <a:t>X</a:t>
            </a:r>
            <a:r>
              <a:rPr lang="en-US" sz="2000" b="0" u="none" baseline="-25000" dirty="0" err="1">
                <a:solidFill>
                  <a:schemeClr val="dk1"/>
                </a:solidFill>
                <a:latin typeface="+mn-lt"/>
                <a:ea typeface="Times New Roman"/>
                <a:cs typeface="Times New Roman"/>
                <a:sym typeface="Times New Roman"/>
              </a:rPr>
              <a:t>max</a:t>
            </a:r>
            <a:r>
              <a:rPr lang="en-US" sz="2000" b="0" u="none" dirty="0">
                <a:solidFill>
                  <a:schemeClr val="dk1"/>
                </a:solidFill>
                <a:latin typeface="+mn-lt"/>
                <a:ea typeface="Times New Roman"/>
                <a:cs typeface="Times New Roman"/>
                <a:sym typeface="Times New Roman"/>
              </a:rPr>
              <a:t> is the maximum feature value.</a:t>
            </a:r>
            <a:endParaRPr sz="2000" b="0" u="none" dirty="0">
              <a:solidFill>
                <a:schemeClr val="dk1"/>
              </a:solidFill>
              <a:latin typeface="+mn-lt"/>
              <a:ea typeface="Calibri"/>
              <a:cs typeface="Calibri"/>
              <a:sym typeface="Calibri"/>
            </a:endParaRPr>
          </a:p>
          <a:p>
            <a:pPr marL="0" marR="0" lvl="0" indent="0" algn="ctr" rtl="0">
              <a:lnSpc>
                <a:spcPct val="90000"/>
              </a:lnSpc>
              <a:spcBef>
                <a:spcPts val="0"/>
              </a:spcBef>
              <a:spcAft>
                <a:spcPts val="0"/>
              </a:spcAft>
              <a:buClr>
                <a:schemeClr val="dk1"/>
              </a:buClr>
              <a:buSzPts val="4400"/>
              <a:buFont typeface="Calibri"/>
              <a:buNone/>
            </a:pPr>
            <a:endParaRPr sz="1800" b="0" u="none" dirty="0">
              <a:solidFill>
                <a:schemeClr val="dk1"/>
              </a:solidFill>
              <a:latin typeface="+mn-lt"/>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dirty="0">
                <a:ea typeface="Times New Roman"/>
                <a:cs typeface="Times New Roman"/>
                <a:sym typeface="Times New Roman"/>
              </a:rPr>
              <a:t>Min-Max Normalization </a:t>
            </a:r>
            <a:endParaRPr dirty="0">
              <a:ea typeface="Times New Roman"/>
              <a:cs typeface="Times New Roman"/>
              <a:sym typeface="Times New Roman"/>
            </a:endParaRPr>
          </a:p>
        </p:txBody>
      </p:sp>
      <p:sp>
        <p:nvSpPr>
          <p:cNvPr id="217" name="Google Shape;217;p21"/>
          <p:cNvSpPr/>
          <p:nvPr/>
        </p:nvSpPr>
        <p:spPr>
          <a:xfrm>
            <a:off x="2135203" y="1417638"/>
            <a:ext cx="7654834" cy="2377959"/>
          </a:xfrm>
          <a:prstGeom prst="rect">
            <a:avLst/>
          </a:prstGeom>
          <a:blipFill rotWithShape="1">
            <a:blip r:embed="rId3">
              <a:alphaModFix/>
            </a:blip>
            <a:stretch>
              <a:fillRect l="-1193" t="-153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218" name="Google Shape;218;p21"/>
          <p:cNvSpPr txBox="1"/>
          <p:nvPr/>
        </p:nvSpPr>
        <p:spPr>
          <a:xfrm>
            <a:off x="1692442" y="3697705"/>
            <a:ext cx="8229600" cy="2885657"/>
          </a:xfrm>
          <a:prstGeom prst="rect">
            <a:avLst/>
          </a:prstGeom>
          <a:noFill/>
          <a:ln>
            <a:noFill/>
          </a:ln>
        </p:spPr>
        <p:txBody>
          <a:bodyPr spcFirstLastPara="1" wrap="square" lIns="91425" tIns="45700" rIns="91425" bIns="45700" anchor="ctr" anchorCtr="0">
            <a:noAutofit/>
          </a:bodyPr>
          <a:lstStyle/>
          <a:p>
            <a:pPr marL="0" marR="0" lvl="0" indent="0" algn="l" rtl="0">
              <a:lnSpc>
                <a:spcPct val="107000"/>
              </a:lnSpc>
              <a:spcBef>
                <a:spcPts val="0"/>
              </a:spcBef>
              <a:spcAft>
                <a:spcPts val="0"/>
              </a:spcAft>
              <a:buClr>
                <a:schemeClr val="dk1"/>
              </a:buClr>
              <a:buSzPts val="2000"/>
              <a:buFont typeface="Times New Roman"/>
              <a:buNone/>
            </a:pPr>
            <a:r>
              <a:rPr lang="en-US" sz="2000" dirty="0">
                <a:solidFill>
                  <a:schemeClr val="dk1"/>
                </a:solidFill>
                <a:latin typeface="+mn-lt"/>
                <a:ea typeface="Times New Roman"/>
                <a:cs typeface="Times New Roman"/>
                <a:sym typeface="Times New Roman"/>
              </a:rPr>
              <a:t>Min-max scaling is a good choice when:</a:t>
            </a:r>
            <a:endParaRPr sz="2000" dirty="0">
              <a:solidFill>
                <a:schemeClr val="dk1"/>
              </a:solidFill>
              <a:latin typeface="+mn-lt"/>
              <a:ea typeface="Calibri"/>
              <a:cs typeface="Calibri"/>
              <a:sym typeface="Calibri"/>
            </a:endParaRPr>
          </a:p>
          <a:p>
            <a:pPr marL="342900" marR="0" lvl="0" indent="-342900" algn="l" rtl="0">
              <a:lnSpc>
                <a:spcPct val="107000"/>
              </a:lnSpc>
              <a:spcBef>
                <a:spcPts val="800"/>
              </a:spcBef>
              <a:spcAft>
                <a:spcPts val="0"/>
              </a:spcAft>
              <a:buClr>
                <a:schemeClr val="dk1"/>
              </a:buClr>
              <a:buSzPts val="1000"/>
              <a:buFont typeface="Noto Sans Symbols"/>
              <a:buChar char="∙"/>
            </a:pPr>
            <a:r>
              <a:rPr lang="en-US" sz="2000" dirty="0">
                <a:solidFill>
                  <a:schemeClr val="dk1"/>
                </a:solidFill>
                <a:latin typeface="+mn-lt"/>
                <a:ea typeface="Times New Roman"/>
                <a:cs typeface="Times New Roman"/>
                <a:sym typeface="Times New Roman"/>
              </a:rPr>
              <a:t>The approximate upper and lower bounds of the dataset are known, and the dataset has few or no outliers</a:t>
            </a:r>
            <a:endParaRPr sz="2000" dirty="0">
              <a:solidFill>
                <a:schemeClr val="dk1"/>
              </a:solidFill>
              <a:latin typeface="+mn-lt"/>
              <a:ea typeface="Calibri"/>
              <a:cs typeface="Calibri"/>
              <a:sym typeface="Calibri"/>
            </a:endParaRPr>
          </a:p>
          <a:p>
            <a:pPr marL="342900" marR="0" lvl="0" indent="-342900" algn="l" rtl="0">
              <a:lnSpc>
                <a:spcPct val="107000"/>
              </a:lnSpc>
              <a:spcBef>
                <a:spcPts val="800"/>
              </a:spcBef>
              <a:spcAft>
                <a:spcPts val="0"/>
              </a:spcAft>
              <a:buClr>
                <a:schemeClr val="dk1"/>
              </a:buClr>
              <a:buSzPts val="1000"/>
              <a:buFont typeface="Noto Sans Symbols"/>
              <a:buChar char="∙"/>
            </a:pPr>
            <a:r>
              <a:rPr lang="en-US" sz="2000" dirty="0">
                <a:solidFill>
                  <a:schemeClr val="dk1"/>
                </a:solidFill>
                <a:latin typeface="+mn-lt"/>
                <a:ea typeface="Times New Roman"/>
                <a:cs typeface="Times New Roman"/>
                <a:sym typeface="Times New Roman"/>
              </a:rPr>
              <a:t>When the data distribution is unknown or non-Gaussian, and the data is approximately uniformly distributed across the range</a:t>
            </a:r>
            <a:endParaRPr sz="2000" dirty="0">
              <a:solidFill>
                <a:schemeClr val="dk1"/>
              </a:solidFill>
              <a:latin typeface="+mn-lt"/>
              <a:ea typeface="Calibri"/>
              <a:cs typeface="Calibri"/>
              <a:sym typeface="Calibri"/>
            </a:endParaRPr>
          </a:p>
          <a:p>
            <a:pPr marL="342900" marR="0" lvl="0" indent="-342900" algn="l" rtl="0">
              <a:lnSpc>
                <a:spcPct val="107000"/>
              </a:lnSpc>
              <a:spcBef>
                <a:spcPts val="800"/>
              </a:spcBef>
              <a:spcAft>
                <a:spcPts val="800"/>
              </a:spcAft>
              <a:buClr>
                <a:schemeClr val="dk1"/>
              </a:buClr>
              <a:buSzPts val="1000"/>
              <a:buFont typeface="Noto Sans Symbols"/>
              <a:buChar char="∙"/>
            </a:pPr>
            <a:r>
              <a:rPr lang="en-US" sz="2000" dirty="0">
                <a:solidFill>
                  <a:schemeClr val="dk1"/>
                </a:solidFill>
                <a:latin typeface="+mn-lt"/>
                <a:ea typeface="Times New Roman"/>
                <a:cs typeface="Times New Roman"/>
                <a:sym typeface="Times New Roman"/>
              </a:rPr>
              <a:t>When maintaining the distribution’s original shape is essential</a:t>
            </a:r>
            <a:endParaRPr sz="2000" dirty="0">
              <a:solidFill>
                <a:schemeClr val="dk1"/>
              </a:solidFill>
              <a:latin typeface="+mn-lt"/>
              <a:ea typeface="Calibri"/>
              <a:cs typeface="Calibri"/>
              <a:sym typeface="Calibri"/>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2"/>
          <p:cNvSpPr txBox="1">
            <a:spLocks noGrp="1"/>
          </p:cNvSpPr>
          <p:nvPr>
            <p:ph type="title"/>
          </p:nvPr>
        </p:nvSpPr>
        <p:spPr>
          <a:xfrm>
            <a:off x="838200" y="128338"/>
            <a:ext cx="10515600" cy="80703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Calibri"/>
              <a:buNone/>
            </a:pPr>
            <a:r>
              <a:rPr lang="en-US"/>
              <a:t/>
            </a:r>
            <a:br>
              <a:rPr lang="en-US"/>
            </a:br>
            <a:r>
              <a:rPr lang="en-US"/>
              <a:t>Robust Scaling Normalization</a:t>
            </a:r>
            <a:br>
              <a:rPr lang="en-US"/>
            </a:br>
            <a:endParaRPr/>
          </a:p>
        </p:txBody>
      </p:sp>
      <p:sp>
        <p:nvSpPr>
          <p:cNvPr id="224" name="Google Shape;224;p22"/>
          <p:cNvSpPr txBox="1">
            <a:spLocks noGrp="1"/>
          </p:cNvSpPr>
          <p:nvPr>
            <p:ph idx="1"/>
          </p:nvPr>
        </p:nvSpPr>
        <p:spPr>
          <a:xfrm>
            <a:off x="838200" y="1203158"/>
            <a:ext cx="10515600" cy="5164188"/>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dk1"/>
              </a:buClr>
              <a:buSzPct val="100000"/>
              <a:buNone/>
            </a:pPr>
            <a:r>
              <a:rPr lang="en-US" sz="2400" dirty="0"/>
              <a:t>Both standard and robust scalers transform inputs to comparable scales. The difference lies in how they scale raw input values. Robust scaling answers a simple question. </a:t>
            </a:r>
            <a:r>
              <a:rPr lang="en-US" sz="2400" b="1" dirty="0"/>
              <a:t>How far is each data point from the input’s median?</a:t>
            </a:r>
            <a:r>
              <a:rPr lang="en-US" sz="2400" dirty="0"/>
              <a:t> More precisely, it measures this distance in terms of the IQR using the below formula:</a:t>
            </a:r>
            <a:endParaRPr sz="2400" dirty="0"/>
          </a:p>
          <a:p>
            <a:pPr marL="228600" lvl="0" indent="-77470" algn="l" rtl="0">
              <a:lnSpc>
                <a:spcPct val="90000"/>
              </a:lnSpc>
              <a:spcBef>
                <a:spcPts val="1000"/>
              </a:spcBef>
              <a:spcAft>
                <a:spcPts val="0"/>
              </a:spcAft>
              <a:buClr>
                <a:schemeClr val="dk1"/>
              </a:buClr>
              <a:buSzPct val="100000"/>
              <a:buNone/>
            </a:pPr>
            <a:endParaRPr sz="2400" dirty="0"/>
          </a:p>
          <a:p>
            <a:pPr marL="228600" lvl="0" indent="-77470" algn="l" rtl="0">
              <a:lnSpc>
                <a:spcPct val="90000"/>
              </a:lnSpc>
              <a:spcBef>
                <a:spcPts val="1000"/>
              </a:spcBef>
              <a:spcAft>
                <a:spcPts val="0"/>
              </a:spcAft>
              <a:buClr>
                <a:schemeClr val="dk1"/>
              </a:buClr>
              <a:buSzPct val="100000"/>
              <a:buNone/>
            </a:pPr>
            <a:endParaRPr sz="2400" dirty="0"/>
          </a:p>
          <a:p>
            <a:pPr marL="228600" lvl="0" indent="-77470" algn="l" rtl="0">
              <a:lnSpc>
                <a:spcPct val="90000"/>
              </a:lnSpc>
              <a:spcBef>
                <a:spcPts val="1000"/>
              </a:spcBef>
              <a:spcAft>
                <a:spcPts val="0"/>
              </a:spcAft>
              <a:buClr>
                <a:schemeClr val="dk1"/>
              </a:buClr>
              <a:buSzPct val="100000"/>
              <a:buNone/>
            </a:pPr>
            <a:endParaRPr lang="en-US" sz="2400" dirty="0" smtClean="0"/>
          </a:p>
          <a:p>
            <a:pPr marL="228600" lvl="0" indent="-77470" algn="l" rtl="0">
              <a:lnSpc>
                <a:spcPct val="90000"/>
              </a:lnSpc>
              <a:spcBef>
                <a:spcPts val="1000"/>
              </a:spcBef>
              <a:spcAft>
                <a:spcPts val="0"/>
              </a:spcAft>
              <a:buClr>
                <a:schemeClr val="dk1"/>
              </a:buClr>
              <a:buSzPct val="100000"/>
              <a:buNone/>
            </a:pPr>
            <a:endParaRPr sz="2400" dirty="0"/>
          </a:p>
          <a:p>
            <a:pPr marL="0" lvl="0" indent="0" algn="l" rtl="0">
              <a:lnSpc>
                <a:spcPct val="90000"/>
              </a:lnSpc>
              <a:spcBef>
                <a:spcPts val="1000"/>
              </a:spcBef>
              <a:spcAft>
                <a:spcPts val="0"/>
              </a:spcAft>
              <a:buClr>
                <a:schemeClr val="dk1"/>
              </a:buClr>
              <a:buSzPct val="100000"/>
              <a:buNone/>
            </a:pPr>
            <a:r>
              <a:rPr lang="en-US" sz="2400" dirty="0"/>
              <a:t>The scaled values will have their median and IQR set to 0 and 1, respectively. The fact that robust scaling uses median and IQR makes it resistant to outliers.</a:t>
            </a:r>
            <a:r>
              <a:rPr lang="en-US" sz="2400" dirty="0">
                <a:ea typeface="Times New Roman"/>
                <a:cs typeface="Times New Roman"/>
                <a:sym typeface="Times New Roman"/>
              </a:rPr>
              <a:t> Since robust scaling is resilient to the influence of outliers, this makes it suitable for datasets with skewed or anomalous values or with outliers.</a:t>
            </a:r>
            <a:endParaRPr sz="2400" dirty="0"/>
          </a:p>
          <a:p>
            <a:pPr marL="0" lvl="0" indent="0" algn="l" rtl="0">
              <a:lnSpc>
                <a:spcPct val="90000"/>
              </a:lnSpc>
              <a:spcBef>
                <a:spcPts val="1000"/>
              </a:spcBef>
              <a:spcAft>
                <a:spcPts val="0"/>
              </a:spcAft>
              <a:buClr>
                <a:schemeClr val="dk1"/>
              </a:buClr>
              <a:buSzPct val="100000"/>
              <a:buNone/>
            </a:pPr>
            <a:r>
              <a:rPr lang="en-US" sz="2400" dirty="0">
                <a:ea typeface="Times New Roman"/>
                <a:cs typeface="Times New Roman"/>
                <a:sym typeface="Times New Roman"/>
              </a:rPr>
              <a:t>Example: Original value =30, Input’s median= 25, IQR = 20</a:t>
            </a:r>
            <a:endParaRPr sz="2400" dirty="0"/>
          </a:p>
          <a:p>
            <a:pPr marL="0" lvl="0" indent="0" algn="l" rtl="0">
              <a:lnSpc>
                <a:spcPct val="90000"/>
              </a:lnSpc>
              <a:spcBef>
                <a:spcPts val="1000"/>
              </a:spcBef>
              <a:spcAft>
                <a:spcPts val="0"/>
              </a:spcAft>
              <a:buClr>
                <a:schemeClr val="dk1"/>
              </a:buClr>
              <a:buSzPct val="100000"/>
              <a:buNone/>
            </a:pPr>
            <a:r>
              <a:rPr lang="en-US" sz="2400" dirty="0">
                <a:ea typeface="Times New Roman"/>
                <a:cs typeface="Times New Roman"/>
                <a:sym typeface="Times New Roman"/>
              </a:rPr>
              <a:t>Robust scaled value = (30-28)/20=0.10</a:t>
            </a:r>
            <a:endParaRPr sz="2400" dirty="0">
              <a:ea typeface="Calibri"/>
              <a:cs typeface="Calibri"/>
              <a:sym typeface="Calibri"/>
            </a:endParaRPr>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endParaRPr dirty="0"/>
          </a:p>
          <a:p>
            <a:pPr marL="228600" lvl="0" indent="-77470" algn="l" rtl="0">
              <a:lnSpc>
                <a:spcPct val="90000"/>
              </a:lnSpc>
              <a:spcBef>
                <a:spcPts val="1000"/>
              </a:spcBef>
              <a:spcAft>
                <a:spcPts val="0"/>
              </a:spcAft>
              <a:buClr>
                <a:schemeClr val="dk1"/>
              </a:buClr>
              <a:buSzPct val="100000"/>
              <a:buNone/>
            </a:pPr>
            <a:endParaRPr dirty="0"/>
          </a:p>
        </p:txBody>
      </p:sp>
      <p:pic>
        <p:nvPicPr>
          <p:cNvPr id="225" name="Google Shape;225;p22"/>
          <p:cNvPicPr preferRelativeResize="0"/>
          <p:nvPr/>
        </p:nvPicPr>
        <p:blipFill rotWithShape="1">
          <a:blip r:embed="rId3">
            <a:alphaModFix/>
          </a:blip>
          <a:srcRect/>
          <a:stretch/>
        </p:blipFill>
        <p:spPr>
          <a:xfrm>
            <a:off x="3018631" y="3052011"/>
            <a:ext cx="6154738" cy="876300"/>
          </a:xfrm>
          <a:prstGeom prst="rect">
            <a:avLst/>
          </a:prstGeom>
          <a:noFill/>
          <a:ln>
            <a:noFill/>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3"/>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dirty="0">
                <a:ea typeface="Times New Roman"/>
                <a:cs typeface="Times New Roman"/>
                <a:sym typeface="Times New Roman"/>
              </a:rPr>
              <a:t>Z-Score Normalization </a:t>
            </a:r>
            <a:endParaRPr dirty="0">
              <a:ea typeface="Times New Roman"/>
              <a:cs typeface="Times New Roman"/>
              <a:sym typeface="Times New Roman"/>
            </a:endParaRPr>
          </a:p>
        </p:txBody>
      </p:sp>
      <p:sp>
        <p:nvSpPr>
          <p:cNvPr id="231" name="Google Shape;231;p23"/>
          <p:cNvSpPr/>
          <p:nvPr/>
        </p:nvSpPr>
        <p:spPr>
          <a:xfrm>
            <a:off x="1246140" y="1417638"/>
            <a:ext cx="9630407" cy="4616585"/>
          </a:xfrm>
          <a:prstGeom prst="rect">
            <a:avLst/>
          </a:prstGeom>
          <a:blipFill rotWithShape="1">
            <a:blip r:embed="rId3">
              <a:alphaModFix/>
            </a:blip>
            <a:stretch>
              <a:fillRect l="-822" t="-105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mn-lt"/>
                <a:ea typeface="Calibri"/>
                <a:cs typeface="Calibri"/>
                <a:sym typeface="Calibri"/>
              </a:rPr>
              <a:t> </a:t>
            </a:r>
            <a:endParaRPr>
              <a:latin typeface="+mn-lt"/>
            </a:endParaRPr>
          </a:p>
        </p:txBody>
      </p:sp>
      <p:pic>
        <p:nvPicPr>
          <p:cNvPr id="232" name="Google Shape;232;p23"/>
          <p:cNvPicPr preferRelativeResize="0"/>
          <p:nvPr/>
        </p:nvPicPr>
        <p:blipFill rotWithShape="1">
          <a:blip r:embed="rId4">
            <a:alphaModFix/>
          </a:blip>
          <a:srcRect/>
          <a:stretch/>
        </p:blipFill>
        <p:spPr>
          <a:xfrm>
            <a:off x="1622124" y="2099093"/>
            <a:ext cx="8878438" cy="923089"/>
          </a:xfrm>
          <a:prstGeom prst="rect">
            <a:avLst/>
          </a:prstGeom>
          <a:noFill/>
          <a:ln>
            <a:noFill/>
          </a:ln>
        </p:spPr>
      </p:pic>
      <p:pic>
        <p:nvPicPr>
          <p:cNvPr id="233" name="Google Shape;233;p23"/>
          <p:cNvPicPr preferRelativeResize="0"/>
          <p:nvPr/>
        </p:nvPicPr>
        <p:blipFill rotWithShape="1">
          <a:blip r:embed="rId5">
            <a:alphaModFix/>
          </a:blip>
          <a:srcRect/>
          <a:stretch/>
        </p:blipFill>
        <p:spPr>
          <a:xfrm>
            <a:off x="3687763" y="3771900"/>
            <a:ext cx="139700" cy="228600"/>
          </a:xfrm>
          <a:prstGeom prst="rect">
            <a:avLst/>
          </a:prstGeom>
          <a:noFill/>
          <a:ln>
            <a:noFill/>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dirty="0">
                <a:ea typeface="Times New Roman"/>
                <a:cs typeface="Times New Roman"/>
                <a:sym typeface="Times New Roman"/>
              </a:rPr>
              <a:t>Z-Score Normalization </a:t>
            </a:r>
            <a:endParaRPr dirty="0"/>
          </a:p>
        </p:txBody>
      </p:sp>
      <p:sp>
        <p:nvSpPr>
          <p:cNvPr id="239" name="Google Shape;239;p24"/>
          <p:cNvSpPr txBox="1">
            <a:spLocks noGrp="1"/>
          </p:cNvSpPr>
          <p:nvPr>
            <p:ph idx="1"/>
          </p:nvPr>
        </p:nvSpPr>
        <p:spPr>
          <a:prstGeom prst="rect">
            <a:avLst/>
          </a:prstGeom>
          <a:blipFill rotWithShape="1">
            <a:blip r:embed="rId3">
              <a:alphaModFix/>
            </a:blip>
            <a:stretch>
              <a:fillRect l="-927" t="-1540"/>
            </a:stretch>
          </a:blip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2800"/>
              <a:buChar char="•"/>
            </a:pPr>
            <a:r>
              <a:rPr lang="en-US" dirty="0"/>
              <a:t> </a:t>
            </a:r>
            <a:endParaRPr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5"/>
          <p:cNvSpPr txBox="1">
            <a:spLocks noGrp="1"/>
          </p:cNvSpPr>
          <p:nvPr>
            <p:ph type="title"/>
          </p:nvPr>
        </p:nvSpPr>
        <p:spPr>
          <a:xfrm>
            <a:off x="1024128" y="312842"/>
            <a:ext cx="9720072" cy="149961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dirty="0">
                <a:ea typeface="Times New Roman"/>
                <a:cs typeface="Times New Roman"/>
                <a:sym typeface="Times New Roman"/>
              </a:rPr>
              <a:t>Decimal Scale Normalization</a:t>
            </a:r>
            <a:endParaRPr dirty="0"/>
          </a:p>
        </p:txBody>
      </p:sp>
      <p:sp>
        <p:nvSpPr>
          <p:cNvPr id="245" name="Google Shape;245;p25"/>
          <p:cNvSpPr txBox="1">
            <a:spLocks noGrp="1"/>
          </p:cNvSpPr>
          <p:nvPr>
            <p:ph idx="1"/>
          </p:nvPr>
        </p:nvSpPr>
        <p:spPr>
          <a:xfrm>
            <a:off x="838200" y="1818219"/>
            <a:ext cx="10515600" cy="4572752"/>
          </a:xfrm>
          <a:prstGeom prst="rect">
            <a:avLst/>
          </a:prstGeom>
          <a:noFill/>
          <a:ln>
            <a:noFill/>
          </a:ln>
        </p:spPr>
        <p:txBody>
          <a:bodyPr spcFirstLastPara="1" wrap="square" lIns="91425" tIns="45700" rIns="91425" bIns="45700" anchor="t" anchorCtr="0">
            <a:normAutofit fontScale="55000" lnSpcReduction="20000"/>
          </a:bodyPr>
          <a:lstStyle/>
          <a:p>
            <a:pPr marL="684213" marR="0" lvl="0" indent="-571500" algn="l" rtl="0">
              <a:lnSpc>
                <a:spcPct val="107000"/>
              </a:lnSpc>
              <a:spcBef>
                <a:spcPts val="0"/>
              </a:spcBef>
              <a:spcAft>
                <a:spcPts val="0"/>
              </a:spcAft>
              <a:buClr>
                <a:schemeClr val="dk1"/>
              </a:buClr>
              <a:buSzPct val="100000"/>
              <a:buFont typeface="Noto Sans Symbols"/>
              <a:buChar char="⮚"/>
            </a:pPr>
            <a:r>
              <a:rPr lang="en-US" sz="4400" dirty="0">
                <a:ea typeface="Times New Roman"/>
                <a:cs typeface="Times New Roman"/>
                <a:sym typeface="Times New Roman"/>
              </a:rPr>
              <a:t>Decimal scaling normalization aims to scale the feature values by a power of 10, ensuring that the largest absolute value in each feature becomes less than 1. It is useful when the range of values in a dataset is known, but the range varies across features. The formula for decimal scaling normalization is:</a:t>
            </a:r>
            <a:endParaRPr sz="4400" dirty="0">
              <a:ea typeface="Calibri"/>
              <a:cs typeface="Calibri"/>
              <a:sym typeface="Calibri"/>
            </a:endParaRPr>
          </a:p>
          <a:p>
            <a:pPr marL="112713" marR="0" lvl="0" indent="0" algn="l" rtl="0">
              <a:lnSpc>
                <a:spcPct val="107000"/>
              </a:lnSpc>
              <a:spcBef>
                <a:spcPts val="800"/>
              </a:spcBef>
              <a:spcAft>
                <a:spcPts val="0"/>
              </a:spcAft>
              <a:buClr>
                <a:schemeClr val="dk1"/>
              </a:buClr>
              <a:buSzPct val="100000"/>
              <a:buNone/>
            </a:pPr>
            <a:r>
              <a:rPr lang="en-US" sz="4400" dirty="0">
                <a:ea typeface="Times New Roman"/>
                <a:cs typeface="Times New Roman"/>
                <a:sym typeface="Times New Roman"/>
              </a:rPr>
              <a:t>				</a:t>
            </a:r>
            <a:r>
              <a:rPr lang="en-US" sz="4400" dirty="0" err="1">
                <a:ea typeface="Times New Roman"/>
                <a:cs typeface="Times New Roman"/>
                <a:sym typeface="Times New Roman"/>
              </a:rPr>
              <a:t>X</a:t>
            </a:r>
            <a:r>
              <a:rPr lang="en-US" sz="4400" baseline="-25000" dirty="0" err="1">
                <a:ea typeface="Times New Roman"/>
                <a:cs typeface="Times New Roman"/>
                <a:sym typeface="Times New Roman"/>
              </a:rPr>
              <a:t>decimal</a:t>
            </a:r>
            <a:r>
              <a:rPr lang="en-US" sz="4400" dirty="0">
                <a:ea typeface="Times New Roman"/>
                <a:cs typeface="Times New Roman"/>
                <a:sym typeface="Times New Roman"/>
              </a:rPr>
              <a:t> = X / 10</a:t>
            </a:r>
            <a:r>
              <a:rPr lang="en-US" sz="4400" baseline="30000" dirty="0">
                <a:ea typeface="Times New Roman"/>
                <a:cs typeface="Times New Roman"/>
                <a:sym typeface="Times New Roman"/>
              </a:rPr>
              <a:t>d</a:t>
            </a:r>
            <a:endParaRPr sz="4400" dirty="0">
              <a:ea typeface="Calibri"/>
              <a:cs typeface="Calibri"/>
              <a:sym typeface="Calibri"/>
            </a:endParaRPr>
          </a:p>
          <a:p>
            <a:pPr marL="684213" marR="0" lvl="0" indent="-571500" algn="l" rtl="0">
              <a:lnSpc>
                <a:spcPct val="107000"/>
              </a:lnSpc>
              <a:spcBef>
                <a:spcPts val="800"/>
              </a:spcBef>
              <a:spcAft>
                <a:spcPts val="0"/>
              </a:spcAft>
              <a:buClr>
                <a:schemeClr val="dk1"/>
              </a:buClr>
              <a:buSzPct val="100000"/>
              <a:buFont typeface="Noto Sans Symbols"/>
              <a:buChar char="⮚"/>
            </a:pPr>
            <a:r>
              <a:rPr lang="en-US" sz="4400" dirty="0">
                <a:ea typeface="Times New Roman"/>
                <a:cs typeface="Times New Roman"/>
                <a:sym typeface="Times New Roman"/>
              </a:rPr>
              <a:t>X is the original feature value, and d is the smallest integer such that the largest absolute value in the feature becomes less than 1.</a:t>
            </a:r>
            <a:endParaRPr sz="4400" dirty="0">
              <a:ea typeface="Calibri"/>
              <a:cs typeface="Calibri"/>
              <a:sym typeface="Calibri"/>
            </a:endParaRPr>
          </a:p>
          <a:p>
            <a:pPr marL="684213" marR="0" lvl="0" indent="-571500" algn="l" rtl="0">
              <a:lnSpc>
                <a:spcPct val="107000"/>
              </a:lnSpc>
              <a:spcBef>
                <a:spcPts val="800"/>
              </a:spcBef>
              <a:spcAft>
                <a:spcPts val="0"/>
              </a:spcAft>
              <a:buClr>
                <a:schemeClr val="dk1"/>
              </a:buClr>
              <a:buSzPct val="100000"/>
              <a:buFont typeface="Noto Sans Symbols"/>
              <a:buChar char="⮚"/>
            </a:pPr>
            <a:r>
              <a:rPr lang="en-US" sz="4400" dirty="0">
                <a:ea typeface="Times New Roman"/>
                <a:cs typeface="Times New Roman"/>
                <a:sym typeface="Times New Roman"/>
              </a:rPr>
              <a:t>For example, if the largest absolute value in a feature is 350, then d would be 3, and the feature would be scaled by 10</a:t>
            </a:r>
            <a:r>
              <a:rPr lang="en-US" sz="4400" baseline="30000" dirty="0">
                <a:ea typeface="Times New Roman"/>
                <a:cs typeface="Times New Roman"/>
                <a:sym typeface="Times New Roman"/>
              </a:rPr>
              <a:t>3</a:t>
            </a:r>
            <a:r>
              <a:rPr lang="en-US" sz="4400" dirty="0">
                <a:ea typeface="Times New Roman"/>
                <a:cs typeface="Times New Roman"/>
                <a:sym typeface="Times New Roman"/>
              </a:rPr>
              <a:t>.</a:t>
            </a:r>
            <a:endParaRPr sz="4400" dirty="0">
              <a:ea typeface="Calibri"/>
              <a:cs typeface="Calibri"/>
              <a:sym typeface="Calibri"/>
            </a:endParaRPr>
          </a:p>
          <a:p>
            <a:pPr marL="684213" marR="0" lvl="0" indent="-571500" algn="l" rtl="0">
              <a:lnSpc>
                <a:spcPct val="107000"/>
              </a:lnSpc>
              <a:spcBef>
                <a:spcPts val="800"/>
              </a:spcBef>
              <a:spcAft>
                <a:spcPts val="0"/>
              </a:spcAft>
              <a:buClr>
                <a:schemeClr val="dk1"/>
              </a:buClr>
              <a:buSzPct val="100000"/>
              <a:buFont typeface="Noto Sans Symbols"/>
              <a:buChar char="⮚"/>
            </a:pPr>
            <a:r>
              <a:rPr lang="en-US" sz="4400" dirty="0">
                <a:ea typeface="Times New Roman"/>
                <a:cs typeface="Times New Roman"/>
                <a:sym typeface="Times New Roman"/>
              </a:rPr>
              <a:t>Decimal scaling normalization is advantageous when dealing with datasets where the absolute magnitude of values matters more than their specific scale.</a:t>
            </a:r>
            <a:r>
              <a:rPr lang="en-US" sz="2400" dirty="0">
                <a:ea typeface="Times New Roman"/>
                <a:cs typeface="Times New Roman"/>
                <a:sym typeface="Times New Roman"/>
              </a:rPr>
              <a:t> </a:t>
            </a:r>
            <a:endParaRPr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6"/>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dirty="0">
                <a:ea typeface="Times New Roman"/>
                <a:cs typeface="Times New Roman"/>
                <a:sym typeface="Times New Roman"/>
              </a:rPr>
              <a:t>Decimal Scale Normalization</a:t>
            </a:r>
            <a:endParaRPr dirty="0">
              <a:ea typeface="Times New Roman"/>
              <a:cs typeface="Times New Roman"/>
              <a:sym typeface="Times New Roman"/>
            </a:endParaRPr>
          </a:p>
        </p:txBody>
      </p:sp>
      <p:graphicFrame>
        <p:nvGraphicFramePr>
          <p:cNvPr id="251" name="Google Shape;251;p26"/>
          <p:cNvGraphicFramePr/>
          <p:nvPr/>
        </p:nvGraphicFramePr>
        <p:xfrm>
          <a:off x="2438400" y="1676400"/>
          <a:ext cx="3810000" cy="1381790"/>
        </p:xfrm>
        <a:graphic>
          <a:graphicData uri="http://schemas.openxmlformats.org/drawingml/2006/table">
            <a:tbl>
              <a:tblPr>
                <a:noFill/>
                <a:tableStyleId>{8428E21D-70E7-48E0-B2D0-276C6B2AB42B}</a:tableStyleId>
              </a:tblPr>
              <a:tblGrid>
                <a:gridCol w="775150"/>
                <a:gridCol w="1358450"/>
                <a:gridCol w="1676400"/>
              </a:tblGrid>
              <a:tr h="370850">
                <a:tc>
                  <a:txBody>
                    <a:bodyPr/>
                    <a:lstStyle/>
                    <a:p>
                      <a:pPr marL="0" marR="0" lvl="0" indent="0" algn="l" rtl="0">
                        <a:spcBef>
                          <a:spcPts val="0"/>
                        </a:spcBef>
                        <a:spcAft>
                          <a:spcPts val="0"/>
                        </a:spcAft>
                        <a:buClr>
                          <a:schemeClr val="dk1"/>
                        </a:buClr>
                        <a:buSzPts val="1800"/>
                        <a:buFont typeface="Calibri"/>
                        <a:buNone/>
                      </a:pPr>
                      <a:r>
                        <a:rPr lang="en-US" sz="1800" u="none" strike="noStrike" cap="none" dirty="0"/>
                        <a:t>CGPA</a:t>
                      </a:r>
                      <a:endParaRPr sz="1800" u="none" strike="noStrike" cap="none"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u="none" strike="noStrike" cap="none"/>
                        <a:t>Formula</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u="none" strike="noStrike" cap="none"/>
                        <a:t>After Decimal Normalization</a:t>
                      </a:r>
                      <a:endParaRPr sz="1800" u="none" strike="noStrike" cap="none"/>
                    </a:p>
                  </a:txBody>
                  <a:tcPr marL="91450" marR="91450" marT="45725" marB="45725"/>
                </a:tc>
              </a:tr>
              <a:tr h="370850">
                <a:tc>
                  <a:txBody>
                    <a:bodyPr/>
                    <a:lstStyle/>
                    <a:p>
                      <a:pPr marL="0" marR="0" lvl="0" indent="0" algn="l" rtl="0">
                        <a:spcBef>
                          <a:spcPts val="0"/>
                        </a:spcBef>
                        <a:spcAft>
                          <a:spcPts val="0"/>
                        </a:spcAft>
                        <a:buClr>
                          <a:schemeClr val="dk1"/>
                        </a:buClr>
                        <a:buSzPts val="1800"/>
                        <a:buFont typeface="Calibri"/>
                        <a:buNone/>
                      </a:pPr>
                      <a:r>
                        <a:rPr lang="en-US" sz="1800" u="none" strike="noStrike" cap="none"/>
                        <a:t>2</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u="none" strike="noStrike" cap="none" dirty="0"/>
                        <a:t>2/10</a:t>
                      </a:r>
                      <a:endParaRPr sz="1800" u="none" strike="noStrike" cap="none" dirty="0"/>
                    </a:p>
                  </a:txBody>
                  <a:tcPr marL="91450" marR="91450" marT="45725" marB="45725"/>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0.2</a:t>
                      </a:r>
                      <a:endParaRPr sz="1800" u="none" strike="noStrike" cap="none"/>
                    </a:p>
                  </a:txBody>
                  <a:tcPr marL="91450" marR="91450" marT="45725" marB="45725"/>
                </a:tc>
              </a:tr>
              <a:tr h="370850">
                <a:tc>
                  <a:txBody>
                    <a:bodyPr/>
                    <a:lstStyle/>
                    <a:p>
                      <a:pPr marL="0" marR="0" lvl="0" indent="0" algn="l" rtl="0">
                        <a:spcBef>
                          <a:spcPts val="0"/>
                        </a:spcBef>
                        <a:spcAft>
                          <a:spcPts val="0"/>
                        </a:spcAft>
                        <a:buClr>
                          <a:schemeClr val="dk1"/>
                        </a:buClr>
                        <a:buSzPts val="1800"/>
                        <a:buFont typeface="Calibri"/>
                        <a:buNone/>
                      </a:pPr>
                      <a:r>
                        <a:rPr lang="en-US" sz="1800" u="none" strike="noStrike" cap="none"/>
                        <a:t>3</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u="none" strike="noStrike" cap="none"/>
                        <a:t>3/10</a:t>
                      </a:r>
                      <a:endParaRPr sz="1800" u="none" strike="noStrike" cap="none"/>
                    </a:p>
                  </a:txBody>
                  <a:tcPr marL="91450" marR="91450" marT="45725" marB="45725"/>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0.3</a:t>
                      </a:r>
                      <a:endParaRPr sz="1800" u="none" strike="noStrike" cap="none"/>
                    </a:p>
                  </a:txBody>
                  <a:tcPr marL="91450" marR="91450" marT="45725" marB="45725"/>
                </a:tc>
              </a:tr>
            </a:tbl>
          </a:graphicData>
        </a:graphic>
      </p:graphicFrame>
      <p:graphicFrame>
        <p:nvGraphicFramePr>
          <p:cNvPr id="252" name="Google Shape;252;p26"/>
          <p:cNvGraphicFramePr/>
          <p:nvPr/>
        </p:nvGraphicFramePr>
        <p:xfrm>
          <a:off x="6501063" y="1676400"/>
          <a:ext cx="4038600" cy="1381790"/>
        </p:xfrm>
        <a:graphic>
          <a:graphicData uri="http://schemas.openxmlformats.org/drawingml/2006/table">
            <a:tbl>
              <a:tblPr>
                <a:noFill/>
                <a:tableStyleId>{8428E21D-70E7-48E0-B2D0-276C6B2AB42B}</a:tableStyleId>
              </a:tblPr>
              <a:tblGrid>
                <a:gridCol w="914400"/>
                <a:gridCol w="1347225"/>
                <a:gridCol w="1776975"/>
              </a:tblGrid>
              <a:tr h="370850">
                <a:tc>
                  <a:txBody>
                    <a:bodyPr/>
                    <a:lstStyle/>
                    <a:p>
                      <a:pPr marL="0" marR="0" lvl="0" indent="0" algn="l" rtl="0">
                        <a:spcBef>
                          <a:spcPts val="0"/>
                        </a:spcBef>
                        <a:spcAft>
                          <a:spcPts val="0"/>
                        </a:spcAft>
                        <a:buClr>
                          <a:schemeClr val="dk1"/>
                        </a:buClr>
                        <a:buSzPts val="1800"/>
                        <a:buFont typeface="Calibri"/>
                        <a:buNone/>
                      </a:pPr>
                      <a:r>
                        <a:rPr lang="en-US" sz="1800" u="none" strike="noStrike" cap="none"/>
                        <a:t>Money</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u="none" strike="noStrike" cap="none"/>
                        <a:t>Formula</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u="none" strike="noStrike" cap="none"/>
                        <a:t>After Decimal Normalization</a:t>
                      </a:r>
                      <a:endParaRPr sz="1800" u="none" strike="noStrike" cap="none"/>
                    </a:p>
                  </a:txBody>
                  <a:tcPr marL="91450" marR="91450" marT="45725" marB="45725"/>
                </a:tc>
              </a:tr>
              <a:tr h="370850">
                <a:tc>
                  <a:txBody>
                    <a:bodyPr/>
                    <a:lstStyle/>
                    <a:p>
                      <a:pPr marL="0" marR="0" lvl="0" indent="0" algn="l" rtl="0">
                        <a:spcBef>
                          <a:spcPts val="0"/>
                        </a:spcBef>
                        <a:spcAft>
                          <a:spcPts val="0"/>
                        </a:spcAft>
                        <a:buClr>
                          <a:schemeClr val="dk1"/>
                        </a:buClr>
                        <a:buSzPts val="1800"/>
                        <a:buFont typeface="Calibri"/>
                        <a:buNone/>
                      </a:pPr>
                      <a:r>
                        <a:rPr lang="en-US" sz="1800" u="none" strike="noStrike" cap="none"/>
                        <a:t>500</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u="none" strike="noStrike" cap="none"/>
                        <a:t>500/1000</a:t>
                      </a:r>
                      <a:endParaRPr sz="1800" u="none" strike="noStrike" cap="none"/>
                    </a:p>
                  </a:txBody>
                  <a:tcPr marL="91450" marR="91450" marT="45725" marB="45725"/>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0.5</a:t>
                      </a:r>
                      <a:endParaRPr sz="1800" u="none" strike="noStrike" cap="none"/>
                    </a:p>
                  </a:txBody>
                  <a:tcPr marL="91450" marR="91450" marT="45725" marB="45725"/>
                </a:tc>
              </a:tr>
              <a:tr h="370850">
                <a:tc>
                  <a:txBody>
                    <a:bodyPr/>
                    <a:lstStyle/>
                    <a:p>
                      <a:pPr marL="0" marR="0" lvl="0" indent="0" algn="l" rtl="0">
                        <a:spcBef>
                          <a:spcPts val="0"/>
                        </a:spcBef>
                        <a:spcAft>
                          <a:spcPts val="0"/>
                        </a:spcAft>
                        <a:buClr>
                          <a:schemeClr val="dk1"/>
                        </a:buClr>
                        <a:buSzPts val="1800"/>
                        <a:buFont typeface="Calibri"/>
                        <a:buNone/>
                      </a:pPr>
                      <a:r>
                        <a:rPr lang="en-US" sz="1800" u="none" strike="noStrike" cap="none"/>
                        <a:t>320</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u="none" strike="noStrike" cap="none"/>
                        <a:t>320/1000</a:t>
                      </a:r>
                      <a:endParaRPr sz="1800" u="none" strike="noStrike" cap="none"/>
                    </a:p>
                  </a:txBody>
                  <a:tcPr marL="91450" marR="91450" marT="45725" marB="45725"/>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0.32</a:t>
                      </a:r>
                      <a:endParaRPr sz="1800" u="none" strike="noStrike" cap="none"/>
                    </a:p>
                  </a:txBody>
                  <a:tcPr marL="91450" marR="91450" marT="45725" marB="45725"/>
                </a:tc>
              </a:tr>
            </a:tbl>
          </a:graphicData>
        </a:graphic>
      </p:graphicFrame>
      <p:graphicFrame>
        <p:nvGraphicFramePr>
          <p:cNvPr id="253" name="Google Shape;253;p26"/>
          <p:cNvGraphicFramePr/>
          <p:nvPr/>
        </p:nvGraphicFramePr>
        <p:xfrm>
          <a:off x="4467727" y="3643429"/>
          <a:ext cx="4267200" cy="1381790"/>
        </p:xfrm>
        <a:graphic>
          <a:graphicData uri="http://schemas.openxmlformats.org/drawingml/2006/table">
            <a:tbl>
              <a:tblPr>
                <a:noFill/>
                <a:tableStyleId>{8428E21D-70E7-48E0-B2D0-276C6B2AB42B}</a:tableStyleId>
              </a:tblPr>
              <a:tblGrid>
                <a:gridCol w="914400"/>
                <a:gridCol w="1676400"/>
                <a:gridCol w="1676400"/>
              </a:tblGrid>
              <a:tr h="370850">
                <a:tc>
                  <a:txBody>
                    <a:bodyPr/>
                    <a:lstStyle/>
                    <a:p>
                      <a:pPr marL="0" marR="0" lvl="0" indent="0" algn="l" rtl="0">
                        <a:spcBef>
                          <a:spcPts val="0"/>
                        </a:spcBef>
                        <a:spcAft>
                          <a:spcPts val="0"/>
                        </a:spcAft>
                        <a:buClr>
                          <a:schemeClr val="dk1"/>
                        </a:buClr>
                        <a:buSzPts val="1800"/>
                        <a:buFont typeface="Calibri"/>
                        <a:buNone/>
                      </a:pPr>
                      <a:r>
                        <a:rPr lang="en-US" sz="1800" u="none" strike="noStrike" cap="none"/>
                        <a:t>Salary</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u="none" strike="noStrike" cap="none"/>
                        <a:t>Formula</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u="none" strike="noStrike" cap="none"/>
                        <a:t>After Decimal Normalization</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t>32000</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t>32000/100000</a:t>
                      </a:r>
                      <a:endParaRPr sz="1800" u="none" strike="noStrike" cap="none"/>
                    </a:p>
                  </a:txBody>
                  <a:tcPr marL="91450" marR="91450" marT="45725" marB="45725"/>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0.32</a:t>
                      </a:r>
                      <a:endParaRPr sz="1800" u="none" strike="noStrike" cap="none"/>
                    </a:p>
                  </a:txBody>
                  <a:tcPr marL="91450" marR="91450" marT="45725" marB="45725"/>
                </a:tc>
              </a:tr>
              <a:tr h="370850">
                <a:tc>
                  <a:txBody>
                    <a:bodyPr/>
                    <a:lstStyle/>
                    <a:p>
                      <a:pPr marL="0" marR="0" lvl="0" indent="0" algn="l" rtl="0">
                        <a:spcBef>
                          <a:spcPts val="0"/>
                        </a:spcBef>
                        <a:spcAft>
                          <a:spcPts val="0"/>
                        </a:spcAft>
                        <a:buClr>
                          <a:schemeClr val="dk1"/>
                        </a:buClr>
                        <a:buSzPts val="1800"/>
                        <a:buFont typeface="Calibri"/>
                        <a:buNone/>
                      </a:pPr>
                      <a:r>
                        <a:rPr lang="en-US" sz="1800" u="none" strike="noStrike" cap="none"/>
                        <a:t>28000</a:t>
                      </a:r>
                      <a:endParaRPr sz="1800" u="none" strike="noStrike" cap="none"/>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u="none" strike="noStrike" cap="none"/>
                        <a:t>28000/100000</a:t>
                      </a:r>
                      <a:endParaRPr sz="1800" u="none" strike="noStrike" cap="none"/>
                    </a:p>
                  </a:txBody>
                  <a:tcPr marL="91450" marR="91450" marT="45725" marB="45725"/>
                </a:tc>
                <a:tc>
                  <a:txBody>
                    <a:bodyPr/>
                    <a:lstStyle/>
                    <a:p>
                      <a:pPr marL="0" marR="0" lvl="0" indent="0" algn="ctr" rtl="0">
                        <a:spcBef>
                          <a:spcPts val="0"/>
                        </a:spcBef>
                        <a:spcAft>
                          <a:spcPts val="0"/>
                        </a:spcAft>
                        <a:buClr>
                          <a:schemeClr val="dk1"/>
                        </a:buClr>
                        <a:buSzPts val="1800"/>
                        <a:buFont typeface="Calibri"/>
                        <a:buNone/>
                      </a:pPr>
                      <a:r>
                        <a:rPr lang="en-US" sz="1800" u="none" strike="noStrike" cap="none"/>
                        <a:t>0.28</a:t>
                      </a:r>
                      <a:endParaRPr sz="1800" u="none" strike="noStrike" cap="none"/>
                    </a:p>
                  </a:txBody>
                  <a:tcPr marL="91450" marR="91450" marT="45725" marB="45725"/>
                </a:tc>
              </a:tr>
            </a:tbl>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7"/>
          <p:cNvSpPr txBox="1">
            <a:spLocks noGrp="1"/>
          </p:cNvSpPr>
          <p:nvPr>
            <p:ph type="title"/>
          </p:nvPr>
        </p:nvSpPr>
        <p:spPr>
          <a:xfrm>
            <a:off x="838200" y="397209"/>
            <a:ext cx="9324474" cy="75782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Times New Roman"/>
              <a:buNone/>
            </a:pPr>
            <a:r>
              <a:rPr lang="en-US" dirty="0">
                <a:ea typeface="Times New Roman"/>
                <a:cs typeface="Times New Roman"/>
                <a:sym typeface="Times New Roman"/>
              </a:rPr>
              <a:t>  </a:t>
            </a:r>
            <a:r>
              <a:rPr lang="en-US" dirty="0" smtClean="0">
                <a:ea typeface="Times New Roman"/>
                <a:cs typeface="Times New Roman"/>
                <a:sym typeface="Times New Roman"/>
              </a:rPr>
              <a:t>  Log scaling Normalization</a:t>
            </a:r>
            <a:endParaRPr dirty="0"/>
          </a:p>
        </p:txBody>
      </p:sp>
      <p:sp>
        <p:nvSpPr>
          <p:cNvPr id="259" name="Google Shape;259;p27"/>
          <p:cNvSpPr txBox="1">
            <a:spLocks noGrp="1"/>
          </p:cNvSpPr>
          <p:nvPr>
            <p:ph idx="1"/>
          </p:nvPr>
        </p:nvSpPr>
        <p:spPr>
          <a:xfrm>
            <a:off x="838200" y="1259305"/>
            <a:ext cx="10515600" cy="4917658"/>
          </a:xfrm>
          <a:prstGeom prst="rect">
            <a:avLst/>
          </a:prstGeom>
          <a:noFill/>
          <a:ln>
            <a:noFill/>
          </a:ln>
        </p:spPr>
        <p:txBody>
          <a:bodyPr spcFirstLastPara="1" wrap="square" lIns="91425" tIns="45700" rIns="91425" bIns="45700" anchor="t" anchorCtr="0">
            <a:normAutofit lnSpcReduction="10000"/>
          </a:bodyPr>
          <a:lstStyle/>
          <a:p>
            <a:pPr marL="0" marR="0" lvl="0" indent="0" algn="just" rtl="0">
              <a:lnSpc>
                <a:spcPct val="107000"/>
              </a:lnSpc>
              <a:spcBef>
                <a:spcPts val="0"/>
              </a:spcBef>
              <a:spcAft>
                <a:spcPts val="0"/>
              </a:spcAft>
              <a:buClr>
                <a:schemeClr val="dk1"/>
              </a:buClr>
              <a:buSzPts val="2400"/>
              <a:buChar char="•"/>
            </a:pPr>
            <a:r>
              <a:rPr lang="en-US" sz="2400" dirty="0">
                <a:ea typeface="Times New Roman"/>
                <a:cs typeface="Times New Roman"/>
                <a:sym typeface="Times New Roman"/>
              </a:rPr>
              <a:t>Log scaling normalization converts data into a logarithmic scale by taking the log of each data point. </a:t>
            </a:r>
            <a:endParaRPr dirty="0"/>
          </a:p>
          <a:p>
            <a:pPr marL="0" marR="0" lvl="0" indent="0" algn="just" rtl="0">
              <a:lnSpc>
                <a:spcPct val="107000"/>
              </a:lnSpc>
              <a:spcBef>
                <a:spcPts val="800"/>
              </a:spcBef>
              <a:spcAft>
                <a:spcPts val="0"/>
              </a:spcAft>
              <a:buClr>
                <a:schemeClr val="dk1"/>
              </a:buClr>
              <a:buSzPts val="2400"/>
              <a:buChar char="•"/>
            </a:pPr>
            <a:r>
              <a:rPr lang="en-US" sz="2400" dirty="0">
                <a:ea typeface="Times New Roman"/>
                <a:cs typeface="Times New Roman"/>
                <a:sym typeface="Times New Roman"/>
              </a:rPr>
              <a:t>It is particularly useful when dealing with several orders of magnitude data. The formula for log scaling normalization is:</a:t>
            </a:r>
            <a:endParaRPr sz="2400" dirty="0">
              <a:ea typeface="Calibri"/>
              <a:cs typeface="Calibri"/>
              <a:sym typeface="Calibri"/>
            </a:endParaRPr>
          </a:p>
          <a:p>
            <a:pPr marL="1828800" marR="0" lvl="0" indent="-457200" algn="just" rtl="0">
              <a:lnSpc>
                <a:spcPct val="107000"/>
              </a:lnSpc>
              <a:spcBef>
                <a:spcPts val="800"/>
              </a:spcBef>
              <a:spcAft>
                <a:spcPts val="0"/>
              </a:spcAft>
              <a:buClr>
                <a:schemeClr val="dk1"/>
              </a:buClr>
              <a:buSzPts val="2400"/>
              <a:buChar char="•"/>
            </a:pPr>
            <a:r>
              <a:rPr lang="en-US" sz="2400" dirty="0" err="1">
                <a:ea typeface="Times New Roman"/>
                <a:cs typeface="Times New Roman"/>
                <a:sym typeface="Times New Roman"/>
              </a:rPr>
              <a:t>X</a:t>
            </a:r>
            <a:r>
              <a:rPr lang="en-US" sz="2400" baseline="-25000" dirty="0" err="1">
                <a:ea typeface="Times New Roman"/>
                <a:cs typeface="Times New Roman"/>
                <a:sym typeface="Times New Roman"/>
              </a:rPr>
              <a:t>log</a:t>
            </a:r>
            <a:r>
              <a:rPr lang="en-US" sz="2400" dirty="0">
                <a:ea typeface="Times New Roman"/>
                <a:cs typeface="Times New Roman"/>
                <a:sym typeface="Times New Roman"/>
              </a:rPr>
              <a:t> = log(X)</a:t>
            </a:r>
            <a:endParaRPr sz="2400" dirty="0">
              <a:ea typeface="Calibri"/>
              <a:cs typeface="Calibri"/>
              <a:sym typeface="Calibri"/>
            </a:endParaRPr>
          </a:p>
          <a:p>
            <a:pPr marL="0" marR="0" lvl="0" indent="0" algn="just" rtl="0">
              <a:lnSpc>
                <a:spcPct val="107000"/>
              </a:lnSpc>
              <a:spcBef>
                <a:spcPts val="800"/>
              </a:spcBef>
              <a:spcAft>
                <a:spcPts val="0"/>
              </a:spcAft>
              <a:buClr>
                <a:schemeClr val="dk1"/>
              </a:buClr>
              <a:buSzPts val="2400"/>
              <a:buChar char="•"/>
            </a:pPr>
            <a:r>
              <a:rPr lang="en-US" sz="2400" dirty="0">
                <a:ea typeface="Times New Roman"/>
                <a:cs typeface="Times New Roman"/>
                <a:sym typeface="Times New Roman"/>
              </a:rPr>
              <a:t>This normalization comes in handy with data that follows an exponential growth or decay pattern. It compresses the scale of the dataset, making it easier for models to capture patterns and relationships in the data. </a:t>
            </a:r>
            <a:endParaRPr dirty="0"/>
          </a:p>
          <a:p>
            <a:pPr marL="0" marR="0" lvl="0" indent="0" algn="just" rtl="0">
              <a:lnSpc>
                <a:spcPct val="107000"/>
              </a:lnSpc>
              <a:spcBef>
                <a:spcPts val="800"/>
              </a:spcBef>
              <a:spcAft>
                <a:spcPts val="0"/>
              </a:spcAft>
              <a:buClr>
                <a:schemeClr val="dk1"/>
              </a:buClr>
              <a:buSzPts val="2400"/>
              <a:buChar char="•"/>
            </a:pPr>
            <a:r>
              <a:rPr lang="en-US" sz="2400" dirty="0">
                <a:ea typeface="Times New Roman"/>
                <a:cs typeface="Times New Roman"/>
                <a:sym typeface="Times New Roman"/>
              </a:rPr>
              <a:t>Population size over the years is a good example of a dataset where some features exhibit exponential growth. Log scaling normalization can make these features more amenable to modelling.</a:t>
            </a:r>
            <a:endParaRPr dirty="0"/>
          </a:p>
          <a:p>
            <a:pPr marL="0" marR="0" lvl="0" indent="0" algn="just" rtl="0">
              <a:lnSpc>
                <a:spcPct val="107000"/>
              </a:lnSpc>
              <a:spcBef>
                <a:spcPts val="800"/>
              </a:spcBef>
              <a:spcAft>
                <a:spcPts val="0"/>
              </a:spcAft>
              <a:buClr>
                <a:schemeClr val="dk1"/>
              </a:buClr>
              <a:buSzPts val="2400"/>
              <a:buChar char="•"/>
            </a:pPr>
            <a:r>
              <a:rPr lang="en-US" sz="2400" dirty="0">
                <a:ea typeface="Times New Roman"/>
                <a:cs typeface="Times New Roman"/>
                <a:sym typeface="Times New Roman"/>
              </a:rPr>
              <a:t>Example: X =200, </a:t>
            </a:r>
            <a:r>
              <a:rPr lang="en-US" sz="2400" dirty="0" err="1">
                <a:ea typeface="Times New Roman"/>
                <a:cs typeface="Times New Roman"/>
                <a:sym typeface="Times New Roman"/>
              </a:rPr>
              <a:t>X</a:t>
            </a:r>
            <a:r>
              <a:rPr lang="en-US" sz="2400" baseline="-25000" dirty="0" err="1">
                <a:ea typeface="Times New Roman"/>
                <a:cs typeface="Times New Roman"/>
                <a:sym typeface="Times New Roman"/>
              </a:rPr>
              <a:t>log</a:t>
            </a:r>
            <a:r>
              <a:rPr lang="en-US" sz="2400" dirty="0">
                <a:ea typeface="Times New Roman"/>
                <a:cs typeface="Times New Roman"/>
                <a:sym typeface="Times New Roman"/>
              </a:rPr>
              <a:t> =2.30103</a:t>
            </a:r>
            <a:endParaRPr sz="24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ea typeface="Times New Roman"/>
                <a:cs typeface="Times New Roman"/>
                <a:sym typeface="Times New Roman"/>
              </a:rPr>
              <a:t>Log scaling </a:t>
            </a:r>
            <a:r>
              <a:rPr lang="en-US" dirty="0" smtClean="0">
                <a:ea typeface="Times New Roman"/>
                <a:cs typeface="Times New Roman"/>
                <a:sym typeface="Times New Roman"/>
              </a:rPr>
              <a:t>Normalization</a:t>
            </a:r>
            <a:endParaRPr lang="en-US" dirty="0"/>
          </a:p>
        </p:txBody>
      </p:sp>
      <p:sp>
        <p:nvSpPr>
          <p:cNvPr id="3" name="Text Placeholder 2"/>
          <p:cNvSpPr>
            <a:spLocks noGrp="1"/>
          </p:cNvSpPr>
          <p:nvPr>
            <p:ph idx="1"/>
          </p:nvPr>
        </p:nvSpPr>
        <p:spPr/>
        <p:txBody>
          <a:bodyPr/>
          <a:lstStyle/>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33704389"/>
              </p:ext>
            </p:extLst>
          </p:nvPr>
        </p:nvGraphicFramePr>
        <p:xfrm>
          <a:off x="1781444" y="2927057"/>
          <a:ext cx="8205440" cy="2035235"/>
        </p:xfrm>
        <a:graphic>
          <a:graphicData uri="http://schemas.openxmlformats.org/drawingml/2006/table">
            <a:tbl>
              <a:tblPr/>
              <a:tblGrid>
                <a:gridCol w="4102720"/>
                <a:gridCol w="4102720"/>
              </a:tblGrid>
              <a:tr h="407047">
                <a:tc>
                  <a:txBody>
                    <a:bodyPr/>
                    <a:lstStyle/>
                    <a:p>
                      <a:r>
                        <a:rPr lang="en-US" dirty="0"/>
                        <a:t>Value</a:t>
                      </a:r>
                    </a:p>
                  </a:txBody>
                  <a:tcPr anchor="ctr">
                    <a:lnL>
                      <a:noFill/>
                    </a:lnL>
                    <a:lnR>
                      <a:noFill/>
                    </a:lnR>
                    <a:lnT>
                      <a:noFill/>
                    </a:lnT>
                    <a:lnB>
                      <a:noFill/>
                    </a:lnB>
                    <a:solidFill>
                      <a:schemeClr val="accent1">
                        <a:lumMod val="60000"/>
                        <a:lumOff val="40000"/>
                      </a:schemeClr>
                    </a:solidFill>
                  </a:tcPr>
                </a:tc>
                <a:tc>
                  <a:txBody>
                    <a:bodyPr/>
                    <a:lstStyle/>
                    <a:p>
                      <a:r>
                        <a:rPr lang="en-US"/>
                        <a:t>log10(Value)</a:t>
                      </a:r>
                    </a:p>
                  </a:txBody>
                  <a:tcPr anchor="ctr">
                    <a:lnL>
                      <a:noFill/>
                    </a:lnL>
                    <a:lnR>
                      <a:noFill/>
                    </a:lnR>
                    <a:lnT>
                      <a:noFill/>
                    </a:lnT>
                    <a:lnB>
                      <a:noFill/>
                    </a:lnB>
                    <a:solidFill>
                      <a:schemeClr val="accent1">
                        <a:lumMod val="60000"/>
                        <a:lumOff val="40000"/>
                      </a:schemeClr>
                    </a:solidFill>
                  </a:tcPr>
                </a:tc>
              </a:tr>
              <a:tr h="407047">
                <a:tc>
                  <a:txBody>
                    <a:bodyPr/>
                    <a:lstStyle/>
                    <a:p>
                      <a:r>
                        <a:rPr lang="en-US"/>
                        <a:t>10</a:t>
                      </a:r>
                    </a:p>
                  </a:txBody>
                  <a:tcPr anchor="ctr">
                    <a:lnL>
                      <a:noFill/>
                    </a:lnL>
                    <a:lnR>
                      <a:noFill/>
                    </a:lnR>
                    <a:lnT>
                      <a:noFill/>
                    </a:lnT>
                    <a:lnB>
                      <a:noFill/>
                    </a:lnB>
                    <a:solidFill>
                      <a:schemeClr val="accent1">
                        <a:lumMod val="60000"/>
                        <a:lumOff val="40000"/>
                      </a:schemeClr>
                    </a:solidFill>
                  </a:tcPr>
                </a:tc>
                <a:tc>
                  <a:txBody>
                    <a:bodyPr/>
                    <a:lstStyle/>
                    <a:p>
                      <a:r>
                        <a:rPr lang="en-US"/>
                        <a:t>1</a:t>
                      </a:r>
                    </a:p>
                  </a:txBody>
                  <a:tcPr anchor="ctr">
                    <a:lnL>
                      <a:noFill/>
                    </a:lnL>
                    <a:lnR>
                      <a:noFill/>
                    </a:lnR>
                    <a:lnT>
                      <a:noFill/>
                    </a:lnT>
                    <a:lnB>
                      <a:noFill/>
                    </a:lnB>
                    <a:solidFill>
                      <a:schemeClr val="accent1">
                        <a:lumMod val="60000"/>
                        <a:lumOff val="40000"/>
                      </a:schemeClr>
                    </a:solidFill>
                  </a:tcPr>
                </a:tc>
              </a:tr>
              <a:tr h="407047">
                <a:tc>
                  <a:txBody>
                    <a:bodyPr/>
                    <a:lstStyle/>
                    <a:p>
                      <a:r>
                        <a:rPr lang="en-US"/>
                        <a:t>100</a:t>
                      </a:r>
                    </a:p>
                  </a:txBody>
                  <a:tcPr anchor="ctr">
                    <a:lnL>
                      <a:noFill/>
                    </a:lnL>
                    <a:lnR>
                      <a:noFill/>
                    </a:lnR>
                    <a:lnT>
                      <a:noFill/>
                    </a:lnT>
                    <a:lnB>
                      <a:noFill/>
                    </a:lnB>
                    <a:solidFill>
                      <a:schemeClr val="accent1">
                        <a:lumMod val="60000"/>
                        <a:lumOff val="40000"/>
                      </a:schemeClr>
                    </a:solidFill>
                  </a:tcPr>
                </a:tc>
                <a:tc>
                  <a:txBody>
                    <a:bodyPr/>
                    <a:lstStyle/>
                    <a:p>
                      <a:r>
                        <a:rPr lang="en-US" dirty="0"/>
                        <a:t>2</a:t>
                      </a:r>
                    </a:p>
                  </a:txBody>
                  <a:tcPr anchor="ctr">
                    <a:lnL>
                      <a:noFill/>
                    </a:lnL>
                    <a:lnR>
                      <a:noFill/>
                    </a:lnR>
                    <a:lnT>
                      <a:noFill/>
                    </a:lnT>
                    <a:lnB>
                      <a:noFill/>
                    </a:lnB>
                    <a:solidFill>
                      <a:schemeClr val="accent1">
                        <a:lumMod val="60000"/>
                        <a:lumOff val="40000"/>
                      </a:schemeClr>
                    </a:solidFill>
                  </a:tcPr>
                </a:tc>
              </a:tr>
              <a:tr h="407047">
                <a:tc>
                  <a:txBody>
                    <a:bodyPr/>
                    <a:lstStyle/>
                    <a:p>
                      <a:r>
                        <a:rPr lang="en-US"/>
                        <a:t>1000</a:t>
                      </a:r>
                    </a:p>
                  </a:txBody>
                  <a:tcPr anchor="ctr">
                    <a:lnL>
                      <a:noFill/>
                    </a:lnL>
                    <a:lnR>
                      <a:noFill/>
                    </a:lnR>
                    <a:lnT>
                      <a:noFill/>
                    </a:lnT>
                    <a:lnB>
                      <a:noFill/>
                    </a:lnB>
                    <a:solidFill>
                      <a:schemeClr val="accent1">
                        <a:lumMod val="60000"/>
                        <a:lumOff val="40000"/>
                      </a:schemeClr>
                    </a:solidFill>
                  </a:tcPr>
                </a:tc>
                <a:tc>
                  <a:txBody>
                    <a:bodyPr/>
                    <a:lstStyle/>
                    <a:p>
                      <a:r>
                        <a:rPr lang="en-US"/>
                        <a:t>3</a:t>
                      </a:r>
                    </a:p>
                  </a:txBody>
                  <a:tcPr anchor="ctr">
                    <a:lnL>
                      <a:noFill/>
                    </a:lnL>
                    <a:lnR>
                      <a:noFill/>
                    </a:lnR>
                    <a:lnT>
                      <a:noFill/>
                    </a:lnT>
                    <a:lnB>
                      <a:noFill/>
                    </a:lnB>
                    <a:solidFill>
                      <a:schemeClr val="accent1">
                        <a:lumMod val="60000"/>
                        <a:lumOff val="40000"/>
                      </a:schemeClr>
                    </a:solidFill>
                  </a:tcPr>
                </a:tc>
              </a:tr>
              <a:tr h="407047">
                <a:tc>
                  <a:txBody>
                    <a:bodyPr/>
                    <a:lstStyle/>
                    <a:p>
                      <a:r>
                        <a:rPr lang="en-US"/>
                        <a:t>100000</a:t>
                      </a:r>
                    </a:p>
                  </a:txBody>
                  <a:tcPr anchor="ctr">
                    <a:lnL>
                      <a:noFill/>
                    </a:lnL>
                    <a:lnR>
                      <a:noFill/>
                    </a:lnR>
                    <a:lnT>
                      <a:noFill/>
                    </a:lnT>
                    <a:lnB>
                      <a:noFill/>
                    </a:lnB>
                    <a:solidFill>
                      <a:schemeClr val="accent1">
                        <a:lumMod val="60000"/>
                        <a:lumOff val="40000"/>
                      </a:schemeClr>
                    </a:solidFill>
                  </a:tcPr>
                </a:tc>
                <a:tc>
                  <a:txBody>
                    <a:bodyPr/>
                    <a:lstStyle/>
                    <a:p>
                      <a:r>
                        <a:rPr lang="en-US" dirty="0"/>
                        <a:t>5</a:t>
                      </a:r>
                    </a:p>
                  </a:txBody>
                  <a:tcPr anchor="ctr">
                    <a:lnL>
                      <a:noFill/>
                    </a:lnL>
                    <a:lnR>
                      <a:noFill/>
                    </a:lnR>
                    <a:lnT>
                      <a:noFill/>
                    </a:lnT>
                    <a:lnB>
                      <a:noFill/>
                    </a:lnB>
                    <a:solidFill>
                      <a:schemeClr val="accent1">
                        <a:lumMod val="60000"/>
                        <a:lumOff val="40000"/>
                      </a:schemeClr>
                    </a:solidFill>
                  </a:tcPr>
                </a:tc>
              </a:tr>
            </a:tbl>
          </a:graphicData>
        </a:graphic>
      </p:graphicFrame>
    </p:spTree>
    <p:extLst>
      <p:ext uri="{BB962C8B-B14F-4D97-AF65-F5344CB8AC3E}">
        <p14:creationId xmlns:p14="http://schemas.microsoft.com/office/powerpoint/2010/main" val="35172274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8"/>
          <p:cNvSpPr txBox="1">
            <a:spLocks noGrp="1"/>
          </p:cNvSpPr>
          <p:nvPr>
            <p:ph type="title"/>
          </p:nvPr>
        </p:nvSpPr>
        <p:spPr>
          <a:xfrm>
            <a:off x="1018660" y="352890"/>
            <a:ext cx="10515600" cy="50917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800"/>
              <a:buFont typeface="Calibri"/>
              <a:buNone/>
            </a:pPr>
            <a:r>
              <a:rPr lang="en-US" dirty="0">
                <a:ea typeface="Calibri"/>
                <a:cs typeface="Calibri"/>
                <a:sym typeface="Calibri"/>
              </a:rPr>
              <a:t>C</a:t>
            </a:r>
            <a:r>
              <a:rPr lang="en-US" b="0" i="0" u="none" strike="noStrike" cap="none" dirty="0">
                <a:solidFill>
                  <a:schemeClr val="dk1"/>
                </a:solidFill>
                <a:ea typeface="Calibri"/>
                <a:cs typeface="Calibri"/>
                <a:sym typeface="Calibri"/>
              </a:rPr>
              <a:t>omparison of normalization </a:t>
            </a:r>
            <a:r>
              <a:rPr lang="en-US" b="0" i="0" u="none" strike="noStrike" cap="none" dirty="0" smtClean="0">
                <a:solidFill>
                  <a:schemeClr val="dk1"/>
                </a:solidFill>
                <a:ea typeface="Calibri"/>
                <a:cs typeface="Calibri"/>
                <a:sym typeface="Calibri"/>
              </a:rPr>
              <a:t>and </a:t>
            </a:r>
            <a:r>
              <a:rPr lang="en-US" b="0" i="0" u="none" strike="noStrike" cap="none" dirty="0">
                <a:solidFill>
                  <a:schemeClr val="dk1"/>
                </a:solidFill>
                <a:ea typeface="Calibri"/>
                <a:cs typeface="Calibri"/>
                <a:sym typeface="Calibri"/>
              </a:rPr>
              <a:t>standardization</a:t>
            </a:r>
            <a:endParaRPr dirty="0"/>
          </a:p>
        </p:txBody>
      </p:sp>
      <p:graphicFrame>
        <p:nvGraphicFramePr>
          <p:cNvPr id="265" name="Google Shape;265;p28"/>
          <p:cNvGraphicFramePr/>
          <p:nvPr>
            <p:extLst>
              <p:ext uri="{D42A27DB-BD31-4B8C-83A1-F6EECF244321}">
                <p14:modId xmlns:p14="http://schemas.microsoft.com/office/powerpoint/2010/main" val="2346802358"/>
              </p:ext>
            </p:extLst>
          </p:nvPr>
        </p:nvGraphicFramePr>
        <p:xfrm>
          <a:off x="838200" y="943976"/>
          <a:ext cx="10696060" cy="5500087"/>
        </p:xfrm>
        <a:graphic>
          <a:graphicData uri="http://schemas.openxmlformats.org/drawingml/2006/table">
            <a:tbl>
              <a:tblPr firstRow="1" firstCol="1" bandRow="1">
                <a:noFill/>
                <a:tableStyleId>{BF00C7D5-8C73-40C0-9A0A-1D9064C391A0}</a:tableStyleId>
              </a:tblPr>
              <a:tblGrid>
                <a:gridCol w="5348030"/>
                <a:gridCol w="5348030"/>
              </a:tblGrid>
              <a:tr h="350315">
                <a:tc>
                  <a:txBody>
                    <a:bodyPr/>
                    <a:lstStyle/>
                    <a:p>
                      <a:pPr marL="0" marR="0" lvl="0" indent="0" algn="ctr" rtl="0">
                        <a:lnSpc>
                          <a:spcPct val="107000"/>
                        </a:lnSpc>
                        <a:spcBef>
                          <a:spcPts val="0"/>
                        </a:spcBef>
                        <a:spcAft>
                          <a:spcPts val="0"/>
                        </a:spcAft>
                        <a:buNone/>
                      </a:pPr>
                      <a:r>
                        <a:rPr lang="en-US" sz="1600" b="0" u="none" strike="noStrike" cap="none" dirty="0">
                          <a:latin typeface="+mn-lt"/>
                        </a:rPr>
                        <a:t>Normalization</a:t>
                      </a:r>
                      <a:endParaRPr sz="1600" b="0" u="none" strike="noStrike" cap="none" dirty="0">
                        <a:latin typeface="+mn-lt"/>
                        <a:ea typeface="Calibri"/>
                        <a:cs typeface="Calibri"/>
                        <a:sym typeface="Calibri"/>
                      </a:endParaRPr>
                    </a:p>
                  </a:txBody>
                  <a:tcPr marL="9525" marR="9525" marT="9525" marB="9525" anchor="ctr"/>
                </a:tc>
                <a:tc>
                  <a:txBody>
                    <a:bodyPr/>
                    <a:lstStyle/>
                    <a:p>
                      <a:pPr marL="0" marR="0" lvl="0" indent="0" algn="ctr" rtl="0">
                        <a:lnSpc>
                          <a:spcPct val="107000"/>
                        </a:lnSpc>
                        <a:spcBef>
                          <a:spcPts val="0"/>
                        </a:spcBef>
                        <a:spcAft>
                          <a:spcPts val="0"/>
                        </a:spcAft>
                        <a:buNone/>
                      </a:pPr>
                      <a:r>
                        <a:rPr lang="en-US" sz="1600" b="0" u="none" strike="noStrike" cap="none">
                          <a:latin typeface="+mn-lt"/>
                        </a:rPr>
                        <a:t>Standardization</a:t>
                      </a:r>
                      <a:endParaRPr sz="1600" b="0" u="none" strike="noStrike" cap="none">
                        <a:latin typeface="+mn-lt"/>
                        <a:ea typeface="Calibri"/>
                        <a:cs typeface="Calibri"/>
                        <a:sym typeface="Calibri"/>
                      </a:endParaRPr>
                    </a:p>
                  </a:txBody>
                  <a:tcPr marL="9525" marR="9525" marT="9525" marB="9525" anchor="ctr"/>
                </a:tc>
              </a:tr>
              <a:tr h="682958">
                <a:tc>
                  <a:txBody>
                    <a:bodyPr/>
                    <a:lstStyle/>
                    <a:p>
                      <a:pPr marL="0" marR="0" lvl="0" indent="0" algn="l" rtl="0">
                        <a:lnSpc>
                          <a:spcPct val="107000"/>
                        </a:lnSpc>
                        <a:spcBef>
                          <a:spcPts val="0"/>
                        </a:spcBef>
                        <a:spcAft>
                          <a:spcPts val="0"/>
                        </a:spcAft>
                        <a:buNone/>
                      </a:pPr>
                      <a:r>
                        <a:rPr lang="en-US" sz="1800" b="0" u="none" strike="noStrike" cap="none">
                          <a:latin typeface="+mn-lt"/>
                        </a:rPr>
                        <a:t>The objective is to bring the values of a feature within a specific range, often between 0 and 1</a:t>
                      </a:r>
                      <a:endParaRPr sz="1800" b="0" u="none" strike="noStrike" cap="none">
                        <a:latin typeface="+mn-lt"/>
                        <a:ea typeface="Calibri"/>
                        <a:cs typeface="Calibri"/>
                        <a:sym typeface="Calibri"/>
                      </a:endParaRPr>
                    </a:p>
                  </a:txBody>
                  <a:tcPr marL="9525" marR="9525" marT="9525" marB="9525" anchor="ctr"/>
                </a:tc>
                <a:tc>
                  <a:txBody>
                    <a:bodyPr/>
                    <a:lstStyle/>
                    <a:p>
                      <a:pPr marL="0" marR="0" lvl="0" indent="0" algn="l" rtl="0">
                        <a:lnSpc>
                          <a:spcPct val="107000"/>
                        </a:lnSpc>
                        <a:spcBef>
                          <a:spcPts val="0"/>
                        </a:spcBef>
                        <a:spcAft>
                          <a:spcPts val="0"/>
                        </a:spcAft>
                        <a:buNone/>
                      </a:pPr>
                      <a:r>
                        <a:rPr lang="en-US" sz="1800" b="0" u="none" strike="noStrike" cap="none">
                          <a:latin typeface="+mn-lt"/>
                        </a:rPr>
                        <a:t>The objective is to transform the values of a feature to have a mean of 0 and a standard deviation of 1</a:t>
                      </a:r>
                      <a:endParaRPr sz="1800" b="0" u="none" strike="noStrike" cap="none">
                        <a:latin typeface="+mn-lt"/>
                        <a:ea typeface="Calibri"/>
                        <a:cs typeface="Calibri"/>
                        <a:sym typeface="Calibri"/>
                      </a:endParaRPr>
                    </a:p>
                  </a:txBody>
                  <a:tcPr marL="9525" marR="9525" marT="9525" marB="9525" anchor="ctr"/>
                </a:tc>
              </a:tr>
              <a:tr h="538859">
                <a:tc>
                  <a:txBody>
                    <a:bodyPr/>
                    <a:lstStyle/>
                    <a:p>
                      <a:pPr marL="0" marR="0" lvl="0" indent="0" algn="l" rtl="0">
                        <a:lnSpc>
                          <a:spcPct val="107000"/>
                        </a:lnSpc>
                        <a:spcBef>
                          <a:spcPts val="0"/>
                        </a:spcBef>
                        <a:spcAft>
                          <a:spcPts val="0"/>
                        </a:spcAft>
                        <a:buNone/>
                      </a:pPr>
                      <a:r>
                        <a:rPr lang="en-US" sz="1800" b="0" u="none" strike="noStrike" cap="none" dirty="0">
                          <a:latin typeface="+mn-lt"/>
                        </a:rPr>
                        <a:t>Sensitive to outliers and the range of the data</a:t>
                      </a:r>
                      <a:endParaRPr sz="1800" b="0" u="none" strike="noStrike" cap="none" dirty="0">
                        <a:latin typeface="+mn-lt"/>
                        <a:ea typeface="Calibri"/>
                        <a:cs typeface="Calibri"/>
                        <a:sym typeface="Calibri"/>
                      </a:endParaRPr>
                    </a:p>
                  </a:txBody>
                  <a:tcPr marL="9525" marR="9525" marT="9525" marB="9525" anchor="ctr"/>
                </a:tc>
                <a:tc>
                  <a:txBody>
                    <a:bodyPr/>
                    <a:lstStyle/>
                    <a:p>
                      <a:pPr marL="0" marR="0" lvl="0" indent="0" algn="l" rtl="0">
                        <a:lnSpc>
                          <a:spcPct val="107000"/>
                        </a:lnSpc>
                        <a:spcBef>
                          <a:spcPts val="0"/>
                        </a:spcBef>
                        <a:spcAft>
                          <a:spcPts val="0"/>
                        </a:spcAft>
                        <a:buNone/>
                      </a:pPr>
                      <a:r>
                        <a:rPr lang="en-US" sz="1800" b="0" u="none" strike="noStrike" cap="none">
                          <a:latin typeface="+mn-lt"/>
                        </a:rPr>
                        <a:t>Less sensitive to outliers due to the use of the mean and standard deviation</a:t>
                      </a:r>
                      <a:endParaRPr sz="1800" b="0" u="none" strike="noStrike" cap="none">
                        <a:latin typeface="+mn-lt"/>
                        <a:ea typeface="Calibri"/>
                        <a:cs typeface="Calibri"/>
                        <a:sym typeface="Calibri"/>
                      </a:endParaRPr>
                    </a:p>
                  </a:txBody>
                  <a:tcPr marL="9525" marR="9525" marT="9525" marB="9525" anchor="ctr"/>
                </a:tc>
              </a:tr>
              <a:tr h="538859">
                <a:tc>
                  <a:txBody>
                    <a:bodyPr/>
                    <a:lstStyle/>
                    <a:p>
                      <a:pPr marL="0" marR="0" lvl="0" indent="0" algn="l" rtl="0">
                        <a:lnSpc>
                          <a:spcPct val="107000"/>
                        </a:lnSpc>
                        <a:spcBef>
                          <a:spcPts val="0"/>
                        </a:spcBef>
                        <a:spcAft>
                          <a:spcPts val="0"/>
                        </a:spcAft>
                        <a:buNone/>
                      </a:pPr>
                      <a:r>
                        <a:rPr lang="en-US" sz="1800" b="0" u="none" strike="noStrike" cap="none">
                          <a:latin typeface="+mn-lt"/>
                        </a:rPr>
                        <a:t>Useful when maintaining the original range is essential</a:t>
                      </a:r>
                      <a:endParaRPr sz="1800" b="0" u="none" strike="noStrike" cap="none">
                        <a:latin typeface="+mn-lt"/>
                        <a:ea typeface="Calibri"/>
                        <a:cs typeface="Calibri"/>
                        <a:sym typeface="Calibri"/>
                      </a:endParaRPr>
                    </a:p>
                  </a:txBody>
                  <a:tcPr marL="9525" marR="9525" marT="9525" marB="9525" anchor="ctr"/>
                </a:tc>
                <a:tc>
                  <a:txBody>
                    <a:bodyPr/>
                    <a:lstStyle/>
                    <a:p>
                      <a:pPr marL="0" marR="0" lvl="0" indent="0" algn="l" rtl="0">
                        <a:lnSpc>
                          <a:spcPct val="107000"/>
                        </a:lnSpc>
                        <a:spcBef>
                          <a:spcPts val="0"/>
                        </a:spcBef>
                        <a:spcAft>
                          <a:spcPts val="0"/>
                        </a:spcAft>
                        <a:buNone/>
                      </a:pPr>
                      <a:r>
                        <a:rPr lang="en-US" sz="1800" b="0" u="none" strike="noStrike" cap="none" dirty="0">
                          <a:latin typeface="+mn-lt"/>
                        </a:rPr>
                        <a:t>Effective when algorithms assume a standard normal distribution</a:t>
                      </a:r>
                      <a:endParaRPr sz="1800" b="0" u="none" strike="noStrike" cap="none" dirty="0">
                        <a:latin typeface="+mn-lt"/>
                        <a:ea typeface="Calibri"/>
                        <a:cs typeface="Calibri"/>
                        <a:sym typeface="Calibri"/>
                      </a:endParaRPr>
                    </a:p>
                  </a:txBody>
                  <a:tcPr marL="9525" marR="9525" marT="9525" marB="9525" anchor="ctr"/>
                </a:tc>
              </a:tr>
              <a:tr h="350315">
                <a:tc>
                  <a:txBody>
                    <a:bodyPr/>
                    <a:lstStyle/>
                    <a:p>
                      <a:pPr marL="0" marR="0" lvl="0" indent="0" algn="l" rtl="0">
                        <a:lnSpc>
                          <a:spcPct val="107000"/>
                        </a:lnSpc>
                        <a:spcBef>
                          <a:spcPts val="0"/>
                        </a:spcBef>
                        <a:spcAft>
                          <a:spcPts val="0"/>
                        </a:spcAft>
                        <a:buNone/>
                      </a:pPr>
                      <a:r>
                        <a:rPr lang="en-US" sz="1800" b="0" u="none" strike="noStrike" cap="none">
                          <a:latin typeface="+mn-lt"/>
                        </a:rPr>
                        <a:t>No assumption about the distribution of data is made</a:t>
                      </a:r>
                      <a:endParaRPr sz="1800" b="0" u="none" strike="noStrike" cap="none">
                        <a:latin typeface="+mn-lt"/>
                        <a:ea typeface="Calibri"/>
                        <a:cs typeface="Calibri"/>
                        <a:sym typeface="Calibri"/>
                      </a:endParaRPr>
                    </a:p>
                  </a:txBody>
                  <a:tcPr marL="9525" marR="9525" marT="9525" marB="9525" anchor="ctr"/>
                </a:tc>
                <a:tc>
                  <a:txBody>
                    <a:bodyPr/>
                    <a:lstStyle/>
                    <a:p>
                      <a:pPr marL="0" marR="0" lvl="0" indent="0" algn="l" rtl="0">
                        <a:lnSpc>
                          <a:spcPct val="107000"/>
                        </a:lnSpc>
                        <a:spcBef>
                          <a:spcPts val="0"/>
                        </a:spcBef>
                        <a:spcAft>
                          <a:spcPts val="0"/>
                        </a:spcAft>
                        <a:buNone/>
                      </a:pPr>
                      <a:r>
                        <a:rPr lang="en-US" sz="1800" b="0" u="none" strike="noStrike" cap="none">
                          <a:latin typeface="+mn-lt"/>
                        </a:rPr>
                        <a:t>Assumes a normal distribution or close approximation</a:t>
                      </a:r>
                      <a:endParaRPr sz="1800" b="0" u="none" strike="noStrike" cap="none">
                        <a:latin typeface="+mn-lt"/>
                        <a:ea typeface="Calibri"/>
                        <a:cs typeface="Calibri"/>
                        <a:sym typeface="Calibri"/>
                      </a:endParaRPr>
                    </a:p>
                  </a:txBody>
                  <a:tcPr marL="9525" marR="9525" marT="9525" marB="9525" anchor="ctr"/>
                </a:tc>
              </a:tr>
              <a:tr h="799820">
                <a:tc>
                  <a:txBody>
                    <a:bodyPr/>
                    <a:lstStyle/>
                    <a:p>
                      <a:pPr marL="0" marR="0" lvl="0" indent="0" algn="l" rtl="0">
                        <a:lnSpc>
                          <a:spcPct val="107000"/>
                        </a:lnSpc>
                        <a:spcBef>
                          <a:spcPts val="0"/>
                        </a:spcBef>
                        <a:spcAft>
                          <a:spcPts val="0"/>
                        </a:spcAft>
                        <a:buNone/>
                      </a:pPr>
                      <a:r>
                        <a:rPr lang="en-US" sz="1800" b="0" u="none" strike="noStrike" cap="none">
                          <a:latin typeface="+mn-lt"/>
                        </a:rPr>
                        <a:t>Suitable for algorithms where the absolute values and their relations are important (e.g., k-nearest neighbors, neural networks)</a:t>
                      </a:r>
                      <a:endParaRPr sz="1800" b="0" u="none" strike="noStrike" cap="none">
                        <a:latin typeface="+mn-lt"/>
                        <a:ea typeface="Calibri"/>
                        <a:cs typeface="Calibri"/>
                        <a:sym typeface="Calibri"/>
                      </a:endParaRPr>
                    </a:p>
                  </a:txBody>
                  <a:tcPr marL="9525" marR="9525" marT="9525" marB="9525" anchor="ctr"/>
                </a:tc>
                <a:tc>
                  <a:txBody>
                    <a:bodyPr/>
                    <a:lstStyle/>
                    <a:p>
                      <a:pPr marL="0" marR="0" lvl="0" indent="0" algn="l" rtl="0">
                        <a:lnSpc>
                          <a:spcPct val="107000"/>
                        </a:lnSpc>
                        <a:spcBef>
                          <a:spcPts val="0"/>
                        </a:spcBef>
                        <a:spcAft>
                          <a:spcPts val="0"/>
                        </a:spcAft>
                        <a:buNone/>
                      </a:pPr>
                      <a:r>
                        <a:rPr lang="en-US" sz="1800" b="0" u="none" strike="noStrike" cap="none">
                          <a:latin typeface="+mn-lt"/>
                        </a:rPr>
                        <a:t>It is particularly useful for algorithms that assume normally distributed data, such as linear regression and support vector machines.</a:t>
                      </a:r>
                      <a:endParaRPr sz="1800" b="0" u="none" strike="noStrike" cap="none">
                        <a:latin typeface="+mn-lt"/>
                        <a:ea typeface="Calibri"/>
                        <a:cs typeface="Calibri"/>
                        <a:sym typeface="Calibri"/>
                      </a:endParaRPr>
                    </a:p>
                  </a:txBody>
                  <a:tcPr marL="9525" marR="9525" marT="9525" marB="9525" anchor="ctr"/>
                </a:tc>
              </a:tr>
              <a:tr h="682958">
                <a:tc>
                  <a:txBody>
                    <a:bodyPr/>
                    <a:lstStyle/>
                    <a:p>
                      <a:pPr marL="0" marR="0" lvl="0" indent="0" algn="l" rtl="0">
                        <a:lnSpc>
                          <a:spcPct val="107000"/>
                        </a:lnSpc>
                        <a:spcBef>
                          <a:spcPts val="0"/>
                        </a:spcBef>
                        <a:spcAft>
                          <a:spcPts val="0"/>
                        </a:spcAft>
                        <a:buNone/>
                      </a:pPr>
                      <a:r>
                        <a:rPr lang="en-US" sz="1800" b="0" u="none" strike="noStrike" cap="none">
                          <a:latin typeface="+mn-lt"/>
                        </a:rPr>
                        <a:t>Maintains the interpretability of the original values within the specified range</a:t>
                      </a:r>
                      <a:endParaRPr sz="1800" b="0" u="none" strike="noStrike" cap="none">
                        <a:latin typeface="+mn-lt"/>
                        <a:ea typeface="Calibri"/>
                        <a:cs typeface="Calibri"/>
                        <a:sym typeface="Calibri"/>
                      </a:endParaRPr>
                    </a:p>
                  </a:txBody>
                  <a:tcPr marL="9525" marR="9525" marT="9525" marB="9525" anchor="ctr"/>
                </a:tc>
                <a:tc>
                  <a:txBody>
                    <a:bodyPr/>
                    <a:lstStyle/>
                    <a:p>
                      <a:pPr marL="0" marR="0" lvl="0" indent="0" algn="l" rtl="0">
                        <a:lnSpc>
                          <a:spcPct val="107000"/>
                        </a:lnSpc>
                        <a:spcBef>
                          <a:spcPts val="0"/>
                        </a:spcBef>
                        <a:spcAft>
                          <a:spcPts val="0"/>
                        </a:spcAft>
                        <a:buNone/>
                      </a:pPr>
                      <a:r>
                        <a:rPr lang="en-US" sz="1800" b="0" u="none" strike="noStrike" cap="none">
                          <a:latin typeface="+mn-lt"/>
                        </a:rPr>
                        <a:t>Alters the original values, making interpretation more challenging due to the shift in scale and units</a:t>
                      </a:r>
                      <a:endParaRPr sz="1800" b="0" u="none" strike="noStrike" cap="none">
                        <a:latin typeface="+mn-lt"/>
                        <a:ea typeface="Calibri"/>
                        <a:cs typeface="Calibri"/>
                        <a:sym typeface="Calibri"/>
                      </a:endParaRPr>
                    </a:p>
                  </a:txBody>
                  <a:tcPr marL="9525" marR="9525" marT="9525" marB="9525" anchor="ctr"/>
                </a:tc>
              </a:tr>
              <a:tr h="682958">
                <a:tc>
                  <a:txBody>
                    <a:bodyPr/>
                    <a:lstStyle/>
                    <a:p>
                      <a:pPr marL="0" marR="0" lvl="0" indent="0" algn="l" rtl="0">
                        <a:lnSpc>
                          <a:spcPct val="107000"/>
                        </a:lnSpc>
                        <a:spcBef>
                          <a:spcPts val="0"/>
                        </a:spcBef>
                        <a:spcAft>
                          <a:spcPts val="0"/>
                        </a:spcAft>
                        <a:buNone/>
                      </a:pPr>
                      <a:r>
                        <a:rPr lang="en-US" sz="1800" b="0" u="none" strike="noStrike" cap="none">
                          <a:latin typeface="+mn-lt"/>
                        </a:rPr>
                        <a:t>This can lead to faster convergence, especially in algorithms that rely on gradient descent</a:t>
                      </a:r>
                      <a:endParaRPr sz="1800" b="0" u="none" strike="noStrike" cap="none">
                        <a:latin typeface="+mn-lt"/>
                        <a:ea typeface="Calibri"/>
                        <a:cs typeface="Calibri"/>
                        <a:sym typeface="Calibri"/>
                      </a:endParaRPr>
                    </a:p>
                  </a:txBody>
                  <a:tcPr marL="9525" marR="9525" marT="9525" marB="9525" anchor="ctr"/>
                </a:tc>
                <a:tc>
                  <a:txBody>
                    <a:bodyPr/>
                    <a:lstStyle/>
                    <a:p>
                      <a:pPr marL="0" marR="0" lvl="0" indent="0" algn="l" rtl="0">
                        <a:lnSpc>
                          <a:spcPct val="107000"/>
                        </a:lnSpc>
                        <a:spcBef>
                          <a:spcPts val="0"/>
                        </a:spcBef>
                        <a:spcAft>
                          <a:spcPts val="0"/>
                        </a:spcAft>
                        <a:buNone/>
                      </a:pPr>
                      <a:r>
                        <a:rPr lang="en-US" sz="1800" b="0" u="none" strike="noStrike" cap="none">
                          <a:latin typeface="+mn-lt"/>
                        </a:rPr>
                        <a:t>It also contributes to faster convergence, particularly in algorithms sensitive to the scale of input features.</a:t>
                      </a:r>
                      <a:endParaRPr sz="1800" b="0" u="none" strike="noStrike" cap="none">
                        <a:latin typeface="+mn-lt"/>
                        <a:ea typeface="Calibri"/>
                        <a:cs typeface="Calibri"/>
                        <a:sym typeface="Calibri"/>
                      </a:endParaRPr>
                    </a:p>
                  </a:txBody>
                  <a:tcPr marL="9525" marR="9525" marT="9525" marB="9525" anchor="ctr"/>
                </a:tc>
              </a:tr>
              <a:tr h="682958">
                <a:tc>
                  <a:txBody>
                    <a:bodyPr/>
                    <a:lstStyle/>
                    <a:p>
                      <a:pPr marL="0" marR="0" lvl="0" indent="0" algn="l" rtl="0">
                        <a:lnSpc>
                          <a:spcPct val="107000"/>
                        </a:lnSpc>
                        <a:spcBef>
                          <a:spcPts val="0"/>
                        </a:spcBef>
                        <a:spcAft>
                          <a:spcPts val="0"/>
                        </a:spcAft>
                        <a:buNone/>
                      </a:pPr>
                      <a:r>
                        <a:rPr lang="en-US" sz="1800" b="0" u="none" strike="noStrike" cap="none">
                          <a:latin typeface="+mn-lt"/>
                        </a:rPr>
                        <a:t>Use cases: Image processing, neural networks, algorithms sensitive to feature scales</a:t>
                      </a:r>
                      <a:endParaRPr sz="1800" b="0" u="none" strike="noStrike" cap="none">
                        <a:latin typeface="+mn-lt"/>
                        <a:ea typeface="Calibri"/>
                        <a:cs typeface="Calibri"/>
                        <a:sym typeface="Calibri"/>
                      </a:endParaRPr>
                    </a:p>
                  </a:txBody>
                  <a:tcPr marL="9525" marR="9525" marT="9525" marB="9525" anchor="ctr"/>
                </a:tc>
                <a:tc>
                  <a:txBody>
                    <a:bodyPr/>
                    <a:lstStyle/>
                    <a:p>
                      <a:pPr marL="0" marR="0" lvl="0" indent="0" algn="l" rtl="0">
                        <a:lnSpc>
                          <a:spcPct val="107000"/>
                        </a:lnSpc>
                        <a:spcBef>
                          <a:spcPts val="0"/>
                        </a:spcBef>
                        <a:spcAft>
                          <a:spcPts val="0"/>
                        </a:spcAft>
                        <a:buNone/>
                      </a:pPr>
                      <a:r>
                        <a:rPr lang="en-US" sz="1800" b="0" u="none" strike="noStrike" cap="none" dirty="0">
                          <a:latin typeface="+mn-lt"/>
                        </a:rPr>
                        <a:t>Use cases: Linear regression, support vector machines, algorithms assuming a normal distribution</a:t>
                      </a:r>
                      <a:endParaRPr sz="1800" b="0" u="none" strike="noStrike" cap="none" dirty="0">
                        <a:latin typeface="+mn-lt"/>
                        <a:ea typeface="Calibri"/>
                        <a:cs typeface="Calibri"/>
                        <a:sym typeface="Calibri"/>
                      </a:endParaRPr>
                    </a:p>
                  </a:txBody>
                  <a:tcPr marL="9525" marR="9525" marT="9525" marB="9525" anchor="ctr"/>
                </a:tc>
              </a:tr>
            </a:tbl>
          </a:graphicData>
        </a:graphic>
      </p:graphicFrame>
      <p:sp>
        <p:nvSpPr>
          <p:cNvPr id="266" name="Google Shape;266;p28"/>
          <p:cNvSpPr/>
          <p:nvPr/>
        </p:nvSpPr>
        <p:spPr>
          <a:xfrm>
            <a:off x="2847474" y="88126"/>
            <a:ext cx="223138" cy="276999"/>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a:t>
            </a:r>
            <a:endParaRPr sz="18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9"/>
          <p:cNvSpPr txBox="1">
            <a:spLocks noGrp="1"/>
          </p:cNvSpPr>
          <p:nvPr>
            <p:ph type="title"/>
          </p:nvPr>
        </p:nvSpPr>
        <p:spPr>
          <a:xfrm>
            <a:off x="1427356" y="274638"/>
            <a:ext cx="9656956"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en-US" dirty="0" smtClean="0"/>
              <a:t>Which procedure is appropriate</a:t>
            </a:r>
            <a:endParaRPr dirty="0"/>
          </a:p>
        </p:txBody>
      </p:sp>
      <p:sp>
        <p:nvSpPr>
          <p:cNvPr id="272" name="Google Shape;272;p29"/>
          <p:cNvSpPr txBox="1">
            <a:spLocks noGrp="1"/>
          </p:cNvSpPr>
          <p:nvPr>
            <p:ph idx="1"/>
          </p:nvPr>
        </p:nvSpPr>
        <p:spPr>
          <a:xfrm>
            <a:off x="1427356" y="1600201"/>
            <a:ext cx="9746166"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000"/>
              <a:buChar char="•"/>
            </a:pPr>
            <a:r>
              <a:rPr lang="en-US" sz="2400" dirty="0"/>
              <a:t>It is difficult to say when to use any kind of transformation. Depending on the type of problem.</a:t>
            </a:r>
            <a:endParaRPr sz="2400" dirty="0"/>
          </a:p>
          <a:p>
            <a:pPr marL="342900" lvl="0" indent="-342900" algn="l" rtl="0">
              <a:lnSpc>
                <a:spcPct val="100000"/>
              </a:lnSpc>
              <a:spcBef>
                <a:spcPts val="400"/>
              </a:spcBef>
              <a:spcAft>
                <a:spcPts val="0"/>
              </a:spcAft>
              <a:buClr>
                <a:schemeClr val="dk1"/>
              </a:buClr>
              <a:buSzPts val="2000"/>
              <a:buChar char="•"/>
            </a:pPr>
            <a:r>
              <a:rPr lang="en-US" sz="2400" dirty="0"/>
              <a:t>Data scaling is very important in case of distance based algorithms like SVM, KNN, clustering etc. </a:t>
            </a:r>
            <a:endParaRPr sz="2400" dirty="0"/>
          </a:p>
          <a:p>
            <a:pPr marL="342900" lvl="0" indent="-342900" algn="l" rtl="0">
              <a:lnSpc>
                <a:spcPct val="100000"/>
              </a:lnSpc>
              <a:spcBef>
                <a:spcPts val="400"/>
              </a:spcBef>
              <a:spcAft>
                <a:spcPts val="0"/>
              </a:spcAft>
              <a:buClr>
                <a:schemeClr val="dk1"/>
              </a:buClr>
              <a:buSzPts val="2000"/>
              <a:buChar char="•"/>
            </a:pPr>
            <a:r>
              <a:rPr lang="en-US" sz="2400" dirty="0"/>
              <a:t>On the other hand, non-distance based algorithm is not very important in case of naive-</a:t>
            </a:r>
            <a:r>
              <a:rPr lang="en-US" sz="2400" dirty="0" err="1"/>
              <a:t>bayes</a:t>
            </a:r>
            <a:r>
              <a:rPr lang="en-US" sz="2400" dirty="0"/>
              <a:t>, various tree based algorithms.</a:t>
            </a:r>
            <a:endParaRPr sz="2400" dirty="0"/>
          </a:p>
          <a:p>
            <a:pPr marL="342900" lvl="0" indent="-342900" algn="l" rtl="0">
              <a:lnSpc>
                <a:spcPct val="100000"/>
              </a:lnSpc>
              <a:spcBef>
                <a:spcPts val="400"/>
              </a:spcBef>
              <a:spcAft>
                <a:spcPts val="0"/>
              </a:spcAft>
              <a:buClr>
                <a:schemeClr val="dk1"/>
              </a:buClr>
              <a:buSzPts val="2000"/>
              <a:buChar char="•"/>
            </a:pPr>
            <a:r>
              <a:rPr lang="en-US" sz="2400" dirty="0"/>
              <a:t>The normalization brings the data on a scale from 0 to 1 Standardization, </a:t>
            </a:r>
            <a:endParaRPr sz="2400" dirty="0"/>
          </a:p>
          <a:p>
            <a:pPr marL="342900" lvl="0" indent="-342900" algn="l" rtl="0">
              <a:lnSpc>
                <a:spcPct val="100000"/>
              </a:lnSpc>
              <a:spcBef>
                <a:spcPts val="400"/>
              </a:spcBef>
              <a:spcAft>
                <a:spcPts val="0"/>
              </a:spcAft>
              <a:buClr>
                <a:schemeClr val="dk1"/>
              </a:buClr>
              <a:buSzPts val="2000"/>
              <a:buChar char="•"/>
            </a:pPr>
            <a:r>
              <a:rPr lang="en-US" sz="2400" dirty="0"/>
              <a:t>on the other hand, brings data within Min 0 and Standard Deviation 1.</a:t>
            </a:r>
            <a:endParaRPr sz="2400" dirty="0"/>
          </a:p>
          <a:p>
            <a:pPr marL="342900" lvl="0" indent="-342900" algn="l" rtl="0">
              <a:lnSpc>
                <a:spcPct val="100000"/>
              </a:lnSpc>
              <a:spcBef>
                <a:spcPts val="400"/>
              </a:spcBef>
              <a:spcAft>
                <a:spcPts val="0"/>
              </a:spcAft>
              <a:buClr>
                <a:schemeClr val="dk1"/>
              </a:buClr>
              <a:buSzPts val="2000"/>
              <a:buChar char="•"/>
            </a:pPr>
            <a:r>
              <a:rPr lang="en-US" sz="2400" dirty="0"/>
              <a:t>Normalization can be used if there is a large difference in the range of values ​​of the dataset feature.</a:t>
            </a:r>
            <a:endParaRPr sz="2400" dirty="0"/>
          </a:p>
          <a:p>
            <a:pPr marL="342900" lvl="0" indent="-342900" algn="l" rtl="0">
              <a:lnSpc>
                <a:spcPct val="100000"/>
              </a:lnSpc>
              <a:spcBef>
                <a:spcPts val="400"/>
              </a:spcBef>
              <a:spcAft>
                <a:spcPts val="0"/>
              </a:spcAft>
              <a:buClr>
                <a:schemeClr val="dk1"/>
              </a:buClr>
              <a:buSzPts val="2000"/>
              <a:buChar char="•"/>
            </a:pPr>
            <a:r>
              <a:rPr lang="en-US" sz="2400" dirty="0"/>
              <a:t>Standardization works well if there is an outlier in the data.</a:t>
            </a:r>
            <a:endParaRPr sz="2400" dirty="0"/>
          </a:p>
          <a:p>
            <a:pPr marL="342900" lvl="0" indent="-342900" algn="l" rtl="0">
              <a:lnSpc>
                <a:spcPct val="100000"/>
              </a:lnSpc>
              <a:spcBef>
                <a:spcPts val="400"/>
              </a:spcBef>
              <a:spcAft>
                <a:spcPts val="0"/>
              </a:spcAft>
              <a:buClr>
                <a:schemeClr val="dk1"/>
              </a:buClr>
              <a:buSzPts val="2000"/>
              <a:buChar char="•"/>
            </a:pPr>
            <a:r>
              <a:rPr lang="en-US" sz="2400" dirty="0"/>
              <a:t>However, in most cases, standardization works well overall.</a:t>
            </a:r>
            <a:endParaRPr sz="24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0"/>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ct val="100000"/>
              <a:buFont typeface="Times New Roman"/>
              <a:buNone/>
            </a:pPr>
            <a:r>
              <a:rPr lang="en-US" b="1" dirty="0">
                <a:ea typeface="Times New Roman"/>
                <a:cs typeface="Times New Roman"/>
                <a:sym typeface="Times New Roman"/>
              </a:rPr>
              <a:t>		</a:t>
            </a:r>
            <a:br>
              <a:rPr lang="en-US" b="1" dirty="0">
                <a:ea typeface="Times New Roman"/>
                <a:cs typeface="Times New Roman"/>
                <a:sym typeface="Times New Roman"/>
              </a:rPr>
            </a:br>
            <a:r>
              <a:rPr lang="en-US" b="1" dirty="0">
                <a:ea typeface="Times New Roman"/>
                <a:cs typeface="Times New Roman"/>
                <a:sym typeface="Times New Roman"/>
              </a:rPr>
              <a:t>		</a:t>
            </a:r>
            <a:r>
              <a:rPr lang="en-US" dirty="0">
                <a:ea typeface="Times New Roman"/>
                <a:cs typeface="Times New Roman"/>
                <a:sym typeface="Times New Roman"/>
              </a:rPr>
              <a:t>Feature Construction</a:t>
            </a:r>
            <a:r>
              <a:rPr lang="en-US" dirty="0">
                <a:ea typeface="Calibri"/>
                <a:cs typeface="Calibri"/>
                <a:sym typeface="Calibri"/>
              </a:rPr>
              <a:t/>
            </a:r>
            <a:br>
              <a:rPr lang="en-US" dirty="0">
                <a:ea typeface="Calibri"/>
                <a:cs typeface="Calibri"/>
                <a:sym typeface="Calibri"/>
              </a:rPr>
            </a:br>
            <a:endParaRPr dirty="0"/>
          </a:p>
        </p:txBody>
      </p:sp>
      <p:sp>
        <p:nvSpPr>
          <p:cNvPr id="278" name="Google Shape;278;p30"/>
          <p:cNvSpPr txBox="1">
            <a:spLocks noGrp="1"/>
          </p:cNvSpPr>
          <p:nvPr>
            <p:ph idx="1"/>
          </p:nvPr>
        </p:nvSpPr>
        <p:spPr>
          <a:xfrm>
            <a:off x="838200" y="1179095"/>
            <a:ext cx="10515600" cy="4997868"/>
          </a:xfrm>
          <a:prstGeom prst="rect">
            <a:avLst/>
          </a:prstGeom>
          <a:noFill/>
          <a:ln>
            <a:noFill/>
          </a:ln>
        </p:spPr>
        <p:txBody>
          <a:bodyPr spcFirstLastPara="1" wrap="square" lIns="91425" tIns="45700" rIns="91425" bIns="45700" anchor="t" anchorCtr="0">
            <a:normAutofit/>
          </a:bodyPr>
          <a:lstStyle/>
          <a:p>
            <a:pPr marL="0" marR="0" lvl="0" indent="0" algn="l" rtl="0">
              <a:lnSpc>
                <a:spcPct val="107000"/>
              </a:lnSpc>
              <a:spcBef>
                <a:spcPts val="0"/>
              </a:spcBef>
              <a:spcAft>
                <a:spcPts val="0"/>
              </a:spcAft>
              <a:buClr>
                <a:schemeClr val="dk1"/>
              </a:buClr>
              <a:buSzPts val="1800"/>
              <a:buNone/>
            </a:pPr>
            <a:r>
              <a:rPr lang="en-US" sz="2400" b="1" dirty="0">
                <a:ea typeface="Times New Roman"/>
                <a:cs typeface="Times New Roman"/>
                <a:sym typeface="Times New Roman"/>
              </a:rPr>
              <a:t>The process of developing new features from existing features or upon our domain knowledge is known as feature construction.</a:t>
            </a:r>
            <a:endParaRPr sz="2400" dirty="0">
              <a:ea typeface="Calibri"/>
              <a:cs typeface="Calibri"/>
              <a:sym typeface="Calibri"/>
            </a:endParaRPr>
          </a:p>
          <a:p>
            <a:pPr marL="0" marR="0" lvl="0" indent="0" algn="l" rtl="0">
              <a:lnSpc>
                <a:spcPct val="107000"/>
              </a:lnSpc>
              <a:spcBef>
                <a:spcPts val="800"/>
              </a:spcBef>
              <a:spcAft>
                <a:spcPts val="0"/>
              </a:spcAft>
              <a:buClr>
                <a:schemeClr val="dk1"/>
              </a:buClr>
              <a:buSzPts val="1800"/>
              <a:buChar char="•"/>
            </a:pPr>
            <a:r>
              <a:rPr lang="en-US" sz="2400" dirty="0">
                <a:ea typeface="Times New Roman"/>
                <a:cs typeface="Times New Roman"/>
                <a:sym typeface="Times New Roman"/>
              </a:rPr>
              <a:t>Making the features more informative and relevant to the task helps machine learning models perform better.</a:t>
            </a:r>
            <a:endParaRPr sz="2400" dirty="0"/>
          </a:p>
          <a:p>
            <a:pPr marL="0" marR="0" lvl="0" indent="0" algn="l" rtl="0">
              <a:lnSpc>
                <a:spcPct val="107000"/>
              </a:lnSpc>
              <a:spcBef>
                <a:spcPts val="800"/>
              </a:spcBef>
              <a:spcAft>
                <a:spcPts val="0"/>
              </a:spcAft>
              <a:buClr>
                <a:schemeClr val="dk1"/>
              </a:buClr>
              <a:buSzPts val="1800"/>
              <a:buNone/>
            </a:pPr>
            <a:endParaRPr sz="2400" dirty="0">
              <a:ea typeface="Calibri"/>
              <a:cs typeface="Calibri"/>
              <a:sym typeface="Calibri"/>
            </a:endParaRPr>
          </a:p>
          <a:p>
            <a:pPr marL="228600" lvl="0" indent="-50800" algn="l" rtl="0">
              <a:lnSpc>
                <a:spcPct val="90000"/>
              </a:lnSpc>
              <a:spcBef>
                <a:spcPts val="1800"/>
              </a:spcBef>
              <a:spcAft>
                <a:spcPts val="0"/>
              </a:spcAft>
              <a:buClr>
                <a:schemeClr val="dk1"/>
              </a:buClr>
              <a:buSzPts val="2800"/>
              <a:buNone/>
            </a:pPr>
            <a:endParaRPr sz="2400" dirty="0"/>
          </a:p>
        </p:txBody>
      </p:sp>
      <p:pic>
        <p:nvPicPr>
          <p:cNvPr id="279" name="Google Shape;279;p30"/>
          <p:cNvPicPr preferRelativeResize="0"/>
          <p:nvPr/>
        </p:nvPicPr>
        <p:blipFill rotWithShape="1">
          <a:blip r:embed="rId3">
            <a:alphaModFix/>
          </a:blip>
          <a:srcRect/>
          <a:stretch/>
        </p:blipFill>
        <p:spPr>
          <a:xfrm>
            <a:off x="3037572" y="3274898"/>
            <a:ext cx="4785360" cy="2834640"/>
          </a:xfrm>
          <a:prstGeom prst="rect">
            <a:avLst/>
          </a:prstGeom>
          <a:noFill/>
          <a:ln>
            <a:noFill/>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0"/>
          <p:cNvSpPr txBox="1">
            <a:spLocks noGrp="1"/>
          </p:cNvSpPr>
          <p:nvPr>
            <p:ph type="title"/>
          </p:nvPr>
        </p:nvSpPr>
        <p:spPr>
          <a:xfrm>
            <a:off x="838200" y="365125"/>
            <a:ext cx="10515600" cy="54927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ct val="100000"/>
              <a:buFont typeface="Times New Roman"/>
              <a:buNone/>
            </a:pPr>
            <a:r>
              <a:rPr lang="en-US" dirty="0">
                <a:ea typeface="Times New Roman"/>
                <a:cs typeface="Times New Roman"/>
                <a:sym typeface="Times New Roman"/>
              </a:rPr>
              <a:t>		</a:t>
            </a:r>
            <a:br>
              <a:rPr lang="en-US" dirty="0">
                <a:ea typeface="Times New Roman"/>
                <a:cs typeface="Times New Roman"/>
                <a:sym typeface="Times New Roman"/>
              </a:rPr>
            </a:br>
            <a:r>
              <a:rPr lang="en-US" dirty="0">
                <a:ea typeface="Times New Roman"/>
                <a:cs typeface="Times New Roman"/>
                <a:sym typeface="Times New Roman"/>
              </a:rPr>
              <a:t>		Feature Construction</a:t>
            </a:r>
            <a:r>
              <a:rPr lang="en-US" dirty="0">
                <a:ea typeface="Calibri"/>
                <a:cs typeface="Calibri"/>
                <a:sym typeface="Calibri"/>
              </a:rPr>
              <a:t/>
            </a:r>
            <a:br>
              <a:rPr lang="en-US" dirty="0">
                <a:ea typeface="Calibri"/>
                <a:cs typeface="Calibri"/>
                <a:sym typeface="Calibri"/>
              </a:rPr>
            </a:br>
            <a:endParaRPr dirty="0"/>
          </a:p>
        </p:txBody>
      </p:sp>
      <p:sp>
        <p:nvSpPr>
          <p:cNvPr id="278" name="Google Shape;278;p30"/>
          <p:cNvSpPr txBox="1">
            <a:spLocks noGrp="1"/>
          </p:cNvSpPr>
          <p:nvPr>
            <p:ph idx="1"/>
          </p:nvPr>
        </p:nvSpPr>
        <p:spPr>
          <a:xfrm>
            <a:off x="838200" y="1179095"/>
            <a:ext cx="10515600" cy="4997868"/>
          </a:xfrm>
          <a:prstGeom prst="rect">
            <a:avLst/>
          </a:prstGeom>
          <a:noFill/>
          <a:ln>
            <a:noFill/>
          </a:ln>
        </p:spPr>
        <p:txBody>
          <a:bodyPr spcFirstLastPara="1" wrap="square" lIns="91425" tIns="45700" rIns="91425" bIns="45700" anchor="t" anchorCtr="0">
            <a:normAutofit/>
          </a:bodyPr>
          <a:lstStyle/>
          <a:p>
            <a:pPr marL="0" lvl="0" indent="0">
              <a:lnSpc>
                <a:spcPct val="107000"/>
              </a:lnSpc>
              <a:spcBef>
                <a:spcPts val="800"/>
              </a:spcBef>
              <a:spcAft>
                <a:spcPts val="0"/>
              </a:spcAft>
              <a:buClr>
                <a:schemeClr val="dk1"/>
              </a:buClr>
              <a:buSzPts val="1800"/>
              <a:buNone/>
            </a:pPr>
            <a:endParaRPr lang="en-US" sz="2400" dirty="0" smtClean="0"/>
          </a:p>
          <a:p>
            <a:pPr marL="0" lvl="0" indent="0">
              <a:lnSpc>
                <a:spcPct val="107000"/>
              </a:lnSpc>
              <a:spcBef>
                <a:spcPts val="800"/>
              </a:spcBef>
              <a:spcAft>
                <a:spcPts val="0"/>
              </a:spcAft>
              <a:buClr>
                <a:schemeClr val="dk1"/>
              </a:buClr>
              <a:buSzPts val="1800"/>
              <a:buNone/>
            </a:pPr>
            <a:r>
              <a:rPr lang="en-US" sz="2400" dirty="0" smtClean="0"/>
              <a:t>Purpose:</a:t>
            </a:r>
            <a:endParaRPr lang="en-US" sz="2400" dirty="0"/>
          </a:p>
          <a:p>
            <a:pPr marL="0" lvl="0" indent="0">
              <a:lnSpc>
                <a:spcPct val="107000"/>
              </a:lnSpc>
              <a:spcBef>
                <a:spcPts val="800"/>
              </a:spcBef>
              <a:spcAft>
                <a:spcPts val="0"/>
              </a:spcAft>
              <a:buClr>
                <a:schemeClr val="dk1"/>
              </a:buClr>
              <a:buSzPts val="1800"/>
              <a:buNone/>
            </a:pPr>
            <a:r>
              <a:rPr lang="en-US" sz="2400" dirty="0" smtClean="0"/>
              <a:t>• capture </a:t>
            </a:r>
            <a:r>
              <a:rPr lang="en-US" sz="2400" dirty="0"/>
              <a:t>hidden relationships</a:t>
            </a:r>
            <a:br>
              <a:rPr lang="en-US" sz="2400" dirty="0"/>
            </a:br>
            <a:r>
              <a:rPr lang="en-US" sz="2400" dirty="0"/>
              <a:t>• improve predictive </a:t>
            </a:r>
            <a:r>
              <a:rPr lang="en-US" sz="2400" dirty="0" smtClean="0"/>
              <a:t>power</a:t>
            </a:r>
          </a:p>
          <a:p>
            <a:pPr marL="0" lvl="0" indent="0">
              <a:lnSpc>
                <a:spcPct val="107000"/>
              </a:lnSpc>
              <a:spcBef>
                <a:spcPts val="800"/>
              </a:spcBef>
              <a:spcAft>
                <a:spcPts val="0"/>
              </a:spcAft>
              <a:buClr>
                <a:schemeClr val="dk1"/>
              </a:buClr>
              <a:buSzPts val="1800"/>
              <a:buNone/>
            </a:pPr>
            <a:endParaRPr lang="en-US" sz="2400" dirty="0"/>
          </a:p>
          <a:p>
            <a:pPr marL="0" lvl="0" indent="0">
              <a:lnSpc>
                <a:spcPct val="107000"/>
              </a:lnSpc>
              <a:spcBef>
                <a:spcPts val="800"/>
              </a:spcBef>
              <a:spcAft>
                <a:spcPts val="0"/>
              </a:spcAft>
              <a:buClr>
                <a:schemeClr val="dk1"/>
              </a:buClr>
              <a:buSzPts val="1800"/>
              <a:buNone/>
            </a:pPr>
            <a:r>
              <a:rPr lang="en-US" sz="2400" dirty="0" smtClean="0"/>
              <a:t>Example:</a:t>
            </a:r>
          </a:p>
          <a:p>
            <a:pPr marL="0" lvl="0" indent="0">
              <a:lnSpc>
                <a:spcPct val="107000"/>
              </a:lnSpc>
              <a:spcBef>
                <a:spcPts val="800"/>
              </a:spcBef>
              <a:spcAft>
                <a:spcPts val="0"/>
              </a:spcAft>
              <a:buClr>
                <a:schemeClr val="dk1"/>
              </a:buClr>
              <a:buSzPts val="1800"/>
              <a:buNone/>
            </a:pPr>
            <a:r>
              <a:rPr lang="en-US" sz="2400" dirty="0"/>
              <a:t>• date → day / month / weekend</a:t>
            </a:r>
            <a:br>
              <a:rPr lang="en-US" sz="2400" dirty="0"/>
            </a:br>
            <a:r>
              <a:rPr lang="en-US" sz="2400" dirty="0"/>
              <a:t>• revenue / customers → revenue per customer</a:t>
            </a:r>
            <a:endParaRPr lang="en-US" sz="2400" dirty="0" smtClean="0"/>
          </a:p>
          <a:p>
            <a:pPr marL="0" lvl="0" indent="0">
              <a:lnSpc>
                <a:spcPct val="107000"/>
              </a:lnSpc>
              <a:spcBef>
                <a:spcPts val="800"/>
              </a:spcBef>
              <a:spcAft>
                <a:spcPts val="0"/>
              </a:spcAft>
              <a:buClr>
                <a:schemeClr val="dk1"/>
              </a:buClr>
              <a:buSzPts val="1800"/>
              <a:buNone/>
            </a:pPr>
            <a:endParaRPr lang="en-US" sz="2400" dirty="0">
              <a:ea typeface="Calibri"/>
              <a:cs typeface="Calibri"/>
              <a:sym typeface="Calibri"/>
            </a:endParaRPr>
          </a:p>
          <a:p>
            <a:pPr marL="0" lvl="0" indent="0">
              <a:lnSpc>
                <a:spcPct val="107000"/>
              </a:lnSpc>
              <a:spcBef>
                <a:spcPts val="800"/>
              </a:spcBef>
              <a:spcAft>
                <a:spcPts val="0"/>
              </a:spcAft>
              <a:buClr>
                <a:schemeClr val="dk1"/>
              </a:buClr>
              <a:buSzPts val="1800"/>
              <a:buNone/>
            </a:pPr>
            <a:endParaRPr sz="2400" dirty="0">
              <a:ea typeface="Calibri"/>
              <a:cs typeface="Calibri"/>
              <a:sym typeface="Calibri"/>
            </a:endParaRPr>
          </a:p>
          <a:p>
            <a:pPr marL="228600" lvl="0" indent="-50800" algn="l" rtl="0">
              <a:lnSpc>
                <a:spcPct val="90000"/>
              </a:lnSpc>
              <a:spcBef>
                <a:spcPts val="1800"/>
              </a:spcBef>
              <a:spcAft>
                <a:spcPts val="0"/>
              </a:spcAft>
              <a:buClr>
                <a:schemeClr val="dk1"/>
              </a:buClr>
              <a:buSzPts val="2800"/>
              <a:buNone/>
            </a:pPr>
            <a:endParaRPr sz="2400" dirty="0"/>
          </a:p>
        </p:txBody>
      </p:sp>
    </p:spTree>
    <p:extLst>
      <p:ext uri="{BB962C8B-B14F-4D97-AF65-F5344CB8AC3E}">
        <p14:creationId xmlns:p14="http://schemas.microsoft.com/office/powerpoint/2010/main" val="396646352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1"/>
          <p:cNvSpPr txBox="1">
            <a:spLocks noGrp="1"/>
          </p:cNvSpPr>
          <p:nvPr>
            <p:ph type="title"/>
          </p:nvPr>
        </p:nvSpPr>
        <p:spPr>
          <a:xfrm>
            <a:off x="1024128" y="228823"/>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            Feature Construction</a:t>
            </a:r>
            <a:endParaRPr dirty="0"/>
          </a:p>
        </p:txBody>
      </p:sp>
      <p:sp>
        <p:nvSpPr>
          <p:cNvPr id="285" name="Google Shape;285;p31"/>
          <p:cNvSpPr txBox="1">
            <a:spLocks noGrp="1"/>
          </p:cNvSpPr>
          <p:nvPr>
            <p:ph idx="1"/>
          </p:nvPr>
        </p:nvSpPr>
        <p:spPr>
          <a:xfrm>
            <a:off x="1024128" y="1393903"/>
            <a:ext cx="9993277" cy="4023360"/>
          </a:xfrm>
          <a:prstGeom prst="rect">
            <a:avLst/>
          </a:prstGeom>
          <a:noFill/>
          <a:ln>
            <a:noFill/>
          </a:ln>
        </p:spPr>
        <p:txBody>
          <a:bodyPr spcFirstLastPara="1" wrap="square" lIns="91425" tIns="45700" rIns="91425" bIns="45700" anchor="t" anchorCtr="0">
            <a:noAutofit/>
          </a:bodyPr>
          <a:lstStyle/>
          <a:p>
            <a:pPr marL="0" marR="0" lvl="0" indent="0" algn="just" rtl="0">
              <a:lnSpc>
                <a:spcPct val="107000"/>
              </a:lnSpc>
              <a:spcBef>
                <a:spcPts val="0"/>
              </a:spcBef>
              <a:spcAft>
                <a:spcPts val="0"/>
              </a:spcAft>
              <a:buClr>
                <a:schemeClr val="dk1"/>
              </a:buClr>
              <a:buSzPts val="1800"/>
              <a:buChar char="•"/>
            </a:pPr>
            <a:r>
              <a:rPr lang="en-US" sz="2000" i="1" dirty="0">
                <a:ea typeface="Times New Roman"/>
                <a:cs typeface="Times New Roman"/>
                <a:sym typeface="Times New Roman"/>
              </a:rPr>
              <a:t>There are numerous ways to build features, but some typical techniques include:</a:t>
            </a:r>
            <a:endParaRPr sz="2000" dirty="0">
              <a:ea typeface="Calibri"/>
              <a:cs typeface="Calibri"/>
              <a:sym typeface="Calibri"/>
            </a:endParaRPr>
          </a:p>
          <a:p>
            <a:pPr marL="342900" marR="0" lvl="0" indent="-342900" algn="just" rtl="0">
              <a:lnSpc>
                <a:spcPct val="107000"/>
              </a:lnSpc>
              <a:spcBef>
                <a:spcPts val="800"/>
              </a:spcBef>
              <a:spcAft>
                <a:spcPts val="0"/>
              </a:spcAft>
              <a:buClr>
                <a:schemeClr val="dk1"/>
              </a:buClr>
              <a:buSzPts val="1000"/>
              <a:buFont typeface="Noto Sans Symbols"/>
              <a:buChar char="∙"/>
            </a:pPr>
            <a:r>
              <a:rPr lang="en-US" sz="2000" b="1" dirty="0">
                <a:ea typeface="Times New Roman"/>
                <a:cs typeface="Times New Roman"/>
                <a:sym typeface="Times New Roman"/>
              </a:rPr>
              <a:t>Repurposing existing features</a:t>
            </a:r>
            <a:r>
              <a:rPr lang="en-US" sz="2000" dirty="0">
                <a:ea typeface="Times New Roman"/>
                <a:cs typeface="Times New Roman"/>
                <a:sym typeface="Times New Roman"/>
              </a:rPr>
              <a:t>: This is like remixing old songs. We can combine existing features in new ways to create something new and exciting. </a:t>
            </a:r>
            <a:r>
              <a:rPr lang="en-US" sz="2000" b="1" i="1" dirty="0">
                <a:ea typeface="Times New Roman"/>
                <a:cs typeface="Times New Roman"/>
                <a:sym typeface="Times New Roman"/>
              </a:rPr>
              <a:t>Combine, alter, or create new features from existing ones</a:t>
            </a:r>
            <a:r>
              <a:rPr lang="en-US" sz="2000" b="1" dirty="0">
                <a:ea typeface="Times New Roman"/>
                <a:cs typeface="Times New Roman"/>
                <a:sym typeface="Times New Roman"/>
              </a:rPr>
              <a:t>. </a:t>
            </a:r>
            <a:r>
              <a:rPr lang="en-US" sz="2000" dirty="0">
                <a:ea typeface="Times New Roman"/>
                <a:cs typeface="Times New Roman"/>
                <a:sym typeface="Times New Roman"/>
              </a:rPr>
              <a:t>For example, </a:t>
            </a:r>
            <a:r>
              <a:rPr lang="en-US" sz="2000" dirty="0" smtClean="0">
                <a:ea typeface="Times New Roman"/>
                <a:cs typeface="Times New Roman"/>
                <a:sym typeface="Times New Roman"/>
              </a:rPr>
              <a:t>cm to inches, average parents age from father and mother age etc.</a:t>
            </a:r>
            <a:endParaRPr sz="2000" dirty="0">
              <a:ea typeface="Calibri"/>
              <a:cs typeface="Calibri"/>
              <a:sym typeface="Calibri"/>
            </a:endParaRPr>
          </a:p>
          <a:p>
            <a:pPr marL="342900" marR="0" lvl="0" indent="-342900" algn="just" rtl="0">
              <a:lnSpc>
                <a:spcPct val="107000"/>
              </a:lnSpc>
              <a:spcBef>
                <a:spcPts val="800"/>
              </a:spcBef>
              <a:spcAft>
                <a:spcPts val="0"/>
              </a:spcAft>
              <a:buClr>
                <a:schemeClr val="dk1"/>
              </a:buClr>
              <a:buSzPts val="1000"/>
              <a:buFont typeface="Noto Sans Symbols"/>
              <a:buChar char="∙"/>
            </a:pPr>
            <a:r>
              <a:rPr lang="en-US" sz="2000" b="1" dirty="0">
                <a:ea typeface="Times New Roman"/>
                <a:cs typeface="Times New Roman"/>
                <a:sym typeface="Times New Roman"/>
              </a:rPr>
              <a:t>Using domain expertise</a:t>
            </a:r>
            <a:r>
              <a:rPr lang="en-US" sz="2000" dirty="0">
                <a:ea typeface="Times New Roman"/>
                <a:cs typeface="Times New Roman"/>
                <a:sym typeface="Times New Roman"/>
              </a:rPr>
              <a:t>: This is like consulting a chef. You can use your domain understanding to create new features essential to the task. </a:t>
            </a:r>
            <a:r>
              <a:rPr lang="en-US" sz="2000" b="1" i="1" dirty="0">
                <a:ea typeface="Times New Roman"/>
                <a:cs typeface="Times New Roman"/>
                <a:sym typeface="Times New Roman"/>
              </a:rPr>
              <a:t>Create new features that are important to the task based on our domain knowledge</a:t>
            </a:r>
            <a:r>
              <a:rPr lang="en-US" sz="2000" dirty="0">
                <a:ea typeface="Times New Roman"/>
                <a:cs typeface="Times New Roman"/>
                <a:sym typeface="Times New Roman"/>
              </a:rPr>
              <a:t>. For example, if you are developing a model to predict customer churn, you could add a new feature called "number of months since last purchase" if you know that customers who haven't purchased in a while are more likely to churn.</a:t>
            </a:r>
            <a:endParaRPr sz="2000" dirty="0">
              <a:ea typeface="Calibri"/>
              <a:cs typeface="Calibri"/>
              <a:sym typeface="Calibri"/>
            </a:endParaRPr>
          </a:p>
          <a:p>
            <a:pPr marL="342900" marR="0" lvl="0" indent="-342900" algn="just" rtl="0">
              <a:lnSpc>
                <a:spcPct val="107000"/>
              </a:lnSpc>
              <a:spcBef>
                <a:spcPts val="800"/>
              </a:spcBef>
              <a:spcAft>
                <a:spcPts val="0"/>
              </a:spcAft>
              <a:buClr>
                <a:schemeClr val="dk1"/>
              </a:buClr>
              <a:buSzPts val="1000"/>
              <a:buFont typeface="Noto Sans Symbols"/>
              <a:buChar char="∙"/>
            </a:pPr>
            <a:r>
              <a:rPr lang="en-US" sz="2000" b="1" dirty="0">
                <a:ea typeface="Times New Roman"/>
                <a:cs typeface="Times New Roman"/>
                <a:sym typeface="Times New Roman"/>
              </a:rPr>
              <a:t>Using feature selection algorithms</a:t>
            </a:r>
            <a:r>
              <a:rPr lang="en-US" sz="2000" dirty="0">
                <a:ea typeface="Times New Roman"/>
                <a:cs typeface="Times New Roman"/>
                <a:sym typeface="Times New Roman"/>
              </a:rPr>
              <a:t>: This is like hiring a personal shopper. You can use these algorithms </a:t>
            </a:r>
            <a:r>
              <a:rPr lang="en-US" sz="2000" b="1" i="1" dirty="0">
                <a:ea typeface="Times New Roman"/>
                <a:cs typeface="Times New Roman"/>
                <a:sym typeface="Times New Roman"/>
              </a:rPr>
              <a:t>to determine the most important features from a data set and then build new features based on those features</a:t>
            </a:r>
            <a:r>
              <a:rPr lang="en-US" sz="2000" dirty="0">
                <a:ea typeface="Times New Roman"/>
                <a:cs typeface="Times New Roman"/>
                <a:sym typeface="Times New Roman"/>
              </a:rPr>
              <a:t>. It's like curating the best attributes to create powerful new ones</a:t>
            </a:r>
            <a:r>
              <a:rPr lang="en-US" sz="2000" dirty="0" smtClean="0">
                <a:ea typeface="Times New Roman"/>
                <a:cs typeface="Times New Roman"/>
                <a:sym typeface="Times New Roman"/>
              </a:rPr>
              <a:t>!, </a:t>
            </a:r>
            <a:r>
              <a:rPr lang="en-US" sz="2000" dirty="0" err="1" smtClean="0">
                <a:ea typeface="Times New Roman"/>
                <a:cs typeface="Times New Roman"/>
                <a:sym typeface="Times New Roman"/>
              </a:rPr>
              <a:t>pca</a:t>
            </a:r>
            <a:r>
              <a:rPr lang="en-US" sz="2000" dirty="0" smtClean="0">
                <a:ea typeface="Times New Roman"/>
                <a:cs typeface="Times New Roman"/>
                <a:sym typeface="Times New Roman"/>
              </a:rPr>
              <a:t> etc.</a:t>
            </a:r>
            <a:endParaRPr sz="2000" dirty="0">
              <a:ea typeface="Calibri"/>
              <a:cs typeface="Calibri"/>
              <a:sym typeface="Calibri"/>
            </a:endParaRPr>
          </a:p>
          <a:p>
            <a:pPr marL="228600" lvl="0" indent="-50800" algn="just" rtl="0">
              <a:lnSpc>
                <a:spcPct val="90000"/>
              </a:lnSpc>
              <a:spcBef>
                <a:spcPts val="1800"/>
              </a:spcBef>
              <a:spcAft>
                <a:spcPts val="0"/>
              </a:spcAft>
              <a:buClr>
                <a:schemeClr val="dk1"/>
              </a:buClr>
              <a:buSzPts val="2800"/>
              <a:buNone/>
            </a:pPr>
            <a:endParaRPr sz="20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2"/>
          <p:cNvSpPr txBox="1">
            <a:spLocks noGrp="1"/>
          </p:cNvSpPr>
          <p:nvPr>
            <p:ph type="title"/>
          </p:nvPr>
        </p:nvSpPr>
        <p:spPr>
          <a:xfrm>
            <a:off x="838200" y="365126"/>
            <a:ext cx="10515600" cy="67761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ct val="100000"/>
              <a:buFont typeface="Times New Roman"/>
              <a:buNone/>
            </a:pPr>
            <a:r>
              <a:rPr lang="en-US" dirty="0">
                <a:ea typeface="Times New Roman"/>
                <a:cs typeface="Times New Roman"/>
                <a:sym typeface="Times New Roman"/>
              </a:rPr>
              <a:t/>
            </a:r>
            <a:br>
              <a:rPr lang="en-US" dirty="0">
                <a:ea typeface="Times New Roman"/>
                <a:cs typeface="Times New Roman"/>
                <a:sym typeface="Times New Roman"/>
              </a:rPr>
            </a:br>
            <a:r>
              <a:rPr lang="en-US" dirty="0">
                <a:ea typeface="Times New Roman"/>
                <a:cs typeface="Times New Roman"/>
                <a:sym typeface="Times New Roman"/>
              </a:rPr>
              <a:t>Feature Extraction</a:t>
            </a:r>
            <a:r>
              <a:rPr lang="en-US" dirty="0">
                <a:ea typeface="Calibri"/>
                <a:cs typeface="Calibri"/>
                <a:sym typeface="Calibri"/>
              </a:rPr>
              <a:t/>
            </a:r>
            <a:br>
              <a:rPr lang="en-US" dirty="0">
                <a:ea typeface="Calibri"/>
                <a:cs typeface="Calibri"/>
                <a:sym typeface="Calibri"/>
              </a:rPr>
            </a:br>
            <a:endParaRPr dirty="0"/>
          </a:p>
        </p:txBody>
      </p:sp>
      <p:sp>
        <p:nvSpPr>
          <p:cNvPr id="291" name="Google Shape;291;p32"/>
          <p:cNvSpPr txBox="1">
            <a:spLocks noGrp="1"/>
          </p:cNvSpPr>
          <p:nvPr>
            <p:ph idx="1"/>
          </p:nvPr>
        </p:nvSpPr>
        <p:spPr>
          <a:xfrm>
            <a:off x="902369" y="1042738"/>
            <a:ext cx="10515600" cy="5574630"/>
          </a:xfrm>
          <a:prstGeom prst="rect">
            <a:avLst/>
          </a:prstGeom>
          <a:noFill/>
          <a:ln>
            <a:noFill/>
          </a:ln>
        </p:spPr>
        <p:txBody>
          <a:bodyPr spcFirstLastPara="1" wrap="square" lIns="91425" tIns="45700" rIns="91425" bIns="45700" anchor="t" anchorCtr="0">
            <a:normAutofit/>
          </a:bodyPr>
          <a:lstStyle/>
          <a:p>
            <a:pPr marL="0" marR="0" lvl="0" indent="0" algn="l" rtl="0">
              <a:lnSpc>
                <a:spcPct val="107000"/>
              </a:lnSpc>
              <a:spcBef>
                <a:spcPts val="0"/>
              </a:spcBef>
              <a:spcAft>
                <a:spcPts val="0"/>
              </a:spcAft>
              <a:buClr>
                <a:schemeClr val="dk1"/>
              </a:buClr>
              <a:buSzPct val="100000"/>
              <a:buNone/>
            </a:pPr>
            <a:r>
              <a:rPr lang="en-US" sz="2400" b="1" dirty="0">
                <a:ea typeface="Times New Roman"/>
                <a:cs typeface="Times New Roman"/>
                <a:sym typeface="Times New Roman"/>
              </a:rPr>
              <a:t>Feature extraction is a process of reducing the dimensionality of data by identifying the most essential features.</a:t>
            </a:r>
            <a:endParaRPr sz="2400" b="1" dirty="0">
              <a:ea typeface="Calibri"/>
              <a:cs typeface="Calibri"/>
              <a:sym typeface="Calibri"/>
            </a:endParaRPr>
          </a:p>
          <a:p>
            <a:pPr marL="0" marR="0" lvl="0" indent="0" algn="l" rtl="0">
              <a:lnSpc>
                <a:spcPct val="107000"/>
              </a:lnSpc>
              <a:spcBef>
                <a:spcPts val="800"/>
              </a:spcBef>
              <a:spcAft>
                <a:spcPts val="0"/>
              </a:spcAft>
              <a:buClr>
                <a:schemeClr val="dk1"/>
              </a:buClr>
              <a:buSzPct val="100000"/>
              <a:buChar char="•"/>
            </a:pPr>
            <a:r>
              <a:rPr lang="en-US" sz="2400" dirty="0">
                <a:ea typeface="Times New Roman"/>
                <a:cs typeface="Times New Roman"/>
                <a:sym typeface="Times New Roman"/>
              </a:rPr>
              <a:t>The more features we have, the harder it is to find the important ones. "The curse of dimensionality occurs when the dataset contains an excessive number of features, making it difficult for Machine Learning algorithms to identify essential features." Dimensionality Reduction can be helpful in such a situation.</a:t>
            </a:r>
            <a:endParaRPr sz="2400" dirty="0">
              <a:ea typeface="Calibri"/>
              <a:cs typeface="Calibri"/>
              <a:sym typeface="Calibri"/>
            </a:endParaRPr>
          </a:p>
          <a:p>
            <a:pPr marL="0" marR="0" lvl="0" indent="0" algn="l" rtl="0">
              <a:lnSpc>
                <a:spcPct val="107000"/>
              </a:lnSpc>
              <a:spcBef>
                <a:spcPts val="800"/>
              </a:spcBef>
              <a:spcAft>
                <a:spcPts val="0"/>
              </a:spcAft>
              <a:buClr>
                <a:schemeClr val="dk1"/>
              </a:buClr>
              <a:buSzPct val="100000"/>
              <a:buChar char="•"/>
            </a:pPr>
            <a:r>
              <a:rPr lang="en-US" sz="2400" dirty="0">
                <a:ea typeface="Times New Roman"/>
                <a:cs typeface="Times New Roman"/>
                <a:sym typeface="Times New Roman"/>
              </a:rPr>
              <a:t>"Dimensionality reduction is a process of simplifying a dataset by reducing the number of features or dimensions. This can be done to improve the efficiency and accuracy of machine learning models."</a:t>
            </a:r>
            <a:endParaRPr sz="2400" dirty="0">
              <a:ea typeface="Calibri"/>
              <a:cs typeface="Calibri"/>
              <a:sym typeface="Calibri"/>
            </a:endParaRPr>
          </a:p>
          <a:p>
            <a:pPr marL="0" marR="0" lvl="0" indent="0" algn="l" rtl="0">
              <a:lnSpc>
                <a:spcPct val="107000"/>
              </a:lnSpc>
              <a:spcBef>
                <a:spcPts val="800"/>
              </a:spcBef>
              <a:spcAft>
                <a:spcPts val="0"/>
              </a:spcAft>
              <a:buClr>
                <a:schemeClr val="dk1"/>
              </a:buClr>
              <a:buSzPct val="100000"/>
              <a:buChar char="•"/>
            </a:pPr>
            <a:r>
              <a:rPr lang="en-US" sz="2400" dirty="0">
                <a:ea typeface="Times New Roman"/>
                <a:cs typeface="Times New Roman"/>
                <a:sym typeface="Times New Roman"/>
              </a:rPr>
              <a:t>Dimensionality reduction can be done in two ways:</a:t>
            </a:r>
            <a:endParaRPr sz="2400" dirty="0">
              <a:ea typeface="Calibri"/>
              <a:cs typeface="Calibri"/>
              <a:sym typeface="Calibri"/>
            </a:endParaRPr>
          </a:p>
          <a:p>
            <a:pPr marL="342900" marR="0" lvl="0" indent="-342900" algn="l" rtl="0">
              <a:lnSpc>
                <a:spcPct val="107000"/>
              </a:lnSpc>
              <a:spcBef>
                <a:spcPts val="800"/>
              </a:spcBef>
              <a:spcAft>
                <a:spcPts val="0"/>
              </a:spcAft>
              <a:buClr>
                <a:schemeClr val="dk1"/>
              </a:buClr>
              <a:buSzPct val="41580"/>
              <a:buFont typeface="Noto Sans Symbols"/>
              <a:buChar char="∙"/>
            </a:pPr>
            <a:r>
              <a:rPr lang="en-US" sz="2400" dirty="0">
                <a:ea typeface="Times New Roman"/>
                <a:cs typeface="Times New Roman"/>
                <a:sym typeface="Times New Roman"/>
              </a:rPr>
              <a:t>Feature Extraction</a:t>
            </a:r>
            <a:endParaRPr sz="2400" dirty="0">
              <a:ea typeface="Calibri"/>
              <a:cs typeface="Calibri"/>
              <a:sym typeface="Calibri"/>
            </a:endParaRPr>
          </a:p>
          <a:p>
            <a:pPr marL="342900" marR="0" lvl="0" indent="-342900" algn="l" rtl="0">
              <a:lnSpc>
                <a:spcPct val="107000"/>
              </a:lnSpc>
              <a:spcBef>
                <a:spcPts val="800"/>
              </a:spcBef>
              <a:spcAft>
                <a:spcPts val="0"/>
              </a:spcAft>
              <a:buClr>
                <a:schemeClr val="dk1"/>
              </a:buClr>
              <a:buSzPct val="41580"/>
              <a:buFont typeface="Noto Sans Symbols"/>
              <a:buChar char="∙"/>
            </a:pPr>
            <a:r>
              <a:rPr lang="en-US" sz="2400" dirty="0">
                <a:ea typeface="Times New Roman"/>
                <a:cs typeface="Times New Roman"/>
                <a:sym typeface="Times New Roman"/>
              </a:rPr>
              <a:t>Feature Selection </a:t>
            </a:r>
            <a:endParaRPr sz="2400" dirty="0">
              <a:ea typeface="Calibri"/>
              <a:cs typeface="Calibri"/>
              <a:sym typeface="Calibri"/>
            </a:endParaRPr>
          </a:p>
          <a:p>
            <a:pPr marL="228600" lvl="0" indent="-64135" algn="l" rtl="0">
              <a:lnSpc>
                <a:spcPct val="90000"/>
              </a:lnSpc>
              <a:spcBef>
                <a:spcPts val="1800"/>
              </a:spcBef>
              <a:spcAft>
                <a:spcPts val="0"/>
              </a:spcAft>
              <a:buClr>
                <a:schemeClr val="dk1"/>
              </a:buClr>
              <a:buSzPct val="100000"/>
              <a:buNone/>
            </a:pPr>
            <a:endParaRPr sz="24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3"/>
          <p:cNvSpPr txBox="1">
            <a:spLocks noGrp="1"/>
          </p:cNvSpPr>
          <p:nvPr>
            <p:ph type="title"/>
          </p:nvPr>
        </p:nvSpPr>
        <p:spPr>
          <a:xfrm>
            <a:off x="838200" y="365126"/>
            <a:ext cx="10515600" cy="66157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ct val="100000"/>
              <a:buFont typeface="Times New Roman"/>
              <a:buNone/>
            </a:pPr>
            <a:r>
              <a:rPr lang="en-US" dirty="0">
                <a:ea typeface="Times New Roman"/>
                <a:cs typeface="Times New Roman"/>
                <a:sym typeface="Times New Roman"/>
              </a:rPr>
              <a:t>Feature Extraction</a:t>
            </a:r>
            <a:endParaRPr dirty="0"/>
          </a:p>
        </p:txBody>
      </p:sp>
      <p:sp>
        <p:nvSpPr>
          <p:cNvPr id="297" name="Google Shape;297;p33"/>
          <p:cNvSpPr txBox="1">
            <a:spLocks noGrp="1"/>
          </p:cNvSpPr>
          <p:nvPr>
            <p:ph idx="1"/>
          </p:nvPr>
        </p:nvSpPr>
        <p:spPr>
          <a:xfrm>
            <a:off x="838200" y="1411705"/>
            <a:ext cx="10078453" cy="4765258"/>
          </a:xfrm>
          <a:prstGeom prst="rect">
            <a:avLst/>
          </a:prstGeom>
          <a:noFill/>
          <a:ln>
            <a:noFill/>
          </a:ln>
        </p:spPr>
        <p:txBody>
          <a:bodyPr spcFirstLastPara="1" wrap="square" lIns="91425" tIns="45700" rIns="91425" bIns="45700" anchor="t" anchorCtr="0">
            <a:normAutofit/>
          </a:bodyPr>
          <a:lstStyle/>
          <a:p>
            <a:pPr marL="0" marR="0" lvl="0" indent="0" algn="l" rtl="0">
              <a:lnSpc>
                <a:spcPct val="107000"/>
              </a:lnSpc>
              <a:spcBef>
                <a:spcPts val="0"/>
              </a:spcBef>
              <a:spcAft>
                <a:spcPts val="0"/>
              </a:spcAft>
              <a:buClr>
                <a:schemeClr val="dk1"/>
              </a:buClr>
              <a:buSzPts val="2400"/>
              <a:buNone/>
            </a:pPr>
            <a:r>
              <a:rPr lang="en-US" sz="2400" i="1" dirty="0">
                <a:ea typeface="Times New Roman"/>
                <a:cs typeface="Times New Roman"/>
                <a:sym typeface="Times New Roman"/>
              </a:rPr>
              <a:t>The most frequently used approaches for </a:t>
            </a:r>
            <a:r>
              <a:rPr lang="en-US" sz="2400" b="1" i="1" dirty="0">
                <a:ea typeface="Times New Roman"/>
                <a:cs typeface="Times New Roman"/>
                <a:sym typeface="Times New Roman"/>
              </a:rPr>
              <a:t>dimensionality reduction</a:t>
            </a:r>
            <a:r>
              <a:rPr lang="en-US" sz="2400" i="1" dirty="0">
                <a:ea typeface="Times New Roman"/>
                <a:cs typeface="Times New Roman"/>
                <a:sym typeface="Times New Roman"/>
              </a:rPr>
              <a:t> are:</a:t>
            </a:r>
            <a:endParaRPr sz="2400" dirty="0">
              <a:ea typeface="Calibri"/>
              <a:cs typeface="Calibri"/>
              <a:sym typeface="Calibri"/>
            </a:endParaRPr>
          </a:p>
          <a:p>
            <a:pPr marL="342900" marR="0" lvl="0" indent="-342900" algn="l" rtl="0">
              <a:lnSpc>
                <a:spcPct val="107000"/>
              </a:lnSpc>
              <a:spcBef>
                <a:spcPts val="800"/>
              </a:spcBef>
              <a:spcAft>
                <a:spcPts val="0"/>
              </a:spcAft>
              <a:buClr>
                <a:schemeClr val="dk1"/>
              </a:buClr>
              <a:buSzPts val="1000"/>
              <a:buFont typeface="Noto Sans Symbols"/>
              <a:buChar char="∙"/>
            </a:pPr>
            <a:r>
              <a:rPr lang="en-US" sz="2400" dirty="0">
                <a:ea typeface="Times New Roman"/>
                <a:cs typeface="Times New Roman"/>
                <a:sym typeface="Times New Roman"/>
              </a:rPr>
              <a:t>Principal Component Analysis(PCA) </a:t>
            </a:r>
            <a:endParaRPr sz="2400" dirty="0">
              <a:ea typeface="Calibri"/>
              <a:cs typeface="Calibri"/>
              <a:sym typeface="Calibri"/>
            </a:endParaRPr>
          </a:p>
          <a:p>
            <a:pPr marL="342900" marR="0" lvl="0" indent="-342900" algn="l" rtl="0">
              <a:lnSpc>
                <a:spcPct val="107000"/>
              </a:lnSpc>
              <a:spcBef>
                <a:spcPts val="800"/>
              </a:spcBef>
              <a:spcAft>
                <a:spcPts val="0"/>
              </a:spcAft>
              <a:buClr>
                <a:schemeClr val="dk1"/>
              </a:buClr>
              <a:buSzPts val="1000"/>
              <a:buFont typeface="Noto Sans Symbols"/>
              <a:buChar char="∙"/>
            </a:pPr>
            <a:r>
              <a:rPr lang="en-US" sz="2400" dirty="0">
                <a:ea typeface="Times New Roman"/>
                <a:cs typeface="Times New Roman"/>
                <a:sym typeface="Times New Roman"/>
              </a:rPr>
              <a:t>Linear Discriminant Analysis(LDA) </a:t>
            </a:r>
            <a:endParaRPr sz="2400" dirty="0">
              <a:ea typeface="Calibri"/>
              <a:cs typeface="Calibri"/>
              <a:sym typeface="Calibri"/>
            </a:endParaRPr>
          </a:p>
          <a:p>
            <a:pPr marL="342900" marR="0" lvl="0" indent="-342900" algn="l" rtl="0">
              <a:lnSpc>
                <a:spcPct val="107000"/>
              </a:lnSpc>
              <a:spcBef>
                <a:spcPts val="800"/>
              </a:spcBef>
              <a:spcAft>
                <a:spcPts val="0"/>
              </a:spcAft>
              <a:buClr>
                <a:schemeClr val="dk1"/>
              </a:buClr>
              <a:buSzPts val="1000"/>
              <a:buFont typeface="Noto Sans Symbols"/>
              <a:buChar char="∙"/>
            </a:pPr>
            <a:r>
              <a:rPr lang="en-US" sz="2400" dirty="0">
                <a:ea typeface="Times New Roman"/>
                <a:cs typeface="Times New Roman"/>
                <a:sym typeface="Times New Roman"/>
              </a:rPr>
              <a:t>T-distributed Stochastic Neighbor Embedding (T-SNE) </a:t>
            </a:r>
            <a:endParaRPr sz="2400" dirty="0">
              <a:ea typeface="Calibri"/>
              <a:cs typeface="Calibri"/>
              <a:sym typeface="Calibri"/>
            </a:endParaRPr>
          </a:p>
          <a:p>
            <a:pPr marL="0" marR="0" lvl="0" indent="0" algn="l" rtl="0">
              <a:lnSpc>
                <a:spcPct val="107000"/>
              </a:lnSpc>
              <a:spcBef>
                <a:spcPts val="800"/>
              </a:spcBef>
              <a:spcAft>
                <a:spcPts val="0"/>
              </a:spcAft>
              <a:buClr>
                <a:schemeClr val="dk1"/>
              </a:buClr>
              <a:buSzPts val="2400"/>
              <a:buNone/>
            </a:pPr>
            <a:r>
              <a:rPr lang="en-US" sz="2400" dirty="0">
                <a:ea typeface="Times New Roman"/>
                <a:cs typeface="Times New Roman"/>
                <a:sym typeface="Times New Roman"/>
              </a:rPr>
              <a:t>In feature selection, we choose a subset of features from the dataset to train machine learning algorithms while maintaining the original feature distribution.</a:t>
            </a:r>
            <a:endParaRPr sz="2400" dirty="0">
              <a:ea typeface="Calibri"/>
              <a:cs typeface="Calibri"/>
              <a:sym typeface="Calibri"/>
            </a:endParaRPr>
          </a:p>
          <a:p>
            <a:pPr marL="0" marR="0" lvl="0" indent="0" algn="l" rtl="0">
              <a:lnSpc>
                <a:spcPct val="107000"/>
              </a:lnSpc>
              <a:spcBef>
                <a:spcPts val="800"/>
              </a:spcBef>
              <a:spcAft>
                <a:spcPts val="0"/>
              </a:spcAft>
              <a:buClr>
                <a:schemeClr val="dk1"/>
              </a:buClr>
              <a:buSzPts val="2400"/>
              <a:buNone/>
            </a:pPr>
            <a:r>
              <a:rPr lang="en-US" sz="2400" dirty="0">
                <a:ea typeface="Times New Roman"/>
                <a:cs typeface="Times New Roman"/>
                <a:sym typeface="Times New Roman"/>
              </a:rPr>
              <a:t>However, when using dimensionality reduction techniques such as PCA, the original representation of the variables is altered.</a:t>
            </a:r>
            <a:endParaRPr sz="2400" dirty="0">
              <a:ea typeface="Calibri"/>
              <a:cs typeface="Calibri"/>
              <a:sym typeface="Calibri"/>
            </a:endParaRPr>
          </a:p>
          <a:p>
            <a:pPr marL="228600" lvl="0" indent="-50800" algn="l" rtl="0">
              <a:lnSpc>
                <a:spcPct val="90000"/>
              </a:lnSpc>
              <a:spcBef>
                <a:spcPts val="1800"/>
              </a:spcBef>
              <a:spcAft>
                <a:spcPts val="0"/>
              </a:spcAft>
              <a:buClr>
                <a:schemeClr val="dk1"/>
              </a:buClr>
              <a:buSzPts val="2800"/>
              <a:buNone/>
            </a:pPr>
            <a:endParaRPr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Calibri"/>
              <a:buNone/>
            </a:pPr>
            <a:r>
              <a:rPr lang="en-US" dirty="0"/>
              <a:t>Feature </a:t>
            </a:r>
            <a:r>
              <a:rPr lang="en-US" dirty="0" smtClean="0"/>
              <a:t>Extraction: PCA</a:t>
            </a:r>
            <a:endParaRPr dirty="0"/>
          </a:p>
        </p:txBody>
      </p:sp>
      <p:sp>
        <p:nvSpPr>
          <p:cNvPr id="303" name="Google Shape;303;p34"/>
          <p:cNvSpPr txBox="1">
            <a:spLocks noGrp="1"/>
          </p:cNvSpPr>
          <p:nvPr>
            <p:ph idx="1"/>
          </p:nvPr>
        </p:nvSpPr>
        <p:spPr>
          <a:xfrm>
            <a:off x="1024128" y="1951463"/>
            <a:ext cx="9720073" cy="4357897"/>
          </a:xfrm>
          <a:prstGeom prst="rect">
            <a:avLst/>
          </a:prstGeom>
          <a:noFill/>
          <a:ln>
            <a:noFill/>
          </a:ln>
        </p:spPr>
        <p:txBody>
          <a:bodyPr spcFirstLastPara="1" wrap="square" lIns="91425" tIns="45700" rIns="91425" bIns="45700" anchor="t" anchorCtr="0">
            <a:normAutofit/>
          </a:bodyPr>
          <a:lstStyle/>
          <a:p>
            <a:pPr marL="0" marR="0" lvl="0" indent="0" algn="l" rtl="0">
              <a:lnSpc>
                <a:spcPct val="107000"/>
              </a:lnSpc>
              <a:spcBef>
                <a:spcPts val="0"/>
              </a:spcBef>
              <a:spcAft>
                <a:spcPts val="0"/>
              </a:spcAft>
              <a:buClr>
                <a:schemeClr val="dk1"/>
              </a:buClr>
              <a:buSzPts val="1800"/>
              <a:buNone/>
            </a:pPr>
            <a:r>
              <a:rPr lang="en-US" sz="2400" b="1" i="1" dirty="0">
                <a:ea typeface="Times New Roman"/>
                <a:cs typeface="Times New Roman"/>
                <a:sym typeface="Times New Roman"/>
              </a:rPr>
              <a:t>Principal Component Analysis(PCA)</a:t>
            </a:r>
            <a:endParaRPr sz="2400" b="1" i="1" dirty="0">
              <a:ea typeface="Calibri"/>
              <a:cs typeface="Calibri"/>
              <a:sym typeface="Calibri"/>
            </a:endParaRPr>
          </a:p>
          <a:p>
            <a:pPr marL="0" marR="0" lvl="0" indent="0" algn="l" rtl="0">
              <a:lnSpc>
                <a:spcPct val="107000"/>
              </a:lnSpc>
              <a:spcBef>
                <a:spcPts val="800"/>
              </a:spcBef>
              <a:spcAft>
                <a:spcPts val="0"/>
              </a:spcAft>
              <a:buClr>
                <a:schemeClr val="dk1"/>
              </a:buClr>
              <a:buSzPts val="1800"/>
              <a:buNone/>
            </a:pPr>
            <a:r>
              <a:rPr lang="en-US" sz="2400" dirty="0">
                <a:ea typeface="Times New Roman"/>
                <a:cs typeface="Times New Roman"/>
                <a:sym typeface="Times New Roman"/>
              </a:rPr>
              <a:t>PCA is an unsupervised technique that reduces the dimensionality of data by finding the directions (called Principal Components) that capture the most variance in the data.</a:t>
            </a:r>
            <a:endParaRPr sz="2400" dirty="0"/>
          </a:p>
          <a:p>
            <a:pPr marL="0" marR="0" lvl="0" indent="0" algn="l" rtl="0">
              <a:lnSpc>
                <a:spcPct val="107000"/>
              </a:lnSpc>
              <a:spcBef>
                <a:spcPts val="800"/>
              </a:spcBef>
              <a:spcAft>
                <a:spcPts val="0"/>
              </a:spcAft>
              <a:buClr>
                <a:schemeClr val="dk1"/>
              </a:buClr>
              <a:buSzPts val="1800"/>
              <a:buNone/>
            </a:pPr>
            <a:endParaRPr sz="2400" dirty="0">
              <a:ea typeface="Calibri"/>
              <a:cs typeface="Calibri"/>
              <a:sym typeface="Calibri"/>
            </a:endParaRPr>
          </a:p>
          <a:p>
            <a:pPr marL="228600" lvl="0" indent="-50800" algn="l" rtl="0">
              <a:lnSpc>
                <a:spcPct val="90000"/>
              </a:lnSpc>
              <a:spcBef>
                <a:spcPts val="1800"/>
              </a:spcBef>
              <a:spcAft>
                <a:spcPts val="0"/>
              </a:spcAft>
              <a:buClr>
                <a:schemeClr val="dk1"/>
              </a:buClr>
              <a:buSzPts val="2800"/>
              <a:buNone/>
            </a:pPr>
            <a:endParaRPr sz="2400" dirty="0"/>
          </a:p>
        </p:txBody>
      </p:sp>
      <p:pic>
        <p:nvPicPr>
          <p:cNvPr id="304" name="Google Shape;304;p34"/>
          <p:cNvPicPr preferRelativeResize="0"/>
          <p:nvPr/>
        </p:nvPicPr>
        <p:blipFill rotWithShape="1">
          <a:blip r:embed="rId3">
            <a:alphaModFix/>
          </a:blip>
          <a:srcRect/>
          <a:stretch/>
        </p:blipFill>
        <p:spPr>
          <a:xfrm>
            <a:off x="1508743" y="3752268"/>
            <a:ext cx="8260899" cy="2647717"/>
          </a:xfrm>
          <a:prstGeom prst="rect">
            <a:avLst/>
          </a:prstGeom>
          <a:noFill/>
          <a:ln>
            <a:noFill/>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5"/>
          <p:cNvSpPr txBox="1">
            <a:spLocks noGrp="1"/>
          </p:cNvSpPr>
          <p:nvPr>
            <p:ph type="title"/>
          </p:nvPr>
        </p:nvSpPr>
        <p:spPr>
          <a:xfrm>
            <a:off x="838200" y="365125"/>
            <a:ext cx="10515600" cy="76584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ct val="100000"/>
              <a:buFont typeface="Calibri"/>
              <a:buNone/>
            </a:pPr>
            <a:r>
              <a:rPr lang="en-US" dirty="0"/>
              <a:t/>
            </a:r>
            <a:br>
              <a:rPr lang="en-US" dirty="0"/>
            </a:br>
            <a:r>
              <a:rPr lang="en-US" dirty="0"/>
              <a:t>Feature Extraction: </a:t>
            </a:r>
            <a:r>
              <a:rPr lang="en-US" dirty="0" smtClean="0">
                <a:cs typeface="Times New Roman"/>
                <a:sym typeface="Times New Roman"/>
              </a:rPr>
              <a:t>LDA</a:t>
            </a:r>
            <a:r>
              <a:rPr lang="en-US" dirty="0">
                <a:ea typeface="Calibri"/>
                <a:cs typeface="Calibri"/>
                <a:sym typeface="Calibri"/>
              </a:rPr>
              <a:t/>
            </a:r>
            <a:br>
              <a:rPr lang="en-US" dirty="0">
                <a:ea typeface="Calibri"/>
                <a:cs typeface="Calibri"/>
                <a:sym typeface="Calibri"/>
              </a:rPr>
            </a:br>
            <a:endParaRPr dirty="0"/>
          </a:p>
        </p:txBody>
      </p:sp>
      <p:sp>
        <p:nvSpPr>
          <p:cNvPr id="310" name="Google Shape;310;p35"/>
          <p:cNvSpPr txBox="1">
            <a:spLocks noGrp="1"/>
          </p:cNvSpPr>
          <p:nvPr>
            <p:ph idx="1"/>
          </p:nvPr>
        </p:nvSpPr>
        <p:spPr>
          <a:xfrm>
            <a:off x="838200" y="1364163"/>
            <a:ext cx="10515600" cy="4957763"/>
          </a:xfrm>
          <a:prstGeom prst="rect">
            <a:avLst/>
          </a:prstGeom>
          <a:noFill/>
          <a:ln>
            <a:noFill/>
          </a:ln>
        </p:spPr>
        <p:txBody>
          <a:bodyPr spcFirstLastPara="1" wrap="square" lIns="91425" tIns="45700" rIns="91425" bIns="45700" anchor="t" anchorCtr="0">
            <a:normAutofit/>
          </a:bodyPr>
          <a:lstStyle/>
          <a:p>
            <a:pPr marL="0" marR="0" lvl="0" indent="0" algn="l" rtl="0">
              <a:lnSpc>
                <a:spcPct val="107000"/>
              </a:lnSpc>
              <a:spcBef>
                <a:spcPts val="0"/>
              </a:spcBef>
              <a:spcAft>
                <a:spcPts val="0"/>
              </a:spcAft>
              <a:buClr>
                <a:schemeClr val="dk1"/>
              </a:buClr>
              <a:buSzPts val="2400"/>
              <a:buNone/>
            </a:pPr>
            <a:r>
              <a:rPr lang="en-US" sz="2400" dirty="0">
                <a:ea typeface="Times New Roman"/>
                <a:cs typeface="Times New Roman"/>
                <a:sym typeface="Times New Roman"/>
              </a:rPr>
              <a:t>LDA is a supervised machine learning algorithm that seeks to find the directions in the data that best separate the different known categories.</a:t>
            </a:r>
            <a:endParaRPr sz="2400" dirty="0">
              <a:ea typeface="Calibri"/>
              <a:cs typeface="Calibri"/>
              <a:sym typeface="Calibri"/>
            </a:endParaRPr>
          </a:p>
          <a:p>
            <a:pPr marL="228600" lvl="0" indent="-50800" algn="l" rtl="0">
              <a:lnSpc>
                <a:spcPct val="90000"/>
              </a:lnSpc>
              <a:spcBef>
                <a:spcPts val="18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p:txBody>
      </p:sp>
      <p:pic>
        <p:nvPicPr>
          <p:cNvPr id="311" name="Google Shape;311;p35"/>
          <p:cNvPicPr preferRelativeResize="0"/>
          <p:nvPr/>
        </p:nvPicPr>
        <p:blipFill rotWithShape="1">
          <a:blip r:embed="rId3">
            <a:alphaModFix/>
          </a:blip>
          <a:srcRect/>
          <a:stretch/>
        </p:blipFill>
        <p:spPr>
          <a:xfrm>
            <a:off x="1805521" y="2650957"/>
            <a:ext cx="6671945" cy="3203575"/>
          </a:xfrm>
          <a:prstGeom prst="rect">
            <a:avLst/>
          </a:prstGeom>
          <a:noFill/>
          <a:ln>
            <a:noFill/>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7" name="Google Shape;317;p36"/>
          <p:cNvSpPr txBox="1">
            <a:spLocks noGrp="1"/>
          </p:cNvSpPr>
          <p:nvPr>
            <p:ph idx="1"/>
          </p:nvPr>
        </p:nvSpPr>
        <p:spPr>
          <a:xfrm>
            <a:off x="838200" y="1219200"/>
            <a:ext cx="10515600" cy="4957763"/>
          </a:xfrm>
          <a:prstGeom prst="rect">
            <a:avLst/>
          </a:prstGeom>
          <a:noFill/>
          <a:ln>
            <a:noFill/>
          </a:ln>
        </p:spPr>
        <p:txBody>
          <a:bodyPr spcFirstLastPara="1" wrap="square" lIns="91425" tIns="45700" rIns="91425" bIns="45700" anchor="t" anchorCtr="0">
            <a:normAutofit/>
          </a:bodyPr>
          <a:lstStyle/>
          <a:p>
            <a:pPr marL="0" marR="0" lvl="0" indent="0" algn="l" rtl="0">
              <a:lnSpc>
                <a:spcPct val="107000"/>
              </a:lnSpc>
              <a:spcBef>
                <a:spcPts val="0"/>
              </a:spcBef>
              <a:spcAft>
                <a:spcPts val="0"/>
              </a:spcAft>
              <a:buClr>
                <a:schemeClr val="dk1"/>
              </a:buClr>
              <a:buSzPts val="2400"/>
              <a:buNone/>
            </a:pPr>
            <a:r>
              <a:rPr lang="en-US" sz="2400" dirty="0">
                <a:ea typeface="Times New Roman"/>
                <a:cs typeface="Times New Roman"/>
                <a:sym typeface="Times New Roman"/>
              </a:rPr>
              <a:t>LDA is a supervised machine learning algorithm that seeks to find the directions in the data that best separate the different known categories.</a:t>
            </a:r>
            <a:endParaRPr sz="2400" dirty="0">
              <a:ea typeface="Calibri"/>
              <a:cs typeface="Calibri"/>
              <a:sym typeface="Calibri"/>
            </a:endParaRPr>
          </a:p>
          <a:p>
            <a:pPr marL="228600" lvl="0" indent="-50800" algn="l" rtl="0">
              <a:lnSpc>
                <a:spcPct val="90000"/>
              </a:lnSpc>
              <a:spcBef>
                <a:spcPts val="18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p:txBody>
      </p:sp>
      <p:pic>
        <p:nvPicPr>
          <p:cNvPr id="318" name="Google Shape;318;p36"/>
          <p:cNvPicPr preferRelativeResize="0"/>
          <p:nvPr/>
        </p:nvPicPr>
        <p:blipFill rotWithShape="1">
          <a:blip r:embed="rId3">
            <a:alphaModFix/>
          </a:blip>
          <a:srcRect/>
          <a:stretch/>
        </p:blipFill>
        <p:spPr>
          <a:xfrm>
            <a:off x="2711116" y="3312694"/>
            <a:ext cx="6317631" cy="3180181"/>
          </a:xfrm>
          <a:prstGeom prst="rect">
            <a:avLst/>
          </a:prstGeom>
          <a:noFill/>
          <a:ln>
            <a:noFill/>
          </a:ln>
        </p:spPr>
      </p:pic>
      <p:sp>
        <p:nvSpPr>
          <p:cNvPr id="7" name="Google Shape;309;p35"/>
          <p:cNvSpPr txBox="1">
            <a:spLocks noGrp="1"/>
          </p:cNvSpPr>
          <p:nvPr>
            <p:ph type="title"/>
          </p:nvPr>
        </p:nvSpPr>
        <p:spPr>
          <a:xfrm>
            <a:off x="1009895" y="153480"/>
            <a:ext cx="9720072" cy="149961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ct val="100000"/>
              <a:buFont typeface="Calibri"/>
              <a:buNone/>
            </a:pPr>
            <a:r>
              <a:rPr lang="en-US" dirty="0"/>
              <a:t/>
            </a:r>
            <a:br>
              <a:rPr lang="en-US" dirty="0"/>
            </a:br>
            <a:r>
              <a:rPr lang="en-US" dirty="0"/>
              <a:t>Feature Extraction: </a:t>
            </a:r>
            <a:r>
              <a:rPr lang="en-US" dirty="0" smtClean="0">
                <a:cs typeface="Times New Roman"/>
                <a:sym typeface="Times New Roman"/>
              </a:rPr>
              <a:t>LDA</a:t>
            </a:r>
            <a:r>
              <a:rPr lang="en-US" dirty="0">
                <a:ea typeface="Calibri"/>
                <a:cs typeface="Calibri"/>
                <a:sym typeface="Calibri"/>
              </a:rPr>
              <a:t/>
            </a:r>
            <a:br>
              <a:rPr lang="en-US" dirty="0">
                <a:ea typeface="Calibri"/>
                <a:cs typeface="Calibri"/>
                <a:sym typeface="Calibri"/>
              </a:rPr>
            </a:br>
            <a:endParaRPr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7"/>
          <p:cNvSpPr txBox="1">
            <a:spLocks noGrp="1"/>
          </p:cNvSpPr>
          <p:nvPr>
            <p:ph type="title"/>
          </p:nvPr>
        </p:nvSpPr>
        <p:spPr>
          <a:xfrm>
            <a:off x="838200" y="610452"/>
            <a:ext cx="10515600" cy="100647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Calibri"/>
              <a:buNone/>
            </a:pPr>
            <a:r>
              <a:rPr lang="en-US" sz="3600" b="1" dirty="0"/>
              <a:t/>
            </a:r>
            <a:br>
              <a:rPr lang="en-US" sz="3600" b="1" dirty="0"/>
            </a:br>
            <a:r>
              <a:rPr lang="en-US" sz="5600" dirty="0" err="1"/>
              <a:t>Feaure</a:t>
            </a:r>
            <a:r>
              <a:rPr lang="en-US" sz="5600" dirty="0"/>
              <a:t> Extraction: </a:t>
            </a:r>
            <a:r>
              <a:rPr lang="en-US" sz="5600" dirty="0" smtClean="0">
                <a:ea typeface="Times New Roman"/>
                <a:cs typeface="Times New Roman"/>
                <a:sym typeface="Times New Roman"/>
              </a:rPr>
              <a:t>T-SNE</a:t>
            </a:r>
            <a:r>
              <a:rPr lang="en-US" sz="4400" dirty="0">
                <a:ea typeface="Calibri"/>
                <a:cs typeface="Calibri"/>
                <a:sym typeface="Calibri"/>
              </a:rPr>
              <a:t/>
            </a:r>
            <a:br>
              <a:rPr lang="en-US" sz="4400" dirty="0">
                <a:ea typeface="Calibri"/>
                <a:cs typeface="Calibri"/>
                <a:sym typeface="Calibri"/>
              </a:rPr>
            </a:br>
            <a:endParaRPr dirty="0"/>
          </a:p>
        </p:txBody>
      </p:sp>
      <p:sp>
        <p:nvSpPr>
          <p:cNvPr id="324" name="Google Shape;324;p37"/>
          <p:cNvSpPr txBox="1">
            <a:spLocks noGrp="1"/>
          </p:cNvSpPr>
          <p:nvPr>
            <p:ph idx="1"/>
          </p:nvPr>
        </p:nvSpPr>
        <p:spPr>
          <a:xfrm>
            <a:off x="838200" y="2156911"/>
            <a:ext cx="10515600" cy="4701089"/>
          </a:xfrm>
          <a:prstGeom prst="rect">
            <a:avLst/>
          </a:prstGeom>
          <a:noFill/>
          <a:ln>
            <a:noFill/>
          </a:ln>
        </p:spPr>
        <p:txBody>
          <a:bodyPr spcFirstLastPara="1" wrap="square" lIns="91425" tIns="45700" rIns="91425" bIns="45700" anchor="t" anchorCtr="0">
            <a:normAutofit/>
          </a:bodyPr>
          <a:lstStyle/>
          <a:p>
            <a:pPr marL="0" lvl="0" indent="0">
              <a:lnSpc>
                <a:spcPct val="107000"/>
              </a:lnSpc>
              <a:spcBef>
                <a:spcPts val="0"/>
              </a:spcBef>
              <a:spcAft>
                <a:spcPts val="0"/>
              </a:spcAft>
              <a:buClr>
                <a:schemeClr val="dk1"/>
              </a:buClr>
              <a:buSzPts val="2400"/>
              <a:buNone/>
            </a:pPr>
            <a:r>
              <a:rPr lang="en-US" sz="2400" dirty="0">
                <a:ea typeface="Times New Roman"/>
                <a:cs typeface="Times New Roman"/>
                <a:sym typeface="Times New Roman"/>
              </a:rPr>
              <a:t>T-distributed Stochastic Neighbor </a:t>
            </a:r>
            <a:r>
              <a:rPr lang="en-US" sz="2400" dirty="0" smtClean="0">
                <a:ea typeface="Times New Roman"/>
                <a:cs typeface="Times New Roman"/>
                <a:sym typeface="Times New Roman"/>
              </a:rPr>
              <a:t>Embedding (T-SNE) </a:t>
            </a:r>
            <a:r>
              <a:rPr lang="en-US" sz="2400" dirty="0">
                <a:ea typeface="Times New Roman"/>
                <a:cs typeface="Times New Roman"/>
                <a:sym typeface="Times New Roman"/>
              </a:rPr>
              <a:t>is a non-linear dimensionality reduction algorithm that can be used to separate data that a line cannot separate.</a:t>
            </a:r>
            <a:endParaRPr sz="2400" dirty="0">
              <a:ea typeface="Calibri"/>
              <a:cs typeface="Calibri"/>
              <a:sym typeface="Calibri"/>
            </a:endParaRPr>
          </a:p>
          <a:p>
            <a:pPr marL="228600" lvl="0" indent="-228600" algn="l" rtl="0">
              <a:lnSpc>
                <a:spcPct val="90000"/>
              </a:lnSpc>
              <a:spcBef>
                <a:spcPts val="1800"/>
              </a:spcBef>
              <a:spcAft>
                <a:spcPts val="0"/>
              </a:spcAft>
              <a:buClr>
                <a:schemeClr val="dk1"/>
              </a:buClr>
              <a:buSzPts val="2400"/>
              <a:buChar char="•"/>
            </a:pPr>
            <a:r>
              <a:rPr lang="en-US" sz="2400" dirty="0">
                <a:ea typeface="Times New Roman"/>
                <a:cs typeface="Times New Roman"/>
                <a:sym typeface="Times New Roman"/>
              </a:rPr>
              <a:t>It does this by projecting the data into a lower dimension</a:t>
            </a:r>
            <a:r>
              <a:rPr lang="en-US" sz="2400" dirty="0">
                <a:ea typeface="Quattrocento Sans"/>
                <a:cs typeface="Quattrocento Sans"/>
                <a:sym typeface="Quattrocento Sans"/>
              </a:rPr>
              <a:t> </a:t>
            </a:r>
            <a:r>
              <a:rPr lang="en-US" sz="2400" dirty="0">
                <a:ea typeface="Times New Roman"/>
                <a:cs typeface="Times New Roman"/>
                <a:sym typeface="Times New Roman"/>
              </a:rPr>
              <a:t>while preserving the clustering in the high-dimensional space</a:t>
            </a:r>
            <a:endParaRPr sz="240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8"/>
          <p:cNvSpPr txBox="1">
            <a:spLocks noGrp="1"/>
          </p:cNvSpPr>
          <p:nvPr>
            <p:ph type="title"/>
          </p:nvPr>
        </p:nvSpPr>
        <p:spPr>
          <a:xfrm>
            <a:off x="838200" y="365125"/>
            <a:ext cx="10515600" cy="90220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dirty="0"/>
              <a:t>Feature Selection</a:t>
            </a:r>
            <a:endParaRPr dirty="0"/>
          </a:p>
        </p:txBody>
      </p:sp>
      <p:sp>
        <p:nvSpPr>
          <p:cNvPr id="330" name="Google Shape;330;p38"/>
          <p:cNvSpPr txBox="1">
            <a:spLocks noGrp="1"/>
          </p:cNvSpPr>
          <p:nvPr>
            <p:ph idx="1"/>
          </p:nvPr>
        </p:nvSpPr>
        <p:spPr>
          <a:xfrm>
            <a:off x="838200" y="1532021"/>
            <a:ext cx="10515600" cy="4644942"/>
          </a:xfrm>
          <a:prstGeom prst="rect">
            <a:avLst/>
          </a:prstGeom>
          <a:noFill/>
          <a:ln>
            <a:noFill/>
          </a:ln>
        </p:spPr>
        <p:txBody>
          <a:bodyPr spcFirstLastPara="1" wrap="square" lIns="91425" tIns="45700" rIns="91425" bIns="45700" anchor="t" anchorCtr="0">
            <a:normAutofit/>
          </a:bodyPr>
          <a:lstStyle/>
          <a:p>
            <a:pPr marL="0" marR="0" lvl="0" indent="0" algn="just" rtl="0">
              <a:lnSpc>
                <a:spcPct val="90000"/>
              </a:lnSpc>
              <a:spcBef>
                <a:spcPts val="0"/>
              </a:spcBef>
              <a:spcAft>
                <a:spcPts val="0"/>
              </a:spcAft>
              <a:buClr>
                <a:schemeClr val="dk1"/>
              </a:buClr>
              <a:buSzPts val="1800"/>
              <a:buNone/>
            </a:pPr>
            <a:r>
              <a:rPr lang="en-US" sz="2400" dirty="0">
                <a:ea typeface="Times New Roman"/>
                <a:cs typeface="Times New Roman"/>
                <a:sym typeface="Times New Roman"/>
              </a:rPr>
              <a:t>Feature selection is the process of identifying and selecting the most important features in a dataset relevant to predicting the target variable.</a:t>
            </a:r>
            <a:endParaRPr sz="2400" dirty="0"/>
          </a:p>
          <a:p>
            <a:pPr marL="0" marR="0" lvl="0" indent="0" algn="just" rtl="0">
              <a:lnSpc>
                <a:spcPct val="90000"/>
              </a:lnSpc>
              <a:spcBef>
                <a:spcPts val="1000"/>
              </a:spcBef>
              <a:spcAft>
                <a:spcPts val="0"/>
              </a:spcAft>
              <a:buClr>
                <a:schemeClr val="dk1"/>
              </a:buClr>
              <a:buSzPts val="1800"/>
              <a:buNone/>
            </a:pPr>
            <a:r>
              <a:rPr lang="en-US" sz="2400" dirty="0">
                <a:ea typeface="Times New Roman"/>
                <a:cs typeface="Times New Roman"/>
                <a:sym typeface="Times New Roman"/>
              </a:rPr>
              <a:t>There are mainly three techniques used for feature selection:</a:t>
            </a:r>
            <a:endParaRPr sz="2400" dirty="0"/>
          </a:p>
          <a:p>
            <a:pPr marL="1082675" marR="0" lvl="0" indent="-457200" algn="just" rtl="0">
              <a:lnSpc>
                <a:spcPct val="90000"/>
              </a:lnSpc>
              <a:spcBef>
                <a:spcPts val="1000"/>
              </a:spcBef>
              <a:spcAft>
                <a:spcPts val="0"/>
              </a:spcAft>
              <a:buClr>
                <a:schemeClr val="dk1"/>
              </a:buClr>
              <a:buSzPts val="1000"/>
              <a:buFont typeface="Noto Sans Symbols"/>
              <a:buChar char="❑"/>
            </a:pPr>
            <a:r>
              <a:rPr lang="en-US" sz="2400" dirty="0">
                <a:ea typeface="Times New Roman"/>
                <a:cs typeface="Times New Roman"/>
                <a:sym typeface="Times New Roman"/>
              </a:rPr>
              <a:t>Filter methods</a:t>
            </a:r>
            <a:endParaRPr sz="2400" dirty="0"/>
          </a:p>
          <a:p>
            <a:pPr marL="1082675" marR="0" lvl="0" indent="-457200" algn="just" rtl="0">
              <a:lnSpc>
                <a:spcPct val="90000"/>
              </a:lnSpc>
              <a:spcBef>
                <a:spcPts val="1000"/>
              </a:spcBef>
              <a:spcAft>
                <a:spcPts val="0"/>
              </a:spcAft>
              <a:buClr>
                <a:schemeClr val="dk1"/>
              </a:buClr>
              <a:buSzPts val="1000"/>
              <a:buFont typeface="Noto Sans Symbols"/>
              <a:buChar char="❑"/>
            </a:pPr>
            <a:r>
              <a:rPr lang="en-US" sz="2400" dirty="0">
                <a:ea typeface="Times New Roman"/>
                <a:cs typeface="Times New Roman"/>
                <a:sym typeface="Times New Roman"/>
              </a:rPr>
              <a:t>Wrapper methods</a:t>
            </a:r>
            <a:endParaRPr sz="2400" dirty="0"/>
          </a:p>
          <a:p>
            <a:pPr marL="1082675" marR="0" lvl="0" indent="-457200" algn="just" rtl="0">
              <a:lnSpc>
                <a:spcPct val="90000"/>
              </a:lnSpc>
              <a:spcBef>
                <a:spcPts val="1000"/>
              </a:spcBef>
              <a:spcAft>
                <a:spcPts val="0"/>
              </a:spcAft>
              <a:buClr>
                <a:schemeClr val="dk1"/>
              </a:buClr>
              <a:buSzPts val="1000"/>
              <a:buFont typeface="Noto Sans Symbols"/>
              <a:buChar char="❑"/>
            </a:pPr>
            <a:r>
              <a:rPr lang="en-US" sz="2400" dirty="0">
                <a:ea typeface="Times New Roman"/>
                <a:cs typeface="Times New Roman"/>
                <a:sym typeface="Times New Roman"/>
              </a:rPr>
              <a:t>Embedded methods.</a:t>
            </a:r>
            <a:endParaRPr sz="2400" dirty="0"/>
          </a:p>
          <a:p>
            <a:pPr marL="0" marR="0" lvl="0" indent="0" algn="just" rtl="0">
              <a:lnSpc>
                <a:spcPct val="90000"/>
              </a:lnSpc>
              <a:spcBef>
                <a:spcPts val="1000"/>
              </a:spcBef>
              <a:spcAft>
                <a:spcPts val="0"/>
              </a:spcAft>
              <a:buClr>
                <a:schemeClr val="dk1"/>
              </a:buClr>
              <a:buSzPts val="1000"/>
              <a:buNone/>
            </a:pPr>
            <a:endParaRPr sz="2400" dirty="0">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sz="2400" dirty="0"/>
          </a:p>
        </p:txBody>
      </p:sp>
      <p:pic>
        <p:nvPicPr>
          <p:cNvPr id="331" name="Google Shape;331;p38"/>
          <p:cNvPicPr preferRelativeResize="0"/>
          <p:nvPr/>
        </p:nvPicPr>
        <p:blipFill rotWithShape="1">
          <a:blip r:embed="rId3">
            <a:alphaModFix/>
          </a:blip>
          <a:srcRect/>
          <a:stretch/>
        </p:blipFill>
        <p:spPr>
          <a:xfrm>
            <a:off x="2867527" y="3612281"/>
            <a:ext cx="6456946" cy="2283193"/>
          </a:xfrm>
          <a:prstGeom prst="rect">
            <a:avLst/>
          </a:prstGeom>
          <a:noFill/>
          <a:ln>
            <a:noFill/>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9"/>
          <p:cNvSpPr txBox="1">
            <a:spLocks noGrp="1"/>
          </p:cNvSpPr>
          <p:nvPr>
            <p:ph type="title"/>
          </p:nvPr>
        </p:nvSpPr>
        <p:spPr>
          <a:xfrm>
            <a:off x="838200" y="365125"/>
            <a:ext cx="10515600" cy="90220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Times New Roman"/>
              <a:buNone/>
            </a:pPr>
            <a:r>
              <a:rPr lang="en-US" b="1" dirty="0">
                <a:ea typeface="Times New Roman"/>
                <a:cs typeface="Times New Roman"/>
                <a:sym typeface="Times New Roman"/>
              </a:rPr>
              <a:t>Feature Selection: </a:t>
            </a:r>
            <a:r>
              <a:rPr lang="en-US" b="1" u="sng" dirty="0">
                <a:ea typeface="Times New Roman"/>
                <a:cs typeface="Times New Roman"/>
                <a:sym typeface="Times New Roman"/>
              </a:rPr>
              <a:t>Filter methods</a:t>
            </a:r>
            <a:r>
              <a:rPr lang="en-US" b="1" dirty="0">
                <a:ea typeface="Times New Roman"/>
                <a:cs typeface="Times New Roman"/>
                <a:sym typeface="Times New Roman"/>
              </a:rPr>
              <a:t> </a:t>
            </a:r>
            <a:endParaRPr b="1" dirty="0">
              <a:ea typeface="Times New Roman"/>
              <a:cs typeface="Times New Roman"/>
              <a:sym typeface="Times New Roman"/>
            </a:endParaRPr>
          </a:p>
        </p:txBody>
      </p:sp>
      <p:sp>
        <p:nvSpPr>
          <p:cNvPr id="337" name="Google Shape;337;p39"/>
          <p:cNvSpPr txBox="1">
            <a:spLocks noGrp="1"/>
          </p:cNvSpPr>
          <p:nvPr>
            <p:ph idx="1"/>
          </p:nvPr>
        </p:nvSpPr>
        <p:spPr>
          <a:xfrm>
            <a:off x="838200" y="1515979"/>
            <a:ext cx="10515600" cy="464494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800"/>
              <a:buChar char="•"/>
            </a:pPr>
            <a:r>
              <a:rPr lang="en-US" sz="2400" b="1" u="sng" dirty="0">
                <a:ea typeface="Calibri"/>
                <a:cs typeface="Calibri"/>
                <a:sym typeface="Calibri"/>
              </a:rPr>
              <a:t>Filter methods</a:t>
            </a:r>
            <a:r>
              <a:rPr lang="en-US" sz="2400" dirty="0">
                <a:ea typeface="Calibri"/>
                <a:cs typeface="Calibri"/>
                <a:sym typeface="Calibri"/>
              </a:rPr>
              <a:t> select features based on a statistical measure, and they do this by focusing on a single feature at a time and comparing it to the other features. The selection of features is not based on a learning algorithm.</a:t>
            </a:r>
            <a:endParaRPr sz="2400" dirty="0"/>
          </a:p>
          <a:p>
            <a:pPr marL="228600" lvl="0" indent="-50800" algn="l" rtl="0">
              <a:lnSpc>
                <a:spcPct val="90000"/>
              </a:lnSpc>
              <a:spcBef>
                <a:spcPts val="1000"/>
              </a:spcBef>
              <a:spcAft>
                <a:spcPts val="0"/>
              </a:spcAft>
              <a:buClr>
                <a:schemeClr val="dk1"/>
              </a:buClr>
              <a:buSzPts val="2800"/>
              <a:buNone/>
            </a:pPr>
            <a:endParaRPr sz="2400" dirty="0"/>
          </a:p>
        </p:txBody>
      </p:sp>
      <p:pic>
        <p:nvPicPr>
          <p:cNvPr id="338" name="Google Shape;338;p39"/>
          <p:cNvPicPr preferRelativeResize="0"/>
          <p:nvPr/>
        </p:nvPicPr>
        <p:blipFill rotWithShape="1">
          <a:blip r:embed="rId3">
            <a:alphaModFix/>
          </a:blip>
          <a:srcRect/>
          <a:stretch/>
        </p:blipFill>
        <p:spPr>
          <a:xfrm>
            <a:off x="2939716" y="2795370"/>
            <a:ext cx="5943600" cy="2871470"/>
          </a:xfrm>
          <a:prstGeom prst="rect">
            <a:avLst/>
          </a:prstGeom>
          <a:noFill/>
          <a:ln>
            <a:noFill/>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40"/>
          <p:cNvSpPr txBox="1">
            <a:spLocks noGrp="1"/>
          </p:cNvSpPr>
          <p:nvPr>
            <p:ph type="title"/>
          </p:nvPr>
        </p:nvSpPr>
        <p:spPr>
          <a:xfrm>
            <a:off x="838200" y="168443"/>
            <a:ext cx="10515600" cy="90220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dirty="0"/>
              <a:t>Feature Selection: Filter Method</a:t>
            </a:r>
            <a:endParaRPr dirty="0"/>
          </a:p>
        </p:txBody>
      </p:sp>
      <p:sp>
        <p:nvSpPr>
          <p:cNvPr id="344" name="Google Shape;344;p40"/>
          <p:cNvSpPr txBox="1">
            <a:spLocks noGrp="1"/>
          </p:cNvSpPr>
          <p:nvPr>
            <p:ph idx="1"/>
          </p:nvPr>
        </p:nvSpPr>
        <p:spPr>
          <a:xfrm>
            <a:off x="838200" y="914400"/>
            <a:ext cx="10515600" cy="5775157"/>
          </a:xfrm>
          <a:prstGeom prst="rect">
            <a:avLst/>
          </a:prstGeom>
          <a:noFill/>
          <a:ln>
            <a:noFill/>
          </a:ln>
        </p:spPr>
        <p:txBody>
          <a:bodyPr spcFirstLastPara="1" wrap="square" lIns="91425" tIns="45700" rIns="91425" bIns="45700" anchor="t" anchorCtr="0">
            <a:noAutofit/>
          </a:bodyPr>
          <a:lstStyle/>
          <a:p>
            <a:pPr marL="0" marR="0" lvl="0" indent="0" algn="just" rtl="0">
              <a:lnSpc>
                <a:spcPct val="107000"/>
              </a:lnSpc>
              <a:spcBef>
                <a:spcPts val="0"/>
              </a:spcBef>
              <a:spcAft>
                <a:spcPts val="0"/>
              </a:spcAft>
              <a:buClr>
                <a:schemeClr val="dk1"/>
              </a:buClr>
              <a:buSzPts val="2200"/>
              <a:buNone/>
            </a:pPr>
            <a:r>
              <a:rPr lang="en-US" sz="2200" i="1" dirty="0">
                <a:ea typeface="Times New Roman"/>
                <a:cs typeface="Times New Roman"/>
                <a:sym typeface="Times New Roman"/>
              </a:rPr>
              <a:t>Filter methods can be done in the following ways:</a:t>
            </a:r>
            <a:endParaRPr sz="2200" dirty="0">
              <a:ea typeface="Calibri"/>
              <a:cs typeface="Calibri"/>
              <a:sym typeface="Calibri"/>
            </a:endParaRPr>
          </a:p>
          <a:p>
            <a:pPr marL="457200" marR="0" lvl="0" indent="-457200" algn="just" rtl="0">
              <a:lnSpc>
                <a:spcPct val="107000"/>
              </a:lnSpc>
              <a:spcBef>
                <a:spcPts val="800"/>
              </a:spcBef>
              <a:spcAft>
                <a:spcPts val="0"/>
              </a:spcAft>
              <a:buClr>
                <a:schemeClr val="dk1"/>
              </a:buClr>
              <a:buSzPts val="1000"/>
              <a:buNone/>
            </a:pPr>
            <a:r>
              <a:rPr lang="en-US" sz="2200" b="1" dirty="0">
                <a:ea typeface="Times New Roman"/>
                <a:cs typeface="Times New Roman"/>
                <a:sym typeface="Times New Roman"/>
              </a:rPr>
              <a:t>Correlation</a:t>
            </a:r>
            <a:r>
              <a:rPr lang="en-US" sz="2200" dirty="0">
                <a:ea typeface="Times New Roman"/>
                <a:cs typeface="Times New Roman"/>
                <a:sym typeface="Times New Roman"/>
              </a:rPr>
              <a:t>: This method is like a couple on a blind date. They're a match made in heaven if they have a high correlation. But if they have a low correlation, they're better off going their separate ways.</a:t>
            </a:r>
            <a:endParaRPr sz="2200" dirty="0">
              <a:ea typeface="Calibri"/>
              <a:cs typeface="Calibri"/>
              <a:sym typeface="Calibri"/>
            </a:endParaRPr>
          </a:p>
          <a:p>
            <a:pPr marL="457200" marR="0" lvl="0" indent="-457200" algn="just" rtl="0">
              <a:lnSpc>
                <a:spcPct val="107000"/>
              </a:lnSpc>
              <a:spcBef>
                <a:spcPts val="800"/>
              </a:spcBef>
              <a:spcAft>
                <a:spcPts val="0"/>
              </a:spcAft>
              <a:buClr>
                <a:schemeClr val="dk1"/>
              </a:buClr>
              <a:buSzPts val="2200"/>
              <a:buNone/>
            </a:pPr>
            <a:r>
              <a:rPr lang="en-US" sz="2200" dirty="0">
                <a:ea typeface="Times New Roman"/>
                <a:cs typeface="Times New Roman"/>
                <a:sym typeface="Times New Roman"/>
              </a:rPr>
              <a:t>This method calculates the correlation(using </a:t>
            </a:r>
            <a:r>
              <a:rPr lang="en-US" sz="2200" dirty="0" err="1">
                <a:ea typeface="Times New Roman"/>
                <a:cs typeface="Times New Roman"/>
                <a:sym typeface="Times New Roman"/>
              </a:rPr>
              <a:t>corr</a:t>
            </a:r>
            <a:r>
              <a:rPr lang="en-US" sz="2200" dirty="0">
                <a:ea typeface="Times New Roman"/>
                <a:cs typeface="Times New Roman"/>
                <a:sym typeface="Times New Roman"/>
              </a:rPr>
              <a:t>() ) between each feature and the target variable. If the correlation is below a certain value, we remove that feature from consideration, as it doesn't seem to impact the target variable significantly.</a:t>
            </a:r>
            <a:endParaRPr sz="2200" dirty="0">
              <a:ea typeface="Calibri"/>
              <a:cs typeface="Calibri"/>
              <a:sym typeface="Calibri"/>
            </a:endParaRPr>
          </a:p>
          <a:p>
            <a:pPr marL="457200" marR="0" lvl="0" indent="-457200" algn="just" rtl="0">
              <a:lnSpc>
                <a:spcPct val="107000"/>
              </a:lnSpc>
              <a:spcBef>
                <a:spcPts val="800"/>
              </a:spcBef>
              <a:spcAft>
                <a:spcPts val="0"/>
              </a:spcAft>
              <a:buClr>
                <a:schemeClr val="dk1"/>
              </a:buClr>
              <a:buSzPts val="1000"/>
              <a:buNone/>
            </a:pPr>
            <a:r>
              <a:rPr lang="en-US" sz="2200" b="1" dirty="0">
                <a:ea typeface="Times New Roman"/>
                <a:cs typeface="Times New Roman"/>
                <a:sym typeface="Times New Roman"/>
              </a:rPr>
              <a:t>Variance threshold:</a:t>
            </a:r>
            <a:r>
              <a:rPr lang="en-US" sz="2200" dirty="0">
                <a:ea typeface="Times New Roman"/>
                <a:cs typeface="Times New Roman"/>
                <a:sym typeface="Times New Roman"/>
              </a:rPr>
              <a:t> If a feature has low variance, it's not very interesting, so it gets kicked out.</a:t>
            </a:r>
            <a:endParaRPr sz="2200" dirty="0">
              <a:ea typeface="Calibri"/>
              <a:cs typeface="Calibri"/>
              <a:sym typeface="Calibri"/>
            </a:endParaRPr>
          </a:p>
          <a:p>
            <a:pPr marL="457200" marR="0" lvl="0" indent="-457200" algn="just" rtl="0">
              <a:lnSpc>
                <a:spcPct val="107000"/>
              </a:lnSpc>
              <a:spcBef>
                <a:spcPts val="800"/>
              </a:spcBef>
              <a:spcAft>
                <a:spcPts val="0"/>
              </a:spcAft>
              <a:buClr>
                <a:schemeClr val="dk1"/>
              </a:buClr>
              <a:buSzPts val="2200"/>
              <a:buNone/>
            </a:pPr>
            <a:r>
              <a:rPr lang="en-US" sz="2200" b="1" dirty="0">
                <a:ea typeface="Times New Roman"/>
                <a:cs typeface="Times New Roman"/>
                <a:sym typeface="Times New Roman"/>
              </a:rPr>
              <a:t>Chi-squared test:</a:t>
            </a:r>
            <a:r>
              <a:rPr lang="en-US" sz="2200" dirty="0">
                <a:ea typeface="Times New Roman"/>
                <a:cs typeface="Times New Roman"/>
                <a:sym typeface="Times New Roman"/>
              </a:rPr>
              <a:t> This method is like a detective. It looks for associations between two categorical variables and determines if they're guilty of being important features.</a:t>
            </a:r>
            <a:endParaRPr sz="2200" dirty="0">
              <a:ea typeface="Calibri"/>
              <a:cs typeface="Calibri"/>
              <a:sym typeface="Calibri"/>
            </a:endParaRPr>
          </a:p>
          <a:p>
            <a:pPr marL="457200" marR="0" lvl="0" indent="-457200" algn="just" rtl="0">
              <a:lnSpc>
                <a:spcPct val="107000"/>
              </a:lnSpc>
              <a:spcBef>
                <a:spcPts val="0"/>
              </a:spcBef>
              <a:spcAft>
                <a:spcPts val="0"/>
              </a:spcAft>
              <a:buClr>
                <a:schemeClr val="dk1"/>
              </a:buClr>
              <a:buSzPts val="2200"/>
              <a:buNone/>
            </a:pPr>
            <a:endParaRPr sz="2200" dirty="0">
              <a:ea typeface="Calibri"/>
              <a:cs typeface="Calibri"/>
              <a:sym typeface="Calibri"/>
            </a:endParaRPr>
          </a:p>
          <a:p>
            <a:pPr marL="457200" marR="0" lvl="0" indent="-457200" algn="just" rtl="0">
              <a:lnSpc>
                <a:spcPct val="107000"/>
              </a:lnSpc>
              <a:spcBef>
                <a:spcPts val="0"/>
              </a:spcBef>
              <a:spcAft>
                <a:spcPts val="0"/>
              </a:spcAft>
              <a:buClr>
                <a:schemeClr val="dk1"/>
              </a:buClr>
              <a:buSzPts val="1000"/>
              <a:buNone/>
            </a:pPr>
            <a:r>
              <a:rPr lang="en-US" sz="2200" b="1" dirty="0">
                <a:ea typeface="Times New Roman"/>
                <a:cs typeface="Times New Roman"/>
                <a:sym typeface="Times New Roman"/>
              </a:rPr>
              <a:t>ANOVA: </a:t>
            </a:r>
            <a:r>
              <a:rPr lang="en-US" sz="2200" dirty="0">
                <a:ea typeface="Times New Roman"/>
                <a:cs typeface="Times New Roman"/>
                <a:sym typeface="Times New Roman"/>
              </a:rPr>
              <a:t>This method is like a judge in a courtroom. It looks at the means of multiple groups and decides if there's enough evidence to convict them of being essential features</a:t>
            </a:r>
            <a:r>
              <a:rPr lang="en-US" sz="2200" dirty="0">
                <a:ea typeface="Quattrocento Sans"/>
                <a:cs typeface="Quattrocento Sans"/>
                <a:sym typeface="Quattrocento Sans"/>
              </a:rPr>
              <a:t>.</a:t>
            </a:r>
            <a:endParaRPr sz="2200" dirty="0">
              <a:ea typeface="Calibri"/>
              <a:cs typeface="Calibri"/>
              <a:sym typeface="Calibri"/>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41"/>
          <p:cNvSpPr txBox="1">
            <a:spLocks noGrp="1"/>
          </p:cNvSpPr>
          <p:nvPr>
            <p:ph type="title"/>
          </p:nvPr>
        </p:nvSpPr>
        <p:spPr>
          <a:xfrm>
            <a:off x="838200" y="365125"/>
            <a:ext cx="10515600" cy="71771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ct val="100000"/>
              <a:buFont typeface="Calibri"/>
              <a:buNone/>
            </a:pPr>
            <a:r>
              <a:rPr lang="en-US" dirty="0"/>
              <a:t/>
            </a:r>
            <a:br>
              <a:rPr lang="en-US" dirty="0"/>
            </a:br>
            <a:r>
              <a:rPr lang="en-US" dirty="0"/>
              <a:t>Feature Selection: </a:t>
            </a:r>
            <a:r>
              <a:rPr lang="en-US" dirty="0">
                <a:ea typeface="Times New Roman"/>
                <a:cs typeface="Times New Roman"/>
                <a:sym typeface="Times New Roman"/>
              </a:rPr>
              <a:t>Wrapper methods</a:t>
            </a:r>
            <a:r>
              <a:rPr lang="en-US" dirty="0">
                <a:ea typeface="Calibri"/>
                <a:cs typeface="Calibri"/>
                <a:sym typeface="Calibri"/>
              </a:rPr>
              <a:t/>
            </a:r>
            <a:br>
              <a:rPr lang="en-US" dirty="0">
                <a:ea typeface="Calibri"/>
                <a:cs typeface="Calibri"/>
                <a:sym typeface="Calibri"/>
              </a:rPr>
            </a:br>
            <a:endParaRPr dirty="0"/>
          </a:p>
        </p:txBody>
      </p:sp>
      <p:sp>
        <p:nvSpPr>
          <p:cNvPr id="350" name="Google Shape;350;p41"/>
          <p:cNvSpPr txBox="1">
            <a:spLocks noGrp="1"/>
          </p:cNvSpPr>
          <p:nvPr>
            <p:ph idx="1"/>
          </p:nvPr>
        </p:nvSpPr>
        <p:spPr>
          <a:xfrm>
            <a:off x="838200" y="1532021"/>
            <a:ext cx="10515600" cy="4644942"/>
          </a:xfrm>
          <a:prstGeom prst="rect">
            <a:avLst/>
          </a:prstGeom>
          <a:noFill/>
          <a:ln>
            <a:noFill/>
          </a:ln>
        </p:spPr>
        <p:txBody>
          <a:bodyPr spcFirstLastPara="1" wrap="square" lIns="91425" tIns="45700" rIns="91425" bIns="45700" anchor="t" anchorCtr="0">
            <a:noAutofit/>
          </a:bodyPr>
          <a:lstStyle/>
          <a:p>
            <a:pPr marL="0" marR="0" lvl="0" indent="0" algn="just" rtl="0">
              <a:lnSpc>
                <a:spcPct val="107000"/>
              </a:lnSpc>
              <a:spcBef>
                <a:spcPts val="0"/>
              </a:spcBef>
              <a:spcAft>
                <a:spcPts val="0"/>
              </a:spcAft>
              <a:buClr>
                <a:schemeClr val="dk1"/>
              </a:buClr>
              <a:buSzPts val="2200"/>
              <a:buChar char="•"/>
            </a:pPr>
            <a:r>
              <a:rPr lang="en-US" sz="2400" dirty="0">
                <a:ea typeface="Times New Roman"/>
                <a:cs typeface="Times New Roman"/>
                <a:sym typeface="Times New Roman"/>
              </a:rPr>
              <a:t>Filter methods are a simple way to select features, but they do not consider the </a:t>
            </a:r>
            <a:r>
              <a:rPr lang="en-US" sz="2400" b="1" i="1" dirty="0">
                <a:ea typeface="Times New Roman"/>
                <a:cs typeface="Times New Roman"/>
                <a:sym typeface="Times New Roman"/>
              </a:rPr>
              <a:t>relationship between features</a:t>
            </a:r>
            <a:r>
              <a:rPr lang="en-US" sz="2400" dirty="0">
                <a:ea typeface="Times New Roman"/>
                <a:cs typeface="Times New Roman"/>
                <a:sym typeface="Times New Roman"/>
              </a:rPr>
              <a:t>. This can lead to the selection of features that are not relevant to the target variable.</a:t>
            </a:r>
            <a:endParaRPr sz="2400" dirty="0">
              <a:ea typeface="Calibri"/>
              <a:cs typeface="Calibri"/>
              <a:sym typeface="Calibri"/>
            </a:endParaRPr>
          </a:p>
          <a:p>
            <a:pPr marL="0" marR="0" lvl="0" indent="0" algn="just" rtl="0">
              <a:lnSpc>
                <a:spcPct val="107000"/>
              </a:lnSpc>
              <a:spcBef>
                <a:spcPts val="800"/>
              </a:spcBef>
              <a:spcAft>
                <a:spcPts val="0"/>
              </a:spcAft>
              <a:buClr>
                <a:schemeClr val="dk1"/>
              </a:buClr>
              <a:buSzPts val="2200"/>
              <a:buChar char="•"/>
            </a:pPr>
            <a:r>
              <a:rPr lang="en-US" sz="2400" b="1" i="1" dirty="0">
                <a:ea typeface="Times New Roman"/>
                <a:cs typeface="Times New Roman"/>
                <a:sym typeface="Times New Roman"/>
              </a:rPr>
              <a:t>The wrapper method </a:t>
            </a:r>
            <a:r>
              <a:rPr lang="en-US" sz="2400" dirty="0">
                <a:ea typeface="Times New Roman"/>
                <a:cs typeface="Times New Roman"/>
                <a:sym typeface="Times New Roman"/>
              </a:rPr>
              <a:t>is like a dating app for features. It takes many features out on dates with a machine learning algorithm and then sees which ones the algorithm likes the best. The feature that gets the most dates is the one that gets selected.</a:t>
            </a:r>
            <a:endParaRPr sz="2400" dirty="0">
              <a:ea typeface="Calibri"/>
              <a:cs typeface="Calibri"/>
              <a:sym typeface="Calibri"/>
            </a:endParaRPr>
          </a:p>
          <a:p>
            <a:pPr marL="0" marR="0" lvl="0" indent="0" algn="just" rtl="0">
              <a:lnSpc>
                <a:spcPct val="107000"/>
              </a:lnSpc>
              <a:spcBef>
                <a:spcPts val="800"/>
              </a:spcBef>
              <a:spcAft>
                <a:spcPts val="0"/>
              </a:spcAft>
              <a:buClr>
                <a:schemeClr val="dk1"/>
              </a:buClr>
              <a:buSzPts val="2200"/>
              <a:buNone/>
            </a:pPr>
            <a:r>
              <a:rPr lang="en-US" sz="2400" dirty="0">
                <a:ea typeface="Times New Roman"/>
                <a:cs typeface="Times New Roman"/>
                <a:sym typeface="Times New Roman"/>
              </a:rPr>
              <a:t>Wrapper method considers the relationship between features by training a machine learning algorithm on a subset of features and then evaluating the algorithm's performance."</a:t>
            </a:r>
            <a:endParaRPr sz="2400" dirty="0">
              <a:ea typeface="Calibri"/>
              <a:cs typeface="Calibri"/>
              <a:sym typeface="Calibri"/>
            </a:endParaRPr>
          </a:p>
          <a:p>
            <a:pPr marL="0" marR="0" lvl="0" indent="0" algn="just" rtl="0">
              <a:lnSpc>
                <a:spcPct val="107000"/>
              </a:lnSpc>
              <a:spcBef>
                <a:spcPts val="800"/>
              </a:spcBef>
              <a:spcAft>
                <a:spcPts val="0"/>
              </a:spcAft>
              <a:buClr>
                <a:schemeClr val="dk1"/>
              </a:buClr>
              <a:buSzPts val="2200"/>
              <a:buChar char="•"/>
            </a:pPr>
            <a:r>
              <a:rPr lang="en-US" sz="2400" dirty="0">
                <a:ea typeface="Times New Roman"/>
                <a:cs typeface="Times New Roman"/>
                <a:sym typeface="Times New Roman"/>
              </a:rPr>
              <a:t>This process is repeated for different subs</a:t>
            </a:r>
            <a:endParaRPr sz="2400" dirty="0">
              <a:ea typeface="Calibri"/>
              <a:cs typeface="Calibri"/>
              <a:sym typeface="Calibri"/>
            </a:endParaRPr>
          </a:p>
          <a:p>
            <a:pPr marL="0" marR="0" lvl="0" indent="0" algn="just" rtl="0">
              <a:lnSpc>
                <a:spcPct val="107000"/>
              </a:lnSpc>
              <a:spcBef>
                <a:spcPts val="800"/>
              </a:spcBef>
              <a:spcAft>
                <a:spcPts val="0"/>
              </a:spcAft>
              <a:buClr>
                <a:schemeClr val="dk1"/>
              </a:buClr>
              <a:buSzPts val="2200"/>
              <a:buChar char="•"/>
            </a:pPr>
            <a:r>
              <a:rPr lang="en-US" sz="2400" dirty="0">
                <a:ea typeface="Times New Roman"/>
                <a:cs typeface="Times New Roman"/>
                <a:sym typeface="Times New Roman"/>
              </a:rPr>
              <a:t>This process is repeated for different subsets of features, and the subset that results in the best performance is selected.</a:t>
            </a:r>
            <a:endParaRPr sz="2400" dirty="0">
              <a:ea typeface="Calibri"/>
              <a:cs typeface="Calibri"/>
              <a:sym typeface="Calibri"/>
            </a:endParaRPr>
          </a:p>
          <a:p>
            <a:pPr marL="228600" lvl="0" indent="-50800" algn="l" rtl="0">
              <a:lnSpc>
                <a:spcPct val="90000"/>
              </a:lnSpc>
              <a:spcBef>
                <a:spcPts val="1800"/>
              </a:spcBef>
              <a:spcAft>
                <a:spcPts val="0"/>
              </a:spcAft>
              <a:buClr>
                <a:schemeClr val="dk1"/>
              </a:buClr>
              <a:buSzPts val="2800"/>
              <a:buNone/>
            </a:pPr>
            <a:endParaRPr sz="24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2"/>
          <p:cNvSpPr txBox="1">
            <a:spLocks noGrp="1"/>
          </p:cNvSpPr>
          <p:nvPr>
            <p:ph type="title"/>
          </p:nvPr>
        </p:nvSpPr>
        <p:spPr>
          <a:xfrm>
            <a:off x="838200" y="365125"/>
            <a:ext cx="10515600" cy="90220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dirty="0"/>
              <a:t>Feature Selection: Wrapper Method</a:t>
            </a:r>
            <a:endParaRPr dirty="0"/>
          </a:p>
        </p:txBody>
      </p:sp>
      <p:pic>
        <p:nvPicPr>
          <p:cNvPr id="356" name="Google Shape;356;p42"/>
          <p:cNvPicPr preferRelativeResize="0">
            <a:picLocks noGrp="1"/>
          </p:cNvPicPr>
          <p:nvPr>
            <p:ph idx="1"/>
          </p:nvPr>
        </p:nvPicPr>
        <p:blipFill rotWithShape="1">
          <a:blip r:embed="rId3">
            <a:alphaModFix/>
          </a:blip>
          <a:srcRect/>
          <a:stretch/>
        </p:blipFill>
        <p:spPr>
          <a:xfrm>
            <a:off x="2121397" y="1460704"/>
            <a:ext cx="7949206" cy="3263492"/>
          </a:xfrm>
          <a:prstGeom prst="rect">
            <a:avLst/>
          </a:prstGeom>
          <a:noFill/>
          <a:ln>
            <a:noFill/>
          </a:ln>
        </p:spPr>
      </p:pic>
      <p:sp>
        <p:nvSpPr>
          <p:cNvPr id="357" name="Google Shape;357;p42"/>
          <p:cNvSpPr txBox="1"/>
          <p:nvPr/>
        </p:nvSpPr>
        <p:spPr>
          <a:xfrm>
            <a:off x="573505" y="4946195"/>
            <a:ext cx="10515600" cy="902201"/>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dk1"/>
              </a:buClr>
              <a:buSzPts val="4400"/>
              <a:buFont typeface="Calibri"/>
              <a:buNone/>
            </a:pPr>
            <a:endParaRPr sz="4400" b="1">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43"/>
          <p:cNvSpPr txBox="1">
            <a:spLocks noGrp="1"/>
          </p:cNvSpPr>
          <p:nvPr>
            <p:ph type="title"/>
          </p:nvPr>
        </p:nvSpPr>
        <p:spPr>
          <a:xfrm>
            <a:off x="838200" y="365125"/>
            <a:ext cx="10515600" cy="71771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ct val="100000"/>
              <a:buFont typeface="Calibri"/>
              <a:buNone/>
            </a:pPr>
            <a:r>
              <a:rPr lang="en-US" dirty="0" smtClean="0"/>
              <a:t/>
            </a:r>
            <a:br>
              <a:rPr lang="en-US" dirty="0" smtClean="0"/>
            </a:br>
            <a:r>
              <a:rPr lang="en-US" dirty="0" smtClean="0"/>
              <a:t>Feature Selection: </a:t>
            </a:r>
            <a:r>
              <a:rPr lang="en-US" dirty="0" smtClean="0">
                <a:ea typeface="Times New Roman"/>
                <a:cs typeface="Times New Roman"/>
                <a:sym typeface="Times New Roman"/>
              </a:rPr>
              <a:t>Wrapper methods</a:t>
            </a:r>
            <a:endParaRPr dirty="0"/>
          </a:p>
        </p:txBody>
      </p:sp>
      <p:sp>
        <p:nvSpPr>
          <p:cNvPr id="363" name="Google Shape;363;p43"/>
          <p:cNvSpPr txBox="1">
            <a:spLocks noGrp="1"/>
          </p:cNvSpPr>
          <p:nvPr>
            <p:ph idx="1"/>
          </p:nvPr>
        </p:nvSpPr>
        <p:spPr>
          <a:xfrm>
            <a:off x="838200" y="1532021"/>
            <a:ext cx="10515600" cy="4644942"/>
          </a:xfrm>
          <a:prstGeom prst="rect">
            <a:avLst/>
          </a:prstGeom>
          <a:noFill/>
          <a:ln>
            <a:noFill/>
          </a:ln>
        </p:spPr>
        <p:txBody>
          <a:bodyPr spcFirstLastPara="1" wrap="square" lIns="91425" tIns="45700" rIns="91425" bIns="45700" anchor="t" anchorCtr="0">
            <a:normAutofit/>
          </a:bodyPr>
          <a:lstStyle/>
          <a:p>
            <a:pPr marL="0" marR="0" lvl="0" indent="0" algn="just" rtl="0">
              <a:lnSpc>
                <a:spcPct val="107000"/>
              </a:lnSpc>
              <a:spcBef>
                <a:spcPts val="0"/>
              </a:spcBef>
              <a:spcAft>
                <a:spcPts val="0"/>
              </a:spcAft>
              <a:buClr>
                <a:schemeClr val="dk1"/>
              </a:buClr>
              <a:buSzPts val="2000"/>
              <a:buNone/>
            </a:pPr>
            <a:r>
              <a:rPr lang="en-US" sz="2000" dirty="0">
                <a:ea typeface="Times New Roman"/>
                <a:cs typeface="Times New Roman"/>
                <a:sym typeface="Times New Roman"/>
              </a:rPr>
              <a:t>There are several common techniques of wrapper methods, including:</a:t>
            </a:r>
            <a:endParaRPr sz="2000" dirty="0">
              <a:ea typeface="Calibri"/>
              <a:cs typeface="Calibri"/>
              <a:sym typeface="Calibri"/>
            </a:endParaRPr>
          </a:p>
          <a:p>
            <a:pPr marL="342900" marR="0" lvl="0" indent="-342900" algn="just" rtl="0">
              <a:lnSpc>
                <a:spcPct val="107000"/>
              </a:lnSpc>
              <a:spcBef>
                <a:spcPts val="800"/>
              </a:spcBef>
              <a:spcAft>
                <a:spcPts val="0"/>
              </a:spcAft>
              <a:buClr>
                <a:schemeClr val="dk1"/>
              </a:buClr>
              <a:buSzPts val="1000"/>
              <a:buFont typeface="Noto Sans Symbols"/>
              <a:buChar char="∙"/>
            </a:pPr>
            <a:r>
              <a:rPr lang="en-US" sz="2000" dirty="0">
                <a:ea typeface="Times New Roman"/>
                <a:cs typeface="Times New Roman"/>
                <a:sym typeface="Times New Roman"/>
              </a:rPr>
              <a:t>Exhaustive Feature Selection/ Best Feature Selection</a:t>
            </a:r>
            <a:endParaRPr sz="2000" dirty="0">
              <a:ea typeface="Calibri"/>
              <a:cs typeface="Calibri"/>
              <a:sym typeface="Calibri"/>
            </a:endParaRPr>
          </a:p>
          <a:p>
            <a:pPr marL="342900" marR="0" lvl="0" indent="-342900" algn="just" rtl="0">
              <a:lnSpc>
                <a:spcPct val="107000"/>
              </a:lnSpc>
              <a:spcBef>
                <a:spcPts val="800"/>
              </a:spcBef>
              <a:spcAft>
                <a:spcPts val="0"/>
              </a:spcAft>
              <a:buClr>
                <a:schemeClr val="dk1"/>
              </a:buClr>
              <a:buSzPts val="1000"/>
              <a:buFont typeface="Noto Sans Symbols"/>
              <a:buChar char="∙"/>
            </a:pPr>
            <a:r>
              <a:rPr lang="en-US" sz="2000" dirty="0">
                <a:ea typeface="Times New Roman"/>
                <a:cs typeface="Times New Roman"/>
                <a:sym typeface="Times New Roman"/>
              </a:rPr>
              <a:t>Sequential Forward Feature Selection </a:t>
            </a:r>
            <a:endParaRPr sz="2000" dirty="0">
              <a:ea typeface="Calibri"/>
              <a:cs typeface="Calibri"/>
              <a:sym typeface="Calibri"/>
            </a:endParaRPr>
          </a:p>
          <a:p>
            <a:pPr marL="342900" marR="0" lvl="0" indent="-342900" algn="just" rtl="0">
              <a:lnSpc>
                <a:spcPct val="107000"/>
              </a:lnSpc>
              <a:spcBef>
                <a:spcPts val="800"/>
              </a:spcBef>
              <a:spcAft>
                <a:spcPts val="0"/>
              </a:spcAft>
              <a:buClr>
                <a:schemeClr val="dk1"/>
              </a:buClr>
              <a:buSzPts val="1000"/>
              <a:buFont typeface="Noto Sans Symbols"/>
              <a:buChar char="∙"/>
            </a:pPr>
            <a:r>
              <a:rPr lang="en-US" sz="2000" dirty="0">
                <a:ea typeface="Times New Roman"/>
                <a:cs typeface="Times New Roman"/>
                <a:sym typeface="Times New Roman"/>
              </a:rPr>
              <a:t>Sequential Backward Feature Selection </a:t>
            </a:r>
            <a:endParaRPr sz="2000" dirty="0">
              <a:ea typeface="Calibri"/>
              <a:cs typeface="Calibri"/>
              <a:sym typeface="Calibri"/>
            </a:endParaRPr>
          </a:p>
          <a:p>
            <a:pPr marL="0" marR="0" lvl="0" indent="0" algn="just" rtl="0">
              <a:lnSpc>
                <a:spcPct val="107000"/>
              </a:lnSpc>
              <a:spcBef>
                <a:spcPts val="800"/>
              </a:spcBef>
              <a:spcAft>
                <a:spcPts val="0"/>
              </a:spcAft>
              <a:buClr>
                <a:schemeClr val="dk1"/>
              </a:buClr>
              <a:buSzPts val="2000"/>
              <a:buNone/>
            </a:pPr>
            <a:r>
              <a:rPr lang="en-US" sz="2000" b="1" i="1" dirty="0">
                <a:ea typeface="Times New Roman"/>
                <a:cs typeface="Times New Roman"/>
                <a:sym typeface="Times New Roman"/>
              </a:rPr>
              <a:t>Exhaustive Feature Selection/ Best Feature Selection</a:t>
            </a:r>
            <a:endParaRPr sz="2000" dirty="0">
              <a:ea typeface="Calibri"/>
              <a:cs typeface="Calibri"/>
              <a:sym typeface="Calibri"/>
            </a:endParaRPr>
          </a:p>
          <a:p>
            <a:pPr marL="0" marR="0" lvl="0" indent="0" algn="just" rtl="0">
              <a:lnSpc>
                <a:spcPct val="107000"/>
              </a:lnSpc>
              <a:spcBef>
                <a:spcPts val="800"/>
              </a:spcBef>
              <a:spcAft>
                <a:spcPts val="0"/>
              </a:spcAft>
              <a:buClr>
                <a:schemeClr val="dk1"/>
              </a:buClr>
              <a:buSzPts val="2000"/>
              <a:buChar char="•"/>
            </a:pPr>
            <a:r>
              <a:rPr lang="en-US" sz="2000" dirty="0">
                <a:ea typeface="Times New Roman"/>
                <a:cs typeface="Times New Roman"/>
                <a:sym typeface="Times New Roman"/>
              </a:rPr>
              <a:t>"Exhaustive feature selection evaluates the performance of a machine learning algorithm on every possible subset of features, and then selects the subset that results in the best performance."</a:t>
            </a:r>
            <a:endParaRPr sz="2000" dirty="0">
              <a:ea typeface="Calibri"/>
              <a:cs typeface="Calibri"/>
              <a:sym typeface="Calibri"/>
            </a:endParaRPr>
          </a:p>
          <a:p>
            <a:pPr marL="0" marR="0" lvl="0" indent="0" algn="just" rtl="0">
              <a:lnSpc>
                <a:spcPct val="107000"/>
              </a:lnSpc>
              <a:spcBef>
                <a:spcPts val="800"/>
              </a:spcBef>
              <a:spcAft>
                <a:spcPts val="0"/>
              </a:spcAft>
              <a:buClr>
                <a:schemeClr val="dk1"/>
              </a:buClr>
              <a:buSzPts val="2000"/>
              <a:buChar char="•"/>
            </a:pPr>
            <a:r>
              <a:rPr lang="en-US" sz="2000" dirty="0">
                <a:ea typeface="Times New Roman"/>
                <a:cs typeface="Times New Roman"/>
                <a:sym typeface="Times New Roman"/>
              </a:rPr>
              <a:t>When we have n features, there are 2^n possible subsets of features. </a:t>
            </a:r>
            <a:endParaRPr sz="2000" dirty="0">
              <a:ea typeface="Calibri"/>
              <a:cs typeface="Calibri"/>
              <a:sym typeface="Calibri"/>
            </a:endParaRPr>
          </a:p>
          <a:p>
            <a:pPr marL="0" marR="0" lvl="0" indent="0" algn="just" rtl="0">
              <a:lnSpc>
                <a:spcPct val="107000"/>
              </a:lnSpc>
              <a:spcBef>
                <a:spcPts val="800"/>
              </a:spcBef>
              <a:spcAft>
                <a:spcPts val="0"/>
              </a:spcAft>
              <a:buClr>
                <a:schemeClr val="dk1"/>
              </a:buClr>
              <a:buSzPts val="2000"/>
              <a:buChar char="•"/>
            </a:pPr>
            <a:r>
              <a:rPr lang="en-US" sz="2000" dirty="0">
                <a:ea typeface="Times New Roman"/>
                <a:cs typeface="Times New Roman"/>
                <a:sym typeface="Times New Roman"/>
              </a:rPr>
              <a:t>As a result of this computational expense, other feature selection methods have been developed</a:t>
            </a:r>
            <a:r>
              <a:rPr lang="en-US" sz="1800" dirty="0">
                <a:ea typeface="Times New Roman"/>
                <a:cs typeface="Times New Roman"/>
                <a:sym typeface="Times New Roman"/>
              </a:rPr>
              <a:t>. </a:t>
            </a:r>
            <a:endParaRPr sz="1800" dirty="0">
              <a:ea typeface="Calibri"/>
              <a:cs typeface="Calibri"/>
              <a:sym typeface="Calibri"/>
            </a:endParaRPr>
          </a:p>
          <a:p>
            <a:pPr marL="0" lvl="0" indent="0" algn="l" rtl="0">
              <a:lnSpc>
                <a:spcPct val="90000"/>
              </a:lnSpc>
              <a:spcBef>
                <a:spcPts val="1800"/>
              </a:spcBef>
              <a:spcAft>
                <a:spcPts val="0"/>
              </a:spcAft>
              <a:buClr>
                <a:schemeClr val="dk1"/>
              </a:buClr>
              <a:buSzPts val="2800"/>
              <a:buNone/>
            </a:pPr>
            <a:endParaRPr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44"/>
          <p:cNvSpPr txBox="1">
            <a:spLocks noGrp="1"/>
          </p:cNvSpPr>
          <p:nvPr>
            <p:ph type="title"/>
          </p:nvPr>
        </p:nvSpPr>
        <p:spPr>
          <a:xfrm>
            <a:off x="838200" y="365125"/>
            <a:ext cx="10515600" cy="71771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ct val="100000"/>
              <a:buFont typeface="Calibri"/>
              <a:buNone/>
            </a:pPr>
            <a:r>
              <a:rPr lang="en-US" dirty="0"/>
              <a:t/>
            </a:r>
            <a:br>
              <a:rPr lang="en-US" dirty="0"/>
            </a:br>
            <a:r>
              <a:rPr lang="en-US" dirty="0" smtClean="0"/>
              <a:t/>
            </a:r>
            <a:br>
              <a:rPr lang="en-US" dirty="0" smtClean="0"/>
            </a:br>
            <a:r>
              <a:rPr lang="en-US" dirty="0" smtClean="0">
                <a:ea typeface="Times New Roman"/>
                <a:cs typeface="Times New Roman"/>
                <a:sym typeface="Times New Roman"/>
              </a:rPr>
              <a:t>Wrapper </a:t>
            </a:r>
            <a:r>
              <a:rPr lang="en-US" dirty="0">
                <a:ea typeface="Times New Roman"/>
                <a:cs typeface="Times New Roman"/>
                <a:sym typeface="Times New Roman"/>
              </a:rPr>
              <a:t>methods</a:t>
            </a:r>
            <a:r>
              <a:rPr lang="en-US" dirty="0">
                <a:ea typeface="Calibri"/>
                <a:cs typeface="Calibri"/>
                <a:sym typeface="Calibri"/>
              </a:rPr>
              <a:t/>
            </a:r>
            <a:br>
              <a:rPr lang="en-US" dirty="0">
                <a:ea typeface="Calibri"/>
                <a:cs typeface="Calibri"/>
                <a:sym typeface="Calibri"/>
              </a:rPr>
            </a:br>
            <a:r>
              <a:rPr lang="en-US" dirty="0">
                <a:ea typeface="Calibri"/>
                <a:cs typeface="Calibri"/>
                <a:sym typeface="Calibri"/>
              </a:rPr>
              <a:t/>
            </a:r>
            <a:br>
              <a:rPr lang="en-US" dirty="0">
                <a:ea typeface="Calibri"/>
                <a:cs typeface="Calibri"/>
                <a:sym typeface="Calibri"/>
              </a:rPr>
            </a:br>
            <a:endParaRPr dirty="0"/>
          </a:p>
        </p:txBody>
      </p:sp>
      <p:sp>
        <p:nvSpPr>
          <p:cNvPr id="369" name="Google Shape;369;p44"/>
          <p:cNvSpPr txBox="1">
            <a:spLocks noGrp="1"/>
          </p:cNvSpPr>
          <p:nvPr>
            <p:ph idx="1"/>
          </p:nvPr>
        </p:nvSpPr>
        <p:spPr>
          <a:xfrm>
            <a:off x="838200" y="1532021"/>
            <a:ext cx="10515600" cy="4644942"/>
          </a:xfrm>
          <a:prstGeom prst="rect">
            <a:avLst/>
          </a:prstGeom>
          <a:noFill/>
          <a:ln>
            <a:noFill/>
          </a:ln>
        </p:spPr>
        <p:txBody>
          <a:bodyPr spcFirstLastPara="1" wrap="square" lIns="91425" tIns="45700" rIns="91425" bIns="45700" anchor="t" anchorCtr="0">
            <a:normAutofit/>
          </a:bodyPr>
          <a:lstStyle/>
          <a:p>
            <a:pPr marL="0" marR="0" lvl="0" indent="0" algn="just" rtl="0">
              <a:lnSpc>
                <a:spcPct val="107000"/>
              </a:lnSpc>
              <a:spcBef>
                <a:spcPts val="0"/>
              </a:spcBef>
              <a:spcAft>
                <a:spcPts val="0"/>
              </a:spcAft>
              <a:buClr>
                <a:schemeClr val="dk1"/>
              </a:buClr>
              <a:buSzPts val="1800"/>
              <a:buNone/>
            </a:pPr>
            <a:r>
              <a:rPr lang="en-US" sz="2000" b="1" i="1" dirty="0">
                <a:ea typeface="Times New Roman"/>
                <a:cs typeface="Times New Roman"/>
                <a:sym typeface="Times New Roman"/>
              </a:rPr>
              <a:t>Forward Feature Selection</a:t>
            </a:r>
            <a:endParaRPr sz="2000" b="1" dirty="0">
              <a:ea typeface="Times New Roman"/>
              <a:cs typeface="Times New Roman"/>
              <a:sym typeface="Times New Roman"/>
            </a:endParaRPr>
          </a:p>
          <a:p>
            <a:pPr marL="0" marR="0" lvl="0" indent="0" algn="just" rtl="0">
              <a:lnSpc>
                <a:spcPct val="107000"/>
              </a:lnSpc>
              <a:spcBef>
                <a:spcPts val="800"/>
              </a:spcBef>
              <a:spcAft>
                <a:spcPts val="0"/>
              </a:spcAft>
              <a:buClr>
                <a:schemeClr val="dk1"/>
              </a:buClr>
              <a:buSzPts val="1800"/>
              <a:buNone/>
            </a:pPr>
            <a:r>
              <a:rPr lang="en-US" sz="2000" b="1" dirty="0">
                <a:ea typeface="Times New Roman"/>
                <a:cs typeface="Times New Roman"/>
                <a:sym typeface="Times New Roman"/>
              </a:rPr>
              <a:t>Forward Feature</a:t>
            </a:r>
            <a:r>
              <a:rPr lang="en-US" sz="2000" dirty="0">
                <a:ea typeface="Times New Roman"/>
                <a:cs typeface="Times New Roman"/>
                <a:sym typeface="Times New Roman"/>
              </a:rPr>
              <a:t> Selection starts with </a:t>
            </a:r>
            <a:r>
              <a:rPr lang="en-US" sz="2000" b="1" dirty="0">
                <a:ea typeface="Times New Roman"/>
                <a:cs typeface="Times New Roman"/>
                <a:sym typeface="Times New Roman"/>
              </a:rPr>
              <a:t>an empty set</a:t>
            </a:r>
            <a:r>
              <a:rPr lang="en-US" sz="2000" dirty="0">
                <a:ea typeface="Times New Roman"/>
                <a:cs typeface="Times New Roman"/>
                <a:sym typeface="Times New Roman"/>
              </a:rPr>
              <a:t> of features. It then </a:t>
            </a:r>
            <a:r>
              <a:rPr lang="en-US" sz="2000" b="1" dirty="0">
                <a:ea typeface="Times New Roman"/>
                <a:cs typeface="Times New Roman"/>
                <a:sym typeface="Times New Roman"/>
              </a:rPr>
              <a:t>adds </a:t>
            </a:r>
            <a:r>
              <a:rPr lang="en-US" sz="2000" dirty="0">
                <a:ea typeface="Times New Roman"/>
                <a:cs typeface="Times New Roman"/>
                <a:sym typeface="Times New Roman"/>
              </a:rPr>
              <a:t>the feature that most </a:t>
            </a:r>
            <a:r>
              <a:rPr lang="en-US" sz="2000" b="1" dirty="0">
                <a:ea typeface="Times New Roman"/>
                <a:cs typeface="Times New Roman"/>
                <a:sym typeface="Times New Roman"/>
              </a:rPr>
              <a:t>improves</a:t>
            </a:r>
            <a:r>
              <a:rPr lang="en-US" sz="2000" dirty="0">
                <a:ea typeface="Times New Roman"/>
                <a:cs typeface="Times New Roman"/>
                <a:sym typeface="Times New Roman"/>
              </a:rPr>
              <a:t> the accuracy of a machine learning algorithm."</a:t>
            </a:r>
            <a:endParaRPr sz="2000" dirty="0">
              <a:ea typeface="Calibri"/>
              <a:cs typeface="Calibri"/>
              <a:sym typeface="Calibri"/>
            </a:endParaRPr>
          </a:p>
          <a:p>
            <a:pPr marL="0" marR="0" lvl="0" indent="0" algn="just" rtl="0">
              <a:lnSpc>
                <a:spcPct val="107000"/>
              </a:lnSpc>
              <a:spcBef>
                <a:spcPts val="800"/>
              </a:spcBef>
              <a:spcAft>
                <a:spcPts val="0"/>
              </a:spcAft>
              <a:buClr>
                <a:schemeClr val="dk1"/>
              </a:buClr>
              <a:buSzPts val="1800"/>
              <a:buChar char="•"/>
            </a:pPr>
            <a:r>
              <a:rPr lang="en-US" sz="2000" dirty="0">
                <a:ea typeface="Times New Roman"/>
                <a:cs typeface="Times New Roman"/>
                <a:sym typeface="Times New Roman"/>
              </a:rPr>
              <a:t>The algorithm continues adding features until the accuracy of the algorithm no longer improves or until a maximum number of features is reached</a:t>
            </a:r>
            <a:r>
              <a:rPr lang="en-US" sz="2000" dirty="0">
                <a:ea typeface="Quattrocento Sans"/>
                <a:cs typeface="Quattrocento Sans"/>
                <a:sym typeface="Quattrocento Sans"/>
              </a:rPr>
              <a:t>.</a:t>
            </a:r>
            <a:endParaRPr sz="2000" dirty="0">
              <a:ea typeface="Calibri"/>
              <a:cs typeface="Calibri"/>
              <a:sym typeface="Calibri"/>
            </a:endParaRPr>
          </a:p>
          <a:p>
            <a:pPr marL="0" marR="0" lvl="0" indent="0" algn="just" rtl="0">
              <a:lnSpc>
                <a:spcPct val="107000"/>
              </a:lnSpc>
              <a:spcBef>
                <a:spcPts val="800"/>
              </a:spcBef>
              <a:spcAft>
                <a:spcPts val="0"/>
              </a:spcAft>
              <a:buClr>
                <a:schemeClr val="dk1"/>
              </a:buClr>
              <a:buSzPts val="1800"/>
              <a:buNone/>
            </a:pPr>
            <a:r>
              <a:rPr lang="en-US" sz="2000" b="1" i="1" dirty="0">
                <a:ea typeface="Times New Roman"/>
                <a:cs typeface="Times New Roman"/>
                <a:sym typeface="Times New Roman"/>
              </a:rPr>
              <a:t>Backward Feature Selection</a:t>
            </a:r>
            <a:endParaRPr sz="2000" dirty="0">
              <a:ea typeface="Calibri"/>
              <a:cs typeface="Calibri"/>
              <a:sym typeface="Calibri"/>
            </a:endParaRPr>
          </a:p>
          <a:p>
            <a:pPr marL="0" marR="0" lvl="0" indent="0" algn="just" rtl="0">
              <a:lnSpc>
                <a:spcPct val="107000"/>
              </a:lnSpc>
              <a:spcBef>
                <a:spcPts val="800"/>
              </a:spcBef>
              <a:spcAft>
                <a:spcPts val="0"/>
              </a:spcAft>
              <a:buClr>
                <a:schemeClr val="dk1"/>
              </a:buClr>
              <a:buSzPts val="1800"/>
              <a:buChar char="•"/>
            </a:pPr>
            <a:r>
              <a:rPr lang="en-US" sz="2000" dirty="0">
                <a:ea typeface="Times New Roman"/>
                <a:cs typeface="Times New Roman"/>
                <a:sym typeface="Times New Roman"/>
              </a:rPr>
              <a:t>Backward feature selection is like the same chef</a:t>
            </a:r>
            <a:r>
              <a:rPr lang="en-US" sz="2000" dirty="0">
                <a:ea typeface="Quattrocento Sans"/>
                <a:cs typeface="Quattrocento Sans"/>
                <a:sym typeface="Quattrocento Sans"/>
              </a:rPr>
              <a:t> </a:t>
            </a:r>
            <a:r>
              <a:rPr lang="en-US" sz="2000" dirty="0">
                <a:ea typeface="Times New Roman"/>
                <a:cs typeface="Times New Roman"/>
                <a:sym typeface="Times New Roman"/>
              </a:rPr>
              <a:t>who starts with a full pantry and then throws out the ingredients that make the dish taste the worst</a:t>
            </a:r>
            <a:r>
              <a:rPr lang="en-US" sz="2000" dirty="0">
                <a:ea typeface="Quattrocento Sans"/>
                <a:cs typeface="Quattrocento Sans"/>
                <a:sym typeface="Quattrocento Sans"/>
              </a:rPr>
              <a:t>.</a:t>
            </a:r>
            <a:endParaRPr sz="2000" dirty="0">
              <a:ea typeface="Calibri"/>
              <a:cs typeface="Calibri"/>
              <a:sym typeface="Calibri"/>
            </a:endParaRPr>
          </a:p>
          <a:p>
            <a:pPr marL="0" marR="0" lvl="0" indent="0" algn="just" rtl="0">
              <a:lnSpc>
                <a:spcPct val="107000"/>
              </a:lnSpc>
              <a:spcBef>
                <a:spcPts val="800"/>
              </a:spcBef>
              <a:spcAft>
                <a:spcPts val="0"/>
              </a:spcAft>
              <a:buClr>
                <a:schemeClr val="dk1"/>
              </a:buClr>
              <a:buSzPts val="1800"/>
              <a:buChar char="•"/>
            </a:pPr>
            <a:r>
              <a:rPr lang="en-US" sz="2000" dirty="0">
                <a:ea typeface="Times New Roman"/>
                <a:cs typeface="Times New Roman"/>
                <a:sym typeface="Times New Roman"/>
              </a:rPr>
              <a:t>"</a:t>
            </a:r>
            <a:r>
              <a:rPr lang="en-US" sz="2000" b="1" dirty="0">
                <a:ea typeface="Times New Roman"/>
                <a:cs typeface="Times New Roman"/>
                <a:sym typeface="Times New Roman"/>
              </a:rPr>
              <a:t>Backward Feature</a:t>
            </a:r>
            <a:r>
              <a:rPr lang="en-US" sz="2000" dirty="0">
                <a:ea typeface="Times New Roman"/>
                <a:cs typeface="Times New Roman"/>
                <a:sym typeface="Times New Roman"/>
              </a:rPr>
              <a:t> Selection starts with </a:t>
            </a:r>
            <a:r>
              <a:rPr lang="en-US" sz="2000" b="1" dirty="0">
                <a:ea typeface="Times New Roman"/>
                <a:cs typeface="Times New Roman"/>
                <a:sym typeface="Times New Roman"/>
              </a:rPr>
              <a:t>all features</a:t>
            </a:r>
            <a:r>
              <a:rPr lang="en-US" sz="2000" dirty="0">
                <a:ea typeface="Times New Roman"/>
                <a:cs typeface="Times New Roman"/>
                <a:sym typeface="Times New Roman"/>
              </a:rPr>
              <a:t> included in the model. It then </a:t>
            </a:r>
            <a:r>
              <a:rPr lang="en-US" sz="2000" b="1" dirty="0">
                <a:ea typeface="Times New Roman"/>
                <a:cs typeface="Times New Roman"/>
                <a:sym typeface="Times New Roman"/>
              </a:rPr>
              <a:t>removes</a:t>
            </a:r>
            <a:r>
              <a:rPr lang="en-US" sz="2000" dirty="0">
                <a:ea typeface="Times New Roman"/>
                <a:cs typeface="Times New Roman"/>
                <a:sym typeface="Times New Roman"/>
              </a:rPr>
              <a:t> the feature that most </a:t>
            </a:r>
            <a:r>
              <a:rPr lang="en-US" sz="2000" b="1" dirty="0">
                <a:ea typeface="Times New Roman"/>
                <a:cs typeface="Times New Roman"/>
                <a:sym typeface="Times New Roman"/>
              </a:rPr>
              <a:t>decreases</a:t>
            </a:r>
            <a:r>
              <a:rPr lang="en-US" sz="2000" dirty="0">
                <a:ea typeface="Times New Roman"/>
                <a:cs typeface="Times New Roman"/>
                <a:sym typeface="Times New Roman"/>
              </a:rPr>
              <a:t> the accuracy of a machine learning algorithm."</a:t>
            </a:r>
            <a:endParaRPr sz="2000" dirty="0">
              <a:ea typeface="Calibri"/>
              <a:cs typeface="Calibri"/>
              <a:sym typeface="Calibri"/>
            </a:endParaRPr>
          </a:p>
          <a:p>
            <a:pPr marL="0" marR="0" lvl="0" indent="0" algn="just" rtl="0">
              <a:lnSpc>
                <a:spcPct val="107000"/>
              </a:lnSpc>
              <a:spcBef>
                <a:spcPts val="800"/>
              </a:spcBef>
              <a:spcAft>
                <a:spcPts val="0"/>
              </a:spcAft>
              <a:buClr>
                <a:schemeClr val="dk1"/>
              </a:buClr>
              <a:buSzPts val="1800"/>
              <a:buChar char="•"/>
            </a:pPr>
            <a:r>
              <a:rPr lang="en-US" sz="2000" dirty="0">
                <a:ea typeface="Times New Roman"/>
                <a:cs typeface="Times New Roman"/>
                <a:sym typeface="Times New Roman"/>
              </a:rPr>
              <a:t>The algorithm continues removing features until the accuracy of the algorithm no longer decreases or until a minimum number of features is reached.</a:t>
            </a:r>
            <a:endParaRPr sz="2000" dirty="0">
              <a:ea typeface="Calibri"/>
              <a:cs typeface="Calibri"/>
              <a:sym typeface="Calibri"/>
            </a:endParaRPr>
          </a:p>
          <a:p>
            <a:pPr marL="0" lvl="0" indent="0" algn="l" rtl="0">
              <a:lnSpc>
                <a:spcPct val="90000"/>
              </a:lnSpc>
              <a:spcBef>
                <a:spcPts val="1800"/>
              </a:spcBef>
              <a:spcAft>
                <a:spcPts val="0"/>
              </a:spcAft>
              <a:buClr>
                <a:schemeClr val="dk1"/>
              </a:buClr>
              <a:buSzPts val="2800"/>
              <a:buNone/>
            </a:pPr>
            <a:endParaRPr sz="2000"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45"/>
          <p:cNvSpPr txBox="1">
            <a:spLocks noGrp="1"/>
          </p:cNvSpPr>
          <p:nvPr>
            <p:ph type="title"/>
          </p:nvPr>
        </p:nvSpPr>
        <p:spPr>
          <a:xfrm>
            <a:off x="838200" y="365125"/>
            <a:ext cx="10515600" cy="71771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ct val="100000"/>
              <a:buFont typeface="Calibri"/>
              <a:buNone/>
            </a:pPr>
            <a:r>
              <a:rPr lang="en-US" dirty="0"/>
              <a:t/>
            </a:r>
            <a:br>
              <a:rPr lang="en-US" dirty="0"/>
            </a:br>
            <a:r>
              <a:rPr lang="en-US" dirty="0">
                <a:ea typeface="Times New Roman"/>
                <a:cs typeface="Times New Roman"/>
                <a:sym typeface="Times New Roman"/>
              </a:rPr>
              <a:t>Wrapper methods: Embedded methods</a:t>
            </a:r>
            <a:r>
              <a:rPr lang="en-US" dirty="0">
                <a:ea typeface="Calibri"/>
                <a:cs typeface="Calibri"/>
                <a:sym typeface="Calibri"/>
              </a:rPr>
              <a:t/>
            </a:r>
            <a:br>
              <a:rPr lang="en-US" dirty="0">
                <a:ea typeface="Calibri"/>
                <a:cs typeface="Calibri"/>
                <a:sym typeface="Calibri"/>
              </a:rPr>
            </a:br>
            <a:r>
              <a:rPr lang="en-US" dirty="0">
                <a:ea typeface="Calibri"/>
                <a:cs typeface="Calibri"/>
                <a:sym typeface="Calibri"/>
              </a:rPr>
              <a:t/>
            </a:r>
            <a:br>
              <a:rPr lang="en-US" dirty="0">
                <a:ea typeface="Calibri"/>
                <a:cs typeface="Calibri"/>
                <a:sym typeface="Calibri"/>
              </a:rPr>
            </a:br>
            <a:endParaRPr dirty="0"/>
          </a:p>
        </p:txBody>
      </p:sp>
      <p:sp>
        <p:nvSpPr>
          <p:cNvPr id="375" name="Google Shape;375;p45"/>
          <p:cNvSpPr txBox="1">
            <a:spLocks noGrp="1"/>
          </p:cNvSpPr>
          <p:nvPr>
            <p:ph idx="1"/>
          </p:nvPr>
        </p:nvSpPr>
        <p:spPr>
          <a:xfrm>
            <a:off x="838200" y="770021"/>
            <a:ext cx="10515600" cy="4933700"/>
          </a:xfrm>
          <a:prstGeom prst="rect">
            <a:avLst/>
          </a:prstGeom>
          <a:noFill/>
          <a:ln>
            <a:noFill/>
          </a:ln>
        </p:spPr>
        <p:txBody>
          <a:bodyPr spcFirstLastPara="1" wrap="square" lIns="91425" tIns="45700" rIns="91425" bIns="45700" anchor="t" anchorCtr="0">
            <a:normAutofit/>
          </a:bodyPr>
          <a:lstStyle/>
          <a:p>
            <a:pPr marL="0" marR="0" lvl="0" indent="0" algn="just" rtl="0">
              <a:lnSpc>
                <a:spcPct val="107000"/>
              </a:lnSpc>
              <a:spcBef>
                <a:spcPts val="0"/>
              </a:spcBef>
              <a:spcAft>
                <a:spcPts val="0"/>
              </a:spcAft>
              <a:buClr>
                <a:schemeClr val="dk1"/>
              </a:buClr>
              <a:buSzPts val="1800"/>
              <a:buChar char="•"/>
            </a:pPr>
            <a:r>
              <a:rPr lang="en-US" sz="1800" dirty="0">
                <a:ea typeface="Times New Roman"/>
                <a:cs typeface="Times New Roman"/>
                <a:sym typeface="Times New Roman"/>
              </a:rPr>
              <a:t>"Embedded methods integrate the feature selection process into the machine learning algorithm itself.“</a:t>
            </a:r>
            <a:endParaRPr dirty="0"/>
          </a:p>
          <a:p>
            <a:pPr marL="0" marR="0" lvl="0" indent="114300" algn="just" rtl="0">
              <a:lnSpc>
                <a:spcPct val="107000"/>
              </a:lnSpc>
              <a:spcBef>
                <a:spcPts val="800"/>
              </a:spcBef>
              <a:spcAft>
                <a:spcPts val="0"/>
              </a:spcAft>
              <a:buClr>
                <a:schemeClr val="dk1"/>
              </a:buClr>
              <a:buSzPts val="1800"/>
              <a:buNone/>
            </a:pPr>
            <a:endParaRPr sz="1800" dirty="0">
              <a:ea typeface="Calibri"/>
              <a:cs typeface="Calibri"/>
              <a:sym typeface="Calibri"/>
            </a:endParaRPr>
          </a:p>
          <a:p>
            <a:pPr marL="0" lvl="0" indent="0" algn="l" rtl="0">
              <a:lnSpc>
                <a:spcPct val="90000"/>
              </a:lnSpc>
              <a:spcBef>
                <a:spcPts val="1800"/>
              </a:spcBef>
              <a:spcAft>
                <a:spcPts val="0"/>
              </a:spcAft>
              <a:buClr>
                <a:schemeClr val="dk1"/>
              </a:buClr>
              <a:buSzPts val="2800"/>
              <a:buNone/>
            </a:pPr>
            <a:endParaRPr dirty="0"/>
          </a:p>
        </p:txBody>
      </p:sp>
      <p:pic>
        <p:nvPicPr>
          <p:cNvPr id="376" name="Google Shape;376;p45"/>
          <p:cNvPicPr preferRelativeResize="0"/>
          <p:nvPr/>
        </p:nvPicPr>
        <p:blipFill rotWithShape="1">
          <a:blip r:embed="rId3">
            <a:alphaModFix/>
          </a:blip>
          <a:srcRect/>
          <a:stretch/>
        </p:blipFill>
        <p:spPr>
          <a:xfrm>
            <a:off x="2543459" y="1182353"/>
            <a:ext cx="6671945" cy="2085975"/>
          </a:xfrm>
          <a:prstGeom prst="rect">
            <a:avLst/>
          </a:prstGeom>
          <a:noFill/>
          <a:ln>
            <a:noFill/>
          </a:ln>
        </p:spPr>
      </p:pic>
      <p:sp>
        <p:nvSpPr>
          <p:cNvPr id="377" name="Google Shape;377;p45"/>
          <p:cNvSpPr txBox="1"/>
          <p:nvPr/>
        </p:nvSpPr>
        <p:spPr>
          <a:xfrm>
            <a:off x="1134980" y="3288632"/>
            <a:ext cx="10515600" cy="3569367"/>
          </a:xfrm>
          <a:prstGeom prst="rect">
            <a:avLst/>
          </a:prstGeom>
          <a:noFill/>
          <a:ln>
            <a:noFill/>
          </a:ln>
        </p:spPr>
        <p:txBody>
          <a:bodyPr spcFirstLastPara="1" wrap="square" lIns="91425" tIns="45700" rIns="91425" bIns="45700" anchor="ctr" anchorCtr="0">
            <a:normAutofit fontScale="25000" lnSpcReduction="20000"/>
          </a:bodyPr>
          <a:lstStyle/>
          <a:p>
            <a:pPr marL="0" marR="0" lvl="0" indent="0" algn="just" rtl="0">
              <a:lnSpc>
                <a:spcPct val="107000"/>
              </a:lnSpc>
              <a:spcBef>
                <a:spcPts val="0"/>
              </a:spcBef>
              <a:spcAft>
                <a:spcPts val="0"/>
              </a:spcAft>
              <a:buClr>
                <a:schemeClr val="dk1"/>
              </a:buClr>
              <a:buSzPct val="100000"/>
              <a:buFont typeface="Calibri"/>
              <a:buNone/>
            </a:pPr>
            <a:r>
              <a:rPr lang="en-US" sz="6200" b="1" dirty="0">
                <a:solidFill>
                  <a:schemeClr val="dk1"/>
                </a:solidFill>
                <a:latin typeface="+mn-lt"/>
                <a:ea typeface="Calibri"/>
                <a:cs typeface="Calibri"/>
                <a:sym typeface="Calibri"/>
              </a:rPr>
              <a:t/>
            </a:r>
            <a:br>
              <a:rPr lang="en-US" sz="6200" b="1" dirty="0">
                <a:solidFill>
                  <a:schemeClr val="dk1"/>
                </a:solidFill>
                <a:latin typeface="+mn-lt"/>
                <a:ea typeface="Calibri"/>
                <a:cs typeface="Calibri"/>
                <a:sym typeface="Calibri"/>
              </a:rPr>
            </a:br>
            <a:r>
              <a:rPr lang="en-US" sz="6200" dirty="0">
                <a:solidFill>
                  <a:schemeClr val="dk1"/>
                </a:solidFill>
                <a:latin typeface="+mn-lt"/>
                <a:ea typeface="Times New Roman"/>
                <a:cs typeface="Times New Roman"/>
                <a:sym typeface="Times New Roman"/>
              </a:rPr>
              <a:t>The most common types of embedded methods are,</a:t>
            </a:r>
            <a:endParaRPr sz="6200" dirty="0">
              <a:solidFill>
                <a:schemeClr val="dk1"/>
              </a:solidFill>
              <a:latin typeface="+mn-lt"/>
              <a:ea typeface="Calibri"/>
              <a:cs typeface="Calibri"/>
              <a:sym typeface="Calibri"/>
            </a:endParaRPr>
          </a:p>
          <a:p>
            <a:pPr marL="342900" marR="0" lvl="0" indent="-342900" algn="just" rtl="0">
              <a:lnSpc>
                <a:spcPct val="107000"/>
              </a:lnSpc>
              <a:spcBef>
                <a:spcPts val="800"/>
              </a:spcBef>
              <a:spcAft>
                <a:spcPts val="0"/>
              </a:spcAft>
              <a:buClr>
                <a:schemeClr val="dk1"/>
              </a:buClr>
              <a:buSzPct val="64516"/>
              <a:buFont typeface="Noto Sans Symbols"/>
              <a:buChar char="∙"/>
            </a:pPr>
            <a:r>
              <a:rPr lang="en-US" sz="6200" dirty="0">
                <a:solidFill>
                  <a:schemeClr val="dk1"/>
                </a:solidFill>
                <a:latin typeface="+mn-lt"/>
                <a:ea typeface="Times New Roman"/>
                <a:cs typeface="Times New Roman"/>
                <a:sym typeface="Times New Roman"/>
              </a:rPr>
              <a:t>Regularization</a:t>
            </a:r>
            <a:endParaRPr sz="6200" dirty="0">
              <a:solidFill>
                <a:schemeClr val="dk1"/>
              </a:solidFill>
              <a:latin typeface="+mn-lt"/>
              <a:ea typeface="Calibri"/>
              <a:cs typeface="Calibri"/>
              <a:sym typeface="Calibri"/>
            </a:endParaRPr>
          </a:p>
          <a:p>
            <a:pPr marL="342900" marR="0" lvl="0" indent="-342900" algn="just" rtl="0">
              <a:lnSpc>
                <a:spcPct val="107000"/>
              </a:lnSpc>
              <a:spcBef>
                <a:spcPts val="800"/>
              </a:spcBef>
              <a:spcAft>
                <a:spcPts val="0"/>
              </a:spcAft>
              <a:buClr>
                <a:schemeClr val="dk1"/>
              </a:buClr>
              <a:buSzPct val="64516"/>
              <a:buFont typeface="Noto Sans Symbols"/>
              <a:buChar char="∙"/>
            </a:pPr>
            <a:r>
              <a:rPr lang="en-US" sz="6200" dirty="0">
                <a:solidFill>
                  <a:schemeClr val="dk1"/>
                </a:solidFill>
                <a:latin typeface="+mn-lt"/>
                <a:ea typeface="Times New Roman"/>
                <a:cs typeface="Times New Roman"/>
                <a:sym typeface="Times New Roman"/>
              </a:rPr>
              <a:t>Tree Based algorithms</a:t>
            </a:r>
            <a:endParaRPr sz="6200" dirty="0">
              <a:solidFill>
                <a:schemeClr val="dk1"/>
              </a:solidFill>
              <a:latin typeface="+mn-lt"/>
              <a:ea typeface="Calibri"/>
              <a:cs typeface="Calibri"/>
              <a:sym typeface="Calibri"/>
            </a:endParaRPr>
          </a:p>
          <a:p>
            <a:pPr marL="0" marR="0" lvl="0" indent="0" algn="just" rtl="0">
              <a:lnSpc>
                <a:spcPct val="107000"/>
              </a:lnSpc>
              <a:spcBef>
                <a:spcPts val="800"/>
              </a:spcBef>
              <a:spcAft>
                <a:spcPts val="0"/>
              </a:spcAft>
              <a:buClr>
                <a:schemeClr val="dk1"/>
              </a:buClr>
              <a:buSzPct val="100000"/>
              <a:buFont typeface="Times New Roman"/>
              <a:buNone/>
            </a:pPr>
            <a:r>
              <a:rPr lang="en-US" sz="6200" b="1" i="1" dirty="0">
                <a:solidFill>
                  <a:schemeClr val="dk1"/>
                </a:solidFill>
                <a:latin typeface="+mn-lt"/>
                <a:ea typeface="Times New Roman"/>
                <a:cs typeface="Times New Roman"/>
                <a:sym typeface="Times New Roman"/>
              </a:rPr>
              <a:t>Regularization</a:t>
            </a:r>
            <a:endParaRPr sz="6200" dirty="0">
              <a:solidFill>
                <a:schemeClr val="dk1"/>
              </a:solidFill>
              <a:latin typeface="+mn-lt"/>
              <a:ea typeface="Calibri"/>
              <a:cs typeface="Calibri"/>
              <a:sym typeface="Calibri"/>
            </a:endParaRPr>
          </a:p>
          <a:p>
            <a:pPr marL="0" marR="0" lvl="0" indent="0" algn="just" rtl="0">
              <a:lnSpc>
                <a:spcPct val="107000"/>
              </a:lnSpc>
              <a:spcBef>
                <a:spcPts val="800"/>
              </a:spcBef>
              <a:spcAft>
                <a:spcPts val="0"/>
              </a:spcAft>
              <a:buClr>
                <a:schemeClr val="dk1"/>
              </a:buClr>
              <a:buSzPct val="100000"/>
              <a:buFont typeface="Times New Roman"/>
              <a:buNone/>
            </a:pPr>
            <a:r>
              <a:rPr lang="en-US" sz="6200" dirty="0">
                <a:solidFill>
                  <a:schemeClr val="dk1"/>
                </a:solidFill>
                <a:latin typeface="+mn-lt"/>
                <a:ea typeface="Times New Roman"/>
                <a:cs typeface="Times New Roman"/>
                <a:sym typeface="Times New Roman"/>
              </a:rPr>
              <a:t>"R</a:t>
            </a:r>
            <a:r>
              <a:rPr lang="en-US" sz="6200" b="1" dirty="0">
                <a:solidFill>
                  <a:schemeClr val="dk1"/>
                </a:solidFill>
                <a:latin typeface="+mn-lt"/>
                <a:ea typeface="Times New Roman"/>
                <a:cs typeface="Times New Roman"/>
                <a:sym typeface="Times New Roman"/>
              </a:rPr>
              <a:t>egularization in embedded methods can be done by adding a regularization term to the loss function of the machine learning algorithm. "</a:t>
            </a:r>
            <a:endParaRPr sz="6200" dirty="0">
              <a:solidFill>
                <a:schemeClr val="dk1"/>
              </a:solidFill>
              <a:latin typeface="+mn-lt"/>
              <a:ea typeface="Calibri"/>
              <a:cs typeface="Calibri"/>
              <a:sym typeface="Calibri"/>
            </a:endParaRPr>
          </a:p>
          <a:p>
            <a:pPr marL="0" marR="0" lvl="0" indent="0" algn="just" rtl="0">
              <a:lnSpc>
                <a:spcPct val="107000"/>
              </a:lnSpc>
              <a:spcBef>
                <a:spcPts val="800"/>
              </a:spcBef>
              <a:spcAft>
                <a:spcPts val="0"/>
              </a:spcAft>
              <a:buClr>
                <a:schemeClr val="dk1"/>
              </a:buClr>
              <a:buSzPct val="100000"/>
              <a:buFont typeface="Times New Roman"/>
              <a:buNone/>
            </a:pPr>
            <a:r>
              <a:rPr lang="en-US" sz="6200" dirty="0">
                <a:solidFill>
                  <a:schemeClr val="dk1"/>
                </a:solidFill>
                <a:latin typeface="+mn-lt"/>
                <a:ea typeface="Times New Roman"/>
                <a:cs typeface="Times New Roman"/>
                <a:sym typeface="Times New Roman"/>
              </a:rPr>
              <a:t>The features with the largest coefficients will be penalized the most and may be excluded from the model.</a:t>
            </a:r>
            <a:endParaRPr dirty="0">
              <a:latin typeface="+mn-lt"/>
            </a:endParaRPr>
          </a:p>
          <a:p>
            <a:pPr marL="0" marR="0" lvl="0" indent="0" algn="just" rtl="0">
              <a:lnSpc>
                <a:spcPct val="107000"/>
              </a:lnSpc>
              <a:spcBef>
                <a:spcPts val="800"/>
              </a:spcBef>
              <a:spcAft>
                <a:spcPts val="0"/>
              </a:spcAft>
              <a:buClr>
                <a:schemeClr val="dk1"/>
              </a:buClr>
              <a:buSzPct val="100000"/>
              <a:buFont typeface="Times New Roman"/>
              <a:buNone/>
            </a:pPr>
            <a:r>
              <a:rPr lang="en-US" sz="8000" dirty="0">
                <a:solidFill>
                  <a:schemeClr val="dk1"/>
                </a:solidFill>
                <a:latin typeface="+mn-lt"/>
                <a:ea typeface="Times New Roman"/>
                <a:cs typeface="Times New Roman"/>
                <a:sym typeface="Times New Roman"/>
              </a:rPr>
              <a:t>Following regularization techniques are used</a:t>
            </a:r>
            <a:endParaRPr sz="8000" dirty="0">
              <a:solidFill>
                <a:schemeClr val="dk1"/>
              </a:solidFill>
              <a:latin typeface="+mn-lt"/>
              <a:ea typeface="Calibri"/>
              <a:cs typeface="Calibri"/>
              <a:sym typeface="Calibri"/>
            </a:endParaRPr>
          </a:p>
          <a:p>
            <a:pPr marL="342900" marR="0" lvl="0" indent="-342900" algn="just" rtl="0">
              <a:lnSpc>
                <a:spcPct val="107000"/>
              </a:lnSpc>
              <a:spcBef>
                <a:spcPts val="800"/>
              </a:spcBef>
              <a:spcAft>
                <a:spcPts val="0"/>
              </a:spcAft>
              <a:buClr>
                <a:schemeClr val="dk1"/>
              </a:buClr>
              <a:buSzPct val="50000"/>
              <a:buFont typeface="Noto Sans Symbols"/>
              <a:buChar char="∙"/>
            </a:pPr>
            <a:r>
              <a:rPr lang="en-US" sz="8000" i="1" dirty="0">
                <a:solidFill>
                  <a:schemeClr val="dk1"/>
                </a:solidFill>
                <a:latin typeface="+mn-lt"/>
                <a:ea typeface="Times New Roman"/>
                <a:cs typeface="Times New Roman"/>
                <a:sym typeface="Times New Roman"/>
              </a:rPr>
              <a:t>Lasso Regularization(L1)</a:t>
            </a:r>
            <a:r>
              <a:rPr lang="en-US" sz="8000" dirty="0">
                <a:solidFill>
                  <a:schemeClr val="dk1"/>
                </a:solidFill>
                <a:latin typeface="+mn-lt"/>
                <a:ea typeface="Times New Roman"/>
                <a:cs typeface="Times New Roman"/>
                <a:sym typeface="Times New Roman"/>
              </a:rPr>
              <a:t>:</a:t>
            </a:r>
            <a:endParaRPr sz="8000" dirty="0">
              <a:solidFill>
                <a:schemeClr val="dk1"/>
              </a:solidFill>
              <a:latin typeface="+mn-lt"/>
              <a:ea typeface="Calibri"/>
              <a:cs typeface="Calibri"/>
              <a:sym typeface="Calibri"/>
            </a:endParaRPr>
          </a:p>
          <a:p>
            <a:pPr marL="342900" marR="0" lvl="0" indent="-342900" algn="just" rtl="0">
              <a:lnSpc>
                <a:spcPct val="107000"/>
              </a:lnSpc>
              <a:spcBef>
                <a:spcPts val="800"/>
              </a:spcBef>
              <a:spcAft>
                <a:spcPts val="0"/>
              </a:spcAft>
              <a:buClr>
                <a:schemeClr val="dk1"/>
              </a:buClr>
              <a:buSzPct val="50000"/>
              <a:buFont typeface="Noto Sans Symbols"/>
              <a:buChar char="∙"/>
            </a:pPr>
            <a:r>
              <a:rPr lang="en-US" sz="8000" i="1" dirty="0">
                <a:solidFill>
                  <a:schemeClr val="dk1"/>
                </a:solidFill>
                <a:latin typeface="+mn-lt"/>
                <a:ea typeface="Times New Roman"/>
                <a:cs typeface="Times New Roman"/>
                <a:sym typeface="Times New Roman"/>
              </a:rPr>
              <a:t>Ridge Regularization(L2):</a:t>
            </a:r>
            <a:endParaRPr sz="8000" dirty="0">
              <a:solidFill>
                <a:schemeClr val="dk1"/>
              </a:solidFill>
              <a:latin typeface="+mn-lt"/>
              <a:ea typeface="Calibri"/>
              <a:cs typeface="Calibri"/>
              <a:sym typeface="Calibri"/>
            </a:endParaRPr>
          </a:p>
          <a:p>
            <a:pPr marL="342900" marR="0" lvl="0" indent="-342900" algn="just" rtl="0">
              <a:lnSpc>
                <a:spcPct val="107000"/>
              </a:lnSpc>
              <a:spcBef>
                <a:spcPts val="800"/>
              </a:spcBef>
              <a:spcAft>
                <a:spcPts val="0"/>
              </a:spcAft>
              <a:buClr>
                <a:schemeClr val="dk1"/>
              </a:buClr>
              <a:buSzPct val="50000"/>
              <a:buFont typeface="Noto Sans Symbols"/>
              <a:buChar char="∙"/>
            </a:pPr>
            <a:r>
              <a:rPr lang="en-US" sz="8000" i="1" dirty="0">
                <a:solidFill>
                  <a:schemeClr val="dk1"/>
                </a:solidFill>
                <a:latin typeface="+mn-lt"/>
                <a:ea typeface="Times New Roman"/>
                <a:cs typeface="Times New Roman"/>
                <a:sym typeface="Times New Roman"/>
              </a:rPr>
              <a:t>Elastic-Net Regularization(L1+L2):</a:t>
            </a:r>
            <a:endParaRPr sz="8000" dirty="0">
              <a:solidFill>
                <a:schemeClr val="dk1"/>
              </a:solidFill>
              <a:latin typeface="+mn-lt"/>
              <a:ea typeface="Calibri"/>
              <a:cs typeface="Calibri"/>
              <a:sym typeface="Calibri"/>
            </a:endParaRPr>
          </a:p>
          <a:p>
            <a:pPr marL="0" marR="0" lvl="0" indent="0" algn="just" rtl="0">
              <a:lnSpc>
                <a:spcPct val="107000"/>
              </a:lnSpc>
              <a:spcBef>
                <a:spcPts val="800"/>
              </a:spcBef>
              <a:spcAft>
                <a:spcPts val="0"/>
              </a:spcAft>
              <a:buClr>
                <a:schemeClr val="dk1"/>
              </a:buClr>
              <a:buSzPct val="100000"/>
              <a:buFont typeface="Calibri"/>
              <a:buNone/>
            </a:pPr>
            <a:endParaRPr sz="6200" dirty="0">
              <a:solidFill>
                <a:schemeClr val="dk1"/>
              </a:solidFill>
              <a:latin typeface="+mn-lt"/>
              <a:ea typeface="Calibri"/>
              <a:cs typeface="Calibri"/>
              <a:sym typeface="Calibri"/>
            </a:endParaRPr>
          </a:p>
          <a:p>
            <a:pPr marL="0" marR="0" lvl="0" indent="0" algn="ctr" rtl="0">
              <a:lnSpc>
                <a:spcPct val="90000"/>
              </a:lnSpc>
              <a:spcBef>
                <a:spcPts val="800"/>
              </a:spcBef>
              <a:spcAft>
                <a:spcPts val="0"/>
              </a:spcAft>
              <a:buClr>
                <a:schemeClr val="dk1"/>
              </a:buClr>
              <a:buSzPct val="100000"/>
              <a:buFont typeface="Calibri"/>
              <a:buNone/>
            </a:pPr>
            <a:r>
              <a:rPr lang="en-US" sz="6200" dirty="0">
                <a:solidFill>
                  <a:schemeClr val="dk1"/>
                </a:solidFill>
                <a:latin typeface="+mn-lt"/>
                <a:ea typeface="Calibri"/>
                <a:cs typeface="Calibri"/>
                <a:sym typeface="Calibri"/>
              </a:rPr>
              <a:t/>
            </a:r>
            <a:br>
              <a:rPr lang="en-US" sz="6200" dirty="0">
                <a:solidFill>
                  <a:schemeClr val="dk1"/>
                </a:solidFill>
                <a:latin typeface="+mn-lt"/>
                <a:ea typeface="Calibri"/>
                <a:cs typeface="Calibri"/>
                <a:sym typeface="Calibri"/>
              </a:rPr>
            </a:br>
            <a:r>
              <a:rPr lang="en-US" sz="4400" dirty="0">
                <a:solidFill>
                  <a:schemeClr val="dk1"/>
                </a:solidFill>
                <a:latin typeface="+mn-lt"/>
                <a:ea typeface="Calibri"/>
                <a:cs typeface="Calibri"/>
                <a:sym typeface="Calibri"/>
              </a:rPr>
              <a:t/>
            </a:r>
            <a:br>
              <a:rPr lang="en-US" sz="4400" dirty="0">
                <a:solidFill>
                  <a:schemeClr val="dk1"/>
                </a:solidFill>
                <a:latin typeface="+mn-lt"/>
                <a:ea typeface="Calibri"/>
                <a:cs typeface="Calibri"/>
                <a:sym typeface="Calibri"/>
              </a:rPr>
            </a:br>
            <a:endParaRPr sz="4400" b="1" dirty="0">
              <a:solidFill>
                <a:schemeClr val="dk1"/>
              </a:solidFill>
              <a:latin typeface="+mn-lt"/>
              <a:ea typeface="Calibri"/>
              <a:cs typeface="Calibri"/>
              <a:sym typeface="Calibri"/>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4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dirty="0">
                <a:ea typeface="Times New Roman"/>
                <a:cs typeface="Times New Roman"/>
                <a:sym typeface="Times New Roman"/>
              </a:rPr>
              <a:t>Tree Based algorithms</a:t>
            </a:r>
            <a:endParaRPr dirty="0"/>
          </a:p>
        </p:txBody>
      </p:sp>
      <p:sp>
        <p:nvSpPr>
          <p:cNvPr id="383" name="Google Shape;383;p46"/>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0" marR="0" lvl="0" indent="0" algn="just" rtl="0">
              <a:lnSpc>
                <a:spcPct val="107000"/>
              </a:lnSpc>
              <a:spcBef>
                <a:spcPts val="0"/>
              </a:spcBef>
              <a:spcAft>
                <a:spcPts val="0"/>
              </a:spcAft>
              <a:buClr>
                <a:schemeClr val="dk1"/>
              </a:buClr>
              <a:buSzPts val="1800"/>
              <a:buNone/>
            </a:pPr>
            <a:r>
              <a:rPr lang="en-US" sz="2400" b="1" dirty="0">
                <a:ea typeface="Times New Roman"/>
                <a:cs typeface="Times New Roman"/>
                <a:sym typeface="Times New Roman"/>
              </a:rPr>
              <a:t>Tree-based algorithms build a tree-like structure of decisions, where each decision is based on the importance of a feature."</a:t>
            </a:r>
            <a:endParaRPr sz="2400" dirty="0">
              <a:ea typeface="Calibri"/>
              <a:cs typeface="Calibri"/>
              <a:sym typeface="Calibri"/>
            </a:endParaRPr>
          </a:p>
          <a:p>
            <a:pPr marL="0" marR="0" lvl="0" indent="0" algn="just" rtl="0">
              <a:lnSpc>
                <a:spcPct val="107000"/>
              </a:lnSpc>
              <a:spcBef>
                <a:spcPts val="800"/>
              </a:spcBef>
              <a:spcAft>
                <a:spcPts val="0"/>
              </a:spcAft>
              <a:buClr>
                <a:schemeClr val="dk1"/>
              </a:buClr>
              <a:buSzPts val="1800"/>
              <a:buNone/>
            </a:pPr>
            <a:r>
              <a:rPr lang="en-US" sz="2400" dirty="0">
                <a:ea typeface="Times New Roman"/>
                <a:cs typeface="Times New Roman"/>
                <a:sym typeface="Times New Roman"/>
              </a:rPr>
              <a:t>The model will likely include the most essential features for splitting the data. Tree-based algorithms that can be used in embedded methods are,</a:t>
            </a:r>
            <a:endParaRPr sz="2400" dirty="0">
              <a:ea typeface="Calibri"/>
              <a:cs typeface="Calibri"/>
              <a:sym typeface="Calibri"/>
            </a:endParaRPr>
          </a:p>
          <a:p>
            <a:pPr marL="342900" marR="0" lvl="0" indent="-342900" algn="just" rtl="0">
              <a:lnSpc>
                <a:spcPct val="107000"/>
              </a:lnSpc>
              <a:spcBef>
                <a:spcPts val="800"/>
              </a:spcBef>
              <a:spcAft>
                <a:spcPts val="0"/>
              </a:spcAft>
              <a:buClr>
                <a:schemeClr val="dk1"/>
              </a:buClr>
              <a:buSzPts val="1000"/>
              <a:buFont typeface="Noto Sans Symbols"/>
              <a:buChar char="∙"/>
            </a:pPr>
            <a:r>
              <a:rPr lang="en-US" sz="2400" dirty="0">
                <a:ea typeface="Times New Roman"/>
                <a:cs typeface="Times New Roman"/>
                <a:sym typeface="Times New Roman"/>
              </a:rPr>
              <a:t>Decision trees:</a:t>
            </a:r>
            <a:endParaRPr sz="2400" dirty="0">
              <a:ea typeface="Calibri"/>
              <a:cs typeface="Calibri"/>
              <a:sym typeface="Calibri"/>
            </a:endParaRPr>
          </a:p>
          <a:p>
            <a:pPr marL="228600" lvl="0" indent="-228600" algn="l" rtl="0">
              <a:lnSpc>
                <a:spcPct val="90000"/>
              </a:lnSpc>
              <a:spcBef>
                <a:spcPts val="1800"/>
              </a:spcBef>
              <a:spcAft>
                <a:spcPts val="0"/>
              </a:spcAft>
              <a:buClr>
                <a:schemeClr val="dk1"/>
              </a:buClr>
              <a:buSzPts val="1800"/>
              <a:buChar char="•"/>
            </a:pPr>
            <a:r>
              <a:rPr lang="en-US" sz="2400" dirty="0">
                <a:ea typeface="Times New Roman"/>
                <a:cs typeface="Times New Roman"/>
                <a:sym typeface="Times New Roman"/>
              </a:rPr>
              <a:t>Random forests</a:t>
            </a:r>
            <a:endParaRPr sz="2400"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4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Test (cont)</a:t>
            </a:r>
            <a:endParaRPr/>
          </a:p>
        </p:txBody>
      </p:sp>
      <p:graphicFrame>
        <p:nvGraphicFramePr>
          <p:cNvPr id="402" name="Google Shape;402;p49"/>
          <p:cNvGraphicFramePr/>
          <p:nvPr>
            <p:extLst>
              <p:ext uri="{D42A27DB-BD31-4B8C-83A1-F6EECF244321}">
                <p14:modId xmlns:p14="http://schemas.microsoft.com/office/powerpoint/2010/main" val="2676939554"/>
              </p:ext>
            </p:extLst>
          </p:nvPr>
        </p:nvGraphicFramePr>
        <p:xfrm>
          <a:off x="916748" y="1839952"/>
          <a:ext cx="10471500" cy="4720982"/>
        </p:xfrm>
        <a:graphic>
          <a:graphicData uri="http://schemas.openxmlformats.org/drawingml/2006/table">
            <a:tbl>
              <a:tblPr firstRow="1" firstCol="1" bandRow="1">
                <a:noFill/>
                <a:tableStyleId>{BF00C7D5-8C73-40C0-9A0A-1D9064C391A0}</a:tableStyleId>
              </a:tblPr>
              <a:tblGrid>
                <a:gridCol w="1796725"/>
                <a:gridCol w="2197775"/>
                <a:gridCol w="6477000"/>
              </a:tblGrid>
              <a:tr h="317181">
                <a:tc>
                  <a:txBody>
                    <a:bodyPr/>
                    <a:lstStyle/>
                    <a:p>
                      <a:pPr marL="0" marR="0" lvl="0" indent="0" algn="just" rtl="0">
                        <a:lnSpc>
                          <a:spcPct val="107000"/>
                        </a:lnSpc>
                        <a:spcBef>
                          <a:spcPts val="0"/>
                        </a:spcBef>
                        <a:spcAft>
                          <a:spcPts val="0"/>
                        </a:spcAft>
                        <a:buNone/>
                      </a:pPr>
                      <a:r>
                        <a:rPr lang="en-US" sz="2400" u="none" strike="noStrike" cap="none" dirty="0">
                          <a:latin typeface="+mn-lt"/>
                        </a:rPr>
                        <a:t>Input</a:t>
                      </a:r>
                      <a:endParaRPr sz="2400" u="none" strike="noStrike" cap="none" dirty="0">
                        <a:latin typeface="+mn-lt"/>
                        <a:ea typeface="Calibri"/>
                        <a:cs typeface="Calibri"/>
                        <a:sym typeface="Calibri"/>
                      </a:endParaRPr>
                    </a:p>
                  </a:txBody>
                  <a:tcPr marL="95250" marR="95250" marT="47625" marB="47625" anchor="ctr"/>
                </a:tc>
                <a:tc>
                  <a:txBody>
                    <a:bodyPr/>
                    <a:lstStyle/>
                    <a:p>
                      <a:pPr marL="0" marR="0" lvl="0" indent="0" algn="just" rtl="0">
                        <a:lnSpc>
                          <a:spcPct val="107000"/>
                        </a:lnSpc>
                        <a:spcBef>
                          <a:spcPts val="0"/>
                        </a:spcBef>
                        <a:spcAft>
                          <a:spcPts val="0"/>
                        </a:spcAft>
                        <a:buNone/>
                      </a:pPr>
                      <a:r>
                        <a:rPr lang="en-US" sz="2400" u="none" strike="noStrike" cap="none">
                          <a:latin typeface="+mn-lt"/>
                        </a:rPr>
                        <a:t>Output</a:t>
                      </a:r>
                      <a:endParaRPr sz="2400" u="none" strike="noStrike" cap="none">
                        <a:latin typeface="+mn-lt"/>
                        <a:ea typeface="Calibri"/>
                        <a:cs typeface="Calibri"/>
                        <a:sym typeface="Calibri"/>
                      </a:endParaRPr>
                    </a:p>
                  </a:txBody>
                  <a:tcPr marL="95250" marR="95250" marT="47625" marB="47625" anchor="ctr"/>
                </a:tc>
                <a:tc>
                  <a:txBody>
                    <a:bodyPr/>
                    <a:lstStyle/>
                    <a:p>
                      <a:pPr marL="0" marR="0" lvl="0" indent="0" algn="just" rtl="0">
                        <a:lnSpc>
                          <a:spcPct val="107000"/>
                        </a:lnSpc>
                        <a:spcBef>
                          <a:spcPts val="0"/>
                        </a:spcBef>
                        <a:spcAft>
                          <a:spcPts val="0"/>
                        </a:spcAft>
                        <a:buNone/>
                      </a:pPr>
                      <a:r>
                        <a:rPr lang="en-US" sz="2400" u="none" strike="noStrike" cap="none" dirty="0">
                          <a:latin typeface="+mn-lt"/>
                        </a:rPr>
                        <a:t>Feature Selection Model</a:t>
                      </a:r>
                      <a:endParaRPr sz="2400" u="none" strike="noStrike" cap="none" dirty="0">
                        <a:latin typeface="+mn-lt"/>
                        <a:ea typeface="Calibri"/>
                        <a:cs typeface="Calibri"/>
                        <a:sym typeface="Calibri"/>
                      </a:endParaRPr>
                    </a:p>
                  </a:txBody>
                  <a:tcPr marL="95250" marR="95250" marT="47625" marB="47625" anchor="ctr"/>
                </a:tc>
              </a:tr>
              <a:tr h="1715396">
                <a:tc>
                  <a:txBody>
                    <a:bodyPr/>
                    <a:lstStyle/>
                    <a:p>
                      <a:pPr marL="0" marR="0" lvl="0" indent="0" algn="just" rtl="0">
                        <a:lnSpc>
                          <a:spcPct val="107000"/>
                        </a:lnSpc>
                        <a:spcBef>
                          <a:spcPts val="0"/>
                        </a:spcBef>
                        <a:spcAft>
                          <a:spcPts val="0"/>
                        </a:spcAft>
                        <a:buNone/>
                      </a:pPr>
                      <a:r>
                        <a:rPr lang="en-US" sz="2000" u="none" strike="noStrike" cap="none" dirty="0">
                          <a:latin typeface="+mn-lt"/>
                        </a:rPr>
                        <a:t>Numerical</a:t>
                      </a:r>
                      <a:endParaRPr sz="2000" u="none" strike="noStrike" cap="none" dirty="0">
                        <a:latin typeface="+mn-lt"/>
                        <a:ea typeface="Calibri"/>
                        <a:cs typeface="Calibri"/>
                        <a:sym typeface="Calibri"/>
                      </a:endParaRPr>
                    </a:p>
                  </a:txBody>
                  <a:tcPr marL="95250" marR="95250" marT="47625" marB="47625" anchor="ctr"/>
                </a:tc>
                <a:tc>
                  <a:txBody>
                    <a:bodyPr/>
                    <a:lstStyle/>
                    <a:p>
                      <a:pPr marL="0" marR="0" lvl="0" indent="0" algn="just" rtl="0">
                        <a:lnSpc>
                          <a:spcPct val="107000"/>
                        </a:lnSpc>
                        <a:spcBef>
                          <a:spcPts val="0"/>
                        </a:spcBef>
                        <a:spcAft>
                          <a:spcPts val="0"/>
                        </a:spcAft>
                        <a:buNone/>
                      </a:pPr>
                      <a:r>
                        <a:rPr lang="en-US" sz="2000" u="none" strike="noStrike" cap="none" dirty="0">
                          <a:latin typeface="+mn-lt"/>
                        </a:rPr>
                        <a:t>Numerical</a:t>
                      </a:r>
                      <a:endParaRPr sz="2000" u="none" strike="noStrike" cap="none" dirty="0">
                        <a:latin typeface="+mn-lt"/>
                        <a:ea typeface="Calibri"/>
                        <a:cs typeface="Calibri"/>
                        <a:sym typeface="Calibri"/>
                      </a:endParaRPr>
                    </a:p>
                  </a:txBody>
                  <a:tcPr marL="95250" marR="95250" marT="47625" marB="47625" anchor="ctr"/>
                </a:tc>
                <a:tc>
                  <a:txBody>
                    <a:bodyPr/>
                    <a:lstStyle/>
                    <a:p>
                      <a:pPr marL="342900" marR="0" lvl="0" indent="-342900" algn="just" rtl="0">
                        <a:lnSpc>
                          <a:spcPct val="107000"/>
                        </a:lnSpc>
                        <a:spcBef>
                          <a:spcPts val="0"/>
                        </a:spcBef>
                        <a:spcAft>
                          <a:spcPts val="0"/>
                        </a:spcAft>
                        <a:buClr>
                          <a:schemeClr val="dk1"/>
                        </a:buClr>
                        <a:buSzPts val="1000"/>
                        <a:buFont typeface="Noto Sans Symbols"/>
                        <a:buChar char="∙"/>
                      </a:pPr>
                      <a:r>
                        <a:rPr lang="en-US" sz="2000" u="none" strike="noStrike" cap="none">
                          <a:latin typeface="+mn-lt"/>
                        </a:rPr>
                        <a:t>Pearson’s correlation coefficient</a:t>
                      </a:r>
                      <a:endParaRPr>
                        <a:latin typeface="+mn-lt"/>
                      </a:endParaRPr>
                    </a:p>
                    <a:p>
                      <a:pPr marL="342900" marR="0" lvl="0" indent="-342900" algn="just" rtl="0">
                        <a:lnSpc>
                          <a:spcPct val="107000"/>
                        </a:lnSpc>
                        <a:spcBef>
                          <a:spcPts val="800"/>
                        </a:spcBef>
                        <a:spcAft>
                          <a:spcPts val="0"/>
                        </a:spcAft>
                        <a:buClr>
                          <a:schemeClr val="dk1"/>
                        </a:buClr>
                        <a:buSzPts val="1000"/>
                        <a:buFont typeface="Noto Sans Symbols"/>
                        <a:buChar char="∙"/>
                      </a:pPr>
                      <a:r>
                        <a:rPr lang="en-US" sz="2000" u="none" strike="noStrike" cap="none">
                          <a:latin typeface="+mn-lt"/>
                        </a:rPr>
                        <a:t>Spearman’s rank coefficient</a:t>
                      </a:r>
                      <a:endParaRPr>
                        <a:latin typeface="+mn-lt"/>
                      </a:endParaRPr>
                    </a:p>
                    <a:p>
                      <a:pPr marL="342900" marR="0" lvl="0" indent="-342900" algn="just" rtl="0">
                        <a:lnSpc>
                          <a:spcPct val="107000"/>
                        </a:lnSpc>
                        <a:spcBef>
                          <a:spcPts val="800"/>
                        </a:spcBef>
                        <a:spcAft>
                          <a:spcPts val="0"/>
                        </a:spcAft>
                        <a:buClr>
                          <a:schemeClr val="dk1"/>
                        </a:buClr>
                        <a:buSzPts val="1000"/>
                        <a:buFont typeface="Noto Sans Symbols"/>
                        <a:buChar char="∙"/>
                      </a:pPr>
                      <a:r>
                        <a:rPr lang="en-US" sz="2000" u="none" strike="noStrike" cap="none">
                          <a:latin typeface="+mn-lt"/>
                        </a:rPr>
                        <a:t>Trace ratio criterion</a:t>
                      </a:r>
                      <a:endParaRPr>
                        <a:latin typeface="+mn-lt"/>
                      </a:endParaRPr>
                    </a:p>
                    <a:p>
                      <a:pPr marL="342900" marR="0" lvl="0" indent="-342900" algn="just" rtl="0">
                        <a:lnSpc>
                          <a:spcPct val="107000"/>
                        </a:lnSpc>
                        <a:spcBef>
                          <a:spcPts val="800"/>
                        </a:spcBef>
                        <a:spcAft>
                          <a:spcPts val="0"/>
                        </a:spcAft>
                        <a:buClr>
                          <a:schemeClr val="dk1"/>
                        </a:buClr>
                        <a:buSzPts val="1000"/>
                        <a:buFont typeface="Noto Sans Symbols"/>
                        <a:buChar char="∙"/>
                      </a:pPr>
                      <a:r>
                        <a:rPr lang="en-US" sz="2000" u="none" strike="noStrike" cap="none">
                          <a:latin typeface="+mn-lt"/>
                        </a:rPr>
                        <a:t>Mutual information</a:t>
                      </a:r>
                      <a:endParaRPr sz="2000" u="none" strike="noStrike" cap="none">
                        <a:latin typeface="+mn-lt"/>
                        <a:ea typeface="Calibri"/>
                        <a:cs typeface="Calibri"/>
                        <a:sym typeface="Calibri"/>
                      </a:endParaRPr>
                    </a:p>
                  </a:txBody>
                  <a:tcPr marL="95250" marR="95250" marT="47625" marB="47625" anchor="ctr"/>
                </a:tc>
              </a:tr>
              <a:tr h="846181">
                <a:tc>
                  <a:txBody>
                    <a:bodyPr/>
                    <a:lstStyle/>
                    <a:p>
                      <a:pPr marL="0" marR="0" lvl="0" indent="0" algn="just" rtl="0">
                        <a:lnSpc>
                          <a:spcPct val="107000"/>
                        </a:lnSpc>
                        <a:spcBef>
                          <a:spcPts val="0"/>
                        </a:spcBef>
                        <a:spcAft>
                          <a:spcPts val="0"/>
                        </a:spcAft>
                        <a:buNone/>
                      </a:pPr>
                      <a:r>
                        <a:rPr lang="en-US" sz="2000" u="none" strike="noStrike" cap="none">
                          <a:latin typeface="+mn-lt"/>
                        </a:rPr>
                        <a:t>Numerical</a:t>
                      </a:r>
                      <a:endParaRPr sz="2000" u="none" strike="noStrike" cap="none">
                        <a:latin typeface="+mn-lt"/>
                        <a:ea typeface="Calibri"/>
                        <a:cs typeface="Calibri"/>
                        <a:sym typeface="Calibri"/>
                      </a:endParaRPr>
                    </a:p>
                  </a:txBody>
                  <a:tcPr marL="95250" marR="95250" marT="47625" marB="47625" anchor="ctr"/>
                </a:tc>
                <a:tc>
                  <a:txBody>
                    <a:bodyPr/>
                    <a:lstStyle/>
                    <a:p>
                      <a:pPr marL="0" marR="0" lvl="0" indent="0" algn="just" rtl="0">
                        <a:lnSpc>
                          <a:spcPct val="107000"/>
                        </a:lnSpc>
                        <a:spcBef>
                          <a:spcPts val="0"/>
                        </a:spcBef>
                        <a:spcAft>
                          <a:spcPts val="0"/>
                        </a:spcAft>
                        <a:buNone/>
                      </a:pPr>
                      <a:r>
                        <a:rPr lang="en-US" sz="2000" u="none" strike="noStrike" cap="none">
                          <a:latin typeface="+mn-lt"/>
                        </a:rPr>
                        <a:t>Categorical</a:t>
                      </a:r>
                      <a:endParaRPr sz="2000" u="none" strike="noStrike" cap="none">
                        <a:latin typeface="+mn-lt"/>
                        <a:ea typeface="Calibri"/>
                        <a:cs typeface="Calibri"/>
                        <a:sym typeface="Calibri"/>
                      </a:endParaRPr>
                    </a:p>
                  </a:txBody>
                  <a:tcPr marL="95250" marR="95250" marT="47625" marB="47625" anchor="ctr"/>
                </a:tc>
                <a:tc>
                  <a:txBody>
                    <a:bodyPr/>
                    <a:lstStyle/>
                    <a:p>
                      <a:pPr marL="342900" marR="0" lvl="0" indent="-342900" algn="just" rtl="0">
                        <a:lnSpc>
                          <a:spcPct val="107000"/>
                        </a:lnSpc>
                        <a:spcBef>
                          <a:spcPts val="0"/>
                        </a:spcBef>
                        <a:spcAft>
                          <a:spcPts val="0"/>
                        </a:spcAft>
                        <a:buClr>
                          <a:schemeClr val="dk1"/>
                        </a:buClr>
                        <a:buSzPts val="1000"/>
                        <a:buFont typeface="Noto Sans Symbols"/>
                        <a:buChar char="∙"/>
                      </a:pPr>
                      <a:r>
                        <a:rPr lang="en-US" sz="2000" u="none" strike="noStrike" cap="none" dirty="0">
                          <a:latin typeface="+mn-lt"/>
                        </a:rPr>
                        <a:t>ANOVA correlation coefficient</a:t>
                      </a:r>
                      <a:endParaRPr dirty="0">
                        <a:latin typeface="+mn-lt"/>
                      </a:endParaRPr>
                    </a:p>
                    <a:p>
                      <a:pPr marL="342900" marR="0" lvl="0" indent="-342900" algn="just" rtl="0">
                        <a:lnSpc>
                          <a:spcPct val="107000"/>
                        </a:lnSpc>
                        <a:spcBef>
                          <a:spcPts val="800"/>
                        </a:spcBef>
                        <a:spcAft>
                          <a:spcPts val="0"/>
                        </a:spcAft>
                        <a:buClr>
                          <a:schemeClr val="dk1"/>
                        </a:buClr>
                        <a:buSzPts val="1000"/>
                        <a:buFont typeface="Noto Sans Symbols"/>
                        <a:buChar char="∙"/>
                      </a:pPr>
                      <a:r>
                        <a:rPr lang="en-US" sz="2000" u="none" strike="noStrike" cap="none" dirty="0">
                          <a:latin typeface="+mn-lt"/>
                        </a:rPr>
                        <a:t>Kendall’s rank coefficient</a:t>
                      </a:r>
                      <a:endParaRPr sz="2000" u="none" strike="noStrike" cap="none" dirty="0">
                        <a:latin typeface="+mn-lt"/>
                        <a:ea typeface="Calibri"/>
                        <a:cs typeface="Calibri"/>
                        <a:sym typeface="Calibri"/>
                      </a:endParaRPr>
                    </a:p>
                  </a:txBody>
                  <a:tcPr marL="95250" marR="95250" marT="47625" marB="47625" anchor="ctr"/>
                </a:tc>
              </a:tr>
              <a:tr h="846181">
                <a:tc>
                  <a:txBody>
                    <a:bodyPr/>
                    <a:lstStyle/>
                    <a:p>
                      <a:pPr marL="0" marR="0" lvl="0" indent="0" algn="just" rtl="0">
                        <a:lnSpc>
                          <a:spcPct val="107000"/>
                        </a:lnSpc>
                        <a:spcBef>
                          <a:spcPts val="0"/>
                        </a:spcBef>
                        <a:spcAft>
                          <a:spcPts val="0"/>
                        </a:spcAft>
                        <a:buNone/>
                      </a:pPr>
                      <a:r>
                        <a:rPr lang="en-US" sz="2000" u="none" strike="noStrike" cap="none">
                          <a:latin typeface="+mn-lt"/>
                        </a:rPr>
                        <a:t>Categorical</a:t>
                      </a:r>
                      <a:endParaRPr sz="2000" u="none" strike="noStrike" cap="none">
                        <a:latin typeface="+mn-lt"/>
                        <a:ea typeface="Calibri"/>
                        <a:cs typeface="Calibri"/>
                        <a:sym typeface="Calibri"/>
                      </a:endParaRPr>
                    </a:p>
                  </a:txBody>
                  <a:tcPr marL="95250" marR="95250" marT="47625" marB="47625" anchor="ctr"/>
                </a:tc>
                <a:tc>
                  <a:txBody>
                    <a:bodyPr/>
                    <a:lstStyle/>
                    <a:p>
                      <a:pPr marL="0" marR="0" lvl="0" indent="0" algn="just" rtl="0">
                        <a:lnSpc>
                          <a:spcPct val="107000"/>
                        </a:lnSpc>
                        <a:spcBef>
                          <a:spcPts val="0"/>
                        </a:spcBef>
                        <a:spcAft>
                          <a:spcPts val="0"/>
                        </a:spcAft>
                        <a:buNone/>
                      </a:pPr>
                      <a:r>
                        <a:rPr lang="en-US" sz="2000" u="none" strike="noStrike" cap="none">
                          <a:latin typeface="+mn-lt"/>
                        </a:rPr>
                        <a:t>Numerical</a:t>
                      </a:r>
                      <a:endParaRPr sz="2000" u="none" strike="noStrike" cap="none">
                        <a:latin typeface="+mn-lt"/>
                        <a:ea typeface="Calibri"/>
                        <a:cs typeface="Calibri"/>
                        <a:sym typeface="Calibri"/>
                      </a:endParaRPr>
                    </a:p>
                  </a:txBody>
                  <a:tcPr marL="95250" marR="95250" marT="47625" marB="47625" anchor="ctr"/>
                </a:tc>
                <a:tc>
                  <a:txBody>
                    <a:bodyPr/>
                    <a:lstStyle/>
                    <a:p>
                      <a:pPr marL="342900" marR="0" lvl="0" indent="-342900" algn="just" rtl="0">
                        <a:lnSpc>
                          <a:spcPct val="107000"/>
                        </a:lnSpc>
                        <a:spcBef>
                          <a:spcPts val="0"/>
                        </a:spcBef>
                        <a:spcAft>
                          <a:spcPts val="0"/>
                        </a:spcAft>
                        <a:buClr>
                          <a:schemeClr val="dk1"/>
                        </a:buClr>
                        <a:buSzPts val="1000"/>
                        <a:buFont typeface="Noto Sans Symbols"/>
                        <a:buChar char="∙"/>
                      </a:pPr>
                      <a:r>
                        <a:rPr lang="en-US" sz="2000" u="none" strike="noStrike" cap="none" dirty="0">
                          <a:latin typeface="+mn-lt"/>
                        </a:rPr>
                        <a:t>Kendall’s rank coefficient</a:t>
                      </a:r>
                      <a:endParaRPr dirty="0">
                        <a:latin typeface="+mn-lt"/>
                      </a:endParaRPr>
                    </a:p>
                    <a:p>
                      <a:pPr marL="342900" marR="0" lvl="0" indent="-342900" algn="just" rtl="0">
                        <a:lnSpc>
                          <a:spcPct val="107000"/>
                        </a:lnSpc>
                        <a:spcBef>
                          <a:spcPts val="800"/>
                        </a:spcBef>
                        <a:spcAft>
                          <a:spcPts val="0"/>
                        </a:spcAft>
                        <a:buClr>
                          <a:schemeClr val="dk1"/>
                        </a:buClr>
                        <a:buSzPts val="1000"/>
                        <a:buFont typeface="Noto Sans Symbols"/>
                        <a:buChar char="∙"/>
                      </a:pPr>
                      <a:r>
                        <a:rPr lang="en-US" sz="2000" u="none" strike="noStrike" cap="none" dirty="0">
                          <a:latin typeface="+mn-lt"/>
                        </a:rPr>
                        <a:t>ANOVA correlation coefficient</a:t>
                      </a:r>
                      <a:endParaRPr sz="2000" u="none" strike="noStrike" cap="none" dirty="0">
                        <a:latin typeface="+mn-lt"/>
                        <a:ea typeface="Calibri"/>
                        <a:cs typeface="Calibri"/>
                        <a:sym typeface="Calibri"/>
                      </a:endParaRPr>
                    </a:p>
                  </a:txBody>
                  <a:tcPr marL="95250" marR="95250" marT="47625" marB="47625" anchor="ctr"/>
                </a:tc>
              </a:tr>
              <a:tr h="846181">
                <a:tc>
                  <a:txBody>
                    <a:bodyPr/>
                    <a:lstStyle/>
                    <a:p>
                      <a:pPr marL="0" marR="0" lvl="0" indent="0" algn="just" rtl="0">
                        <a:lnSpc>
                          <a:spcPct val="107000"/>
                        </a:lnSpc>
                        <a:spcBef>
                          <a:spcPts val="0"/>
                        </a:spcBef>
                        <a:spcAft>
                          <a:spcPts val="0"/>
                        </a:spcAft>
                        <a:buNone/>
                      </a:pPr>
                      <a:r>
                        <a:rPr lang="en-US" sz="2000" u="none" strike="noStrike" cap="none">
                          <a:latin typeface="+mn-lt"/>
                        </a:rPr>
                        <a:t>Categorical</a:t>
                      </a:r>
                      <a:endParaRPr sz="2000" u="none" strike="noStrike" cap="none">
                        <a:latin typeface="+mn-lt"/>
                        <a:ea typeface="Calibri"/>
                        <a:cs typeface="Calibri"/>
                        <a:sym typeface="Calibri"/>
                      </a:endParaRPr>
                    </a:p>
                  </a:txBody>
                  <a:tcPr marL="95250" marR="95250" marT="47625" marB="47625" anchor="ctr"/>
                </a:tc>
                <a:tc>
                  <a:txBody>
                    <a:bodyPr/>
                    <a:lstStyle/>
                    <a:p>
                      <a:pPr marL="0" marR="0" lvl="0" indent="0" algn="just" rtl="0">
                        <a:lnSpc>
                          <a:spcPct val="107000"/>
                        </a:lnSpc>
                        <a:spcBef>
                          <a:spcPts val="0"/>
                        </a:spcBef>
                        <a:spcAft>
                          <a:spcPts val="0"/>
                        </a:spcAft>
                        <a:buNone/>
                      </a:pPr>
                      <a:r>
                        <a:rPr lang="en-US" sz="2000" u="none" strike="noStrike" cap="none">
                          <a:latin typeface="+mn-lt"/>
                        </a:rPr>
                        <a:t>Categorical</a:t>
                      </a:r>
                      <a:endParaRPr sz="2000" u="none" strike="noStrike" cap="none">
                        <a:latin typeface="+mn-lt"/>
                        <a:ea typeface="Calibri"/>
                        <a:cs typeface="Calibri"/>
                        <a:sym typeface="Calibri"/>
                      </a:endParaRPr>
                    </a:p>
                  </a:txBody>
                  <a:tcPr marL="95250" marR="95250" marT="47625" marB="47625" anchor="ctr"/>
                </a:tc>
                <a:tc>
                  <a:txBody>
                    <a:bodyPr/>
                    <a:lstStyle/>
                    <a:p>
                      <a:pPr marL="342900" marR="0" lvl="0" indent="-342900" algn="just" rtl="0">
                        <a:lnSpc>
                          <a:spcPct val="107000"/>
                        </a:lnSpc>
                        <a:spcBef>
                          <a:spcPts val="0"/>
                        </a:spcBef>
                        <a:spcAft>
                          <a:spcPts val="0"/>
                        </a:spcAft>
                        <a:buClr>
                          <a:schemeClr val="dk1"/>
                        </a:buClr>
                        <a:buSzPts val="1000"/>
                        <a:buFont typeface="Noto Sans Symbols"/>
                        <a:buChar char="∙"/>
                      </a:pPr>
                      <a:r>
                        <a:rPr lang="en-US" sz="2000" u="none" strike="noStrike" cap="none" dirty="0">
                          <a:latin typeface="+mn-lt"/>
                        </a:rPr>
                        <a:t>Chi-Squared test (contingency tables).</a:t>
                      </a:r>
                      <a:endParaRPr dirty="0">
                        <a:latin typeface="+mn-lt"/>
                      </a:endParaRPr>
                    </a:p>
                    <a:p>
                      <a:pPr marL="342900" marR="0" lvl="0" indent="-342900" algn="just" rtl="0">
                        <a:lnSpc>
                          <a:spcPct val="107000"/>
                        </a:lnSpc>
                        <a:spcBef>
                          <a:spcPts val="800"/>
                        </a:spcBef>
                        <a:spcAft>
                          <a:spcPts val="0"/>
                        </a:spcAft>
                        <a:buClr>
                          <a:schemeClr val="dk1"/>
                        </a:buClr>
                        <a:buSzPts val="1000"/>
                        <a:buFont typeface="Noto Sans Symbols"/>
                        <a:buChar char="∙"/>
                      </a:pPr>
                      <a:r>
                        <a:rPr lang="en-US" sz="2000" u="none" strike="noStrike" cap="none" dirty="0">
                          <a:latin typeface="+mn-lt"/>
                        </a:rPr>
                        <a:t>Mutual Information.</a:t>
                      </a:r>
                      <a:endParaRPr sz="2000" u="none" strike="noStrike" cap="none" dirty="0">
                        <a:latin typeface="+mn-lt"/>
                        <a:ea typeface="Calibri"/>
                        <a:cs typeface="Calibri"/>
                        <a:sym typeface="Calibri"/>
                      </a:endParaRPr>
                    </a:p>
                  </a:txBody>
                  <a:tcPr marL="95250" marR="95250" marT="47625" marB="47625" anchor="ctr"/>
                </a:tc>
              </a:tr>
            </a:tbl>
          </a:graphicData>
        </a:graphic>
      </p:graphicFrame>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themeOverride>
</file>

<file path=docProps/app.xml><?xml version="1.0" encoding="utf-8"?>
<Properties xmlns="http://schemas.openxmlformats.org/officeDocument/2006/extended-properties" xmlns:vt="http://schemas.openxmlformats.org/officeDocument/2006/docPropsVTypes">
  <Template/>
  <TotalTime>233</TotalTime>
  <Words>3318</Words>
  <Application>Microsoft Office PowerPoint</Application>
  <PresentationFormat>Widescreen</PresentationFormat>
  <Paragraphs>425</Paragraphs>
  <Slides>51</Slides>
  <Notes>50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51</vt:i4>
      </vt:variant>
    </vt:vector>
  </HeadingPairs>
  <TitlesOfParts>
    <vt:vector size="61" baseType="lpstr">
      <vt:lpstr>Calibri</vt:lpstr>
      <vt:lpstr>Times New Roman</vt:lpstr>
      <vt:lpstr>Quattrocento Sans</vt:lpstr>
      <vt:lpstr>Noto Sans Symbols</vt:lpstr>
      <vt:lpstr>Tw Cen MT Condensed</vt:lpstr>
      <vt:lpstr>Arial</vt:lpstr>
      <vt:lpstr>Wingdings</vt:lpstr>
      <vt:lpstr>Tw Cen MT</vt:lpstr>
      <vt:lpstr>Wingdings 3</vt:lpstr>
      <vt:lpstr>Integral</vt:lpstr>
      <vt:lpstr>CSE315:Introduction to Data Science Feature Engineering</vt:lpstr>
      <vt:lpstr>What is Feature Engineering?</vt:lpstr>
      <vt:lpstr>Importance</vt:lpstr>
      <vt:lpstr>Feature Engineering</vt:lpstr>
      <vt:lpstr>Data Transformation</vt:lpstr>
      <vt:lpstr>Feature Transformation</vt:lpstr>
      <vt:lpstr>                                    Handling Missing Values </vt:lpstr>
      <vt:lpstr>Deletion</vt:lpstr>
      <vt:lpstr>Encoding: Handling Categorical Variable</vt:lpstr>
      <vt:lpstr>                       One-hot encoding</vt:lpstr>
      <vt:lpstr>           Example  of one-hot coding</vt:lpstr>
      <vt:lpstr>                         Ordinal Encoding</vt:lpstr>
      <vt:lpstr>Label Encoding</vt:lpstr>
      <vt:lpstr>           Example of label encoding</vt:lpstr>
      <vt:lpstr>   Handling Outliers </vt:lpstr>
      <vt:lpstr>Mapping Function</vt:lpstr>
      <vt:lpstr>                    Feature scaling</vt:lpstr>
      <vt:lpstr>                  Feature Scaling</vt:lpstr>
      <vt:lpstr> Standardization </vt:lpstr>
      <vt:lpstr>Normalization</vt:lpstr>
      <vt:lpstr>Normalization Technique</vt:lpstr>
      <vt:lpstr>Min-Max Normalization </vt:lpstr>
      <vt:lpstr>Min-Max Normalization </vt:lpstr>
      <vt:lpstr> Robust Scaling Normalization </vt:lpstr>
      <vt:lpstr>Z-Score Normalization </vt:lpstr>
      <vt:lpstr>Z-Score Normalization </vt:lpstr>
      <vt:lpstr>Decimal Scale Normalization</vt:lpstr>
      <vt:lpstr>Decimal Scale Normalization</vt:lpstr>
      <vt:lpstr>    Log scaling Normalization</vt:lpstr>
      <vt:lpstr>Log scaling Normalization</vt:lpstr>
      <vt:lpstr>Comparison of normalization and standardization</vt:lpstr>
      <vt:lpstr>Which procedure is appropriate</vt:lpstr>
      <vt:lpstr>     Feature Construction </vt:lpstr>
      <vt:lpstr>     Feature Construction </vt:lpstr>
      <vt:lpstr>            Feature Construction</vt:lpstr>
      <vt:lpstr> Feature Extraction </vt:lpstr>
      <vt:lpstr>Feature Extraction</vt:lpstr>
      <vt:lpstr>Feature Extraction: PCA</vt:lpstr>
      <vt:lpstr> Feature Extraction: LDA </vt:lpstr>
      <vt:lpstr> Feature Extraction: LDA </vt:lpstr>
      <vt:lpstr> Feaure Extraction: T-SNE </vt:lpstr>
      <vt:lpstr>Feature Selection</vt:lpstr>
      <vt:lpstr>Feature Selection: Filter methods </vt:lpstr>
      <vt:lpstr>Feature Selection: Filter Method</vt:lpstr>
      <vt:lpstr> Feature Selection: Wrapper methods </vt:lpstr>
      <vt:lpstr>Feature Selection: Wrapper Method</vt:lpstr>
      <vt:lpstr> Feature Selection: Wrapper methods</vt:lpstr>
      <vt:lpstr>  Wrapper methods  </vt:lpstr>
      <vt:lpstr> Wrapper methods: Embedded methods  </vt:lpstr>
      <vt:lpstr>Tree Based algorithms</vt:lpstr>
      <vt:lpstr>Test (cont)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CSE315:Introduction to Data Science Feature Engineering</dc:title>
  <dc:creator>RAKA-PC</dc:creator>
  <cp:lastModifiedBy>USER</cp:lastModifiedBy>
  <cp:revision>53</cp:revision>
  <dcterms:created xsi:type="dcterms:W3CDTF">2024-01-23T07:25:36Z</dcterms:created>
  <dcterms:modified xsi:type="dcterms:W3CDTF">2026-03-30T05:44:17Z</dcterms:modified>
</cp:coreProperties>
</file>