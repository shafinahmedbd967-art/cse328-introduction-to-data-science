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Default Extension="jpeg" ContentType="image/jpeg"/>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Default Extension="emf" ContentType="image/x-emf"/>
  <Override PartName="/ppt/notesSlides/notesSlide46.xml" ContentType="application/vnd.openxmlformats-officedocument.presentationml.notesSlide+xml"/>
  <Override PartName="/ppt/notesSlides/notesSlide55.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51.xml" ContentType="application/vnd.openxmlformats-officedocument.presentationml.notesSlide+xml"/>
  <Override PartName="/ppt/notesSlides/notesSlide60.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Default Extension="vml" ContentType="application/vnd.openxmlformats-officedocument.vmlDrawing"/>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notesSlides/notesSlide18.xml" ContentType="application/vnd.openxmlformats-officedocument.presentationml.notesSlide+xml"/>
  <Default Extension="wmf" ContentType="image/x-wmf"/>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5201" r:id="rId1"/>
  </p:sldMasterIdLst>
  <p:notesMasterIdLst>
    <p:notesMasterId r:id="rId64"/>
  </p:notesMasterIdLst>
  <p:handoutMasterIdLst>
    <p:handoutMasterId r:id="rId65"/>
  </p:handoutMasterIdLst>
  <p:sldIdLst>
    <p:sldId id="498" r:id="rId2"/>
    <p:sldId id="695" r:id="rId3"/>
    <p:sldId id="779" r:id="rId4"/>
    <p:sldId id="783" r:id="rId5"/>
    <p:sldId id="786" r:id="rId6"/>
    <p:sldId id="785" r:id="rId7"/>
    <p:sldId id="696" r:id="rId8"/>
    <p:sldId id="784" r:id="rId9"/>
    <p:sldId id="697" r:id="rId10"/>
    <p:sldId id="776" r:id="rId11"/>
    <p:sldId id="770" r:id="rId12"/>
    <p:sldId id="759" r:id="rId13"/>
    <p:sldId id="701" r:id="rId14"/>
    <p:sldId id="703" r:id="rId15"/>
    <p:sldId id="787" r:id="rId16"/>
    <p:sldId id="788" r:id="rId17"/>
    <p:sldId id="790" r:id="rId18"/>
    <p:sldId id="771" r:id="rId19"/>
    <p:sldId id="768" r:id="rId20"/>
    <p:sldId id="769" r:id="rId21"/>
    <p:sldId id="708" r:id="rId22"/>
    <p:sldId id="709" r:id="rId23"/>
    <p:sldId id="710" r:id="rId24"/>
    <p:sldId id="711" r:id="rId25"/>
    <p:sldId id="713" r:id="rId26"/>
    <p:sldId id="714" r:id="rId27"/>
    <p:sldId id="772" r:id="rId28"/>
    <p:sldId id="716" r:id="rId29"/>
    <p:sldId id="717" r:id="rId30"/>
    <p:sldId id="800" r:id="rId31"/>
    <p:sldId id="801" r:id="rId32"/>
    <p:sldId id="802" r:id="rId33"/>
    <p:sldId id="803" r:id="rId34"/>
    <p:sldId id="804" r:id="rId35"/>
    <p:sldId id="805" r:id="rId36"/>
    <p:sldId id="807" r:id="rId37"/>
    <p:sldId id="719" r:id="rId38"/>
    <p:sldId id="720" r:id="rId39"/>
    <p:sldId id="760" r:id="rId40"/>
    <p:sldId id="808" r:id="rId41"/>
    <p:sldId id="765" r:id="rId42"/>
    <p:sldId id="732" r:id="rId43"/>
    <p:sldId id="733" r:id="rId44"/>
    <p:sldId id="734" r:id="rId45"/>
    <p:sldId id="735" r:id="rId46"/>
    <p:sldId id="736" r:id="rId47"/>
    <p:sldId id="738" r:id="rId48"/>
    <p:sldId id="739" r:id="rId49"/>
    <p:sldId id="773" r:id="rId50"/>
    <p:sldId id="742" r:id="rId51"/>
    <p:sldId id="743" r:id="rId52"/>
    <p:sldId id="744" r:id="rId53"/>
    <p:sldId id="745" r:id="rId54"/>
    <p:sldId id="749" r:id="rId55"/>
    <p:sldId id="750" r:id="rId56"/>
    <p:sldId id="751" r:id="rId57"/>
    <p:sldId id="752" r:id="rId58"/>
    <p:sldId id="774" r:id="rId59"/>
    <p:sldId id="754" r:id="rId60"/>
    <p:sldId id="694" r:id="rId61"/>
    <p:sldId id="618" r:id="rId62"/>
    <p:sldId id="619" r:id="rId63"/>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ahoma"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itchFamily="34" charset="0"/>
        <a:ea typeface="+mn-ea"/>
        <a:cs typeface="+mn-cs"/>
      </a:defRPr>
    </a:lvl5pPr>
    <a:lvl6pPr marL="2286000" algn="l" defTabSz="914400" rtl="0" eaLnBrk="1" latinLnBrk="0" hangingPunct="1">
      <a:defRPr kern="1200">
        <a:solidFill>
          <a:schemeClr val="tx1"/>
        </a:solidFill>
        <a:latin typeface="Tahoma" pitchFamily="34" charset="0"/>
        <a:ea typeface="+mn-ea"/>
        <a:cs typeface="+mn-cs"/>
      </a:defRPr>
    </a:lvl6pPr>
    <a:lvl7pPr marL="2743200" algn="l" defTabSz="914400" rtl="0" eaLnBrk="1" latinLnBrk="0" hangingPunct="1">
      <a:defRPr kern="1200">
        <a:solidFill>
          <a:schemeClr val="tx1"/>
        </a:solidFill>
        <a:latin typeface="Tahoma" pitchFamily="34" charset="0"/>
        <a:ea typeface="+mn-ea"/>
        <a:cs typeface="+mn-cs"/>
      </a:defRPr>
    </a:lvl7pPr>
    <a:lvl8pPr marL="3200400" algn="l" defTabSz="914400" rtl="0" eaLnBrk="1" latinLnBrk="0" hangingPunct="1">
      <a:defRPr kern="1200">
        <a:solidFill>
          <a:schemeClr val="tx1"/>
        </a:solidFill>
        <a:latin typeface="Tahoma" pitchFamily="34" charset="0"/>
        <a:ea typeface="+mn-ea"/>
        <a:cs typeface="+mn-cs"/>
      </a:defRPr>
    </a:lvl8pPr>
    <a:lvl9pPr marL="3657600" algn="l" defTabSz="914400" rtl="0" eaLnBrk="1" latinLnBrk="0" hangingPunct="1">
      <a:defRPr kern="1200">
        <a:solidFill>
          <a:schemeClr val="tx1"/>
        </a:solidFill>
        <a:latin typeface="Tahoma"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60000"/>
    <a:srgbClr val="600000"/>
    <a:srgbClr val="0066FF"/>
    <a:srgbClr val="FF0000"/>
    <a:srgbClr val="CCCC00"/>
    <a:srgbClr val="FFCCFF"/>
    <a:srgbClr val="FF99CC"/>
    <a:srgbClr val="00FF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015" autoAdjust="0"/>
    <p:restoredTop sz="82319" autoAdjust="0"/>
  </p:normalViewPr>
  <p:slideViewPr>
    <p:cSldViewPr snapToObjects="1">
      <p:cViewPr>
        <p:scale>
          <a:sx n="66" d="100"/>
          <a:sy n="66" d="100"/>
        </p:scale>
        <p:origin x="-1608" y="162"/>
      </p:cViewPr>
      <p:guideLst>
        <p:guide orient="horz" pos="2160"/>
        <p:guide pos="2880"/>
      </p:guideLst>
    </p:cSldViewPr>
  </p:slideViewPr>
  <p:outlineViewPr>
    <p:cViewPr>
      <p:scale>
        <a:sx n="33" d="100"/>
        <a:sy n="33" d="100"/>
      </p:scale>
      <p:origin x="36" y="0"/>
    </p:cViewPr>
    <p:sldLst>
      <p:sld r:id="rId1" collapse="1"/>
      <p:sld r:id="rId2" collapse="1"/>
    </p:sldLst>
  </p:outlineViewPr>
  <p:notesTextViewPr>
    <p:cViewPr>
      <p:scale>
        <a:sx n="100" d="100"/>
        <a:sy n="100" d="100"/>
      </p:scale>
      <p:origin x="0" y="0"/>
    </p:cViewPr>
  </p:notesTextViewPr>
  <p:sorterViewPr>
    <p:cViewPr>
      <p:scale>
        <a:sx n="66" d="100"/>
        <a:sy n="66" d="100"/>
      </p:scale>
      <p:origin x="0" y="0"/>
    </p:cViewPr>
  </p:sorterViewPr>
  <p:notesViewPr>
    <p:cSldViewPr snapToObjects="1">
      <p:cViewPr varScale="1">
        <p:scale>
          <a:sx n="66" d="100"/>
          <a:sy n="66" d="100"/>
        </p:scale>
        <p:origin x="-3300" y="-114"/>
      </p:cViewPr>
      <p:guideLst>
        <p:guide orient="horz" pos="2880"/>
        <p:guide pos="2160"/>
      </p:guideLst>
    </p:cSldViewPr>
  </p:notesViewPr>
  <p:gridSpacing cx="39327138" cy="3932713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_rels/viewProps.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 Id="rId6" Type="http://schemas.openxmlformats.org/officeDocument/2006/relationships/image" Target="../media/image34.wmf"/><Relationship Id="rId5" Type="http://schemas.openxmlformats.org/officeDocument/2006/relationships/image" Target="../media/image33.wmf"/><Relationship Id="rId4" Type="http://schemas.openxmlformats.org/officeDocument/2006/relationships/image" Target="../media/image3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charset="0"/>
              </a:defRPr>
            </a:lvl1pPr>
          </a:lstStyle>
          <a:p>
            <a:pPr>
              <a:defRPr/>
            </a:pPr>
            <a:endParaRPr lang="en-US"/>
          </a:p>
        </p:txBody>
      </p:sp>
      <p:sp>
        <p:nvSpPr>
          <p:cNvPr id="337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charset="0"/>
              </a:defRPr>
            </a:lvl1pPr>
          </a:lstStyle>
          <a:p>
            <a:pPr>
              <a:defRPr/>
            </a:pPr>
            <a:endParaRPr lang="en-US"/>
          </a:p>
        </p:txBody>
      </p:sp>
      <p:sp>
        <p:nvSpPr>
          <p:cNvPr id="337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charset="0"/>
              </a:defRPr>
            </a:lvl1pPr>
          </a:lstStyle>
          <a:p>
            <a:pPr>
              <a:defRPr/>
            </a:pPr>
            <a:endParaRPr lang="en-US"/>
          </a:p>
        </p:txBody>
      </p:sp>
      <p:sp>
        <p:nvSpPr>
          <p:cNvPr id="337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charset="0"/>
              </a:defRPr>
            </a:lvl1pPr>
          </a:lstStyle>
          <a:p>
            <a:pPr>
              <a:defRPr/>
            </a:pPr>
            <a:fld id="{AF764578-1022-457E-970E-09A795A6B1F6}"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035C318C-336E-46A2-B1AF-9F06AE4B4A6E}" type="datetimeFigureOut">
              <a:rPr lang="en-US"/>
              <a:pPr>
                <a:defRPr/>
              </a:pPr>
              <a:t>6/9/2013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0FECC6E5-F5FA-4943-B013-1B88880A822E}"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0FECC6E5-F5FA-4943-B013-1B88880A822E}" type="slidenum">
              <a:rPr lang="en-US" smtClean="0"/>
              <a:pPr>
                <a:defRPr/>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ACDB65D9-1CB7-4535-BAD5-2CB574088AF1}" type="slidenum">
              <a:rPr lang="en-US" smtClean="0"/>
              <a:pPr/>
              <a:t>2</a:t>
            </a:fld>
            <a:endParaRPr lang="en-US" smtClean="0"/>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endParaRPr lang="en-US" smtClean="0">
              <a:solidFill>
                <a:schemeClr val="hlin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A545B443-5AFC-43B9-AF2C-4869F962530C}" type="slidenum">
              <a:rPr lang="en-US" smtClean="0"/>
              <a:pPr/>
              <a:t>3</a:t>
            </a:fld>
            <a:endParaRPr lang="en-US" smtClean="0"/>
          </a:p>
        </p:txBody>
      </p:sp>
      <p:sp>
        <p:nvSpPr>
          <p:cNvPr id="74755" name="Rectangle 2"/>
          <p:cNvSpPr>
            <a:spLocks noGrp="1" noRot="1" noChangeAspect="1" noChangeArrowheads="1" noTextEdit="1"/>
          </p:cNvSpPr>
          <p:nvPr>
            <p:ph type="sldImg"/>
          </p:nvPr>
        </p:nvSpPr>
        <p:spPr>
          <a:xfrm>
            <a:off x="1144588" y="685800"/>
            <a:ext cx="4570412" cy="3429000"/>
          </a:xfrm>
          <a:ln/>
        </p:spPr>
      </p:sp>
      <p:sp>
        <p:nvSpPr>
          <p:cNvPr id="74756" name="Rectangle 3"/>
          <p:cNvSpPr>
            <a:spLocks noGrp="1" noChangeArrowheads="1"/>
          </p:cNvSpPr>
          <p:nvPr>
            <p:ph type="body" idx="1"/>
          </p:nvPr>
        </p:nvSpPr>
        <p:spPr>
          <a:noFill/>
          <a:ln/>
        </p:spPr>
        <p:txBody>
          <a:bodyPr lIns="92076" tIns="46038" rIns="92076" bIns="46038"/>
          <a:lstStyle/>
          <a:p>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A545B443-5AFC-43B9-AF2C-4869F962530C}" type="slidenum">
              <a:rPr lang="en-US" smtClean="0"/>
              <a:pPr/>
              <a:t>4</a:t>
            </a:fld>
            <a:endParaRPr lang="en-US" smtClean="0"/>
          </a:p>
        </p:txBody>
      </p:sp>
      <p:sp>
        <p:nvSpPr>
          <p:cNvPr id="74755" name="Rectangle 2"/>
          <p:cNvSpPr>
            <a:spLocks noGrp="1" noRot="1" noChangeAspect="1" noChangeArrowheads="1" noTextEdit="1"/>
          </p:cNvSpPr>
          <p:nvPr>
            <p:ph type="sldImg"/>
          </p:nvPr>
        </p:nvSpPr>
        <p:spPr>
          <a:xfrm>
            <a:off x="1144588" y="685800"/>
            <a:ext cx="4570412" cy="3429000"/>
          </a:xfrm>
          <a:ln/>
        </p:spPr>
      </p:sp>
      <p:sp>
        <p:nvSpPr>
          <p:cNvPr id="74756" name="Rectangle 3"/>
          <p:cNvSpPr>
            <a:spLocks noGrp="1" noChangeArrowheads="1"/>
          </p:cNvSpPr>
          <p:nvPr>
            <p:ph type="body" idx="1"/>
          </p:nvPr>
        </p:nvSpPr>
        <p:spPr>
          <a:noFill/>
          <a:ln/>
        </p:spPr>
        <p:txBody>
          <a:bodyPr lIns="92076" tIns="46038" rIns="92076" bIns="46038"/>
          <a:lstStyle/>
          <a:p>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A545B443-5AFC-43B9-AF2C-4869F962530C}" type="slidenum">
              <a:rPr lang="en-US" smtClean="0"/>
              <a:pPr/>
              <a:t>5</a:t>
            </a:fld>
            <a:endParaRPr lang="en-US" smtClean="0"/>
          </a:p>
        </p:txBody>
      </p:sp>
      <p:sp>
        <p:nvSpPr>
          <p:cNvPr id="74755" name="Rectangle 2"/>
          <p:cNvSpPr>
            <a:spLocks noGrp="1" noRot="1" noChangeAspect="1" noChangeArrowheads="1" noTextEdit="1"/>
          </p:cNvSpPr>
          <p:nvPr>
            <p:ph type="sldImg"/>
          </p:nvPr>
        </p:nvSpPr>
        <p:spPr>
          <a:xfrm>
            <a:off x="1144588" y="685800"/>
            <a:ext cx="4570412" cy="3429000"/>
          </a:xfrm>
          <a:ln/>
        </p:spPr>
      </p:sp>
      <p:sp>
        <p:nvSpPr>
          <p:cNvPr id="74756" name="Rectangle 3"/>
          <p:cNvSpPr>
            <a:spLocks noGrp="1" noChangeArrowheads="1"/>
          </p:cNvSpPr>
          <p:nvPr>
            <p:ph type="body" idx="1"/>
          </p:nvPr>
        </p:nvSpPr>
        <p:spPr>
          <a:noFill/>
          <a:ln/>
        </p:spPr>
        <p:txBody>
          <a:bodyPr lIns="92076" tIns="46038" rIns="92076" bIns="46038"/>
          <a:lstStyle/>
          <a:p>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A545B443-5AFC-43B9-AF2C-4869F962530C}" type="slidenum">
              <a:rPr lang="en-US" smtClean="0"/>
              <a:pPr/>
              <a:t>6</a:t>
            </a:fld>
            <a:endParaRPr lang="en-US" smtClean="0"/>
          </a:p>
        </p:txBody>
      </p:sp>
      <p:sp>
        <p:nvSpPr>
          <p:cNvPr id="74755" name="Rectangle 2"/>
          <p:cNvSpPr>
            <a:spLocks noGrp="1" noRot="1" noChangeAspect="1" noChangeArrowheads="1" noTextEdit="1"/>
          </p:cNvSpPr>
          <p:nvPr>
            <p:ph type="sldImg"/>
          </p:nvPr>
        </p:nvSpPr>
        <p:spPr>
          <a:xfrm>
            <a:off x="1144588" y="685800"/>
            <a:ext cx="4570412" cy="3429000"/>
          </a:xfrm>
          <a:ln/>
        </p:spPr>
      </p:sp>
      <p:sp>
        <p:nvSpPr>
          <p:cNvPr id="74756" name="Rectangle 3"/>
          <p:cNvSpPr>
            <a:spLocks noGrp="1" noChangeArrowheads="1"/>
          </p:cNvSpPr>
          <p:nvPr>
            <p:ph type="body" idx="1"/>
          </p:nvPr>
        </p:nvSpPr>
        <p:spPr>
          <a:noFill/>
          <a:ln/>
        </p:spPr>
        <p:txBody>
          <a:bodyPr lIns="92076" tIns="46038" rIns="92076" bIns="46038"/>
          <a:lstStyle/>
          <a:p>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A545B443-5AFC-43B9-AF2C-4869F962530C}" type="slidenum">
              <a:rPr lang="en-US" smtClean="0"/>
              <a:pPr/>
              <a:t>7</a:t>
            </a:fld>
            <a:endParaRPr lang="en-US" smtClean="0"/>
          </a:p>
        </p:txBody>
      </p:sp>
      <p:sp>
        <p:nvSpPr>
          <p:cNvPr id="74755" name="Rectangle 2"/>
          <p:cNvSpPr>
            <a:spLocks noGrp="1" noRot="1" noChangeAspect="1" noChangeArrowheads="1" noTextEdit="1"/>
          </p:cNvSpPr>
          <p:nvPr>
            <p:ph type="sldImg"/>
          </p:nvPr>
        </p:nvSpPr>
        <p:spPr>
          <a:xfrm>
            <a:off x="1144588" y="685800"/>
            <a:ext cx="4570412" cy="3429000"/>
          </a:xfrm>
          <a:ln/>
        </p:spPr>
      </p:sp>
      <p:sp>
        <p:nvSpPr>
          <p:cNvPr id="74756" name="Rectangle 3"/>
          <p:cNvSpPr>
            <a:spLocks noGrp="1" noChangeArrowheads="1"/>
          </p:cNvSpPr>
          <p:nvPr>
            <p:ph type="body" idx="1"/>
          </p:nvPr>
        </p:nvSpPr>
        <p:spPr>
          <a:noFill/>
          <a:ln/>
        </p:spPr>
        <p:txBody>
          <a:bodyPr lIns="92076" tIns="46038" rIns="92076" bIns="46038"/>
          <a:lstStyle/>
          <a:p>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A545B443-5AFC-43B9-AF2C-4869F962530C}" type="slidenum">
              <a:rPr lang="en-US" smtClean="0"/>
              <a:pPr/>
              <a:t>8</a:t>
            </a:fld>
            <a:endParaRPr lang="en-US" smtClean="0"/>
          </a:p>
        </p:txBody>
      </p:sp>
      <p:sp>
        <p:nvSpPr>
          <p:cNvPr id="74755" name="Rectangle 2"/>
          <p:cNvSpPr>
            <a:spLocks noGrp="1" noRot="1" noChangeAspect="1" noChangeArrowheads="1" noTextEdit="1"/>
          </p:cNvSpPr>
          <p:nvPr>
            <p:ph type="sldImg"/>
          </p:nvPr>
        </p:nvSpPr>
        <p:spPr>
          <a:xfrm>
            <a:off x="1144588" y="685800"/>
            <a:ext cx="4570412" cy="3429000"/>
          </a:xfrm>
          <a:ln/>
        </p:spPr>
      </p:sp>
      <p:sp>
        <p:nvSpPr>
          <p:cNvPr id="74756" name="Rectangle 3"/>
          <p:cNvSpPr>
            <a:spLocks noGrp="1" noChangeArrowheads="1"/>
          </p:cNvSpPr>
          <p:nvPr>
            <p:ph type="body" idx="1"/>
          </p:nvPr>
        </p:nvSpPr>
        <p:spPr>
          <a:noFill/>
          <a:ln/>
        </p:spPr>
        <p:txBody>
          <a:bodyPr lIns="92076" tIns="46038" rIns="92076" bIns="46038"/>
          <a:lstStyle/>
          <a:p>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C0C5FD24-F4A3-4AF2-9792-21658E14FD6D}" type="slidenum">
              <a:rPr lang="en-US" smtClean="0"/>
              <a:pPr/>
              <a:t>9</a:t>
            </a:fld>
            <a:endParaRPr lang="en-US" smtClean="0"/>
          </a:p>
        </p:txBody>
      </p:sp>
      <p:sp>
        <p:nvSpPr>
          <p:cNvPr id="75779" name="Rectangle 2"/>
          <p:cNvSpPr>
            <a:spLocks noGrp="1" noRot="1" noChangeAspect="1" noChangeArrowheads="1" noTextEdit="1"/>
          </p:cNvSpPr>
          <p:nvPr>
            <p:ph type="sldImg"/>
          </p:nvPr>
        </p:nvSpPr>
        <p:spPr>
          <a:xfrm>
            <a:off x="1144588" y="685800"/>
            <a:ext cx="4570412" cy="3429000"/>
          </a:xfrm>
          <a:ln/>
        </p:spPr>
      </p:sp>
      <p:sp>
        <p:nvSpPr>
          <p:cNvPr id="7578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C0C5FD24-F4A3-4AF2-9792-21658E14FD6D}" type="slidenum">
              <a:rPr lang="en-US" smtClean="0"/>
              <a:pPr/>
              <a:t>10</a:t>
            </a:fld>
            <a:endParaRPr lang="en-US" smtClean="0"/>
          </a:p>
        </p:txBody>
      </p:sp>
      <p:sp>
        <p:nvSpPr>
          <p:cNvPr id="75779" name="Rectangle 2"/>
          <p:cNvSpPr>
            <a:spLocks noGrp="1" noRot="1" noChangeAspect="1" noChangeArrowheads="1" noTextEdit="1"/>
          </p:cNvSpPr>
          <p:nvPr>
            <p:ph type="sldImg"/>
          </p:nvPr>
        </p:nvSpPr>
        <p:spPr>
          <a:xfrm>
            <a:off x="1144588" y="685800"/>
            <a:ext cx="4570412" cy="3429000"/>
          </a:xfrm>
          <a:ln/>
        </p:spPr>
      </p:sp>
      <p:sp>
        <p:nvSpPr>
          <p:cNvPr id="7578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ACDB65D9-1CB7-4535-BAD5-2CB574088AF1}" type="slidenum">
              <a:rPr lang="en-US" smtClean="0"/>
              <a:pPr/>
              <a:t>11</a:t>
            </a:fld>
            <a:endParaRPr lang="en-US" smtClean="0"/>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endParaRPr lang="en-US" smtClean="0">
              <a:solidFill>
                <a:schemeClr val="hlin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C0C5FD24-F4A3-4AF2-9792-21658E14FD6D}" type="slidenum">
              <a:rPr lang="en-US" smtClean="0"/>
              <a:pPr/>
              <a:t>12</a:t>
            </a:fld>
            <a:endParaRPr lang="en-US" smtClean="0"/>
          </a:p>
        </p:txBody>
      </p:sp>
      <p:sp>
        <p:nvSpPr>
          <p:cNvPr id="75779" name="Rectangle 2"/>
          <p:cNvSpPr>
            <a:spLocks noGrp="1" noRot="1" noChangeAspect="1" noChangeArrowheads="1" noTextEdit="1"/>
          </p:cNvSpPr>
          <p:nvPr>
            <p:ph type="sldImg"/>
          </p:nvPr>
        </p:nvSpPr>
        <p:spPr>
          <a:xfrm>
            <a:off x="1144588" y="685800"/>
            <a:ext cx="4570412" cy="3429000"/>
          </a:xfrm>
          <a:ln/>
        </p:spPr>
      </p:sp>
      <p:sp>
        <p:nvSpPr>
          <p:cNvPr id="7578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E4873FF7-63EE-4E8E-B4D1-8500796123BA}" type="slidenum">
              <a:rPr lang="en-US" smtClean="0"/>
              <a:pPr/>
              <a:t>13</a:t>
            </a:fld>
            <a:endParaRPr lang="en-US" smtClean="0"/>
          </a:p>
        </p:txBody>
      </p:sp>
      <p:sp>
        <p:nvSpPr>
          <p:cNvPr id="79875" name="Rectangle 2"/>
          <p:cNvSpPr>
            <a:spLocks noGrp="1" noRot="1" noChangeAspect="1" noChangeArrowheads="1" noTextEdit="1"/>
          </p:cNvSpPr>
          <p:nvPr>
            <p:ph type="sldImg"/>
          </p:nvPr>
        </p:nvSpPr>
        <p:spPr>
          <a:xfrm>
            <a:off x="1144588" y="685800"/>
            <a:ext cx="4570412" cy="3429000"/>
          </a:xfrm>
          <a:ln/>
        </p:spPr>
      </p:sp>
      <p:sp>
        <p:nvSpPr>
          <p:cNvPr id="79876"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19861EDA-B539-4B4A-8B2C-A277D7A13E21}" type="slidenum">
              <a:rPr lang="en-US" smtClean="0"/>
              <a:pPr/>
              <a:t>14</a:t>
            </a:fld>
            <a:endParaRPr lang="en-US" smtClean="0"/>
          </a:p>
        </p:txBody>
      </p:sp>
      <p:sp>
        <p:nvSpPr>
          <p:cNvPr id="81923" name="Rectangle 2"/>
          <p:cNvSpPr>
            <a:spLocks noGrp="1" noRot="1" noChangeAspect="1" noChangeArrowheads="1" noTextEdit="1"/>
          </p:cNvSpPr>
          <p:nvPr>
            <p:ph type="sldImg"/>
          </p:nvPr>
        </p:nvSpPr>
        <p:spPr>
          <a:xfrm>
            <a:off x="1144588" y="685800"/>
            <a:ext cx="4570412" cy="3429000"/>
          </a:xfrm>
          <a:ln/>
        </p:spPr>
      </p:sp>
      <p:sp>
        <p:nvSpPr>
          <p:cNvPr id="81924" name="Rectangle 3"/>
          <p:cNvSpPr>
            <a:spLocks noGrp="1" noChangeArrowheads="1"/>
          </p:cNvSpPr>
          <p:nvPr>
            <p:ph type="body" idx="1"/>
          </p:nvPr>
        </p:nvSpPr>
        <p:spPr>
          <a:noFill/>
          <a:ln/>
        </p:spPr>
        <p:txBody>
          <a:bodyPr/>
          <a:lstStyle/>
          <a:p>
            <a:r>
              <a:rPr lang="en-US" smtClean="0"/>
              <a:t>Enrich using data integration research!!</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19861EDA-B539-4B4A-8B2C-A277D7A13E21}" type="slidenum">
              <a:rPr lang="en-US" smtClean="0"/>
              <a:pPr/>
              <a:t>15</a:t>
            </a:fld>
            <a:endParaRPr lang="en-US" smtClean="0"/>
          </a:p>
        </p:txBody>
      </p:sp>
      <p:sp>
        <p:nvSpPr>
          <p:cNvPr id="81923" name="Rectangle 2"/>
          <p:cNvSpPr>
            <a:spLocks noGrp="1" noRot="1" noChangeAspect="1" noChangeArrowheads="1" noTextEdit="1"/>
          </p:cNvSpPr>
          <p:nvPr>
            <p:ph type="sldImg"/>
          </p:nvPr>
        </p:nvSpPr>
        <p:spPr>
          <a:xfrm>
            <a:off x="1144588" y="685800"/>
            <a:ext cx="4570412" cy="3429000"/>
          </a:xfrm>
          <a:ln/>
        </p:spPr>
      </p:sp>
      <p:sp>
        <p:nvSpPr>
          <p:cNvPr id="81924"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19861EDA-B539-4B4A-8B2C-A277D7A13E21}" type="slidenum">
              <a:rPr lang="en-US" smtClean="0"/>
              <a:pPr/>
              <a:t>16</a:t>
            </a:fld>
            <a:endParaRPr lang="en-US" smtClean="0"/>
          </a:p>
        </p:txBody>
      </p:sp>
      <p:sp>
        <p:nvSpPr>
          <p:cNvPr id="81923" name="Rectangle 2"/>
          <p:cNvSpPr>
            <a:spLocks noGrp="1" noRot="1" noChangeAspect="1" noChangeArrowheads="1" noTextEdit="1"/>
          </p:cNvSpPr>
          <p:nvPr>
            <p:ph type="sldImg"/>
          </p:nvPr>
        </p:nvSpPr>
        <p:spPr>
          <a:xfrm>
            <a:off x="1144588" y="685800"/>
            <a:ext cx="4570412" cy="3429000"/>
          </a:xfrm>
          <a:ln/>
        </p:spPr>
      </p:sp>
      <p:sp>
        <p:nvSpPr>
          <p:cNvPr id="81924"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E4873FF7-63EE-4E8E-B4D1-8500796123BA}" type="slidenum">
              <a:rPr lang="en-US" smtClean="0"/>
              <a:pPr/>
              <a:t>17</a:t>
            </a:fld>
            <a:endParaRPr lang="en-US" smtClean="0"/>
          </a:p>
        </p:txBody>
      </p:sp>
      <p:sp>
        <p:nvSpPr>
          <p:cNvPr id="79875" name="Rectangle 2"/>
          <p:cNvSpPr>
            <a:spLocks noGrp="1" noRot="1" noChangeAspect="1" noChangeArrowheads="1" noTextEdit="1"/>
          </p:cNvSpPr>
          <p:nvPr>
            <p:ph type="sldImg"/>
          </p:nvPr>
        </p:nvSpPr>
        <p:spPr>
          <a:xfrm>
            <a:off x="1144588" y="685800"/>
            <a:ext cx="4570412" cy="3429000"/>
          </a:xfrm>
          <a:ln/>
        </p:spPr>
      </p:sp>
      <p:sp>
        <p:nvSpPr>
          <p:cNvPr id="79876"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ACDB65D9-1CB7-4535-BAD5-2CB574088AF1}" type="slidenum">
              <a:rPr lang="en-US" smtClean="0"/>
              <a:pPr/>
              <a:t>18</a:t>
            </a:fld>
            <a:endParaRPr lang="en-US" smtClean="0"/>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endParaRPr lang="en-US" smtClean="0">
              <a:solidFill>
                <a:schemeClr val="hlin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FDDC9237-7BD3-4603-BD73-4A81E1CA6F98}" type="slidenum">
              <a:rPr lang="en-US" smtClean="0"/>
              <a:pPr/>
              <a:t>19</a:t>
            </a:fld>
            <a:endParaRPr lang="en-US" smtClean="0"/>
          </a:p>
        </p:txBody>
      </p:sp>
      <p:sp>
        <p:nvSpPr>
          <p:cNvPr id="86019" name="Rectangle 2"/>
          <p:cNvSpPr>
            <a:spLocks noGrp="1" noRot="1" noChangeAspect="1" noChangeArrowheads="1" noTextEdit="1"/>
          </p:cNvSpPr>
          <p:nvPr>
            <p:ph type="sldImg"/>
          </p:nvPr>
        </p:nvSpPr>
        <p:spPr>
          <a:xfrm>
            <a:off x="1144588" y="685800"/>
            <a:ext cx="4570412" cy="3429000"/>
          </a:xfrm>
          <a:ln/>
        </p:spPr>
      </p:sp>
      <p:sp>
        <p:nvSpPr>
          <p:cNvPr id="8602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p>
            <a:fld id="{FDDC9237-7BD3-4603-BD73-4A81E1CA6F98}" type="slidenum">
              <a:rPr lang="en-US" smtClean="0"/>
              <a:pPr/>
              <a:t>20</a:t>
            </a:fld>
            <a:endParaRPr lang="en-US" smtClean="0"/>
          </a:p>
        </p:txBody>
      </p:sp>
      <p:sp>
        <p:nvSpPr>
          <p:cNvPr id="86019" name="Rectangle 2"/>
          <p:cNvSpPr>
            <a:spLocks noGrp="1" noRot="1" noChangeAspect="1" noChangeArrowheads="1" noTextEdit="1"/>
          </p:cNvSpPr>
          <p:nvPr>
            <p:ph type="sldImg"/>
          </p:nvPr>
        </p:nvSpPr>
        <p:spPr>
          <a:xfrm>
            <a:off x="1144588" y="685800"/>
            <a:ext cx="4570412" cy="3429000"/>
          </a:xfrm>
          <a:ln/>
        </p:spPr>
      </p:sp>
      <p:sp>
        <p:nvSpPr>
          <p:cNvPr id="8602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a:xfrm>
            <a:off x="1154113" y="693738"/>
            <a:ext cx="4552950" cy="3414712"/>
          </a:xfrm>
          <a:ln/>
        </p:spPr>
      </p:sp>
      <p:sp>
        <p:nvSpPr>
          <p:cNvPr id="90115" name="Rectangle 3"/>
          <p:cNvSpPr>
            <a:spLocks noGrp="1" noChangeArrowheads="1"/>
          </p:cNvSpPr>
          <p:nvPr>
            <p:ph type="body" idx="1"/>
          </p:nvPr>
        </p:nvSpPr>
        <p:spPr>
          <a:xfrm>
            <a:off x="913158" y="4344107"/>
            <a:ext cx="5030132" cy="4111499"/>
          </a:xfrm>
          <a:noFill/>
          <a:ln/>
        </p:spPr>
        <p:txBody>
          <a:bodyPr/>
          <a:lstStyle/>
          <a:p>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Slide Image Placeholder 1"/>
          <p:cNvSpPr>
            <a:spLocks noGrp="1" noRot="1" noChangeAspect="1" noTextEdit="1"/>
          </p:cNvSpPr>
          <p:nvPr>
            <p:ph type="sldImg"/>
          </p:nvPr>
        </p:nvSpPr>
        <p:spPr>
          <a:ln/>
        </p:spPr>
      </p:sp>
      <p:sp>
        <p:nvSpPr>
          <p:cNvPr id="93187" name="Notes Placeholder 2"/>
          <p:cNvSpPr>
            <a:spLocks noGrp="1"/>
          </p:cNvSpPr>
          <p:nvPr>
            <p:ph type="body" idx="1"/>
          </p:nvPr>
        </p:nvSpPr>
        <p:spPr>
          <a:noFill/>
          <a:ln/>
        </p:spPr>
        <p:txBody>
          <a:bodyPr/>
          <a:lstStyle/>
          <a:p>
            <a:endParaRPr lang="en-US" smtClean="0"/>
          </a:p>
        </p:txBody>
      </p:sp>
      <p:sp>
        <p:nvSpPr>
          <p:cNvPr id="93188" name="Slide Number Placeholder 3"/>
          <p:cNvSpPr>
            <a:spLocks noGrp="1"/>
          </p:cNvSpPr>
          <p:nvPr>
            <p:ph type="sldNum" sz="quarter" idx="5"/>
          </p:nvPr>
        </p:nvSpPr>
        <p:spPr>
          <a:noFill/>
        </p:spPr>
        <p:txBody>
          <a:bodyPr/>
          <a:lstStyle/>
          <a:p>
            <a:fld id="{E64D9194-CC37-4D3F-BC37-2B9386314CC8}" type="slidenum">
              <a:rPr lang="en-US" smtClean="0"/>
              <a:pPr/>
              <a:t>26</a:t>
            </a:fld>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ACDB65D9-1CB7-4535-BAD5-2CB574088AF1}" type="slidenum">
              <a:rPr lang="en-US" smtClean="0"/>
              <a:pPr/>
              <a:t>27</a:t>
            </a:fld>
            <a:endParaRPr lang="en-US" smtClean="0"/>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endParaRPr lang="en-US" smtClean="0">
              <a:solidFill>
                <a:schemeClr val="hlink"/>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7A7C42A1-AB6E-4E2F-8C95-2416D11F5F08}" type="slidenum">
              <a:rPr lang="en-US" smtClean="0"/>
              <a:pPr/>
              <a:t>28</a:t>
            </a:fld>
            <a:endParaRPr lang="en-US" smtClean="0"/>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noChangeArrowheads="1"/>
          </p:cNvSpPr>
          <p:nvPr/>
        </p:nvSpPr>
        <p:spPr bwMode="auto">
          <a:xfrm>
            <a:off x="3885579" y="8686643"/>
            <a:ext cx="2972421" cy="457357"/>
          </a:xfrm>
          <a:prstGeom prst="rect">
            <a:avLst/>
          </a:prstGeom>
          <a:noFill/>
          <a:ln w="9525">
            <a:noFill/>
            <a:miter lim="800000"/>
            <a:headEnd/>
            <a:tailEnd/>
          </a:ln>
        </p:spPr>
        <p:txBody>
          <a:bodyPr lIns="91763" tIns="45883" rIns="91763" bIns="45883" anchor="b"/>
          <a:lstStyle/>
          <a:p>
            <a:pPr algn="r" defTabSz="917792"/>
            <a:fld id="{EA2A450A-23AC-48D9-80A4-0E28F1780E39}" type="slidenum">
              <a:rPr lang="en-US" sz="1200">
                <a:latin typeface="Times New Roman" pitchFamily="18" charset="0"/>
              </a:rPr>
              <a:pPr algn="r" defTabSz="917792"/>
              <a:t>29</a:t>
            </a:fld>
            <a:endParaRPr lang="en-US" sz="1200" dirty="0">
              <a:latin typeface="Times New Roman"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endParaRPr lang="en-US" b="1" dirty="0"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CAA002F5-90D8-48FD-A7D3-8A188777DEEC}" type="slidenum">
              <a:rPr lang="en-US" smtClean="0"/>
              <a:pPr/>
              <a:t>30</a:t>
            </a:fld>
            <a:endParaRPr lang="en-US" smtClean="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CAA002F5-90D8-48FD-A7D3-8A188777DEEC}" type="slidenum">
              <a:rPr lang="en-US" smtClean="0"/>
              <a:pPr/>
              <a:t>31</a:t>
            </a:fld>
            <a:endParaRPr lang="en-US" smtClean="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CAA002F5-90D8-48FD-A7D3-8A188777DEEC}" type="slidenum">
              <a:rPr lang="en-US" smtClean="0"/>
              <a:pPr/>
              <a:t>32</a:t>
            </a:fld>
            <a:endParaRPr lang="en-US" smtClean="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CAA002F5-90D8-48FD-A7D3-8A188777DEEC}" type="slidenum">
              <a:rPr lang="en-US" smtClean="0"/>
              <a:pPr/>
              <a:t>33</a:t>
            </a:fld>
            <a:endParaRPr lang="en-US" smtClean="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CAA002F5-90D8-48FD-A7D3-8A188777DEEC}" type="slidenum">
              <a:rPr lang="en-US" smtClean="0"/>
              <a:pPr/>
              <a:t>34</a:t>
            </a:fld>
            <a:endParaRPr lang="en-US" smtClean="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CAA002F5-90D8-48FD-A7D3-8A188777DEEC}" type="slidenum">
              <a:rPr lang="en-US" smtClean="0"/>
              <a:pPr/>
              <a:t>35</a:t>
            </a:fld>
            <a:endParaRPr lang="en-US" smtClean="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noChangeArrowheads="1"/>
          </p:cNvSpPr>
          <p:nvPr/>
        </p:nvSpPr>
        <p:spPr bwMode="auto">
          <a:xfrm>
            <a:off x="3885579" y="8686643"/>
            <a:ext cx="2972421" cy="457357"/>
          </a:xfrm>
          <a:prstGeom prst="rect">
            <a:avLst/>
          </a:prstGeom>
          <a:noFill/>
          <a:ln w="9525">
            <a:noFill/>
            <a:miter lim="800000"/>
            <a:headEnd/>
            <a:tailEnd/>
          </a:ln>
        </p:spPr>
        <p:txBody>
          <a:bodyPr lIns="91763" tIns="45883" rIns="91763" bIns="45883" anchor="b"/>
          <a:lstStyle/>
          <a:p>
            <a:pPr algn="r" defTabSz="917792"/>
            <a:fld id="{C6332EB7-244A-4E74-9604-B3E8610CF941}" type="slidenum">
              <a:rPr lang="en-US" sz="1200">
                <a:latin typeface="Times New Roman" pitchFamily="18" charset="0"/>
              </a:rPr>
              <a:pPr algn="r" defTabSz="917792"/>
              <a:t>36</a:t>
            </a:fld>
            <a:endParaRPr lang="en-US" sz="1200" dirty="0">
              <a:latin typeface="Times New Roman" pitchFamily="18" charset="0"/>
            </a:endParaRPr>
          </a:p>
        </p:txBody>
      </p:sp>
      <p:sp>
        <p:nvSpPr>
          <p:cNvPr id="106499" name="Rectangle 2"/>
          <p:cNvSpPr>
            <a:spLocks noGrp="1" noRot="1" noChangeAspect="1" noChangeArrowheads="1" noTextEdit="1"/>
          </p:cNvSpPr>
          <p:nvPr>
            <p:ph type="sldImg"/>
          </p:nvPr>
        </p:nvSpPr>
        <p:spPr>
          <a:xfrm>
            <a:off x="1154113" y="693738"/>
            <a:ext cx="4552950" cy="3414712"/>
          </a:xfrm>
          <a:ln/>
        </p:spPr>
      </p:sp>
      <p:sp>
        <p:nvSpPr>
          <p:cNvPr id="106500" name="Rectangle 3"/>
          <p:cNvSpPr>
            <a:spLocks noGrp="1" noChangeArrowheads="1"/>
          </p:cNvSpPr>
          <p:nvPr>
            <p:ph type="body" idx="1"/>
          </p:nvPr>
        </p:nvSpPr>
        <p:spPr>
          <a:xfrm>
            <a:off x="913158" y="4344107"/>
            <a:ext cx="5030132" cy="4111499"/>
          </a:xfrm>
          <a:noFill/>
          <a:ln/>
        </p:spPr>
        <p:txBody>
          <a:bodyPr/>
          <a:lstStyle/>
          <a:p>
            <a:endParaRPr lang="en-US"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txBox="1">
            <a:spLocks noGrp="1" noChangeArrowheads="1"/>
          </p:cNvSpPr>
          <p:nvPr/>
        </p:nvSpPr>
        <p:spPr bwMode="auto">
          <a:xfrm>
            <a:off x="3885579" y="8686643"/>
            <a:ext cx="2972421" cy="457357"/>
          </a:xfrm>
          <a:prstGeom prst="rect">
            <a:avLst/>
          </a:prstGeom>
          <a:noFill/>
          <a:ln w="9525">
            <a:noFill/>
            <a:miter lim="800000"/>
            <a:headEnd/>
            <a:tailEnd/>
          </a:ln>
        </p:spPr>
        <p:txBody>
          <a:bodyPr lIns="91763" tIns="45883" rIns="91763" bIns="45883" anchor="b"/>
          <a:lstStyle/>
          <a:p>
            <a:pPr algn="r" defTabSz="917792"/>
            <a:fld id="{18249A93-F3E3-4C59-90EC-B5C6E20DB91D}" type="slidenum">
              <a:rPr lang="en-US" sz="1200">
                <a:latin typeface="Times New Roman" pitchFamily="18" charset="0"/>
              </a:rPr>
              <a:pPr algn="r" defTabSz="917792"/>
              <a:t>37</a:t>
            </a:fld>
            <a:endParaRPr lang="en-US" sz="1200" dirty="0">
              <a:latin typeface="Times New Roman" pitchFamily="18" charset="0"/>
            </a:endParaRPr>
          </a:p>
        </p:txBody>
      </p:sp>
      <p:sp>
        <p:nvSpPr>
          <p:cNvPr id="98307" name="Rectangle 2"/>
          <p:cNvSpPr>
            <a:spLocks noGrp="1" noRot="1" noChangeAspect="1" noChangeArrowheads="1" noTextEdit="1"/>
          </p:cNvSpPr>
          <p:nvPr>
            <p:ph type="sldImg"/>
          </p:nvPr>
        </p:nvSpPr>
        <p:spPr>
          <a:xfrm>
            <a:off x="1144588" y="687388"/>
            <a:ext cx="4568825" cy="3427412"/>
          </a:xfrm>
          <a:ln/>
        </p:spPr>
      </p:sp>
      <p:sp>
        <p:nvSpPr>
          <p:cNvPr id="98308" name="Rectangle 3"/>
          <p:cNvSpPr>
            <a:spLocks noGrp="1" noChangeArrowheads="1"/>
          </p:cNvSpPr>
          <p:nvPr>
            <p:ph type="body" idx="1"/>
          </p:nvPr>
        </p:nvSpPr>
        <p:spPr>
          <a:xfrm>
            <a:off x="686421" y="4344107"/>
            <a:ext cx="5485158" cy="4113072"/>
          </a:xfrm>
          <a:noFill/>
          <a:ln/>
        </p:spPr>
        <p:txBody>
          <a:bodyPr/>
          <a:lstStyle/>
          <a:p>
            <a:endParaRPr lang="en-US"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txBox="1">
            <a:spLocks noGrp="1" noChangeArrowheads="1"/>
          </p:cNvSpPr>
          <p:nvPr/>
        </p:nvSpPr>
        <p:spPr bwMode="auto">
          <a:xfrm>
            <a:off x="3885579" y="8686643"/>
            <a:ext cx="2972421" cy="457357"/>
          </a:xfrm>
          <a:prstGeom prst="rect">
            <a:avLst/>
          </a:prstGeom>
          <a:noFill/>
          <a:ln w="9525">
            <a:noFill/>
            <a:miter lim="800000"/>
            <a:headEnd/>
            <a:tailEnd/>
          </a:ln>
        </p:spPr>
        <p:txBody>
          <a:bodyPr lIns="91763" tIns="45883" rIns="91763" bIns="45883" anchor="b"/>
          <a:lstStyle/>
          <a:p>
            <a:pPr algn="r" defTabSz="917792"/>
            <a:fld id="{7B7F7804-75B5-4BFE-93CA-A3F5988BC84F}" type="slidenum">
              <a:rPr lang="en-US" sz="1200">
                <a:latin typeface="Times New Roman" pitchFamily="18" charset="0"/>
              </a:rPr>
              <a:pPr algn="r" defTabSz="917792"/>
              <a:t>38</a:t>
            </a:fld>
            <a:endParaRPr lang="en-US" sz="1200" dirty="0">
              <a:latin typeface="Times New Roman" pitchFamily="18"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noChangeArrowheads="1"/>
          </p:cNvSpPr>
          <p:nvPr/>
        </p:nvSpPr>
        <p:spPr bwMode="auto">
          <a:xfrm>
            <a:off x="3885579" y="8686643"/>
            <a:ext cx="2972421" cy="457357"/>
          </a:xfrm>
          <a:prstGeom prst="rect">
            <a:avLst/>
          </a:prstGeom>
          <a:noFill/>
          <a:ln w="9525">
            <a:noFill/>
            <a:miter lim="800000"/>
            <a:headEnd/>
            <a:tailEnd/>
          </a:ln>
        </p:spPr>
        <p:txBody>
          <a:bodyPr lIns="91763" tIns="45883" rIns="91763" bIns="45883" anchor="b"/>
          <a:lstStyle/>
          <a:p>
            <a:pPr algn="r" defTabSz="917792"/>
            <a:fld id="{EA2A450A-23AC-48D9-80A4-0E28F1780E39}" type="slidenum">
              <a:rPr lang="en-US" sz="1200">
                <a:latin typeface="Times New Roman" pitchFamily="18" charset="0"/>
              </a:rPr>
              <a:pPr algn="r" defTabSz="917792"/>
              <a:t>39</a:t>
            </a:fld>
            <a:endParaRPr lang="en-US" sz="1200" dirty="0">
              <a:latin typeface="Times New Roman" pitchFamily="18" charset="0"/>
            </a:endParaRPr>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endParaRPr lang="en-US" b="1" dirty="0"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CAA002F5-90D8-48FD-A7D3-8A188777DEEC}" type="slidenum">
              <a:rPr lang="en-US" smtClean="0"/>
              <a:pPr/>
              <a:t>40</a:t>
            </a:fld>
            <a:endParaRPr lang="en-US" smtClean="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p:spPr>
        <p:txBody>
          <a:bodyPr/>
          <a:lstStyle/>
          <a:p>
            <a:fld id="{CAA002F5-90D8-48FD-A7D3-8A188777DEEC}" type="slidenum">
              <a:rPr lang="en-US" smtClean="0"/>
              <a:pPr/>
              <a:t>41</a:t>
            </a:fld>
            <a:endParaRPr lang="en-US" smtClean="0"/>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p:spPr>
        <p:txBody>
          <a:bodyPr/>
          <a:lstStyle/>
          <a:p>
            <a:fld id="{4DEF0430-CBB2-4DE3-AEEB-E648A8E528A0}" type="slidenum">
              <a:rPr lang="en-US" smtClean="0"/>
              <a:pPr/>
              <a:t>42</a:t>
            </a:fld>
            <a:endParaRPr lang="en-US" smtClean="0"/>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p:spPr>
        <p:txBody>
          <a:bodyPr/>
          <a:lstStyle/>
          <a:p>
            <a:fld id="{789EF365-0028-48C6-973E-429AE1D591FE}" type="slidenum">
              <a:rPr lang="en-US" smtClean="0"/>
              <a:pPr/>
              <a:t>43</a:t>
            </a:fld>
            <a:endParaRPr lang="en-US" smtClean="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p:spPr>
        <p:txBody>
          <a:bodyPr/>
          <a:lstStyle/>
          <a:p>
            <a:fld id="{6D3AE3C8-D8FC-4553-A1EC-C824BDE8032E}" type="slidenum">
              <a:rPr lang="en-US" smtClean="0"/>
              <a:pPr/>
              <a:t>44</a:t>
            </a:fld>
            <a:endParaRPr lang="en-US" smtClean="0"/>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p:spPr>
        <p:txBody>
          <a:bodyPr/>
          <a:lstStyle/>
          <a:p>
            <a:fld id="{A4EBE342-61C1-441A-B02C-1E8E90EC0C6C}" type="slidenum">
              <a:rPr lang="en-US" smtClean="0"/>
              <a:pPr/>
              <a:t>45</a:t>
            </a:fld>
            <a:endParaRPr lang="en-US" smtClean="0"/>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p:spPr>
        <p:txBody>
          <a:bodyPr/>
          <a:lstStyle/>
          <a:p>
            <a:fld id="{00117176-09C0-4DF9-9C2B-8145A4807ABD}" type="slidenum">
              <a:rPr lang="en-US" smtClean="0"/>
              <a:pPr/>
              <a:t>46</a:t>
            </a:fld>
            <a:endParaRPr lang="en-US" smtClean="0"/>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txBox="1">
            <a:spLocks noGrp="1" noChangeArrowheads="1"/>
          </p:cNvSpPr>
          <p:nvPr/>
        </p:nvSpPr>
        <p:spPr bwMode="auto">
          <a:xfrm>
            <a:off x="3885579" y="8686643"/>
            <a:ext cx="2972421" cy="457357"/>
          </a:xfrm>
          <a:prstGeom prst="rect">
            <a:avLst/>
          </a:prstGeom>
          <a:noFill/>
          <a:ln w="9525">
            <a:noFill/>
            <a:miter lim="800000"/>
            <a:headEnd/>
            <a:tailEnd/>
          </a:ln>
        </p:spPr>
        <p:txBody>
          <a:bodyPr lIns="91763" tIns="45883" rIns="91763" bIns="45883" anchor="b"/>
          <a:lstStyle/>
          <a:p>
            <a:pPr algn="r" defTabSz="917792"/>
            <a:fld id="{FAAB200F-E0AB-4049-BA6B-EFA001148121}" type="slidenum">
              <a:rPr lang="en-US" sz="1200">
                <a:latin typeface="Times New Roman" pitchFamily="18" charset="0"/>
              </a:rPr>
              <a:pPr algn="r" defTabSz="917792"/>
              <a:t>47</a:t>
            </a:fld>
            <a:endParaRPr lang="en-US" sz="1200" dirty="0">
              <a:latin typeface="Times New Roman" pitchFamily="18" charset="0"/>
            </a:endParaRPr>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5579" y="8686643"/>
            <a:ext cx="2972421" cy="457357"/>
          </a:xfrm>
          <a:prstGeom prst="rect">
            <a:avLst/>
          </a:prstGeom>
          <a:noFill/>
          <a:ln w="9525">
            <a:noFill/>
            <a:miter lim="800000"/>
            <a:headEnd/>
            <a:tailEnd/>
          </a:ln>
        </p:spPr>
        <p:txBody>
          <a:bodyPr lIns="91763" tIns="45883" rIns="91763" bIns="45883" anchor="b"/>
          <a:lstStyle/>
          <a:p>
            <a:pPr algn="r" defTabSz="917792"/>
            <a:fld id="{FD64200A-62F8-4544-AEB5-6072F5B6C58A}" type="slidenum">
              <a:rPr lang="en-US" sz="1200">
                <a:latin typeface="Times New Roman" pitchFamily="18" charset="0"/>
              </a:rPr>
              <a:pPr algn="r" defTabSz="917792"/>
              <a:t>48</a:t>
            </a:fld>
            <a:endParaRPr lang="en-US" sz="1200" dirty="0">
              <a:latin typeface="Times New Roman" pitchFamily="18" charset="0"/>
            </a:endParaRPr>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ACDB65D9-1CB7-4535-BAD5-2CB574088AF1}" type="slidenum">
              <a:rPr lang="en-US" smtClean="0"/>
              <a:pPr/>
              <a:t>49</a:t>
            </a:fld>
            <a:endParaRPr lang="en-US" smtClean="0"/>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endParaRPr lang="en-US" smtClean="0">
              <a:solidFill>
                <a:schemeClr val="hlink"/>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txBox="1">
            <a:spLocks noGrp="1" noChangeArrowheads="1"/>
          </p:cNvSpPr>
          <p:nvPr/>
        </p:nvSpPr>
        <p:spPr bwMode="auto">
          <a:xfrm>
            <a:off x="3885579" y="8686643"/>
            <a:ext cx="2972421" cy="457357"/>
          </a:xfrm>
          <a:prstGeom prst="rect">
            <a:avLst/>
          </a:prstGeom>
          <a:noFill/>
          <a:ln w="9525">
            <a:noFill/>
            <a:miter lim="800000"/>
            <a:headEnd/>
            <a:tailEnd/>
          </a:ln>
        </p:spPr>
        <p:txBody>
          <a:bodyPr lIns="91763" tIns="45883" rIns="91763" bIns="45883" anchor="b"/>
          <a:lstStyle/>
          <a:p>
            <a:pPr algn="r" defTabSz="917792"/>
            <a:fld id="{2ACBDE64-26E8-4344-9328-9D5A457DFAEB}" type="slidenum">
              <a:rPr lang="en-US" sz="1200">
                <a:latin typeface="Times New Roman" pitchFamily="18" charset="0"/>
              </a:rPr>
              <a:pPr algn="r" defTabSz="917792"/>
              <a:t>50</a:t>
            </a:fld>
            <a:endParaRPr lang="en-US" sz="1200" dirty="0">
              <a:latin typeface="Times New Roman" pitchFamily="18" charset="0"/>
            </a:endParaRPr>
          </a:p>
        </p:txBody>
      </p:sp>
      <p:sp>
        <p:nvSpPr>
          <p:cNvPr id="121859" name="Rectangle 2"/>
          <p:cNvSpPr>
            <a:spLocks noGrp="1" noRot="1" noChangeAspect="1" noChangeArrowheads="1" noTextEdit="1"/>
          </p:cNvSpPr>
          <p:nvPr>
            <p:ph type="sldImg"/>
          </p:nvPr>
        </p:nvSpPr>
        <p:spPr>
          <a:xfrm>
            <a:off x="1144588" y="685800"/>
            <a:ext cx="4570412" cy="3429000"/>
          </a:xfrm>
          <a:ln/>
        </p:spPr>
      </p:sp>
      <p:sp>
        <p:nvSpPr>
          <p:cNvPr id="12186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p:spPr>
        <p:txBody>
          <a:bodyPr/>
          <a:lstStyle/>
          <a:p>
            <a:fld id="{F9D2FCFD-06C9-4D6C-9A6B-B628E6AD1CA5}" type="slidenum">
              <a:rPr lang="en-US" smtClean="0"/>
              <a:pPr/>
              <a:t>51</a:t>
            </a:fld>
            <a:endParaRPr lang="en-US" smtClean="0"/>
          </a:p>
        </p:txBody>
      </p:sp>
      <p:sp>
        <p:nvSpPr>
          <p:cNvPr id="122883" name="Rectangle 2"/>
          <p:cNvSpPr>
            <a:spLocks noGrp="1" noRot="1" noChangeAspect="1" noChangeArrowheads="1" noTextEdit="1"/>
          </p:cNvSpPr>
          <p:nvPr>
            <p:ph type="sldImg"/>
          </p:nvPr>
        </p:nvSpPr>
        <p:spPr>
          <a:xfrm>
            <a:off x="1144588" y="685800"/>
            <a:ext cx="4570412" cy="3429000"/>
          </a:xfrm>
          <a:ln/>
        </p:spPr>
      </p:sp>
      <p:sp>
        <p:nvSpPr>
          <p:cNvPr id="122884"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A0A997E8-44A7-4F2D-A0B5-2622362385D8}" type="slidenum">
              <a:rPr lang="en-US" smtClean="0"/>
              <a:pPr/>
              <a:t>52</a:t>
            </a:fld>
            <a:endParaRPr lang="en-US" smtClean="0"/>
          </a:p>
        </p:txBody>
      </p:sp>
      <p:sp>
        <p:nvSpPr>
          <p:cNvPr id="123907" name="Rectangle 2"/>
          <p:cNvSpPr>
            <a:spLocks noGrp="1" noRot="1" noChangeAspect="1" noChangeArrowheads="1" noTextEdit="1"/>
          </p:cNvSpPr>
          <p:nvPr>
            <p:ph type="sldImg"/>
          </p:nvPr>
        </p:nvSpPr>
        <p:spPr>
          <a:xfrm>
            <a:off x="1144588" y="685800"/>
            <a:ext cx="4570412" cy="3429000"/>
          </a:xfrm>
          <a:ln/>
        </p:spPr>
      </p:sp>
      <p:sp>
        <p:nvSpPr>
          <p:cNvPr id="123908"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txBox="1">
            <a:spLocks noGrp="1" noChangeArrowheads="1"/>
          </p:cNvSpPr>
          <p:nvPr/>
        </p:nvSpPr>
        <p:spPr bwMode="auto">
          <a:xfrm>
            <a:off x="3885579" y="8686643"/>
            <a:ext cx="2972421" cy="457357"/>
          </a:xfrm>
          <a:prstGeom prst="rect">
            <a:avLst/>
          </a:prstGeom>
          <a:noFill/>
          <a:ln w="9525">
            <a:noFill/>
            <a:miter lim="800000"/>
            <a:headEnd/>
            <a:tailEnd/>
          </a:ln>
        </p:spPr>
        <p:txBody>
          <a:bodyPr lIns="91763" tIns="45883" rIns="91763" bIns="45883" anchor="b"/>
          <a:lstStyle/>
          <a:p>
            <a:pPr algn="r" defTabSz="917792"/>
            <a:fld id="{52C1A8C9-8BBE-4BDD-A317-7621B1C4D3DC}" type="slidenum">
              <a:rPr lang="en-US" sz="1200">
                <a:latin typeface="Times New Roman" pitchFamily="18" charset="0"/>
              </a:rPr>
              <a:pPr algn="r" defTabSz="917792"/>
              <a:t>53</a:t>
            </a:fld>
            <a:endParaRPr lang="en-US" sz="1200" dirty="0">
              <a:latin typeface="Times New Roman" pitchFamily="18" charset="0"/>
            </a:endParaRPr>
          </a:p>
        </p:txBody>
      </p:sp>
      <p:sp>
        <p:nvSpPr>
          <p:cNvPr id="124931" name="Rectangle 2"/>
          <p:cNvSpPr>
            <a:spLocks noGrp="1" noRot="1" noChangeAspect="1" noChangeArrowheads="1" noTextEdit="1"/>
          </p:cNvSpPr>
          <p:nvPr>
            <p:ph type="sldImg"/>
          </p:nvPr>
        </p:nvSpPr>
        <p:spPr>
          <a:xfrm>
            <a:off x="1144588" y="685800"/>
            <a:ext cx="4570412" cy="3429000"/>
          </a:xfrm>
          <a:ln/>
        </p:spPr>
      </p:sp>
      <p:sp>
        <p:nvSpPr>
          <p:cNvPr id="124932"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txBox="1">
            <a:spLocks noGrp="1" noChangeArrowheads="1"/>
          </p:cNvSpPr>
          <p:nvPr/>
        </p:nvSpPr>
        <p:spPr bwMode="auto">
          <a:xfrm>
            <a:off x="3885579" y="8686643"/>
            <a:ext cx="2972421" cy="457357"/>
          </a:xfrm>
          <a:prstGeom prst="rect">
            <a:avLst/>
          </a:prstGeom>
          <a:noFill/>
          <a:ln w="9525">
            <a:noFill/>
            <a:miter lim="800000"/>
            <a:headEnd/>
            <a:tailEnd/>
          </a:ln>
        </p:spPr>
        <p:txBody>
          <a:bodyPr lIns="91763" tIns="45883" rIns="91763" bIns="45883" anchor="b"/>
          <a:lstStyle/>
          <a:p>
            <a:pPr algn="r" defTabSz="917792"/>
            <a:fld id="{439FBE74-3EDD-4611-884E-541C6E8225D7}" type="slidenum">
              <a:rPr lang="en-US" sz="1200">
                <a:latin typeface="Times New Roman" pitchFamily="18" charset="0"/>
              </a:rPr>
              <a:pPr algn="r" defTabSz="917792"/>
              <a:t>54</a:t>
            </a:fld>
            <a:endParaRPr lang="en-US" sz="1200" dirty="0">
              <a:latin typeface="Times New Roman" pitchFamily="18" charset="0"/>
            </a:endParaRPr>
          </a:p>
        </p:txBody>
      </p:sp>
      <p:sp>
        <p:nvSpPr>
          <p:cNvPr id="129027" name="Rectangle 2"/>
          <p:cNvSpPr>
            <a:spLocks noGrp="1" noRot="1" noChangeAspect="1" noChangeArrowheads="1" noTextEdit="1"/>
          </p:cNvSpPr>
          <p:nvPr>
            <p:ph type="sldImg"/>
          </p:nvPr>
        </p:nvSpPr>
        <p:spPr>
          <a:xfrm>
            <a:off x="1146175" y="687388"/>
            <a:ext cx="4568825" cy="3427412"/>
          </a:xfrm>
          <a:ln/>
        </p:spPr>
      </p:sp>
      <p:sp>
        <p:nvSpPr>
          <p:cNvPr id="129028" name="Rectangle 3"/>
          <p:cNvSpPr>
            <a:spLocks noGrp="1" noChangeArrowheads="1"/>
          </p:cNvSpPr>
          <p:nvPr>
            <p:ph type="body" idx="1"/>
          </p:nvPr>
        </p:nvSpPr>
        <p:spPr>
          <a:xfrm>
            <a:off x="914711" y="4342536"/>
            <a:ext cx="5028579" cy="4114643"/>
          </a:xfrm>
          <a:noFill/>
          <a:ln/>
        </p:spPr>
        <p:txBody>
          <a:bodyPr lIns="89378" tIns="44688" rIns="89378" bIns="44688"/>
          <a:lstStyle/>
          <a:p>
            <a:endParaRPr lang="en-US"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p:spPr>
        <p:txBody>
          <a:bodyPr/>
          <a:lstStyle/>
          <a:p>
            <a:fld id="{37B76C0E-7FCF-4192-917D-BFBE296F3153}" type="slidenum">
              <a:rPr lang="en-US" smtClean="0"/>
              <a:pPr/>
              <a:t>55</a:t>
            </a:fld>
            <a:endParaRPr lang="en-US" smtClean="0"/>
          </a:p>
        </p:txBody>
      </p:sp>
      <p:sp>
        <p:nvSpPr>
          <p:cNvPr id="130051" name="Rectangle 2"/>
          <p:cNvSpPr>
            <a:spLocks noGrp="1" noRot="1" noChangeAspect="1" noChangeArrowheads="1" noTextEdit="1"/>
          </p:cNvSpPr>
          <p:nvPr>
            <p:ph type="sldImg"/>
          </p:nvPr>
        </p:nvSpPr>
        <p:spPr>
          <a:xfrm>
            <a:off x="1144588" y="685800"/>
            <a:ext cx="4570412" cy="3429000"/>
          </a:xfrm>
          <a:ln/>
        </p:spPr>
      </p:sp>
      <p:sp>
        <p:nvSpPr>
          <p:cNvPr id="130052"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p:spPr>
        <p:txBody>
          <a:bodyPr/>
          <a:lstStyle/>
          <a:p>
            <a:fld id="{29E33D6A-173A-4B01-958E-A4E90CC7FDBD}" type="slidenum">
              <a:rPr lang="en-US" smtClean="0"/>
              <a:pPr/>
              <a:t>56</a:t>
            </a:fld>
            <a:endParaRPr lang="en-US" smtClean="0"/>
          </a:p>
        </p:txBody>
      </p:sp>
      <p:sp>
        <p:nvSpPr>
          <p:cNvPr id="131075" name="Rectangle 2"/>
          <p:cNvSpPr>
            <a:spLocks noGrp="1" noRot="1" noChangeAspect="1" noChangeArrowheads="1" noTextEdit="1"/>
          </p:cNvSpPr>
          <p:nvPr>
            <p:ph type="sldImg"/>
          </p:nvPr>
        </p:nvSpPr>
        <p:spPr>
          <a:xfrm>
            <a:off x="1144588" y="685800"/>
            <a:ext cx="4570412" cy="3429000"/>
          </a:xfrm>
          <a:ln/>
        </p:spPr>
      </p:sp>
      <p:sp>
        <p:nvSpPr>
          <p:cNvPr id="131076"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p>
            <a:fld id="{44BAA281-2ABE-4DCF-B868-2F9C5292C272}" type="slidenum">
              <a:rPr lang="en-US" smtClean="0"/>
              <a:pPr/>
              <a:t>57</a:t>
            </a:fld>
            <a:endParaRPr lang="en-US" smtClean="0"/>
          </a:p>
        </p:txBody>
      </p:sp>
      <p:sp>
        <p:nvSpPr>
          <p:cNvPr id="132099" name="Rectangle 2"/>
          <p:cNvSpPr>
            <a:spLocks noGrp="1" noRot="1" noChangeAspect="1" noChangeArrowheads="1" noTextEdit="1"/>
          </p:cNvSpPr>
          <p:nvPr>
            <p:ph type="sldImg"/>
          </p:nvPr>
        </p:nvSpPr>
        <p:spPr>
          <a:xfrm>
            <a:off x="1144588" y="685800"/>
            <a:ext cx="4570412" cy="3429000"/>
          </a:xfrm>
          <a:ln/>
        </p:spPr>
      </p:sp>
      <p:sp>
        <p:nvSpPr>
          <p:cNvPr id="132100"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ACDB65D9-1CB7-4535-BAD5-2CB574088AF1}" type="slidenum">
              <a:rPr lang="en-US" smtClean="0"/>
              <a:pPr/>
              <a:t>58</a:t>
            </a:fld>
            <a:endParaRPr lang="en-US" smtClean="0"/>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endParaRPr lang="en-US" smtClean="0">
              <a:solidFill>
                <a:schemeClr val="hlink"/>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p>
            <a:fld id="{58FF686E-BD1B-4F2C-B70C-C873D9FD1CDD}" type="slidenum">
              <a:rPr lang="en-US" smtClean="0"/>
              <a:pPr/>
              <a:t>59</a:t>
            </a:fld>
            <a:endParaRPr lang="en-US" smtClean="0"/>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p>
            <a:fld id="{645D3131-574A-4C83-B42B-C2C7F6201AAC}" type="slidenum">
              <a:rPr lang="en-US" smtClean="0"/>
              <a:pPr/>
              <a:t>60</a:t>
            </a:fld>
            <a:endParaRPr lang="en-US" smtClean="0"/>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p:spPr>
        <p:txBody>
          <a:bodyPr/>
          <a:lstStyle/>
          <a:p>
            <a:endParaRPr lang="en-US" dirty="0" smtClean="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4"/>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r>
              <a:rPr lang="en-US" smtClean="0"/>
              <a:t>CS252 S05</a:t>
            </a:r>
          </a:p>
        </p:txBody>
      </p:sp>
      <p:sp>
        <p:nvSpPr>
          <p:cNvPr id="74755" name="Rectangle 5"/>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81E8ECEB-82CC-4598-934F-541F9CB94AD6}" type="slidenum">
              <a:rPr lang="en-US" smtClean="0"/>
              <a:pPr/>
              <a:t>61</a:t>
            </a:fld>
            <a:endParaRPr lang="en-US" smtClean="0"/>
          </a:p>
        </p:txBody>
      </p:sp>
      <p:sp>
        <p:nvSpPr>
          <p:cNvPr id="7475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475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dirty="0" smtClean="0"/>
              <a:t>Click to edit Master subtitle style</a:t>
            </a:r>
            <a:endParaRPr kumimoji="0" lang="en-US" dirty="0"/>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
        <p:nvSpPr>
          <p:cNvPr id="14" name="Date Placeholder 13"/>
          <p:cNvSpPr>
            <a:spLocks noGrp="1"/>
          </p:cNvSpPr>
          <p:nvPr>
            <p:ph type="dt" sz="half" idx="10"/>
          </p:nvPr>
        </p:nvSpPr>
        <p:spPr/>
        <p:txBody>
          <a:bodyPr/>
          <a:lstStyle/>
          <a:p>
            <a:pPr>
              <a:defRPr/>
            </a:pPr>
            <a:r>
              <a:rPr lang="en-US" smtClean="0"/>
              <a:t>CSE, BUET</a:t>
            </a:r>
            <a:endParaRPr lang="en-US" dirty="0"/>
          </a:p>
        </p:txBody>
      </p:sp>
      <p:sp>
        <p:nvSpPr>
          <p:cNvPr id="15" name="Slide Number Placeholder 14"/>
          <p:cNvSpPr>
            <a:spLocks noGrp="1"/>
          </p:cNvSpPr>
          <p:nvPr>
            <p:ph type="sldNum" sz="quarter" idx="11"/>
          </p:nvPr>
        </p:nvSpPr>
        <p:spPr/>
        <p:txBody>
          <a:bodyPr/>
          <a:lstStyle/>
          <a:p>
            <a:pPr>
              <a:defRPr/>
            </a:pPr>
            <a:fld id="{4635AE12-246C-49B1-92D7-252397D611F1}" type="slidenum">
              <a:rPr lang="en-US" smtClean="0"/>
              <a:pPr>
                <a:defRPr/>
              </a:pPr>
              <a:t>‹#›</a:t>
            </a:fld>
            <a:endParaRPr lang="en-US"/>
          </a:p>
        </p:txBody>
      </p:sp>
      <p:sp>
        <p:nvSpPr>
          <p:cNvPr id="16" name="Footer Placeholder 15"/>
          <p:cNvSpPr>
            <a:spLocks noGrp="1"/>
          </p:cNvSpPr>
          <p:nvPr>
            <p:ph type="ftr" sz="quarter" idx="12"/>
          </p:nvPr>
        </p:nvSpPr>
        <p:spPr/>
        <p:txBody>
          <a:bodyPr/>
          <a:lstStyle/>
          <a:p>
            <a:pPr>
              <a:defRPr/>
            </a:pP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7" name="Date Placeholder 6"/>
          <p:cNvSpPr>
            <a:spLocks noGrp="1"/>
          </p:cNvSpPr>
          <p:nvPr>
            <p:ph type="dt" sz="half" idx="10"/>
          </p:nvPr>
        </p:nvSpPr>
        <p:spPr/>
        <p:txBody>
          <a:bodyPr/>
          <a:lstStyle/>
          <a:p>
            <a:pPr>
              <a:defRPr/>
            </a:pPr>
            <a:r>
              <a:rPr lang="en-US" smtClean="0"/>
              <a:t>CSE, BUET</a:t>
            </a:r>
            <a:endParaRPr lang="en-US"/>
          </a:p>
        </p:txBody>
      </p:sp>
      <p:sp>
        <p:nvSpPr>
          <p:cNvPr id="9" name="Slide Number Placeholder 8"/>
          <p:cNvSpPr>
            <a:spLocks noGrp="1"/>
          </p:cNvSpPr>
          <p:nvPr>
            <p:ph type="sldNum" sz="quarter" idx="11"/>
          </p:nvPr>
        </p:nvSpPr>
        <p:spPr/>
        <p:txBody>
          <a:bodyPr/>
          <a:lstStyle/>
          <a:p>
            <a:pPr>
              <a:defRPr/>
            </a:pPr>
            <a:fld id="{4635AE12-246C-49B1-92D7-252397D611F1}" type="slidenum">
              <a:rPr lang="en-US" smtClean="0"/>
              <a:pPr>
                <a:defRPr/>
              </a:pPr>
              <a:t>‹#›</a:t>
            </a:fld>
            <a:endParaRPr lang="en-US"/>
          </a:p>
        </p:txBody>
      </p:sp>
      <p:sp>
        <p:nvSpPr>
          <p:cNvPr id="10" name="Footer Placeholder 9"/>
          <p:cNvSpPr>
            <a:spLocks noGrp="1"/>
          </p:cNvSpPr>
          <p:nvPr>
            <p:ph type="ftr" sz="quarter" idx="12"/>
          </p:nvPr>
        </p:nvSpPr>
        <p:spPr/>
        <p:txBody>
          <a:bodyPr/>
          <a:lstStyle/>
          <a:p>
            <a:pPr>
              <a:defRPr/>
            </a:pP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pPr>
              <a:defRPr/>
            </a:pPr>
            <a:r>
              <a:rPr lang="en-US" smtClean="0"/>
              <a:t>CSE, BUET</a:t>
            </a:r>
            <a:endParaRPr lang="en-US"/>
          </a:p>
        </p:txBody>
      </p:sp>
      <p:sp>
        <p:nvSpPr>
          <p:cNvPr id="5" name="Footer Placeholder 4"/>
          <p:cNvSpPr>
            <a:spLocks noGrp="1"/>
          </p:cNvSpPr>
          <p:nvPr>
            <p:ph type="ftr" sz="quarter" idx="11"/>
          </p:nvPr>
        </p:nvSpPr>
        <p:spPr>
          <a:xfrm>
            <a:off x="800100" y="6172200"/>
            <a:ext cx="4000500" cy="457200"/>
          </a:xfrm>
        </p:spPr>
        <p:txBody>
          <a:bodyPr/>
          <a:lstStyle/>
          <a:p>
            <a:pPr>
              <a:defRPr/>
            </a:pPr>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pPr>
              <a:defRPr/>
            </a:pPr>
            <a:fld id="{E628056B-CBF0-4D1B-9AF4-CB0D4FC4021D}"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pPr>
              <a:defRPr/>
            </a:pPr>
            <a:r>
              <a:rPr lang="en-US" smtClean="0"/>
              <a:t>CSE, BUET</a:t>
            </a: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F03F0DF0-5EF9-43CE-A54F-AA7EC7B02B7E}" type="slidenum">
              <a:rPr lang="en-US" smtClean="0"/>
              <a:pPr>
                <a:defRPr/>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pPr>
              <a:defRPr/>
            </a:pPr>
            <a:r>
              <a:rPr lang="en-US" smtClean="0"/>
              <a:t>CSE, BUET</a:t>
            </a: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F26C81D0-E5EA-4741-BF96-1B512E5203A1}" type="slidenum">
              <a:rPr lang="en-US" smtClean="0"/>
              <a:pPr>
                <a:defRPr/>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pPr>
              <a:defRPr/>
            </a:pPr>
            <a:r>
              <a:rPr lang="en-US" smtClean="0"/>
              <a:t>CSE, BUET</a:t>
            </a: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28A57868-5B4B-4F42-A149-19F358BE3B7B}"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r>
              <a:rPr lang="en-US" smtClean="0"/>
              <a:t>CSE, BUET</a:t>
            </a: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AE613613-FD62-4FDA-8444-F94981C0198F}"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pPr>
              <a:defRPr/>
            </a:pPr>
            <a:r>
              <a:rPr lang="en-US" smtClean="0"/>
              <a:t>CSE, BUET</a:t>
            </a: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0449DBAF-ABB6-4C4C-86E1-4F26F4DC021F}" type="slidenum">
              <a:rPr lang="en-US" smtClean="0"/>
              <a:pPr>
                <a:defRPr/>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pPr>
              <a:defRPr/>
            </a:pPr>
            <a:r>
              <a:rPr lang="en-US" smtClean="0"/>
              <a:t>CSE, BUET</a:t>
            </a:r>
            <a:endParaRPr lang="en-US"/>
          </a:p>
        </p:txBody>
      </p:sp>
      <p:sp>
        <p:nvSpPr>
          <p:cNvPr id="6" name="Footer Placeholder 5"/>
          <p:cNvSpPr>
            <a:spLocks noGrp="1"/>
          </p:cNvSpPr>
          <p:nvPr>
            <p:ph type="ftr" sz="quarter" idx="11"/>
          </p:nvPr>
        </p:nvSpPr>
        <p:spPr>
          <a:xfrm>
            <a:off x="914400" y="6172200"/>
            <a:ext cx="3886200" cy="457200"/>
          </a:xfrm>
        </p:spPr>
        <p:txBody>
          <a:bodyPr/>
          <a:lstStyle/>
          <a:p>
            <a:pPr>
              <a:defRPr/>
            </a:pPr>
            <a:endParaRPr lang="en-US"/>
          </a:p>
        </p:txBody>
      </p:sp>
      <p:sp>
        <p:nvSpPr>
          <p:cNvPr id="7" name="Slide Number Placeholder 6"/>
          <p:cNvSpPr>
            <a:spLocks noGrp="1"/>
          </p:cNvSpPr>
          <p:nvPr>
            <p:ph type="sldNum" sz="quarter" idx="12"/>
          </p:nvPr>
        </p:nvSpPr>
        <p:spPr>
          <a:xfrm>
            <a:off x="146304" y="6208776"/>
            <a:ext cx="457200" cy="457200"/>
          </a:xfrm>
        </p:spPr>
        <p:txBody>
          <a:bodyPr/>
          <a:lstStyle/>
          <a:p>
            <a:pPr>
              <a:defRPr/>
            </a:pPr>
            <a:fld id="{C30E7E5F-8AA3-46B7-8167-7FA4D3F79E5F}" type="slidenum">
              <a:rPr lang="en-US" smtClean="0"/>
              <a:pPr>
                <a:defRPr/>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r>
              <a:rPr lang="en-US" smtClean="0"/>
              <a:t>CSE, BUET</a:t>
            </a: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487684B-5EF0-462D-8601-D49A9018B9DA}"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r>
              <a:rPr lang="en-US" smtClean="0"/>
              <a:t>CSE, BUET</a:t>
            </a: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1C51293E-5ADB-4D59-A36F-681BF25DCB0A}" type="slidenum">
              <a:rPr lang="en-US" smtClean="0"/>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763000"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04800" y="1295400"/>
            <a:ext cx="4114800" cy="5181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572000" y="1295400"/>
            <a:ext cx="4114800" cy="2514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572000" y="3962400"/>
            <a:ext cx="4114800" cy="2514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2059"/>
          <p:cNvSpPr>
            <a:spLocks noGrp="1" noChangeArrowheads="1"/>
          </p:cNvSpPr>
          <p:nvPr>
            <p:ph type="dt" sz="half" idx="10"/>
          </p:nvPr>
        </p:nvSpPr>
        <p:spPr>
          <a:ln/>
        </p:spPr>
        <p:txBody>
          <a:bodyPr/>
          <a:lstStyle>
            <a:lvl1pPr>
              <a:defRPr/>
            </a:lvl1pPr>
          </a:lstStyle>
          <a:p>
            <a:pPr>
              <a:defRPr/>
            </a:pPr>
            <a:r>
              <a:rPr lang="en-US" smtClean="0"/>
              <a:t>CSE, BUET</a:t>
            </a:r>
            <a:endParaRPr lang="en-US"/>
          </a:p>
        </p:txBody>
      </p:sp>
      <p:sp>
        <p:nvSpPr>
          <p:cNvPr id="7" name="Rectangle 2060"/>
          <p:cNvSpPr>
            <a:spLocks noGrp="1" noChangeArrowheads="1"/>
          </p:cNvSpPr>
          <p:nvPr>
            <p:ph type="ftr" sz="quarter" idx="11"/>
          </p:nvPr>
        </p:nvSpPr>
        <p:spPr>
          <a:ln/>
        </p:spPr>
        <p:txBody>
          <a:bodyPr/>
          <a:lstStyle>
            <a:lvl1pPr>
              <a:defRPr/>
            </a:lvl1pPr>
          </a:lstStyle>
          <a:p>
            <a:pPr>
              <a:defRPr/>
            </a:pPr>
            <a:endParaRPr lang="en-US"/>
          </a:p>
        </p:txBody>
      </p:sp>
      <p:sp>
        <p:nvSpPr>
          <p:cNvPr id="8" name="Rectangle 2061"/>
          <p:cNvSpPr>
            <a:spLocks noGrp="1" noChangeArrowheads="1"/>
          </p:cNvSpPr>
          <p:nvPr>
            <p:ph type="sldNum" sz="quarter" idx="12"/>
          </p:nvPr>
        </p:nvSpPr>
        <p:spPr>
          <a:ln/>
        </p:spPr>
        <p:txBody>
          <a:bodyPr/>
          <a:lstStyle>
            <a:lvl1pPr>
              <a:defRPr/>
            </a:lvl1pPr>
          </a:lstStyle>
          <a:p>
            <a:pPr>
              <a:defRPr/>
            </a:pPr>
            <a:fld id="{F66EA205-BEF8-49BC-9D3E-621205096F08}" type="slidenum">
              <a:rPr lang="en-US"/>
              <a:pPr>
                <a:defRPr/>
              </a:pPr>
              <a:t>‹#›</a:t>
            </a:fld>
            <a:endParaRPr lang="en-US"/>
          </a:p>
        </p:txBody>
      </p:sp>
    </p:spTree>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pPr>
              <a:defRPr/>
            </a:pPr>
            <a:r>
              <a:rPr lang="en-US" smtClean="0"/>
              <a:t>CSE, BUET</a:t>
            </a:r>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pPr>
              <a:defRPr/>
            </a:pPr>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pPr>
              <a:defRPr/>
            </a:pPr>
            <a:fld id="{4635AE12-246C-49B1-92D7-252397D611F1}" type="slidenum">
              <a:rPr lang="en-US" smtClean="0"/>
              <a:pPr>
                <a:defRPr/>
              </a:pPr>
              <a:t>‹#›</a:t>
            </a:fld>
            <a:endParaRPr lang="en-US"/>
          </a:p>
        </p:txBody>
      </p:sp>
      <p:sp>
        <p:nvSpPr>
          <p:cNvPr id="10" name="Text Box 7"/>
          <p:cNvSpPr txBox="1">
            <a:spLocks noChangeArrowheads="1"/>
          </p:cNvSpPr>
          <p:nvPr userDrawn="1"/>
        </p:nvSpPr>
        <p:spPr bwMode="ltGray">
          <a:xfrm>
            <a:off x="7212013" y="250825"/>
            <a:ext cx="184150" cy="366713"/>
          </a:xfrm>
          <a:prstGeom prst="rect">
            <a:avLst/>
          </a:prstGeom>
          <a:noFill/>
          <a:ln w="9525">
            <a:noFill/>
            <a:miter lim="800000"/>
            <a:headEnd/>
            <a:tailEnd/>
          </a:ln>
          <a:effectLst/>
        </p:spPr>
        <p:txBody>
          <a:bodyPr wrap="none">
            <a:spAutoFit/>
          </a:bodyPr>
          <a:lstStyle/>
          <a:p>
            <a:pPr algn="ctr" eaLnBrk="1" hangingPunct="1">
              <a:defRPr/>
            </a:pPr>
            <a:endParaRPr lang="en-US">
              <a:solidFill>
                <a:schemeClr val="bg1"/>
              </a:solidFill>
              <a:latin typeface="Monotype Corsiva" pitchFamily="66" charset="0"/>
            </a:endParaRPr>
          </a:p>
        </p:txBody>
      </p:sp>
    </p:spTree>
  </p:cSld>
  <p:clrMap bg1="lt1" tx1="dk1" bg2="lt2" tx2="dk2" accent1="accent1" accent2="accent2" accent3="accent3" accent4="accent4" accent5="accent5" accent6="accent6" hlink="hlink" folHlink="folHlink"/>
  <p:sldLayoutIdLst>
    <p:sldLayoutId id="2147485202" r:id="rId1"/>
    <p:sldLayoutId id="2147485203" r:id="rId2"/>
    <p:sldLayoutId id="2147485204" r:id="rId3"/>
    <p:sldLayoutId id="2147485205" r:id="rId4"/>
    <p:sldLayoutId id="2147485206" r:id="rId5"/>
    <p:sldLayoutId id="2147485207" r:id="rId6"/>
    <p:sldLayoutId id="2147485208" r:id="rId7"/>
    <p:sldLayoutId id="2147485209" r:id="rId8"/>
    <p:sldLayoutId id="2147485210" r:id="rId9"/>
    <p:sldLayoutId id="2147485211" r:id="rId10"/>
    <p:sldLayoutId id="2147485212" r:id="rId11"/>
    <p:sldLayoutId id="2147485213" r:id="rId12"/>
  </p:sldLayoutIdLs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8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6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4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oleObject" Target="../embeddings/oleObject2.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oleObject" Target="../embeddings/oleObject4.bin"/><Relationship Id="rId4" Type="http://schemas.openxmlformats.org/officeDocument/2006/relationships/oleObject" Target="../embeddings/oleObject3.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oleObject" Target="../embeddings/oleObject6.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7" Type="http://schemas.openxmlformats.org/officeDocument/2006/relationships/oleObject" Target="../embeddings/oleObject8.bin"/><Relationship Id="rId2" Type="http://schemas.openxmlformats.org/officeDocument/2006/relationships/slideLayout" Target="../slideLayouts/slideLayout12.xml"/><Relationship Id="rId1" Type="http://schemas.openxmlformats.org/officeDocument/2006/relationships/vmlDrawing" Target="../drawings/vmlDrawing5.vml"/><Relationship Id="rId6" Type="http://schemas.openxmlformats.org/officeDocument/2006/relationships/oleObject" Target="../embeddings/oleObject7.bin"/><Relationship Id="rId5" Type="http://schemas.openxmlformats.org/officeDocument/2006/relationships/image" Target="../media/image18.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oleObject" Target="../embeddings/oleObject9.bin"/></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notesSlide" Target="../notesSlides/notesSlide51.xml"/><Relationship Id="rId7" Type="http://schemas.openxmlformats.org/officeDocument/2006/relationships/oleObject" Target="../embeddings/oleObject13.bin"/><Relationship Id="rId2" Type="http://schemas.openxmlformats.org/officeDocument/2006/relationships/slideLayout" Target="../slideLayouts/slideLayout12.xml"/><Relationship Id="rId1" Type="http://schemas.openxmlformats.org/officeDocument/2006/relationships/vmlDrawing" Target="../drawings/vmlDrawing7.vml"/><Relationship Id="rId6" Type="http://schemas.openxmlformats.org/officeDocument/2006/relationships/oleObject" Target="../embeddings/oleObject12.bin"/><Relationship Id="rId5" Type="http://schemas.openxmlformats.org/officeDocument/2006/relationships/oleObject" Target="../embeddings/oleObject11.bin"/><Relationship Id="rId4" Type="http://schemas.openxmlformats.org/officeDocument/2006/relationships/oleObject" Target="../embeddings/oleObject10.bin"/><Relationship Id="rId9" Type="http://schemas.openxmlformats.org/officeDocument/2006/relationships/oleObject" Target="../embeddings/oleObject15.bin"/></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subTitle" idx="1"/>
          </p:nvPr>
        </p:nvSpPr>
        <p:spPr/>
        <p:txBody>
          <a:bodyPr rtlCol="0">
            <a:normAutofit/>
          </a:bodyPr>
          <a:lstStyle/>
          <a:p>
            <a:pPr eaLnBrk="1" fontAlgn="auto" hangingPunct="1">
              <a:spcAft>
                <a:spcPts val="0"/>
              </a:spcAft>
              <a:buFont typeface="Wingdings 3" pitchFamily="18" charset="2"/>
              <a:buNone/>
              <a:defRPr/>
            </a:pPr>
            <a:r>
              <a:rPr lang="en-US" sz="3600" dirty="0" smtClean="0"/>
              <a:t>Data Preprocessing</a:t>
            </a:r>
          </a:p>
          <a:p>
            <a:pPr eaLnBrk="1" fontAlgn="auto" hangingPunct="1">
              <a:spcAft>
                <a:spcPts val="0"/>
              </a:spcAft>
              <a:buFont typeface="Wingdings 3" pitchFamily="18" charset="2"/>
              <a:buNone/>
              <a:defRPr/>
            </a:pPr>
            <a:endParaRPr lang="en-US" sz="2800" dirty="0" smtClean="0"/>
          </a:p>
        </p:txBody>
      </p:sp>
      <p:sp>
        <p:nvSpPr>
          <p:cNvPr id="3074" name="Rectangle 2"/>
          <p:cNvSpPr>
            <a:spLocks noGrp="1" noChangeArrowheads="1"/>
          </p:cNvSpPr>
          <p:nvPr>
            <p:ph type="ctrTitle"/>
          </p:nvPr>
        </p:nvSpPr>
        <p:spPr/>
        <p:txBody>
          <a:bodyPr/>
          <a:lstStyle/>
          <a:p>
            <a:pPr eaLnBrk="1" hangingPunct="1"/>
            <a:r>
              <a:rPr lang="en-US" smtClean="0"/>
              <a:t>Data Mining</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3"/>
          <p:cNvSpPr>
            <a:spLocks noGrp="1" noChangeArrowheads="1"/>
          </p:cNvSpPr>
          <p:nvPr>
            <p:ph type="body" sz="half" idx="1"/>
          </p:nvPr>
        </p:nvSpPr>
        <p:spPr>
          <a:xfrm>
            <a:off x="381000" y="1371600"/>
            <a:ext cx="8229600" cy="5105400"/>
          </a:xfrm>
          <a:noFill/>
        </p:spPr>
        <p:txBody>
          <a:bodyPr lIns="92075" tIns="46038" rIns="92075" bIns="46038"/>
          <a:lstStyle/>
          <a:p>
            <a:pPr eaLnBrk="1" hangingPunct="1">
              <a:lnSpc>
                <a:spcPct val="150000"/>
              </a:lnSpc>
            </a:pPr>
            <a:r>
              <a:rPr lang="en-US" sz="2400" dirty="0" smtClean="0"/>
              <a:t>Data Preprocessing: An Overview</a:t>
            </a:r>
          </a:p>
          <a:p>
            <a:pPr lvl="1" eaLnBrk="1" hangingPunct="1">
              <a:lnSpc>
                <a:spcPct val="150000"/>
              </a:lnSpc>
            </a:pPr>
            <a:r>
              <a:rPr lang="en-US" sz="2400" dirty="0" smtClean="0"/>
              <a:t>Data Quality</a:t>
            </a:r>
          </a:p>
          <a:p>
            <a:pPr lvl="1" eaLnBrk="1" hangingPunct="1">
              <a:lnSpc>
                <a:spcPct val="150000"/>
              </a:lnSpc>
            </a:pPr>
            <a:r>
              <a:rPr lang="en-US" sz="2400" dirty="0" smtClean="0"/>
              <a:t>Major Tasks in Data Preprocessing</a:t>
            </a:r>
          </a:p>
          <a:p>
            <a:pPr eaLnBrk="1" hangingPunct="1">
              <a:lnSpc>
                <a:spcPct val="150000"/>
              </a:lnSpc>
            </a:pPr>
            <a:r>
              <a:rPr lang="en-US" sz="2400" dirty="0" smtClean="0"/>
              <a:t>Data Cleaning</a:t>
            </a:r>
          </a:p>
          <a:p>
            <a:pPr eaLnBrk="1" hangingPunct="1">
              <a:lnSpc>
                <a:spcPct val="150000"/>
              </a:lnSpc>
            </a:pPr>
            <a:r>
              <a:rPr lang="en-US" sz="2400" dirty="0" smtClean="0"/>
              <a:t>Data Integration</a:t>
            </a:r>
          </a:p>
          <a:p>
            <a:pPr eaLnBrk="1" hangingPunct="1">
              <a:lnSpc>
                <a:spcPct val="150000"/>
              </a:lnSpc>
            </a:pPr>
            <a:r>
              <a:rPr lang="en-US" sz="2400" dirty="0" smtClean="0"/>
              <a:t>Data Reduction</a:t>
            </a:r>
          </a:p>
          <a:p>
            <a:pPr eaLnBrk="1" hangingPunct="1">
              <a:lnSpc>
                <a:spcPct val="150000"/>
              </a:lnSpc>
            </a:pPr>
            <a:r>
              <a:rPr lang="en-US" sz="2400" dirty="0" smtClean="0"/>
              <a:t>Data Transformation and Data </a:t>
            </a:r>
            <a:r>
              <a:rPr lang="en-US" sz="2400" dirty="0" err="1" smtClean="0"/>
              <a:t>Discretization</a:t>
            </a:r>
            <a:endParaRPr lang="en-US" sz="2400" dirty="0" smtClean="0"/>
          </a:p>
          <a:p>
            <a:pPr eaLnBrk="1" hangingPunct="1">
              <a:lnSpc>
                <a:spcPct val="150000"/>
              </a:lnSpc>
            </a:pPr>
            <a:r>
              <a:rPr lang="en-US" sz="2400" dirty="0" smtClean="0"/>
              <a:t>Summary</a:t>
            </a:r>
          </a:p>
        </p:txBody>
      </p:sp>
      <p:sp>
        <p:nvSpPr>
          <p:cNvPr id="7" name="Rectangle 2"/>
          <p:cNvSpPr txBox="1">
            <a:spLocks noChangeArrowheads="1"/>
          </p:cNvSpPr>
          <p:nvPr/>
        </p:nvSpPr>
        <p:spPr>
          <a:xfrm>
            <a:off x="0" y="304800"/>
            <a:ext cx="9144000" cy="685800"/>
          </a:xfrm>
          <a:prstGeom prst="rect">
            <a:avLst/>
          </a:prstGeom>
        </p:spPr>
        <p:txBody>
          <a:bodyPr bIns="91440" anchor="b" anchorCtr="0">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Data Preprocessing</a:t>
            </a:r>
            <a:endParaRPr kumimoji="0" lang="en-US" sz="4000" b="0" i="0" u="none" strike="noStrike" kern="1200" cap="none" spc="0" normalizeH="0" baseline="0" noProof="0" dirty="0" smtClean="0">
              <a:ln>
                <a:noFill/>
              </a:ln>
              <a:solidFill>
                <a:schemeClr val="tx2"/>
              </a:solidFill>
              <a:effectLst/>
              <a:uLnTx/>
              <a:uFillTx/>
              <a:latin typeface="+mj-lt"/>
              <a:ea typeface="+mj-ea"/>
              <a:cs typeface="+mj-cs"/>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0" y="304800"/>
            <a:ext cx="9144000" cy="685800"/>
          </a:xfrm>
        </p:spPr>
        <p:txBody>
          <a:bodyPr/>
          <a:lstStyle/>
          <a:p>
            <a:pPr eaLnBrk="1" hangingPunct="1"/>
            <a:r>
              <a:rPr lang="en-US" sz="3200" dirty="0" smtClean="0"/>
              <a:t>Data Quality: Why Preprocess the Data?</a:t>
            </a:r>
            <a:endParaRPr lang="en-US" dirty="0" smtClean="0"/>
          </a:p>
        </p:txBody>
      </p:sp>
      <p:sp>
        <p:nvSpPr>
          <p:cNvPr id="8196" name="Rectangle 3"/>
          <p:cNvSpPr>
            <a:spLocks noGrp="1" noChangeArrowheads="1"/>
          </p:cNvSpPr>
          <p:nvPr>
            <p:ph type="body" idx="1"/>
          </p:nvPr>
        </p:nvSpPr>
        <p:spPr>
          <a:xfrm>
            <a:off x="304800" y="1295400"/>
            <a:ext cx="8382000" cy="4946650"/>
          </a:xfrm>
        </p:spPr>
        <p:txBody>
          <a:bodyPr/>
          <a:lstStyle/>
          <a:p>
            <a:pPr>
              <a:lnSpc>
                <a:spcPct val="90000"/>
              </a:lnSpc>
            </a:pPr>
            <a:r>
              <a:rPr lang="en-US" dirty="0" smtClean="0"/>
              <a:t>Data in the real world is dirty</a:t>
            </a:r>
          </a:p>
          <a:p>
            <a:pPr lvl="1">
              <a:lnSpc>
                <a:spcPct val="90000"/>
              </a:lnSpc>
            </a:pPr>
            <a:r>
              <a:rPr lang="en-US" dirty="0" smtClean="0">
                <a:solidFill>
                  <a:schemeClr val="hlink"/>
                </a:solidFill>
              </a:rPr>
              <a:t>incomplete</a:t>
            </a:r>
            <a:r>
              <a:rPr lang="en-US" dirty="0" smtClean="0"/>
              <a:t>: lacking attribute values, lacking certain attributes of interest, or containing only aggregate data</a:t>
            </a:r>
          </a:p>
          <a:p>
            <a:pPr lvl="2">
              <a:lnSpc>
                <a:spcPct val="90000"/>
              </a:lnSpc>
            </a:pPr>
            <a:r>
              <a:rPr lang="en-US" dirty="0" smtClean="0"/>
              <a:t>e.g., occupation=“ ”</a:t>
            </a:r>
          </a:p>
          <a:p>
            <a:pPr lvl="1">
              <a:lnSpc>
                <a:spcPct val="90000"/>
              </a:lnSpc>
            </a:pPr>
            <a:r>
              <a:rPr lang="en-US" dirty="0" smtClean="0">
                <a:solidFill>
                  <a:schemeClr val="hlink"/>
                </a:solidFill>
              </a:rPr>
              <a:t>noisy</a:t>
            </a:r>
            <a:r>
              <a:rPr lang="en-US" dirty="0" smtClean="0"/>
              <a:t>: containing errors or outliers</a:t>
            </a:r>
          </a:p>
          <a:p>
            <a:pPr lvl="2">
              <a:lnSpc>
                <a:spcPct val="90000"/>
              </a:lnSpc>
            </a:pPr>
            <a:r>
              <a:rPr lang="en-US" dirty="0" smtClean="0"/>
              <a:t>e.g., Salary=“-10”</a:t>
            </a:r>
          </a:p>
          <a:p>
            <a:pPr lvl="1">
              <a:lnSpc>
                <a:spcPct val="90000"/>
              </a:lnSpc>
            </a:pPr>
            <a:r>
              <a:rPr lang="en-US" dirty="0" smtClean="0">
                <a:solidFill>
                  <a:schemeClr val="hlink"/>
                </a:solidFill>
              </a:rPr>
              <a:t>inconsistent</a:t>
            </a:r>
            <a:r>
              <a:rPr lang="en-US" dirty="0" smtClean="0"/>
              <a:t>: containing discrepancies in codes or names</a:t>
            </a:r>
          </a:p>
          <a:p>
            <a:pPr lvl="2">
              <a:lnSpc>
                <a:spcPct val="90000"/>
              </a:lnSpc>
            </a:pPr>
            <a:r>
              <a:rPr lang="en-US" dirty="0" smtClean="0"/>
              <a:t>e.g., Age=“42” Birthday=“03/07/1997”</a:t>
            </a:r>
          </a:p>
          <a:p>
            <a:pPr lvl="2">
              <a:lnSpc>
                <a:spcPct val="90000"/>
              </a:lnSpc>
            </a:pPr>
            <a:r>
              <a:rPr lang="en-US" dirty="0" smtClean="0"/>
              <a:t>e.g., Was rating “1,2,3”, now rating “A, B, C”</a:t>
            </a:r>
          </a:p>
          <a:p>
            <a:pPr lvl="2">
              <a:lnSpc>
                <a:spcPct val="90000"/>
              </a:lnSpc>
            </a:pPr>
            <a:r>
              <a:rPr lang="en-US" dirty="0" smtClean="0"/>
              <a:t>e.g., discrepancy between duplicate records</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0" y="304800"/>
            <a:ext cx="9144000" cy="685800"/>
          </a:xfrm>
        </p:spPr>
        <p:txBody>
          <a:bodyPr/>
          <a:lstStyle/>
          <a:p>
            <a:pPr eaLnBrk="1" hangingPunct="1"/>
            <a:r>
              <a:rPr lang="en-US" sz="3200" dirty="0" smtClean="0"/>
              <a:t>Why Incomplete?</a:t>
            </a:r>
            <a:endParaRPr lang="en-US" dirty="0" smtClean="0"/>
          </a:p>
        </p:txBody>
      </p:sp>
      <p:sp>
        <p:nvSpPr>
          <p:cNvPr id="8196" name="Rectangle 3"/>
          <p:cNvSpPr>
            <a:spLocks noGrp="1" noChangeArrowheads="1"/>
          </p:cNvSpPr>
          <p:nvPr>
            <p:ph type="body" idx="1"/>
          </p:nvPr>
        </p:nvSpPr>
        <p:spPr>
          <a:xfrm>
            <a:off x="304800" y="1295400"/>
            <a:ext cx="8382000" cy="4946650"/>
          </a:xfrm>
        </p:spPr>
        <p:txBody>
          <a:bodyPr>
            <a:normAutofit/>
          </a:bodyPr>
          <a:lstStyle/>
          <a:p>
            <a:r>
              <a:rPr lang="en-US" dirty="0" smtClean="0"/>
              <a:t>Mainly from data collection </a:t>
            </a:r>
          </a:p>
          <a:p>
            <a:pPr lvl="1"/>
            <a:r>
              <a:rPr lang="en-US" dirty="0" smtClean="0"/>
              <a:t>Attributes of interest may not always be available </a:t>
            </a:r>
          </a:p>
          <a:p>
            <a:pPr lvl="2"/>
            <a:r>
              <a:rPr lang="en-US" dirty="0" smtClean="0"/>
              <a:t>e.g. age of a customer </a:t>
            </a:r>
          </a:p>
          <a:p>
            <a:pPr lvl="1"/>
            <a:r>
              <a:rPr lang="en-US" dirty="0" smtClean="0"/>
              <a:t>Relevant data may have been considered unimportant at the time of entry </a:t>
            </a:r>
          </a:p>
          <a:p>
            <a:pPr lvl="2"/>
            <a:r>
              <a:rPr lang="en-US" dirty="0" smtClean="0"/>
              <a:t>e.g. height of a customer</a:t>
            </a:r>
          </a:p>
          <a:p>
            <a:pPr lvl="1"/>
            <a:r>
              <a:rPr lang="en-US" dirty="0" smtClean="0"/>
              <a:t>Malfunctions of data entry equipment </a:t>
            </a:r>
          </a:p>
          <a:p>
            <a:pPr lvl="1"/>
            <a:r>
              <a:rPr lang="en-US" dirty="0" smtClean="0"/>
              <a:t>Inconsistent data may have been removed</a:t>
            </a:r>
          </a:p>
          <a:p>
            <a:pPr lvl="1"/>
            <a:r>
              <a:rPr lang="en-US" dirty="0" smtClean="0"/>
              <a:t>Do not wish to submit personal information</a:t>
            </a:r>
          </a:p>
          <a:p>
            <a:pPr lvl="1"/>
            <a:r>
              <a:rPr lang="en-US" dirty="0" smtClean="0"/>
              <a:t>Might no be applicable for a specific </a:t>
            </a:r>
            <a:r>
              <a:rPr lang="en-US" dirty="0" err="1" smtClean="0"/>
              <a:t>tuple</a:t>
            </a:r>
            <a:endParaRPr lang="en-US" dirty="0" smtClean="0"/>
          </a:p>
          <a:p>
            <a:pPr lvl="1"/>
            <a:r>
              <a:rPr lang="en-US" sz="2800" dirty="0" smtClean="0"/>
              <a:t>…</a:t>
            </a:r>
          </a:p>
          <a:p>
            <a:pPr lvl="1"/>
            <a:endParaRPr lang="en-US" dirty="0" smtClean="0"/>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0" y="304800"/>
            <a:ext cx="9144000" cy="685800"/>
          </a:xfrm>
        </p:spPr>
        <p:txBody>
          <a:bodyPr/>
          <a:lstStyle/>
          <a:p>
            <a:pPr eaLnBrk="1" hangingPunct="1"/>
            <a:r>
              <a:rPr lang="en-US" sz="3200" dirty="0" smtClean="0"/>
              <a:t>Why Noisy?</a:t>
            </a:r>
            <a:endParaRPr lang="en-US" dirty="0" smtClean="0"/>
          </a:p>
        </p:txBody>
      </p:sp>
      <p:sp>
        <p:nvSpPr>
          <p:cNvPr id="8196" name="Rectangle 3"/>
          <p:cNvSpPr>
            <a:spLocks noGrp="1" noChangeArrowheads="1"/>
          </p:cNvSpPr>
          <p:nvPr>
            <p:ph type="body" idx="1"/>
          </p:nvPr>
        </p:nvSpPr>
        <p:spPr>
          <a:xfrm>
            <a:off x="304800" y="1295400"/>
            <a:ext cx="8382000" cy="4946650"/>
          </a:xfrm>
        </p:spPr>
        <p:txBody>
          <a:bodyPr/>
          <a:lstStyle/>
          <a:p>
            <a:r>
              <a:rPr lang="en-US" dirty="0" smtClean="0"/>
              <a:t>Mainly from data collection </a:t>
            </a:r>
          </a:p>
          <a:p>
            <a:pPr lvl="1"/>
            <a:r>
              <a:rPr lang="en-US" dirty="0" smtClean="0"/>
              <a:t>Data collection instruments may not be accurate </a:t>
            </a:r>
          </a:p>
          <a:p>
            <a:pPr lvl="2"/>
            <a:r>
              <a:rPr lang="en-US" dirty="0" smtClean="0"/>
              <a:t>e.g. measuring wind speed with stopwatch </a:t>
            </a:r>
          </a:p>
          <a:p>
            <a:pPr lvl="1"/>
            <a:r>
              <a:rPr lang="en-US" dirty="0" smtClean="0"/>
              <a:t>Human or computer errors occurring at data entry </a:t>
            </a:r>
          </a:p>
          <a:p>
            <a:pPr lvl="1"/>
            <a:r>
              <a:rPr lang="en-US" dirty="0" smtClean="0"/>
              <a:t>Errors in data transmission </a:t>
            </a:r>
          </a:p>
          <a:p>
            <a:pPr lvl="2"/>
            <a:r>
              <a:rPr lang="en-US" dirty="0" smtClean="0"/>
              <a:t>e.g. network error</a:t>
            </a:r>
          </a:p>
          <a:p>
            <a:pPr lvl="1"/>
            <a:r>
              <a:rPr lang="en-US" dirty="0" smtClean="0"/>
              <a:t>Deliberate errors</a:t>
            </a:r>
          </a:p>
          <a:p>
            <a:pPr lvl="1"/>
            <a:r>
              <a:rPr lang="en-US" dirty="0" smtClean="0"/>
              <a:t>Data decay</a:t>
            </a:r>
          </a:p>
          <a:p>
            <a:pPr lvl="1"/>
            <a:r>
              <a:rPr lang="en-US" dirty="0" smtClean="0"/>
              <a:t>…</a:t>
            </a: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0" y="304800"/>
            <a:ext cx="9144000" cy="685800"/>
          </a:xfrm>
        </p:spPr>
        <p:txBody>
          <a:bodyPr/>
          <a:lstStyle/>
          <a:p>
            <a:pPr eaLnBrk="1" hangingPunct="1"/>
            <a:r>
              <a:rPr lang="en-US" sz="3200" dirty="0" smtClean="0"/>
              <a:t>Why Inconsistent?</a:t>
            </a:r>
            <a:endParaRPr lang="en-US" dirty="0" smtClean="0"/>
          </a:p>
        </p:txBody>
      </p:sp>
      <p:sp>
        <p:nvSpPr>
          <p:cNvPr id="8196" name="Rectangle 3"/>
          <p:cNvSpPr>
            <a:spLocks noGrp="1" noChangeArrowheads="1"/>
          </p:cNvSpPr>
          <p:nvPr>
            <p:ph type="body" idx="1"/>
          </p:nvPr>
        </p:nvSpPr>
        <p:spPr>
          <a:xfrm>
            <a:off x="304800" y="1295400"/>
            <a:ext cx="8382000" cy="4946650"/>
          </a:xfrm>
        </p:spPr>
        <p:txBody>
          <a:bodyPr>
            <a:normAutofit/>
          </a:bodyPr>
          <a:lstStyle/>
          <a:p>
            <a:r>
              <a:rPr lang="en-US" dirty="0" smtClean="0"/>
              <a:t>Mainly from data integration </a:t>
            </a:r>
          </a:p>
          <a:p>
            <a:pPr lvl="1"/>
            <a:r>
              <a:rPr lang="en-US" dirty="0" smtClean="0"/>
              <a:t>An attribute may have different names in different databases</a:t>
            </a:r>
          </a:p>
          <a:p>
            <a:pPr lvl="2"/>
            <a:r>
              <a:rPr lang="en-US" dirty="0" smtClean="0"/>
              <a:t>e.g. customer, </a:t>
            </a:r>
            <a:r>
              <a:rPr lang="en-US" dirty="0" err="1" smtClean="0"/>
              <a:t>cust</a:t>
            </a:r>
            <a:r>
              <a:rPr lang="en-US" dirty="0" smtClean="0"/>
              <a:t>, and </a:t>
            </a:r>
            <a:r>
              <a:rPr lang="en-US" dirty="0" err="1" smtClean="0"/>
              <a:t>cust_id</a:t>
            </a:r>
            <a:r>
              <a:rPr lang="en-US" dirty="0" smtClean="0"/>
              <a:t> </a:t>
            </a:r>
          </a:p>
          <a:p>
            <a:pPr lvl="1"/>
            <a:r>
              <a:rPr lang="en-US" dirty="0" smtClean="0"/>
              <a:t>A value of an attribute may have different measures in different databases </a:t>
            </a:r>
          </a:p>
          <a:p>
            <a:pPr lvl="2"/>
            <a:r>
              <a:rPr lang="en-US" dirty="0" smtClean="0"/>
              <a:t>e.g. 1.75m and 175cm </a:t>
            </a:r>
          </a:p>
          <a:p>
            <a:pPr lvl="1"/>
            <a:r>
              <a:rPr lang="en-US" dirty="0" smtClean="0"/>
              <a:t>…… </a:t>
            </a: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0" y="304800"/>
            <a:ext cx="9144000" cy="685800"/>
          </a:xfrm>
        </p:spPr>
        <p:txBody>
          <a:bodyPr/>
          <a:lstStyle/>
          <a:p>
            <a:pPr eaLnBrk="1" hangingPunct="1"/>
            <a:r>
              <a:rPr lang="en-US" sz="3200" dirty="0" smtClean="0"/>
              <a:t>Data Quality</a:t>
            </a:r>
            <a:endParaRPr lang="en-US" dirty="0" smtClean="0"/>
          </a:p>
        </p:txBody>
      </p:sp>
      <p:sp>
        <p:nvSpPr>
          <p:cNvPr id="8196" name="Rectangle 3"/>
          <p:cNvSpPr>
            <a:spLocks noGrp="1" noChangeArrowheads="1"/>
          </p:cNvSpPr>
          <p:nvPr>
            <p:ph type="body" idx="1"/>
          </p:nvPr>
        </p:nvSpPr>
        <p:spPr>
          <a:xfrm>
            <a:off x="304800" y="1295400"/>
            <a:ext cx="8382000" cy="4946650"/>
          </a:xfrm>
        </p:spPr>
        <p:txBody>
          <a:bodyPr/>
          <a:lstStyle/>
          <a:p>
            <a:pPr eaLnBrk="1" hangingPunct="1">
              <a:lnSpc>
                <a:spcPct val="140000"/>
              </a:lnSpc>
            </a:pPr>
            <a:r>
              <a:rPr lang="en-US" sz="2400" dirty="0" smtClean="0"/>
              <a:t>Measures for data quality: A multidimensional view</a:t>
            </a:r>
          </a:p>
          <a:p>
            <a:pPr lvl="1" eaLnBrk="1" hangingPunct="1">
              <a:lnSpc>
                <a:spcPct val="140000"/>
              </a:lnSpc>
            </a:pPr>
            <a:r>
              <a:rPr lang="en-US" sz="2400" dirty="0" smtClean="0"/>
              <a:t>Accuracy: correct or wrong, accurate or not</a:t>
            </a:r>
          </a:p>
          <a:p>
            <a:pPr lvl="1" eaLnBrk="1" hangingPunct="1">
              <a:lnSpc>
                <a:spcPct val="140000"/>
              </a:lnSpc>
            </a:pPr>
            <a:r>
              <a:rPr lang="en-US" sz="2400" dirty="0" smtClean="0"/>
              <a:t>Completeness: not recorded, unavailable, …</a:t>
            </a:r>
          </a:p>
          <a:p>
            <a:pPr lvl="1" eaLnBrk="1" hangingPunct="1">
              <a:lnSpc>
                <a:spcPct val="140000"/>
              </a:lnSpc>
            </a:pPr>
            <a:r>
              <a:rPr lang="en-US" sz="2400" dirty="0" smtClean="0"/>
              <a:t>Consistency: some modified but some not, dangling, …</a:t>
            </a:r>
          </a:p>
          <a:p>
            <a:pPr lvl="1" eaLnBrk="1" hangingPunct="1">
              <a:lnSpc>
                <a:spcPct val="140000"/>
              </a:lnSpc>
            </a:pPr>
            <a:r>
              <a:rPr lang="en-US" sz="2400" dirty="0" smtClean="0"/>
              <a:t>Timeliness: timely update? </a:t>
            </a:r>
          </a:p>
          <a:p>
            <a:pPr lvl="1" eaLnBrk="1" hangingPunct="1">
              <a:lnSpc>
                <a:spcPct val="140000"/>
              </a:lnSpc>
            </a:pPr>
            <a:r>
              <a:rPr lang="en-US" sz="2400" dirty="0" smtClean="0"/>
              <a:t>Believability: how trustable the data are correct?</a:t>
            </a:r>
          </a:p>
          <a:p>
            <a:pPr lvl="1" eaLnBrk="1" hangingPunct="1">
              <a:lnSpc>
                <a:spcPct val="140000"/>
              </a:lnSpc>
            </a:pPr>
            <a:r>
              <a:rPr lang="en-US" sz="2400" dirty="0" smtClean="0"/>
              <a:t>Interpretability: how easily the data can be understood?</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a:xfrm>
            <a:off x="0" y="304800"/>
            <a:ext cx="9144000" cy="685800"/>
          </a:xfrm>
        </p:spPr>
        <p:txBody>
          <a:bodyPr/>
          <a:lstStyle/>
          <a:p>
            <a:pPr eaLnBrk="1" hangingPunct="1"/>
            <a:r>
              <a:rPr lang="en-US" sz="3200" dirty="0" smtClean="0"/>
              <a:t>Why is Data Preprocessing Important?</a:t>
            </a:r>
            <a:endParaRPr lang="en-US" dirty="0" smtClean="0"/>
          </a:p>
        </p:txBody>
      </p:sp>
      <p:sp>
        <p:nvSpPr>
          <p:cNvPr id="8196" name="Rectangle 3"/>
          <p:cNvSpPr>
            <a:spLocks noGrp="1" noChangeArrowheads="1"/>
          </p:cNvSpPr>
          <p:nvPr>
            <p:ph type="body" idx="1"/>
          </p:nvPr>
        </p:nvSpPr>
        <p:spPr>
          <a:xfrm>
            <a:off x="304800" y="1295400"/>
            <a:ext cx="8382000" cy="4946650"/>
          </a:xfrm>
        </p:spPr>
        <p:txBody>
          <a:bodyPr>
            <a:normAutofit/>
          </a:bodyPr>
          <a:lstStyle/>
          <a:p>
            <a:r>
              <a:rPr lang="en-US" dirty="0" smtClean="0"/>
              <a:t>No quality data, no quality mining results </a:t>
            </a:r>
          </a:p>
          <a:p>
            <a:r>
              <a:rPr lang="en-US" i="1" dirty="0" smtClean="0"/>
              <a:t>How about mining those data directly? </a:t>
            </a:r>
          </a:p>
          <a:p>
            <a:pPr lvl="1"/>
            <a:r>
              <a:rPr lang="en-US" dirty="0" smtClean="0"/>
              <a:t>Although most mining routines have some ability of dealing with incomplete or noisy data, they are not always robust </a:t>
            </a:r>
          </a:p>
          <a:p>
            <a:pPr lvl="1"/>
            <a:r>
              <a:rPr lang="en-US" dirty="0" smtClean="0"/>
              <a:t>Most mining routines cannot deal with inconsistency </a:t>
            </a:r>
          </a:p>
          <a:p>
            <a:pPr lvl="1"/>
            <a:r>
              <a:rPr lang="en-US" dirty="0" smtClean="0"/>
              <a:t>Even without incompleteness, noise, and inconsistency, the size of the data may be too large to mine </a:t>
            </a:r>
          </a:p>
          <a:p>
            <a:endParaRPr lang="en-US" dirty="0" smtClean="0"/>
          </a:p>
          <a:p>
            <a:r>
              <a:rPr lang="en-US" dirty="0" smtClean="0"/>
              <a:t>Data preprocessing usually occupies about 70% workload in a data mining task </a:t>
            </a:r>
          </a:p>
          <a:p>
            <a:endParaRPr lang="en-US" dirty="0" smtClean="0"/>
          </a:p>
          <a:p>
            <a:endParaRPr lang="en-US" dirty="0" smtClean="0"/>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0" y="304800"/>
            <a:ext cx="9144000" cy="685800"/>
          </a:xfrm>
        </p:spPr>
        <p:txBody>
          <a:bodyPr/>
          <a:lstStyle/>
          <a:p>
            <a:pPr eaLnBrk="1" hangingPunct="1"/>
            <a:r>
              <a:rPr lang="en-US" sz="3200" dirty="0" smtClean="0"/>
              <a:t>Major Tasks in Data Preprocessing</a:t>
            </a:r>
          </a:p>
        </p:txBody>
      </p:sp>
      <p:sp>
        <p:nvSpPr>
          <p:cNvPr id="9220" name="Rectangle 3"/>
          <p:cNvSpPr>
            <a:spLocks noGrp="1" noChangeArrowheads="1"/>
          </p:cNvSpPr>
          <p:nvPr>
            <p:ph type="body" idx="1"/>
          </p:nvPr>
        </p:nvSpPr>
        <p:spPr>
          <a:xfrm>
            <a:off x="381000" y="1295400"/>
            <a:ext cx="8305800" cy="5105400"/>
          </a:xfrm>
        </p:spPr>
        <p:txBody>
          <a:bodyPr>
            <a:normAutofit/>
          </a:bodyPr>
          <a:lstStyle/>
          <a:p>
            <a:pPr eaLnBrk="1" hangingPunct="1">
              <a:lnSpc>
                <a:spcPct val="120000"/>
              </a:lnSpc>
            </a:pPr>
            <a:r>
              <a:rPr lang="en-US" sz="2400" b="1" dirty="0" smtClean="0"/>
              <a:t>Data cleaning</a:t>
            </a:r>
          </a:p>
          <a:p>
            <a:pPr lvl="1" eaLnBrk="1" hangingPunct="1">
              <a:lnSpc>
                <a:spcPct val="120000"/>
              </a:lnSpc>
            </a:pPr>
            <a:r>
              <a:rPr lang="en-US" sz="2200" dirty="0" smtClean="0"/>
              <a:t>Fill in missing values, smooth noisy data, identify or remove outliers, and resolve inconsistencies</a:t>
            </a:r>
          </a:p>
          <a:p>
            <a:pPr lvl="1" eaLnBrk="1" hangingPunct="1">
              <a:lnSpc>
                <a:spcPct val="120000"/>
              </a:lnSpc>
            </a:pPr>
            <a:endParaRPr lang="en-US" sz="2400" dirty="0" smtClean="0"/>
          </a:p>
          <a:p>
            <a:pPr lvl="1" eaLnBrk="1" hangingPunct="1">
              <a:lnSpc>
                <a:spcPct val="120000"/>
              </a:lnSpc>
            </a:pPr>
            <a:endParaRPr lang="en-US" sz="2400" dirty="0" smtClean="0"/>
          </a:p>
          <a:p>
            <a:pPr lvl="1" eaLnBrk="1" hangingPunct="1">
              <a:lnSpc>
                <a:spcPct val="120000"/>
              </a:lnSpc>
              <a:buNone/>
            </a:pPr>
            <a:endParaRPr lang="en-US" sz="2400" dirty="0" smtClean="0"/>
          </a:p>
          <a:p>
            <a:pPr eaLnBrk="1" hangingPunct="1">
              <a:lnSpc>
                <a:spcPct val="120000"/>
              </a:lnSpc>
            </a:pPr>
            <a:r>
              <a:rPr lang="en-US" sz="2400" b="1" dirty="0" smtClean="0"/>
              <a:t>Data integration</a:t>
            </a:r>
          </a:p>
          <a:p>
            <a:pPr lvl="1" eaLnBrk="1" hangingPunct="1">
              <a:lnSpc>
                <a:spcPct val="120000"/>
              </a:lnSpc>
            </a:pPr>
            <a:r>
              <a:rPr lang="en-US" sz="2200" dirty="0" smtClean="0"/>
              <a:t>Integration of multiple databases, data cubes, or files</a:t>
            </a:r>
          </a:p>
        </p:txBody>
      </p:sp>
      <p:pic>
        <p:nvPicPr>
          <p:cNvPr id="270338" name="Picture 2"/>
          <p:cNvPicPr>
            <a:picLocks noChangeAspect="1" noChangeArrowheads="1"/>
          </p:cNvPicPr>
          <p:nvPr/>
        </p:nvPicPr>
        <p:blipFill>
          <a:blip r:embed="rId3"/>
          <a:srcRect/>
          <a:stretch>
            <a:fillRect/>
          </a:stretch>
        </p:blipFill>
        <p:spPr bwMode="auto">
          <a:xfrm>
            <a:off x="1525905" y="5078730"/>
            <a:ext cx="3846195" cy="1703070"/>
          </a:xfrm>
          <a:prstGeom prst="rect">
            <a:avLst/>
          </a:prstGeom>
          <a:noFill/>
          <a:ln w="9525">
            <a:noFill/>
            <a:miter lim="800000"/>
            <a:headEnd/>
            <a:tailEnd/>
          </a:ln>
          <a:effectLst/>
        </p:spPr>
      </p:pic>
      <p:pic>
        <p:nvPicPr>
          <p:cNvPr id="270339" name="Picture 3"/>
          <p:cNvPicPr>
            <a:picLocks noChangeAspect="1" noChangeArrowheads="1"/>
          </p:cNvPicPr>
          <p:nvPr/>
        </p:nvPicPr>
        <p:blipFill>
          <a:blip r:embed="rId4"/>
          <a:srcRect/>
          <a:stretch>
            <a:fillRect/>
          </a:stretch>
        </p:blipFill>
        <p:spPr bwMode="auto">
          <a:xfrm>
            <a:off x="1320165" y="2554605"/>
            <a:ext cx="5423535" cy="167449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0" y="304800"/>
            <a:ext cx="9144000" cy="685800"/>
          </a:xfrm>
        </p:spPr>
        <p:txBody>
          <a:bodyPr/>
          <a:lstStyle/>
          <a:p>
            <a:pPr eaLnBrk="1" hangingPunct="1"/>
            <a:r>
              <a:rPr lang="en-US" sz="3200" dirty="0" smtClean="0"/>
              <a:t>Major Tasks in Data Preprocessing</a:t>
            </a:r>
          </a:p>
        </p:txBody>
      </p:sp>
      <p:sp>
        <p:nvSpPr>
          <p:cNvPr id="9220" name="Rectangle 3"/>
          <p:cNvSpPr>
            <a:spLocks noGrp="1" noChangeArrowheads="1"/>
          </p:cNvSpPr>
          <p:nvPr>
            <p:ph type="body" idx="1"/>
          </p:nvPr>
        </p:nvSpPr>
        <p:spPr>
          <a:xfrm>
            <a:off x="381000" y="1295400"/>
            <a:ext cx="8305800" cy="5105400"/>
          </a:xfrm>
        </p:spPr>
        <p:txBody>
          <a:bodyPr>
            <a:normAutofit/>
          </a:bodyPr>
          <a:lstStyle/>
          <a:p>
            <a:pPr eaLnBrk="1" hangingPunct="1">
              <a:lnSpc>
                <a:spcPct val="120000"/>
              </a:lnSpc>
            </a:pPr>
            <a:r>
              <a:rPr lang="en-US" sz="2400" b="1" dirty="0" smtClean="0"/>
              <a:t>Data reduction</a:t>
            </a:r>
          </a:p>
          <a:p>
            <a:pPr lvl="1"/>
            <a:r>
              <a:rPr lang="en-US" sz="2200" dirty="0" smtClean="0"/>
              <a:t>Obtains reduced representation in volume but produces the same or similar analytical results</a:t>
            </a:r>
          </a:p>
          <a:p>
            <a:pPr lvl="1" eaLnBrk="1" hangingPunct="1">
              <a:lnSpc>
                <a:spcPct val="120000"/>
              </a:lnSpc>
            </a:pPr>
            <a:endParaRPr lang="en-US" sz="2000" dirty="0" smtClean="0"/>
          </a:p>
          <a:p>
            <a:pPr eaLnBrk="1" hangingPunct="1">
              <a:lnSpc>
                <a:spcPct val="120000"/>
              </a:lnSpc>
            </a:pPr>
            <a:endParaRPr lang="en-US" sz="2000" b="1" dirty="0" smtClean="0"/>
          </a:p>
          <a:p>
            <a:pPr eaLnBrk="1" hangingPunct="1">
              <a:lnSpc>
                <a:spcPct val="120000"/>
              </a:lnSpc>
              <a:buNone/>
            </a:pPr>
            <a:endParaRPr lang="en-US" sz="2000" b="1" dirty="0" smtClean="0"/>
          </a:p>
          <a:p>
            <a:pPr eaLnBrk="1" hangingPunct="1">
              <a:lnSpc>
                <a:spcPct val="120000"/>
              </a:lnSpc>
            </a:pPr>
            <a:r>
              <a:rPr lang="en-US" sz="2400" b="1" dirty="0" smtClean="0"/>
              <a:t>Data transformation and data </a:t>
            </a:r>
            <a:r>
              <a:rPr lang="en-US" sz="2400" b="1" dirty="0" err="1" smtClean="0"/>
              <a:t>discretization</a:t>
            </a:r>
            <a:endParaRPr lang="en-US" sz="2400" b="1" dirty="0" smtClean="0"/>
          </a:p>
          <a:p>
            <a:pPr lvl="1" eaLnBrk="1" hangingPunct="1">
              <a:lnSpc>
                <a:spcPct val="120000"/>
              </a:lnSpc>
            </a:pPr>
            <a:r>
              <a:rPr lang="en-US" sz="2200" dirty="0" smtClean="0"/>
              <a:t>Normalization and Aggregation</a:t>
            </a:r>
          </a:p>
          <a:p>
            <a:pPr lvl="1" eaLnBrk="1" hangingPunct="1">
              <a:lnSpc>
                <a:spcPct val="120000"/>
              </a:lnSpc>
            </a:pPr>
            <a:endParaRPr lang="en-US" sz="2000" dirty="0" smtClean="0"/>
          </a:p>
        </p:txBody>
      </p:sp>
      <p:pic>
        <p:nvPicPr>
          <p:cNvPr id="363522" name="Picture 2"/>
          <p:cNvPicPr>
            <a:picLocks noChangeArrowheads="1"/>
          </p:cNvPicPr>
          <p:nvPr/>
        </p:nvPicPr>
        <p:blipFill>
          <a:blip r:embed="rId3"/>
          <a:srcRect/>
          <a:stretch>
            <a:fillRect/>
          </a:stretch>
        </p:blipFill>
        <p:spPr bwMode="auto">
          <a:xfrm>
            <a:off x="1053465" y="2434590"/>
            <a:ext cx="5995035" cy="1451610"/>
          </a:xfrm>
          <a:prstGeom prst="rect">
            <a:avLst/>
          </a:prstGeom>
          <a:noFill/>
          <a:ln w="9525">
            <a:noFill/>
            <a:miter lim="800000"/>
            <a:headEnd/>
            <a:tailEnd/>
          </a:ln>
          <a:effectLst/>
        </p:spPr>
      </p:pic>
      <p:pic>
        <p:nvPicPr>
          <p:cNvPr id="363523" name="Picture 3"/>
          <p:cNvPicPr>
            <a:picLocks noChangeAspect="1" noChangeArrowheads="1"/>
          </p:cNvPicPr>
          <p:nvPr/>
        </p:nvPicPr>
        <p:blipFill>
          <a:blip r:embed="rId4"/>
          <a:srcRect/>
          <a:stretch>
            <a:fillRect/>
          </a:stretch>
        </p:blipFill>
        <p:spPr bwMode="auto">
          <a:xfrm>
            <a:off x="1546860" y="5295900"/>
            <a:ext cx="4549140" cy="25717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3"/>
          <p:cNvSpPr>
            <a:spLocks noGrp="1" noChangeArrowheads="1"/>
          </p:cNvSpPr>
          <p:nvPr>
            <p:ph type="body" sz="half" idx="1"/>
          </p:nvPr>
        </p:nvSpPr>
        <p:spPr>
          <a:xfrm>
            <a:off x="381000" y="1371600"/>
            <a:ext cx="8229600" cy="5105400"/>
          </a:xfrm>
          <a:noFill/>
        </p:spPr>
        <p:txBody>
          <a:bodyPr lIns="92075" tIns="46038" rIns="92075" bIns="46038"/>
          <a:lstStyle/>
          <a:p>
            <a:pPr eaLnBrk="1" hangingPunct="1">
              <a:lnSpc>
                <a:spcPct val="150000"/>
              </a:lnSpc>
            </a:pPr>
            <a:r>
              <a:rPr lang="en-US" sz="2400" dirty="0" smtClean="0"/>
              <a:t>Data Preprocessing: An Overview</a:t>
            </a:r>
          </a:p>
          <a:p>
            <a:pPr lvl="1" eaLnBrk="1" hangingPunct="1">
              <a:lnSpc>
                <a:spcPct val="150000"/>
              </a:lnSpc>
            </a:pPr>
            <a:r>
              <a:rPr lang="en-US" sz="2400" dirty="0" smtClean="0"/>
              <a:t>Data Quality</a:t>
            </a:r>
          </a:p>
          <a:p>
            <a:pPr lvl="1" eaLnBrk="1" hangingPunct="1">
              <a:lnSpc>
                <a:spcPct val="150000"/>
              </a:lnSpc>
            </a:pPr>
            <a:r>
              <a:rPr lang="en-US" sz="2400" dirty="0" smtClean="0"/>
              <a:t>Major Tasks in Data Preprocessing</a:t>
            </a:r>
          </a:p>
          <a:p>
            <a:pPr eaLnBrk="1" hangingPunct="1">
              <a:lnSpc>
                <a:spcPct val="150000"/>
              </a:lnSpc>
            </a:pPr>
            <a:r>
              <a:rPr lang="en-US" sz="2400" dirty="0" smtClean="0"/>
              <a:t>Data Cleaning</a:t>
            </a:r>
          </a:p>
          <a:p>
            <a:pPr eaLnBrk="1" hangingPunct="1">
              <a:lnSpc>
                <a:spcPct val="150000"/>
              </a:lnSpc>
            </a:pPr>
            <a:r>
              <a:rPr lang="en-US" sz="2400" dirty="0" smtClean="0"/>
              <a:t>Data Integration</a:t>
            </a:r>
          </a:p>
          <a:p>
            <a:pPr eaLnBrk="1" hangingPunct="1">
              <a:lnSpc>
                <a:spcPct val="150000"/>
              </a:lnSpc>
            </a:pPr>
            <a:r>
              <a:rPr lang="en-US" sz="2400" dirty="0" smtClean="0"/>
              <a:t>Data Reduction</a:t>
            </a:r>
          </a:p>
          <a:p>
            <a:pPr eaLnBrk="1" hangingPunct="1">
              <a:lnSpc>
                <a:spcPct val="150000"/>
              </a:lnSpc>
            </a:pPr>
            <a:r>
              <a:rPr lang="en-US" sz="2400" dirty="0" smtClean="0"/>
              <a:t>Data Transformation and Data </a:t>
            </a:r>
            <a:r>
              <a:rPr lang="en-US" sz="2400" dirty="0" err="1" smtClean="0"/>
              <a:t>Discretization</a:t>
            </a:r>
            <a:endParaRPr lang="en-US" sz="2400" dirty="0" smtClean="0"/>
          </a:p>
          <a:p>
            <a:pPr eaLnBrk="1" hangingPunct="1">
              <a:lnSpc>
                <a:spcPct val="150000"/>
              </a:lnSpc>
            </a:pPr>
            <a:r>
              <a:rPr lang="en-US" sz="2400" dirty="0" smtClean="0"/>
              <a:t>Summary</a:t>
            </a:r>
          </a:p>
        </p:txBody>
      </p:sp>
      <p:sp>
        <p:nvSpPr>
          <p:cNvPr id="7" name="Rectangle 2"/>
          <p:cNvSpPr txBox="1">
            <a:spLocks noChangeArrowheads="1"/>
          </p:cNvSpPr>
          <p:nvPr/>
        </p:nvSpPr>
        <p:spPr>
          <a:xfrm>
            <a:off x="0" y="304800"/>
            <a:ext cx="9144000" cy="685800"/>
          </a:xfrm>
          <a:prstGeom prst="rect">
            <a:avLst/>
          </a:prstGeom>
        </p:spPr>
        <p:txBody>
          <a:bodyPr bIns="91440" anchor="b" anchorCtr="0">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Data Preprocessing</a:t>
            </a:r>
            <a:endParaRPr kumimoji="0" lang="en-US" sz="4000" b="0" i="0" u="none" strike="noStrike" kern="1200" cap="none" spc="0" normalizeH="0" baseline="0" noProof="0" dirty="0" smtClean="0">
              <a:ln>
                <a:noFill/>
              </a:ln>
              <a:solidFill>
                <a:schemeClr val="tx2"/>
              </a:solidFill>
              <a:effectLst/>
              <a:uLnTx/>
              <a:uFillTx/>
              <a:latin typeface="+mj-lt"/>
              <a:ea typeface="+mj-ea"/>
              <a:cs typeface="+mj-cs"/>
            </a:endParaRP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0" y="304800"/>
            <a:ext cx="9144000" cy="685800"/>
          </a:xfrm>
        </p:spPr>
        <p:txBody>
          <a:bodyPr/>
          <a:lstStyle/>
          <a:p>
            <a:pPr eaLnBrk="1" hangingPunct="1"/>
            <a:r>
              <a:rPr lang="en-US" sz="3200" dirty="0" smtClean="0"/>
              <a:t>Data Cleaning</a:t>
            </a:r>
          </a:p>
        </p:txBody>
      </p:sp>
      <p:sp>
        <p:nvSpPr>
          <p:cNvPr id="9220" name="Rectangle 3"/>
          <p:cNvSpPr>
            <a:spLocks noGrp="1" noChangeArrowheads="1"/>
          </p:cNvSpPr>
          <p:nvPr>
            <p:ph type="body" idx="1"/>
          </p:nvPr>
        </p:nvSpPr>
        <p:spPr>
          <a:xfrm>
            <a:off x="381000" y="1295400"/>
            <a:ext cx="8305800" cy="5105400"/>
          </a:xfrm>
        </p:spPr>
        <p:txBody>
          <a:bodyPr/>
          <a:lstStyle/>
          <a:p>
            <a:pPr>
              <a:lnSpc>
                <a:spcPct val="140000"/>
              </a:lnSpc>
            </a:pPr>
            <a:r>
              <a:rPr lang="en-US" dirty="0" smtClean="0"/>
              <a:t>Fill in missing values</a:t>
            </a:r>
          </a:p>
          <a:p>
            <a:pPr>
              <a:lnSpc>
                <a:spcPct val="140000"/>
              </a:lnSpc>
            </a:pPr>
            <a:r>
              <a:rPr lang="en-US" dirty="0" smtClean="0"/>
              <a:t>Identify outliers and smooth out noisy data </a:t>
            </a:r>
          </a:p>
          <a:p>
            <a:pPr>
              <a:lnSpc>
                <a:spcPct val="140000"/>
              </a:lnSpc>
            </a:pPr>
            <a:r>
              <a:rPr lang="en-US" dirty="0" smtClean="0"/>
              <a:t>Correct inconsistent data</a:t>
            </a:r>
          </a:p>
          <a:p>
            <a:pPr>
              <a:lnSpc>
                <a:spcPct val="110000"/>
              </a:lnSpc>
            </a:pPr>
            <a:endParaRPr lang="en-US" sz="2000" dirty="0" smtClean="0"/>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3"/>
          <p:cNvSpPr>
            <a:spLocks noGrp="1" noChangeArrowheads="1"/>
          </p:cNvSpPr>
          <p:nvPr>
            <p:ph type="body" idx="1"/>
          </p:nvPr>
        </p:nvSpPr>
        <p:spPr>
          <a:xfrm>
            <a:off x="304800" y="1295400"/>
            <a:ext cx="8534400" cy="5257800"/>
          </a:xfrm>
        </p:spPr>
        <p:txBody>
          <a:bodyPr/>
          <a:lstStyle/>
          <a:p>
            <a:pPr eaLnBrk="1" hangingPunct="1">
              <a:lnSpc>
                <a:spcPct val="120000"/>
              </a:lnSpc>
            </a:pPr>
            <a:r>
              <a:rPr lang="en-US" sz="2400" dirty="0" smtClean="0"/>
              <a:t>Ignore the </a:t>
            </a:r>
            <a:r>
              <a:rPr lang="en-US" sz="2400" dirty="0" err="1" smtClean="0"/>
              <a:t>tuple</a:t>
            </a:r>
            <a:r>
              <a:rPr lang="en-US" sz="2400" dirty="0" smtClean="0"/>
              <a:t>: usually done when class label is missing (when doing classification)—not effective when the % of missing values per attribute varies considerably</a:t>
            </a:r>
          </a:p>
          <a:p>
            <a:pPr eaLnBrk="1" hangingPunct="1">
              <a:lnSpc>
                <a:spcPct val="120000"/>
              </a:lnSpc>
            </a:pPr>
            <a:r>
              <a:rPr lang="en-US" sz="2400" dirty="0" smtClean="0"/>
              <a:t>Fill in the missing value manually: tedious + infeasible?</a:t>
            </a:r>
          </a:p>
          <a:p>
            <a:pPr eaLnBrk="1" hangingPunct="1">
              <a:lnSpc>
                <a:spcPct val="120000"/>
              </a:lnSpc>
            </a:pPr>
            <a:r>
              <a:rPr lang="en-US" sz="2400" dirty="0" smtClean="0"/>
              <a:t>Fill in it automatically with</a:t>
            </a:r>
          </a:p>
          <a:p>
            <a:pPr lvl="1" eaLnBrk="1" hangingPunct="1">
              <a:lnSpc>
                <a:spcPct val="120000"/>
              </a:lnSpc>
            </a:pPr>
            <a:r>
              <a:rPr lang="en-US" sz="2400" dirty="0" smtClean="0"/>
              <a:t>a global constant : e.g., “unknown”, a new class?! </a:t>
            </a:r>
          </a:p>
          <a:p>
            <a:pPr lvl="1" eaLnBrk="1" hangingPunct="1">
              <a:lnSpc>
                <a:spcPct val="120000"/>
              </a:lnSpc>
            </a:pPr>
            <a:r>
              <a:rPr lang="en-US" sz="2400" dirty="0" smtClean="0"/>
              <a:t>the attribute mean</a:t>
            </a:r>
          </a:p>
          <a:p>
            <a:pPr lvl="1" eaLnBrk="1" hangingPunct="1">
              <a:lnSpc>
                <a:spcPct val="120000"/>
              </a:lnSpc>
            </a:pPr>
            <a:r>
              <a:rPr lang="en-US" sz="2400" dirty="0" smtClean="0"/>
              <a:t>the attribute mean for all samples belonging to the same class: smarter</a:t>
            </a:r>
          </a:p>
          <a:p>
            <a:pPr lvl="1" eaLnBrk="1" hangingPunct="1">
              <a:lnSpc>
                <a:spcPct val="120000"/>
              </a:lnSpc>
            </a:pPr>
            <a:r>
              <a:rPr lang="en-US" sz="2400" dirty="0" smtClean="0">
                <a:solidFill>
                  <a:schemeClr val="hlink"/>
                </a:solidFill>
              </a:rPr>
              <a:t>the most probable value: inference-based such as Bayesian formula or decision tree</a:t>
            </a:r>
          </a:p>
        </p:txBody>
      </p:sp>
      <p:sp>
        <p:nvSpPr>
          <p:cNvPr id="5" name="Rectangle 2"/>
          <p:cNvSpPr txBox="1">
            <a:spLocks noChangeArrowheads="1"/>
          </p:cNvSpPr>
          <p:nvPr/>
        </p:nvSpPr>
        <p:spPr>
          <a:xfrm>
            <a:off x="0" y="304800"/>
            <a:ext cx="9144000" cy="685800"/>
          </a:xfrm>
          <a:prstGeom prst="rect">
            <a:avLst/>
          </a:prstGeom>
        </p:spPr>
        <p:txBody>
          <a:bodyPr bIns="91440" anchor="b" anchorCtr="0">
            <a:normAutofit/>
          </a:bodyPr>
          <a:lstStyle/>
          <a:p>
            <a:pPr lvl="0" eaLnBrk="1" fontAlgn="auto" hangingPunct="1">
              <a:spcAft>
                <a:spcPts val="0"/>
              </a:spcAft>
            </a:pPr>
            <a:r>
              <a:rPr lang="en-US" sz="3200" dirty="0" smtClean="0">
                <a:solidFill>
                  <a:schemeClr val="tx2"/>
                </a:solidFill>
                <a:latin typeface="+mj-lt"/>
              </a:rPr>
              <a:t>How to Handle Missing Data?</a:t>
            </a:r>
            <a:endParaRPr kumimoji="0" lang="en-US" sz="3200" b="0" i="0" u="none" strike="noStrike" kern="1200" cap="none" spc="0" normalizeH="0" baseline="0" noProof="0" dirty="0" smtClean="0">
              <a:ln>
                <a:noFill/>
              </a:ln>
              <a:solidFill>
                <a:schemeClr val="tx2"/>
              </a:solidFill>
              <a:effectLst/>
              <a:uLnTx/>
              <a:uFillTx/>
              <a:latin typeface="+mj-lt"/>
              <a:ea typeface="+mj-ea"/>
              <a:cs typeface="+mj-cs"/>
            </a:endParaRP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3"/>
          <p:cNvSpPr>
            <a:spLocks noGrp="1" noChangeArrowheads="1"/>
          </p:cNvSpPr>
          <p:nvPr>
            <p:ph type="body" idx="1"/>
          </p:nvPr>
        </p:nvSpPr>
        <p:spPr>
          <a:xfrm>
            <a:off x="304800" y="1371600"/>
            <a:ext cx="8382000" cy="5029200"/>
          </a:xfrm>
        </p:spPr>
        <p:txBody>
          <a:bodyPr/>
          <a:lstStyle/>
          <a:p>
            <a:pPr eaLnBrk="1" hangingPunct="1"/>
            <a:r>
              <a:rPr lang="en-US" dirty="0" smtClean="0">
                <a:solidFill>
                  <a:schemeClr val="folHlink"/>
                </a:solidFill>
              </a:rPr>
              <a:t>Binning</a:t>
            </a:r>
          </a:p>
          <a:p>
            <a:pPr lvl="1" eaLnBrk="1" hangingPunct="1"/>
            <a:r>
              <a:rPr lang="en-US" sz="2400" dirty="0" smtClean="0"/>
              <a:t>first sort data and partition into bins</a:t>
            </a:r>
          </a:p>
          <a:p>
            <a:pPr lvl="1" eaLnBrk="1" hangingPunct="1"/>
            <a:r>
              <a:rPr lang="en-US" sz="2400" dirty="0" smtClean="0"/>
              <a:t>then one can </a:t>
            </a:r>
            <a:r>
              <a:rPr lang="en-US" sz="2400" dirty="0" smtClean="0">
                <a:solidFill>
                  <a:schemeClr val="hlink"/>
                </a:solidFill>
              </a:rPr>
              <a:t>smooth by bin means,  smooth by bin median, smooth by bin boundaries</a:t>
            </a:r>
            <a:r>
              <a:rPr lang="en-US" sz="2400" dirty="0" smtClean="0"/>
              <a:t>, etc.</a:t>
            </a:r>
          </a:p>
          <a:p>
            <a:pPr lvl="1"/>
            <a:r>
              <a:rPr lang="en-US" dirty="0" smtClean="0"/>
              <a:t>smooth a sorted data value by consulting its “neighborhood” </a:t>
            </a:r>
          </a:p>
          <a:p>
            <a:endParaRPr lang="en-US" dirty="0" smtClean="0"/>
          </a:p>
          <a:p>
            <a:endParaRPr lang="en-US" dirty="0" smtClean="0"/>
          </a:p>
          <a:p>
            <a:endParaRPr lang="en-US" dirty="0" smtClean="0"/>
          </a:p>
          <a:p>
            <a:pPr lvl="1" eaLnBrk="1" hangingPunct="1"/>
            <a:endParaRPr lang="en-US" sz="2400" dirty="0" smtClean="0"/>
          </a:p>
        </p:txBody>
      </p:sp>
      <p:sp>
        <p:nvSpPr>
          <p:cNvPr id="6" name="Rectangle 2"/>
          <p:cNvSpPr txBox="1">
            <a:spLocks noChangeArrowheads="1"/>
          </p:cNvSpPr>
          <p:nvPr/>
        </p:nvSpPr>
        <p:spPr>
          <a:xfrm>
            <a:off x="0" y="304800"/>
            <a:ext cx="9144000" cy="685800"/>
          </a:xfrm>
          <a:prstGeom prst="rect">
            <a:avLst/>
          </a:prstGeom>
        </p:spPr>
        <p:txBody>
          <a:bodyPr bIns="91440" anchor="b" anchorCtr="0">
            <a:normAutofit/>
          </a:bodyPr>
          <a:lstStyle/>
          <a:p>
            <a:pPr lvl="0" eaLnBrk="1" fontAlgn="auto" hangingPunct="1">
              <a:spcAft>
                <a:spcPts val="0"/>
              </a:spcAft>
            </a:pPr>
            <a:r>
              <a:rPr lang="en-US" sz="3200" dirty="0" smtClean="0">
                <a:solidFill>
                  <a:schemeClr val="tx2"/>
                </a:solidFill>
                <a:latin typeface="+mj-lt"/>
              </a:rPr>
              <a:t>How to Handle Noisy Data?</a:t>
            </a:r>
            <a:endParaRPr kumimoji="0" lang="en-US" sz="3200" b="0" i="0" u="none" strike="noStrike" kern="1200" cap="none" spc="0" normalizeH="0" baseline="0" noProof="0" dirty="0" smtClean="0">
              <a:ln>
                <a:noFill/>
              </a:ln>
              <a:solidFill>
                <a:schemeClr val="tx2"/>
              </a:solidFill>
              <a:effectLst/>
              <a:uLnTx/>
              <a:uFillTx/>
              <a:latin typeface="+mj-lt"/>
              <a:ea typeface="+mj-ea"/>
              <a:cs typeface="+mj-cs"/>
            </a:endParaRPr>
          </a:p>
        </p:txBody>
      </p:sp>
      <p:pic>
        <p:nvPicPr>
          <p:cNvPr id="258049" name="Picture 1"/>
          <p:cNvPicPr>
            <a:picLocks noChangeAspect="1" noChangeArrowheads="1"/>
          </p:cNvPicPr>
          <p:nvPr/>
        </p:nvPicPr>
        <p:blipFill>
          <a:blip r:embed="rId3"/>
          <a:srcRect/>
          <a:stretch>
            <a:fillRect/>
          </a:stretch>
        </p:blipFill>
        <p:spPr bwMode="auto">
          <a:xfrm>
            <a:off x="1585913" y="3552825"/>
            <a:ext cx="5972175" cy="307657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3"/>
          <p:cNvSpPr>
            <a:spLocks noGrp="1" noChangeArrowheads="1"/>
          </p:cNvSpPr>
          <p:nvPr>
            <p:ph type="body" idx="1"/>
          </p:nvPr>
        </p:nvSpPr>
        <p:spPr>
          <a:xfrm>
            <a:off x="304800" y="1371600"/>
            <a:ext cx="8382000" cy="5029200"/>
          </a:xfrm>
        </p:spPr>
        <p:txBody>
          <a:bodyPr/>
          <a:lstStyle/>
          <a:p>
            <a:pPr eaLnBrk="1" hangingPunct="1"/>
            <a:r>
              <a:rPr lang="en-US" dirty="0" smtClean="0">
                <a:solidFill>
                  <a:schemeClr val="folHlink"/>
                </a:solidFill>
              </a:rPr>
              <a:t>Clustering</a:t>
            </a:r>
          </a:p>
          <a:p>
            <a:pPr lvl="1" eaLnBrk="1" hangingPunct="1"/>
            <a:r>
              <a:rPr lang="en-US" sz="2400" dirty="0" smtClean="0"/>
              <a:t>detect and remove outliers</a:t>
            </a:r>
          </a:p>
          <a:p>
            <a:pPr lvl="1"/>
            <a:r>
              <a:rPr lang="en-US" sz="2400" dirty="0" smtClean="0"/>
              <a:t>organize similar values into groups or clusters</a:t>
            </a:r>
          </a:p>
          <a:p>
            <a:pPr lvl="1"/>
            <a:r>
              <a:rPr lang="en-US" sz="2400" dirty="0" smtClean="0"/>
              <a:t>values falling out of the set of clusters may be regarded as outliers</a:t>
            </a:r>
          </a:p>
          <a:p>
            <a:pPr>
              <a:buNone/>
            </a:pPr>
            <a:endParaRPr lang="en-US" sz="2400" dirty="0" smtClean="0"/>
          </a:p>
          <a:p>
            <a:endParaRPr lang="en-US" dirty="0" smtClean="0"/>
          </a:p>
          <a:p>
            <a:endParaRPr lang="en-US" dirty="0" smtClean="0"/>
          </a:p>
          <a:p>
            <a:endParaRPr lang="en-US" dirty="0" smtClean="0"/>
          </a:p>
          <a:p>
            <a:pPr lvl="1" eaLnBrk="1" hangingPunct="1"/>
            <a:endParaRPr lang="en-US" sz="2400" dirty="0" smtClean="0"/>
          </a:p>
          <a:p>
            <a:pPr lvl="1" eaLnBrk="1" hangingPunct="1"/>
            <a:endParaRPr lang="en-US" sz="2400" dirty="0" smtClean="0"/>
          </a:p>
        </p:txBody>
      </p:sp>
      <p:sp>
        <p:nvSpPr>
          <p:cNvPr id="6" name="Rectangle 2"/>
          <p:cNvSpPr txBox="1">
            <a:spLocks noChangeArrowheads="1"/>
          </p:cNvSpPr>
          <p:nvPr/>
        </p:nvSpPr>
        <p:spPr>
          <a:xfrm>
            <a:off x="0" y="304800"/>
            <a:ext cx="9144000" cy="685800"/>
          </a:xfrm>
          <a:prstGeom prst="rect">
            <a:avLst/>
          </a:prstGeom>
        </p:spPr>
        <p:txBody>
          <a:bodyPr bIns="91440" anchor="b" anchorCtr="0">
            <a:normAutofit/>
          </a:bodyPr>
          <a:lstStyle/>
          <a:p>
            <a:pPr lvl="0" eaLnBrk="1" fontAlgn="auto" hangingPunct="1">
              <a:spcAft>
                <a:spcPts val="0"/>
              </a:spcAft>
            </a:pPr>
            <a:r>
              <a:rPr lang="en-US" sz="3200" dirty="0" smtClean="0">
                <a:solidFill>
                  <a:schemeClr val="tx2"/>
                </a:solidFill>
                <a:latin typeface="+mj-lt"/>
              </a:rPr>
              <a:t>How to Handle Noisy Data?</a:t>
            </a:r>
            <a:endParaRPr kumimoji="0" lang="en-US" sz="3200" b="0" i="0" u="none" strike="noStrike" kern="1200" cap="none" spc="0" normalizeH="0" baseline="0" noProof="0" dirty="0" smtClean="0">
              <a:ln>
                <a:noFill/>
              </a:ln>
              <a:solidFill>
                <a:schemeClr val="tx2"/>
              </a:solidFill>
              <a:effectLst/>
              <a:uLnTx/>
              <a:uFillTx/>
              <a:latin typeface="+mj-lt"/>
              <a:ea typeface="+mj-ea"/>
              <a:cs typeface="+mj-cs"/>
            </a:endParaRPr>
          </a:p>
        </p:txBody>
      </p:sp>
      <p:pic>
        <p:nvPicPr>
          <p:cNvPr id="364546" name="Picture 2"/>
          <p:cNvPicPr>
            <a:picLocks noChangeAspect="1" noChangeArrowheads="1"/>
          </p:cNvPicPr>
          <p:nvPr/>
        </p:nvPicPr>
        <p:blipFill>
          <a:blip r:embed="rId3"/>
          <a:srcRect/>
          <a:stretch>
            <a:fillRect/>
          </a:stretch>
        </p:blipFill>
        <p:spPr bwMode="auto">
          <a:xfrm>
            <a:off x="2781300" y="3429000"/>
            <a:ext cx="3143250" cy="230505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4" name="Rectangle 3"/>
          <p:cNvSpPr>
            <a:spLocks noGrp="1" noChangeArrowheads="1"/>
          </p:cNvSpPr>
          <p:nvPr>
            <p:ph type="body" idx="1"/>
          </p:nvPr>
        </p:nvSpPr>
        <p:spPr>
          <a:xfrm>
            <a:off x="304800" y="1371600"/>
            <a:ext cx="8382000" cy="5029200"/>
          </a:xfrm>
        </p:spPr>
        <p:txBody>
          <a:bodyPr>
            <a:normAutofit/>
          </a:bodyPr>
          <a:lstStyle/>
          <a:p>
            <a:pPr eaLnBrk="1" hangingPunct="1"/>
            <a:r>
              <a:rPr lang="en-US" dirty="0" smtClean="0">
                <a:solidFill>
                  <a:schemeClr val="folHlink"/>
                </a:solidFill>
              </a:rPr>
              <a:t>Regression</a:t>
            </a:r>
          </a:p>
          <a:p>
            <a:pPr lvl="1" eaLnBrk="1" hangingPunct="1"/>
            <a:r>
              <a:rPr lang="en-US" sz="2400" dirty="0" smtClean="0"/>
              <a:t>smooth by fitting the data into regression functions</a:t>
            </a:r>
          </a:p>
          <a:p>
            <a:pPr lvl="1"/>
            <a:r>
              <a:rPr lang="en-US" sz="2400" dirty="0" smtClean="0"/>
              <a:t>values deviate from the expected values for some distance may be regarded as outliers </a:t>
            </a:r>
          </a:p>
          <a:p>
            <a:endParaRPr lang="en-US" dirty="0" smtClean="0"/>
          </a:p>
          <a:p>
            <a:endParaRPr lang="en-US" dirty="0" smtClean="0"/>
          </a:p>
          <a:p>
            <a:endParaRPr lang="en-US" dirty="0" smtClean="0"/>
          </a:p>
          <a:p>
            <a:pPr lvl="1" eaLnBrk="1" hangingPunct="1"/>
            <a:endParaRPr lang="en-US" sz="2400" dirty="0" smtClean="0"/>
          </a:p>
          <a:p>
            <a:endParaRPr lang="en-US" dirty="0" smtClean="0">
              <a:solidFill>
                <a:schemeClr val="folHlink"/>
              </a:solidFill>
            </a:endParaRPr>
          </a:p>
          <a:p>
            <a:endParaRPr lang="en-US" dirty="0" smtClean="0">
              <a:solidFill>
                <a:schemeClr val="folHlink"/>
              </a:solidFill>
            </a:endParaRPr>
          </a:p>
          <a:p>
            <a:endParaRPr lang="en-US" dirty="0" smtClean="0">
              <a:solidFill>
                <a:schemeClr val="folHlink"/>
              </a:solidFill>
            </a:endParaRPr>
          </a:p>
        </p:txBody>
      </p:sp>
      <p:sp>
        <p:nvSpPr>
          <p:cNvPr id="6" name="Rectangle 2"/>
          <p:cNvSpPr txBox="1">
            <a:spLocks noChangeArrowheads="1"/>
          </p:cNvSpPr>
          <p:nvPr/>
        </p:nvSpPr>
        <p:spPr>
          <a:xfrm>
            <a:off x="0" y="304800"/>
            <a:ext cx="9144000" cy="685800"/>
          </a:xfrm>
          <a:prstGeom prst="rect">
            <a:avLst/>
          </a:prstGeom>
        </p:spPr>
        <p:txBody>
          <a:bodyPr bIns="91440" anchor="b" anchorCtr="0">
            <a:normAutofit/>
          </a:bodyPr>
          <a:lstStyle/>
          <a:p>
            <a:pPr lvl="0" eaLnBrk="1" fontAlgn="auto" hangingPunct="1">
              <a:spcAft>
                <a:spcPts val="0"/>
              </a:spcAft>
            </a:pPr>
            <a:r>
              <a:rPr lang="en-US" sz="3200" dirty="0" smtClean="0">
                <a:solidFill>
                  <a:schemeClr val="tx2"/>
                </a:solidFill>
                <a:latin typeface="+mj-lt"/>
              </a:rPr>
              <a:t>How to Handle Noisy Data?</a:t>
            </a:r>
            <a:endParaRPr kumimoji="0" lang="en-US" sz="3200" b="0" i="0" u="none" strike="noStrike" kern="1200" cap="none" spc="0" normalizeH="0" baseline="0" noProof="0" dirty="0" smtClean="0">
              <a:ln>
                <a:noFill/>
              </a:ln>
              <a:solidFill>
                <a:schemeClr val="tx2"/>
              </a:solidFill>
              <a:effectLst/>
              <a:uLnTx/>
              <a:uFillTx/>
              <a:latin typeface="+mj-lt"/>
              <a:ea typeface="+mj-ea"/>
              <a:cs typeface="+mj-cs"/>
            </a:endParaRPr>
          </a:p>
        </p:txBody>
      </p:sp>
      <p:pic>
        <p:nvPicPr>
          <p:cNvPr id="365570" name="Picture 2"/>
          <p:cNvPicPr>
            <a:picLocks noChangeAspect="1" noChangeArrowheads="1"/>
          </p:cNvPicPr>
          <p:nvPr/>
        </p:nvPicPr>
        <p:blipFill>
          <a:blip r:embed="rId3"/>
          <a:srcRect/>
          <a:stretch>
            <a:fillRect/>
          </a:stretch>
        </p:blipFill>
        <p:spPr bwMode="auto">
          <a:xfrm>
            <a:off x="2628900" y="3429000"/>
            <a:ext cx="3362325" cy="246697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3"/>
          <p:cNvSpPr>
            <a:spLocks noGrp="1" noChangeArrowheads="1"/>
          </p:cNvSpPr>
          <p:nvPr>
            <p:ph type="body" idx="1"/>
          </p:nvPr>
        </p:nvSpPr>
        <p:spPr>
          <a:xfrm>
            <a:off x="304800" y="1295400"/>
            <a:ext cx="8534400" cy="5257800"/>
          </a:xfrm>
        </p:spPr>
        <p:txBody>
          <a:bodyPr/>
          <a:lstStyle/>
          <a:p>
            <a:r>
              <a:rPr lang="en-US" sz="2400" dirty="0" smtClean="0"/>
              <a:t>Some data inconsistencies may be corrected manually using external references </a:t>
            </a:r>
          </a:p>
          <a:p>
            <a:pPr lvl="1"/>
            <a:r>
              <a:rPr lang="en-US" sz="2200" dirty="0" smtClean="0"/>
              <a:t>e.g. errors made at data entry may be corrected by performing a paper trace </a:t>
            </a:r>
          </a:p>
          <a:p>
            <a:r>
              <a:rPr lang="en-US" sz="2400" dirty="0" smtClean="0"/>
              <a:t>Knowledge engineering tools may also be used to detect the violation of known data constraints </a:t>
            </a:r>
          </a:p>
          <a:p>
            <a:r>
              <a:rPr lang="en-US" sz="2400" dirty="0" smtClean="0"/>
              <a:t>In general, correcting inconsistent data requires intervention of users </a:t>
            </a:r>
          </a:p>
          <a:p>
            <a:endParaRPr lang="en-US" sz="2400" dirty="0" smtClean="0"/>
          </a:p>
          <a:p>
            <a:endParaRPr lang="en-US" sz="2400" dirty="0" smtClean="0"/>
          </a:p>
          <a:p>
            <a:endParaRPr lang="en-US" sz="2400" dirty="0" smtClean="0"/>
          </a:p>
        </p:txBody>
      </p:sp>
      <p:sp>
        <p:nvSpPr>
          <p:cNvPr id="5" name="Rectangle 2"/>
          <p:cNvSpPr txBox="1">
            <a:spLocks noChangeArrowheads="1"/>
          </p:cNvSpPr>
          <p:nvPr/>
        </p:nvSpPr>
        <p:spPr>
          <a:xfrm>
            <a:off x="0" y="304800"/>
            <a:ext cx="9144000" cy="685800"/>
          </a:xfrm>
          <a:prstGeom prst="rect">
            <a:avLst/>
          </a:prstGeom>
        </p:spPr>
        <p:txBody>
          <a:bodyPr bIns="91440" anchor="b" anchorCtr="0">
            <a:normAutofit/>
          </a:bodyPr>
          <a:lstStyle/>
          <a:p>
            <a:pPr lvl="0" eaLnBrk="1" fontAlgn="auto" hangingPunct="1">
              <a:spcAft>
                <a:spcPts val="0"/>
              </a:spcAft>
            </a:pPr>
            <a:r>
              <a:rPr lang="en-US" sz="3200" dirty="0" smtClean="0">
                <a:solidFill>
                  <a:schemeClr val="tx2"/>
                </a:solidFill>
                <a:latin typeface="+mj-lt"/>
              </a:rPr>
              <a:t>How to Handle Inconsistent Data?</a:t>
            </a:r>
            <a:endParaRPr kumimoji="0" lang="en-US" sz="3200" b="0" i="0" u="none" strike="noStrike" kern="1200" cap="none" spc="0" normalizeH="0" baseline="0" noProof="0" dirty="0" smtClean="0">
              <a:ln>
                <a:noFill/>
              </a:ln>
              <a:solidFill>
                <a:schemeClr val="tx2"/>
              </a:solidFill>
              <a:effectLst/>
              <a:uLnTx/>
              <a:uFillTx/>
              <a:latin typeface="+mj-lt"/>
              <a:ea typeface="+mj-ea"/>
              <a:cs typeface="+mj-cs"/>
            </a:endParaRPr>
          </a:p>
        </p:txBody>
      </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3"/>
          <p:cNvSpPr>
            <a:spLocks noGrp="1" noChangeArrowheads="1"/>
          </p:cNvSpPr>
          <p:nvPr>
            <p:ph type="body" sz="half" idx="1"/>
          </p:nvPr>
        </p:nvSpPr>
        <p:spPr>
          <a:xfrm>
            <a:off x="381000" y="1371600"/>
            <a:ext cx="8229600" cy="5105400"/>
          </a:xfrm>
          <a:noFill/>
        </p:spPr>
        <p:txBody>
          <a:bodyPr lIns="92075" tIns="46038" rIns="92075" bIns="46038"/>
          <a:lstStyle/>
          <a:p>
            <a:pPr eaLnBrk="1" hangingPunct="1">
              <a:lnSpc>
                <a:spcPct val="150000"/>
              </a:lnSpc>
            </a:pPr>
            <a:r>
              <a:rPr lang="en-US" sz="2400" dirty="0" smtClean="0"/>
              <a:t>Data Preprocessing: An Overview</a:t>
            </a:r>
          </a:p>
          <a:p>
            <a:pPr lvl="1" eaLnBrk="1" hangingPunct="1">
              <a:lnSpc>
                <a:spcPct val="150000"/>
              </a:lnSpc>
            </a:pPr>
            <a:r>
              <a:rPr lang="en-US" sz="2400" dirty="0" smtClean="0"/>
              <a:t>Data Quality</a:t>
            </a:r>
          </a:p>
          <a:p>
            <a:pPr lvl="1" eaLnBrk="1" hangingPunct="1">
              <a:lnSpc>
                <a:spcPct val="150000"/>
              </a:lnSpc>
            </a:pPr>
            <a:r>
              <a:rPr lang="en-US" sz="2400" dirty="0" smtClean="0"/>
              <a:t>Major Tasks in Data Preprocessing</a:t>
            </a:r>
          </a:p>
          <a:p>
            <a:pPr eaLnBrk="1" hangingPunct="1">
              <a:lnSpc>
                <a:spcPct val="150000"/>
              </a:lnSpc>
            </a:pPr>
            <a:r>
              <a:rPr lang="en-US" sz="2400" dirty="0" smtClean="0"/>
              <a:t>Data Cleaning</a:t>
            </a:r>
          </a:p>
          <a:p>
            <a:pPr eaLnBrk="1" hangingPunct="1">
              <a:lnSpc>
                <a:spcPct val="150000"/>
              </a:lnSpc>
            </a:pPr>
            <a:r>
              <a:rPr lang="en-US" sz="2400" dirty="0" smtClean="0"/>
              <a:t>Data Integration</a:t>
            </a:r>
          </a:p>
          <a:p>
            <a:pPr eaLnBrk="1" hangingPunct="1">
              <a:lnSpc>
                <a:spcPct val="150000"/>
              </a:lnSpc>
            </a:pPr>
            <a:r>
              <a:rPr lang="en-US" sz="2400" dirty="0" smtClean="0"/>
              <a:t>Data Reduction</a:t>
            </a:r>
          </a:p>
          <a:p>
            <a:pPr eaLnBrk="1" hangingPunct="1">
              <a:lnSpc>
                <a:spcPct val="150000"/>
              </a:lnSpc>
            </a:pPr>
            <a:r>
              <a:rPr lang="en-US" sz="2400" dirty="0" smtClean="0"/>
              <a:t>Data Transformation and Data </a:t>
            </a:r>
            <a:r>
              <a:rPr lang="en-US" sz="2400" dirty="0" err="1" smtClean="0"/>
              <a:t>Discretization</a:t>
            </a:r>
            <a:endParaRPr lang="en-US" sz="2400" dirty="0" smtClean="0"/>
          </a:p>
          <a:p>
            <a:pPr eaLnBrk="1" hangingPunct="1">
              <a:lnSpc>
                <a:spcPct val="150000"/>
              </a:lnSpc>
            </a:pPr>
            <a:r>
              <a:rPr lang="en-US" sz="2400" dirty="0" smtClean="0"/>
              <a:t>Summary</a:t>
            </a:r>
          </a:p>
        </p:txBody>
      </p:sp>
      <p:sp>
        <p:nvSpPr>
          <p:cNvPr id="7" name="Rectangle 2"/>
          <p:cNvSpPr txBox="1">
            <a:spLocks noChangeArrowheads="1"/>
          </p:cNvSpPr>
          <p:nvPr/>
        </p:nvSpPr>
        <p:spPr>
          <a:xfrm>
            <a:off x="0" y="304800"/>
            <a:ext cx="9144000" cy="685800"/>
          </a:xfrm>
          <a:prstGeom prst="rect">
            <a:avLst/>
          </a:prstGeom>
        </p:spPr>
        <p:txBody>
          <a:bodyPr bIns="91440" anchor="b" anchorCtr="0">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Data Preprocessing</a:t>
            </a:r>
            <a:endParaRPr kumimoji="0" lang="en-US" sz="4000" b="0" i="0" u="none" strike="noStrike" kern="1200" cap="none" spc="0" normalizeH="0" baseline="0" noProof="0" dirty="0" smtClean="0">
              <a:ln>
                <a:noFill/>
              </a:ln>
              <a:solidFill>
                <a:schemeClr val="tx2"/>
              </a:solidFill>
              <a:effectLst/>
              <a:uLnTx/>
              <a:uFillTx/>
              <a:latin typeface="+mj-lt"/>
              <a:ea typeface="+mj-ea"/>
              <a:cs typeface="+mj-cs"/>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a:xfrm>
            <a:off x="0" y="228600"/>
            <a:ext cx="9067800" cy="685800"/>
          </a:xfrm>
        </p:spPr>
        <p:txBody>
          <a:bodyPr/>
          <a:lstStyle/>
          <a:p>
            <a:pPr lvl="0"/>
            <a:r>
              <a:rPr lang="en-US" sz="3200" dirty="0" smtClean="0"/>
              <a:t>Data Integration</a:t>
            </a:r>
          </a:p>
        </p:txBody>
      </p:sp>
      <p:sp>
        <p:nvSpPr>
          <p:cNvPr id="19461" name="Rectangle 3"/>
          <p:cNvSpPr>
            <a:spLocks noGrp="1" noChangeArrowheads="1"/>
          </p:cNvSpPr>
          <p:nvPr>
            <p:ph type="body" idx="1"/>
          </p:nvPr>
        </p:nvSpPr>
        <p:spPr>
          <a:xfrm>
            <a:off x="381000" y="1295400"/>
            <a:ext cx="8305800" cy="5181600"/>
          </a:xfrm>
        </p:spPr>
        <p:txBody>
          <a:bodyPr>
            <a:normAutofit/>
          </a:bodyPr>
          <a:lstStyle/>
          <a:p>
            <a:r>
              <a:rPr lang="en-US" sz="2600" dirty="0" smtClean="0"/>
              <a:t>Combine data from multiple sources into a coherent data store </a:t>
            </a:r>
          </a:p>
          <a:p>
            <a:r>
              <a:rPr lang="en-US" sz="2600" dirty="0" smtClean="0"/>
              <a:t>Schema integration </a:t>
            </a:r>
          </a:p>
          <a:p>
            <a:pPr lvl="1"/>
            <a:r>
              <a:rPr lang="en-US" sz="2400" b="1" dirty="0" smtClean="0"/>
              <a:t>Entity identification problem:</a:t>
            </a:r>
            <a:r>
              <a:rPr lang="en-US" sz="2400" dirty="0" smtClean="0"/>
              <a:t> How can entities from multiple data sources be “matched up”? </a:t>
            </a:r>
          </a:p>
          <a:p>
            <a:pPr lvl="2"/>
            <a:r>
              <a:rPr lang="en-US" dirty="0" smtClean="0"/>
              <a:t>e.g. family name vs. surname </a:t>
            </a:r>
          </a:p>
          <a:p>
            <a:pPr lvl="1"/>
            <a:r>
              <a:rPr lang="en-US" sz="2400" b="1" dirty="0" smtClean="0"/>
              <a:t>Semantic heterogeneity problem:</a:t>
            </a:r>
            <a:r>
              <a:rPr lang="en-US" sz="2400" dirty="0" smtClean="0"/>
              <a:t> for the same real world entity, due to differences in representation, scaling, or encoding, attribute values from different sources may be different </a:t>
            </a:r>
          </a:p>
          <a:p>
            <a:pPr lvl="2"/>
            <a:r>
              <a:rPr lang="en-US" dirty="0" smtClean="0"/>
              <a:t>e.g. 175cm vs. 1.75m metadata can be used to help schema integration </a:t>
            </a:r>
          </a:p>
          <a:p>
            <a:endParaRPr lang="en-US" sz="2400" dirty="0" smtClean="0"/>
          </a:p>
          <a:p>
            <a:endParaRPr lang="en-US" sz="2400" dirty="0" smtClean="0"/>
          </a:p>
          <a:p>
            <a:endParaRPr lang="en-US" sz="2400" dirty="0" smtClean="0"/>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Rectangle 2"/>
          <p:cNvSpPr>
            <a:spLocks noGrp="1" noChangeArrowheads="1"/>
          </p:cNvSpPr>
          <p:nvPr>
            <p:ph type="title"/>
          </p:nvPr>
        </p:nvSpPr>
        <p:spPr>
          <a:xfrm>
            <a:off x="0" y="228600"/>
            <a:ext cx="9067800" cy="685800"/>
          </a:xfrm>
        </p:spPr>
        <p:txBody>
          <a:bodyPr/>
          <a:lstStyle/>
          <a:p>
            <a:r>
              <a:rPr lang="en-US" sz="3200" dirty="0" smtClean="0"/>
              <a:t>Data Integration</a:t>
            </a:r>
          </a:p>
        </p:txBody>
      </p:sp>
      <p:sp>
        <p:nvSpPr>
          <p:cNvPr id="19461" name="Rectangle 3"/>
          <p:cNvSpPr>
            <a:spLocks noGrp="1" noChangeArrowheads="1"/>
          </p:cNvSpPr>
          <p:nvPr>
            <p:ph type="body" idx="1"/>
          </p:nvPr>
        </p:nvSpPr>
        <p:spPr>
          <a:xfrm>
            <a:off x="381000" y="1295400"/>
            <a:ext cx="8305800" cy="5181600"/>
          </a:xfrm>
        </p:spPr>
        <p:txBody>
          <a:bodyPr>
            <a:normAutofit fontScale="92500" lnSpcReduction="10000"/>
          </a:bodyPr>
          <a:lstStyle/>
          <a:p>
            <a:pPr eaLnBrk="1" hangingPunct="1">
              <a:lnSpc>
                <a:spcPct val="120000"/>
              </a:lnSpc>
            </a:pPr>
            <a:r>
              <a:rPr lang="en-US" sz="2600" b="1" dirty="0" smtClean="0"/>
              <a:t>Handling Redundancy:</a:t>
            </a:r>
            <a:r>
              <a:rPr lang="en-US" sz="2600" dirty="0" smtClean="0"/>
              <a:t> Redundant data occur often when integration of multiple databases</a:t>
            </a:r>
          </a:p>
          <a:p>
            <a:pPr lvl="1" eaLnBrk="1" hangingPunct="1">
              <a:lnSpc>
                <a:spcPct val="120000"/>
              </a:lnSpc>
            </a:pPr>
            <a:r>
              <a:rPr lang="en-US" sz="2400" i="1" dirty="0" smtClean="0"/>
              <a:t>Object identification</a:t>
            </a:r>
            <a:r>
              <a:rPr lang="en-US" sz="2400" dirty="0" smtClean="0"/>
              <a:t>:  The same attribute or object may have different names in different databases</a:t>
            </a:r>
          </a:p>
          <a:p>
            <a:pPr lvl="1" eaLnBrk="1" hangingPunct="1">
              <a:lnSpc>
                <a:spcPct val="120000"/>
              </a:lnSpc>
            </a:pPr>
            <a:r>
              <a:rPr lang="en-US" sz="2400" i="1" dirty="0" smtClean="0"/>
              <a:t>Derivable data:</a:t>
            </a:r>
            <a:r>
              <a:rPr lang="en-US" sz="2400" dirty="0" smtClean="0"/>
              <a:t> One attribute may be a “derived” attribute in another table, e.g., annual revenue</a:t>
            </a:r>
          </a:p>
          <a:p>
            <a:pPr lvl="1" eaLnBrk="1" hangingPunct="1">
              <a:lnSpc>
                <a:spcPct val="120000"/>
              </a:lnSpc>
            </a:pPr>
            <a:r>
              <a:rPr lang="en-US" sz="2400" dirty="0" smtClean="0"/>
              <a:t>Some </a:t>
            </a:r>
            <a:r>
              <a:rPr lang="en-US" sz="2400" dirty="0" err="1" smtClean="0"/>
              <a:t>tuples</a:t>
            </a:r>
            <a:r>
              <a:rPr lang="en-US" sz="2400" dirty="0" smtClean="0"/>
              <a:t> may be duplicated</a:t>
            </a:r>
          </a:p>
          <a:p>
            <a:pPr eaLnBrk="1" hangingPunct="1">
              <a:lnSpc>
                <a:spcPct val="120000"/>
              </a:lnSpc>
            </a:pPr>
            <a:r>
              <a:rPr lang="en-US" sz="2600" dirty="0" smtClean="0"/>
              <a:t>Redundant attributes may be able to be detected by </a:t>
            </a:r>
            <a:r>
              <a:rPr lang="en-US" sz="2600" i="1" dirty="0" smtClean="0"/>
              <a:t>correlation analysis </a:t>
            </a:r>
            <a:r>
              <a:rPr lang="en-US" sz="2600" dirty="0" smtClean="0"/>
              <a:t>and</a:t>
            </a:r>
            <a:r>
              <a:rPr lang="en-US" sz="2600" i="1" dirty="0" smtClean="0"/>
              <a:t> covariance analysis</a:t>
            </a:r>
            <a:endParaRPr lang="en-US" sz="2600" dirty="0" smtClean="0"/>
          </a:p>
          <a:p>
            <a:pPr eaLnBrk="1" hangingPunct="1">
              <a:lnSpc>
                <a:spcPct val="120000"/>
              </a:lnSpc>
            </a:pPr>
            <a:r>
              <a:rPr lang="en-US" sz="2600" dirty="0" smtClean="0"/>
              <a:t>Careful integration of the data from multiple sources may help reduce/avoid redundancies and inconsistencies and improve mining speed and quality</a:t>
            </a: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0" y="381000"/>
            <a:ext cx="9144000" cy="609600"/>
          </a:xfrm>
        </p:spPr>
        <p:txBody>
          <a:bodyPr>
            <a:noAutofit/>
          </a:bodyPr>
          <a:lstStyle/>
          <a:p>
            <a:r>
              <a:rPr lang="en-US" sz="3200" dirty="0" smtClean="0"/>
              <a:t>Correlation Analysis (Nominal Data)</a:t>
            </a:r>
          </a:p>
        </p:txBody>
      </p:sp>
      <p:sp>
        <p:nvSpPr>
          <p:cNvPr id="20484" name="Rectangle 3"/>
          <p:cNvSpPr>
            <a:spLocks noGrp="1" noChangeArrowheads="1"/>
          </p:cNvSpPr>
          <p:nvPr>
            <p:ph type="body" sz="half" idx="1"/>
          </p:nvPr>
        </p:nvSpPr>
        <p:spPr>
          <a:xfrm>
            <a:off x="304800" y="1295400"/>
            <a:ext cx="8382000" cy="5181600"/>
          </a:xfrm>
        </p:spPr>
        <p:txBody>
          <a:bodyPr/>
          <a:lstStyle/>
          <a:p>
            <a:pPr>
              <a:lnSpc>
                <a:spcPct val="110000"/>
              </a:lnSpc>
            </a:pPr>
            <a:r>
              <a:rPr lang="el-GR" sz="2400" b="1" dirty="0" smtClean="0">
                <a:solidFill>
                  <a:schemeClr val="folHlink"/>
                </a:solidFill>
              </a:rPr>
              <a:t>Χ</a:t>
            </a:r>
            <a:r>
              <a:rPr lang="en-US" sz="2400" b="1" baseline="30000" dirty="0" smtClean="0">
                <a:solidFill>
                  <a:schemeClr val="folHlink"/>
                </a:solidFill>
              </a:rPr>
              <a:t>2</a:t>
            </a:r>
            <a:r>
              <a:rPr lang="en-US" sz="2400" b="1" dirty="0" smtClean="0">
                <a:solidFill>
                  <a:schemeClr val="folHlink"/>
                </a:solidFill>
              </a:rPr>
              <a:t> (chi-square) test</a:t>
            </a:r>
            <a:endParaRPr lang="el-GR" sz="2400" b="1" dirty="0" smtClean="0">
              <a:solidFill>
                <a:schemeClr val="folHlink"/>
              </a:solidFill>
            </a:endParaRPr>
          </a:p>
          <a:p>
            <a:pPr>
              <a:lnSpc>
                <a:spcPct val="110000"/>
              </a:lnSpc>
            </a:pPr>
            <a:endParaRPr lang="en-US" sz="2400" dirty="0" smtClean="0"/>
          </a:p>
          <a:p>
            <a:pPr>
              <a:lnSpc>
                <a:spcPct val="110000"/>
              </a:lnSpc>
            </a:pPr>
            <a:endParaRPr lang="en-US" sz="2400" dirty="0" smtClean="0"/>
          </a:p>
          <a:p>
            <a:pPr>
              <a:lnSpc>
                <a:spcPct val="110000"/>
              </a:lnSpc>
            </a:pPr>
            <a:r>
              <a:rPr lang="en-US" sz="2400" dirty="0" smtClean="0"/>
              <a:t>The larger the </a:t>
            </a:r>
            <a:r>
              <a:rPr lang="el-GR" sz="2400" dirty="0" smtClean="0"/>
              <a:t>Χ</a:t>
            </a:r>
            <a:r>
              <a:rPr lang="en-US" sz="2400" baseline="30000" dirty="0" smtClean="0"/>
              <a:t>2</a:t>
            </a:r>
            <a:r>
              <a:rPr lang="en-US" sz="2400" dirty="0" smtClean="0"/>
              <a:t> value, the more likely the variables are related</a:t>
            </a:r>
          </a:p>
          <a:p>
            <a:pPr>
              <a:lnSpc>
                <a:spcPct val="110000"/>
              </a:lnSpc>
            </a:pPr>
            <a:r>
              <a:rPr lang="en-US" sz="2400" dirty="0" smtClean="0"/>
              <a:t>The cells that contribute the most to the </a:t>
            </a:r>
            <a:r>
              <a:rPr lang="el-GR" sz="2400" dirty="0" smtClean="0"/>
              <a:t>Χ</a:t>
            </a:r>
            <a:r>
              <a:rPr lang="en-US" sz="2400" baseline="30000" dirty="0" smtClean="0"/>
              <a:t>2</a:t>
            </a:r>
            <a:r>
              <a:rPr lang="en-US" sz="2400" dirty="0" smtClean="0"/>
              <a:t> value are those whose actual count is very different from the expected count</a:t>
            </a:r>
          </a:p>
          <a:p>
            <a:pPr>
              <a:lnSpc>
                <a:spcPct val="110000"/>
              </a:lnSpc>
            </a:pPr>
            <a:r>
              <a:rPr lang="en-US" sz="2400" dirty="0" smtClean="0"/>
              <a:t>Correlation does not imply causality</a:t>
            </a:r>
          </a:p>
          <a:p>
            <a:pPr lvl="1">
              <a:lnSpc>
                <a:spcPct val="110000"/>
              </a:lnSpc>
            </a:pPr>
            <a:r>
              <a:rPr lang="en-US" sz="2200" dirty="0" smtClean="0"/>
              <a:t># of hospitals and # of car-theft in a city are correlated</a:t>
            </a:r>
          </a:p>
          <a:p>
            <a:pPr lvl="1">
              <a:lnSpc>
                <a:spcPct val="110000"/>
              </a:lnSpc>
            </a:pPr>
            <a:r>
              <a:rPr lang="en-US" sz="2200" dirty="0" smtClean="0"/>
              <a:t>Both are causally linked to the third variable: population</a:t>
            </a:r>
          </a:p>
        </p:txBody>
      </p:sp>
      <p:graphicFrame>
        <p:nvGraphicFramePr>
          <p:cNvPr id="20485" name="Object 4"/>
          <p:cNvGraphicFramePr>
            <a:graphicFrameLocks noChangeAspect="1"/>
          </p:cNvGraphicFramePr>
          <p:nvPr>
            <p:ph sz="quarter" idx="2"/>
          </p:nvPr>
        </p:nvGraphicFramePr>
        <p:xfrm>
          <a:off x="2187575" y="1844675"/>
          <a:ext cx="4540250" cy="1011238"/>
        </p:xfrm>
        <a:graphic>
          <a:graphicData uri="http://schemas.openxmlformats.org/presentationml/2006/ole">
            <p:oleObj spid="_x0000_s247810" name="Equation" r:id="rId4" imgW="2057400" imgH="444500" progId="Equation.3">
              <p:embed/>
            </p:oleObj>
          </a:graphicData>
        </a:graphic>
      </p:graphicFrame>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3"/>
          <p:cNvSpPr>
            <a:spLocks noGrp="1" noChangeArrowheads="1"/>
          </p:cNvSpPr>
          <p:nvPr>
            <p:ph type="body" sz="half" idx="1"/>
          </p:nvPr>
        </p:nvSpPr>
        <p:spPr>
          <a:xfrm>
            <a:off x="304800" y="1447800"/>
            <a:ext cx="8534400" cy="5029200"/>
          </a:xfrm>
        </p:spPr>
        <p:txBody>
          <a:bodyPr/>
          <a:lstStyle/>
          <a:p>
            <a:pPr>
              <a:lnSpc>
                <a:spcPct val="110000"/>
              </a:lnSpc>
            </a:pPr>
            <a:endParaRPr lang="en-US" sz="2400" dirty="0" smtClean="0"/>
          </a:p>
          <a:p>
            <a:pPr>
              <a:lnSpc>
                <a:spcPct val="110000"/>
              </a:lnSpc>
            </a:pPr>
            <a:endParaRPr lang="en-US" sz="2400" dirty="0" smtClean="0"/>
          </a:p>
          <a:p>
            <a:pPr>
              <a:lnSpc>
                <a:spcPct val="110000"/>
              </a:lnSpc>
            </a:pPr>
            <a:endParaRPr lang="en-US" sz="2400" dirty="0" smtClean="0"/>
          </a:p>
          <a:p>
            <a:pPr>
              <a:lnSpc>
                <a:spcPct val="110000"/>
              </a:lnSpc>
            </a:pPr>
            <a:endParaRPr lang="en-US" sz="2400" dirty="0" smtClean="0"/>
          </a:p>
          <a:p>
            <a:pPr>
              <a:lnSpc>
                <a:spcPct val="110000"/>
              </a:lnSpc>
            </a:pPr>
            <a:r>
              <a:rPr lang="el-GR" sz="2400" dirty="0" smtClean="0"/>
              <a:t>Χ</a:t>
            </a:r>
            <a:r>
              <a:rPr lang="en-US" sz="2400" baseline="30000" dirty="0" smtClean="0"/>
              <a:t>2</a:t>
            </a:r>
            <a:r>
              <a:rPr lang="en-US" sz="2400" dirty="0" smtClean="0"/>
              <a:t> (chi-square) calculation (numbers in parenthesis are expected counts calculated based on the data distribution in the two categories)</a:t>
            </a:r>
            <a:endParaRPr lang="el-GR" sz="2400" dirty="0" smtClean="0"/>
          </a:p>
          <a:p>
            <a:pPr>
              <a:lnSpc>
                <a:spcPct val="110000"/>
              </a:lnSpc>
            </a:pPr>
            <a:endParaRPr lang="en-US" sz="2400" dirty="0" smtClean="0"/>
          </a:p>
          <a:p>
            <a:pPr>
              <a:lnSpc>
                <a:spcPct val="110000"/>
              </a:lnSpc>
            </a:pPr>
            <a:endParaRPr lang="en-US" sz="2400" dirty="0" smtClean="0"/>
          </a:p>
          <a:p>
            <a:pPr>
              <a:lnSpc>
                <a:spcPct val="110000"/>
              </a:lnSpc>
            </a:pPr>
            <a:r>
              <a:rPr lang="en-US" sz="2400" dirty="0" smtClean="0"/>
              <a:t>It shows that two attributes are correlated in the group</a:t>
            </a:r>
          </a:p>
        </p:txBody>
      </p:sp>
      <p:graphicFrame>
        <p:nvGraphicFramePr>
          <p:cNvPr id="21509" name="Object 4"/>
          <p:cNvGraphicFramePr>
            <a:graphicFrameLocks noChangeAspect="1"/>
          </p:cNvGraphicFramePr>
          <p:nvPr>
            <p:ph sz="quarter" idx="2"/>
          </p:nvPr>
        </p:nvGraphicFramePr>
        <p:xfrm>
          <a:off x="762000" y="4381500"/>
          <a:ext cx="7772400" cy="744538"/>
        </p:xfrm>
        <a:graphic>
          <a:graphicData uri="http://schemas.openxmlformats.org/presentationml/2006/ole">
            <p:oleObj spid="_x0000_s248834" name="Equation" r:id="rId4" imgW="4381500" imgH="419100" progId="Equation.3">
              <p:embed/>
            </p:oleObj>
          </a:graphicData>
        </a:graphic>
      </p:graphicFrame>
      <p:graphicFrame>
        <p:nvGraphicFramePr>
          <p:cNvPr id="267269" name="Group 5"/>
          <p:cNvGraphicFramePr>
            <a:graphicFrameLocks noGrp="1"/>
          </p:cNvGraphicFramePr>
          <p:nvPr/>
        </p:nvGraphicFramePr>
        <p:xfrm>
          <a:off x="1371600" y="1447800"/>
          <a:ext cx="6096000" cy="1595439"/>
        </p:xfrm>
        <a:graphic>
          <a:graphicData uri="http://schemas.openxmlformats.org/drawingml/2006/table">
            <a:tbl>
              <a:tblPr/>
              <a:tblGrid>
                <a:gridCol w="2219325"/>
                <a:gridCol w="1136650"/>
                <a:gridCol w="1571625"/>
                <a:gridCol w="1168400"/>
              </a:tblGrid>
              <a:tr h="342900">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endParaRPr kumimoji="0" lang="en-US" sz="1600" b="0" i="0" u="none" strike="noStrike" cap="none" normalizeH="0" baseline="0" smtClean="0">
                        <a:ln>
                          <a:noFill/>
                        </a:ln>
                        <a:solidFill>
                          <a:schemeClr val="tx1"/>
                        </a:solidFill>
                        <a:effectLst/>
                        <a:latin typeface="Tahoma"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smtClean="0">
                          <a:ln>
                            <a:noFill/>
                          </a:ln>
                          <a:solidFill>
                            <a:schemeClr val="tx1"/>
                          </a:solidFill>
                          <a:effectLst/>
                          <a:latin typeface="Tahoma" pitchFamily="34" charset="0"/>
                        </a:rPr>
                        <a:t>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smtClean="0">
                          <a:ln>
                            <a:noFill/>
                          </a:ln>
                          <a:solidFill>
                            <a:schemeClr val="tx1"/>
                          </a:solidFill>
                          <a:effectLst/>
                          <a:latin typeface="Tahoma" pitchFamily="34" charset="0"/>
                        </a:rPr>
                        <a:t>Not play chess</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smtClean="0">
                          <a:ln>
                            <a:noFill/>
                          </a:ln>
                          <a:solidFill>
                            <a:schemeClr val="tx1"/>
                          </a:solidFill>
                          <a:effectLst/>
                          <a:latin typeface="Tahoma" pitchFamily="34" charset="0"/>
                        </a:rPr>
                        <a:t>Sum (row)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smtClean="0">
                          <a:ln>
                            <a:noFill/>
                          </a:ln>
                          <a:solidFill>
                            <a:schemeClr val="tx1"/>
                          </a:solidFill>
                          <a:effectLst/>
                          <a:latin typeface="Tahoma" pitchFamily="34" charset="0"/>
                        </a:rPr>
                        <a:t>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smtClean="0">
                          <a:ln>
                            <a:noFill/>
                          </a:ln>
                          <a:solidFill>
                            <a:schemeClr val="tx1"/>
                          </a:solidFill>
                          <a:effectLst/>
                          <a:latin typeface="Tahoma" pitchFamily="34" charset="0"/>
                        </a:rPr>
                        <a:t>250(90)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smtClean="0">
                          <a:ln>
                            <a:noFill/>
                          </a:ln>
                          <a:solidFill>
                            <a:schemeClr val="tx1"/>
                          </a:solidFill>
                          <a:effectLst/>
                          <a:latin typeface="Tahoma" pitchFamily="34" charset="0"/>
                        </a:rPr>
                        <a:t>200(360)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smtClean="0">
                          <a:ln>
                            <a:noFill/>
                          </a:ln>
                          <a:solidFill>
                            <a:schemeClr val="tx1"/>
                          </a:solidFill>
                          <a:effectLst/>
                          <a:latin typeface="Tahoma" pitchFamily="34" charset="0"/>
                        </a:rPr>
                        <a:t>450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smtClean="0">
                          <a:ln>
                            <a:noFill/>
                          </a:ln>
                          <a:solidFill>
                            <a:schemeClr val="tx1"/>
                          </a:solidFill>
                          <a:effectLst/>
                          <a:latin typeface="Tahoma" pitchFamily="34" charset="0"/>
                        </a:rPr>
                        <a:t>Not like science fiction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smtClean="0">
                          <a:ln>
                            <a:noFill/>
                          </a:ln>
                          <a:solidFill>
                            <a:schemeClr val="tx1"/>
                          </a:solidFill>
                          <a:effectLst/>
                          <a:latin typeface="Tahoma" pitchFamily="34" charset="0"/>
                        </a:rPr>
                        <a:t>50(210)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smtClean="0">
                          <a:ln>
                            <a:noFill/>
                          </a:ln>
                          <a:solidFill>
                            <a:schemeClr val="tx1"/>
                          </a:solidFill>
                          <a:effectLst/>
                          <a:latin typeface="Tahoma" pitchFamily="34" charset="0"/>
                        </a:rPr>
                        <a:t>1000(840)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smtClean="0">
                          <a:ln>
                            <a:noFill/>
                          </a:ln>
                          <a:solidFill>
                            <a:schemeClr val="tx1"/>
                          </a:solidFill>
                          <a:effectLst/>
                          <a:latin typeface="Tahoma" pitchFamily="34" charset="0"/>
                        </a:rPr>
                        <a:t>1050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7513">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smtClean="0">
                          <a:ln>
                            <a:noFill/>
                          </a:ln>
                          <a:solidFill>
                            <a:schemeClr val="tx1"/>
                          </a:solidFill>
                          <a:effectLst/>
                          <a:latin typeface="Tahoma" pitchFamily="34" charset="0"/>
                        </a:rPr>
                        <a:t>Sum(col.)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smtClean="0">
                          <a:ln>
                            <a:noFill/>
                          </a:ln>
                          <a:solidFill>
                            <a:schemeClr val="tx1"/>
                          </a:solidFill>
                          <a:effectLst/>
                          <a:latin typeface="Tahoma" pitchFamily="34" charset="0"/>
                        </a:rPr>
                        <a:t>300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smtClean="0">
                          <a:ln>
                            <a:noFill/>
                          </a:ln>
                          <a:solidFill>
                            <a:schemeClr val="tx1"/>
                          </a:solidFill>
                          <a:effectLst/>
                          <a:latin typeface="Tahoma" pitchFamily="34" charset="0"/>
                        </a:rPr>
                        <a:t>1200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itchFamily="2" charset="2"/>
                        <a:buNone/>
                        <a:tabLst/>
                      </a:pPr>
                      <a:r>
                        <a:rPr kumimoji="0" lang="en-US" sz="1600" b="0" i="0" u="none" strike="noStrike" cap="none" normalizeH="0" baseline="0" smtClean="0">
                          <a:ln>
                            <a:noFill/>
                          </a:ln>
                          <a:solidFill>
                            <a:schemeClr val="tx1"/>
                          </a:solidFill>
                          <a:effectLst/>
                          <a:latin typeface="Tahoma" pitchFamily="34" charset="0"/>
                        </a:rPr>
                        <a:t>1500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9" name="Rectangle 2"/>
          <p:cNvSpPr txBox="1">
            <a:spLocks noChangeArrowheads="1"/>
          </p:cNvSpPr>
          <p:nvPr/>
        </p:nvSpPr>
        <p:spPr>
          <a:xfrm>
            <a:off x="0" y="381000"/>
            <a:ext cx="9144000" cy="609600"/>
          </a:xfrm>
          <a:prstGeom prst="rect">
            <a:avLst/>
          </a:prstGeom>
        </p:spPr>
        <p:txBody>
          <a:bodyPr bIns="91440" anchor="b" anchorCtr="0">
            <a:noAutofit/>
          </a:bodyPr>
          <a:lstStyle/>
          <a:p>
            <a:pPr lvl="0" eaLnBrk="1" fontAlgn="auto" hangingPunct="1">
              <a:spcAft>
                <a:spcPts val="0"/>
              </a:spcAft>
            </a:pPr>
            <a:r>
              <a:rPr lang="en-US" sz="3200" dirty="0" smtClean="0">
                <a:solidFill>
                  <a:schemeClr val="tx2"/>
                </a:solidFill>
                <a:latin typeface="+mj-lt"/>
              </a:rPr>
              <a:t>Chi-Square Calculation: An Example</a:t>
            </a:r>
            <a:endParaRPr kumimoji="0" lang="en-US" sz="3200" b="0" i="0" u="none" strike="noStrike" kern="1200" cap="none" spc="0" normalizeH="0" baseline="0" noProof="0" dirty="0" smtClean="0">
              <a:ln>
                <a:noFill/>
              </a:ln>
              <a:solidFill>
                <a:schemeClr val="tx2"/>
              </a:solidFill>
              <a:effectLst/>
              <a:uLnTx/>
              <a:uFillTx/>
              <a:latin typeface="+mj-lt"/>
              <a:ea typeface="+mj-ea"/>
              <a:cs typeface="+mj-cs"/>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0" y="304800"/>
            <a:ext cx="9144000" cy="609600"/>
          </a:xfrm>
        </p:spPr>
        <p:txBody>
          <a:bodyPr>
            <a:noAutofit/>
          </a:bodyPr>
          <a:lstStyle/>
          <a:p>
            <a:r>
              <a:rPr lang="en-US" sz="3200" dirty="0" smtClean="0"/>
              <a:t>Correlation Analysis (Numeric Data)</a:t>
            </a:r>
          </a:p>
        </p:txBody>
      </p:sp>
      <p:sp>
        <p:nvSpPr>
          <p:cNvPr id="22532" name="Rectangle 3"/>
          <p:cNvSpPr>
            <a:spLocks noGrp="1" noChangeArrowheads="1"/>
          </p:cNvSpPr>
          <p:nvPr>
            <p:ph type="body" sz="half" idx="1"/>
          </p:nvPr>
        </p:nvSpPr>
        <p:spPr>
          <a:xfrm>
            <a:off x="304800" y="1447800"/>
            <a:ext cx="8534400" cy="5029200"/>
          </a:xfrm>
        </p:spPr>
        <p:txBody>
          <a:bodyPr/>
          <a:lstStyle/>
          <a:p>
            <a:pPr>
              <a:lnSpc>
                <a:spcPct val="110000"/>
              </a:lnSpc>
            </a:pPr>
            <a:r>
              <a:rPr lang="en-US" sz="2400" dirty="0" smtClean="0"/>
              <a:t>Correlation coefficient (also called </a:t>
            </a:r>
            <a:r>
              <a:rPr lang="en-US" sz="2400" dirty="0" smtClean="0">
                <a:solidFill>
                  <a:schemeClr val="folHlink"/>
                </a:solidFill>
              </a:rPr>
              <a:t>Pearson’s product moment coefficient</a:t>
            </a:r>
            <a:r>
              <a:rPr lang="en-US" sz="2400" dirty="0" smtClean="0"/>
              <a:t>)</a:t>
            </a:r>
          </a:p>
          <a:p>
            <a:pPr>
              <a:lnSpc>
                <a:spcPct val="110000"/>
              </a:lnSpc>
            </a:pPr>
            <a:endParaRPr lang="en-US" sz="2400" dirty="0" smtClean="0"/>
          </a:p>
          <a:p>
            <a:pPr>
              <a:lnSpc>
                <a:spcPct val="110000"/>
              </a:lnSpc>
            </a:pPr>
            <a:endParaRPr lang="en-US" sz="2400" dirty="0" smtClean="0"/>
          </a:p>
          <a:p>
            <a:pPr>
              <a:lnSpc>
                <a:spcPct val="110000"/>
              </a:lnSpc>
            </a:pPr>
            <a:endParaRPr lang="en-US" sz="2400" dirty="0" smtClean="0"/>
          </a:p>
          <a:p>
            <a:pPr marL="347663" lvl="1" indent="-28575">
              <a:lnSpc>
                <a:spcPct val="110000"/>
              </a:lnSpc>
              <a:buFont typeface="Wingdings" pitchFamily="2" charset="2"/>
              <a:buNone/>
            </a:pPr>
            <a:r>
              <a:rPr lang="en-US" sz="2000" dirty="0" smtClean="0"/>
              <a:t>where n is the number of </a:t>
            </a:r>
            <a:r>
              <a:rPr lang="en-US" sz="2000" dirty="0" err="1" smtClean="0"/>
              <a:t>tuples</a:t>
            </a:r>
            <a:r>
              <a:rPr lang="en-US" sz="2000" dirty="0" smtClean="0"/>
              <a:t>,       and      are the respective means of A and B, </a:t>
            </a:r>
            <a:r>
              <a:rPr lang="el-GR" sz="2000" dirty="0" smtClean="0"/>
              <a:t>σ</a:t>
            </a:r>
            <a:r>
              <a:rPr lang="en-US" sz="2000" baseline="-25000" dirty="0" smtClean="0"/>
              <a:t>A </a:t>
            </a:r>
            <a:r>
              <a:rPr lang="en-US" sz="2000" dirty="0" smtClean="0"/>
              <a:t>and </a:t>
            </a:r>
            <a:r>
              <a:rPr lang="el-GR" sz="2000" dirty="0" smtClean="0"/>
              <a:t>σ</a:t>
            </a:r>
            <a:r>
              <a:rPr lang="en-US" sz="2000" baseline="-25000" dirty="0" smtClean="0"/>
              <a:t>B </a:t>
            </a:r>
            <a:r>
              <a:rPr lang="en-US" sz="2000" dirty="0" smtClean="0"/>
              <a:t>are the respective standard deviation of A and B, and </a:t>
            </a:r>
            <a:r>
              <a:rPr lang="el-GR" sz="2000" dirty="0" smtClean="0"/>
              <a:t>Σ</a:t>
            </a:r>
            <a:r>
              <a:rPr lang="en-US" sz="2000" dirty="0" smtClean="0"/>
              <a:t>(</a:t>
            </a:r>
            <a:r>
              <a:rPr lang="en-US" sz="2000" dirty="0" err="1" smtClean="0"/>
              <a:t>a</a:t>
            </a:r>
            <a:r>
              <a:rPr lang="en-US" sz="2000" baseline="-25000" dirty="0" err="1" smtClean="0"/>
              <a:t>i</a:t>
            </a:r>
            <a:r>
              <a:rPr lang="en-US" sz="2000" dirty="0" err="1" smtClean="0"/>
              <a:t>b</a:t>
            </a:r>
            <a:r>
              <a:rPr lang="en-US" sz="2000" baseline="-25000" dirty="0" err="1" smtClean="0"/>
              <a:t>i</a:t>
            </a:r>
            <a:r>
              <a:rPr lang="en-US" sz="2000" dirty="0" smtClean="0"/>
              <a:t>) is the sum of the AB cross-product.</a:t>
            </a:r>
          </a:p>
          <a:p>
            <a:pPr>
              <a:lnSpc>
                <a:spcPct val="110000"/>
              </a:lnSpc>
            </a:pPr>
            <a:r>
              <a:rPr lang="en-US" sz="2400" dirty="0" smtClean="0"/>
              <a:t>If </a:t>
            </a:r>
            <a:r>
              <a:rPr lang="en-US" sz="2400" dirty="0" err="1" smtClean="0"/>
              <a:t>r</a:t>
            </a:r>
            <a:r>
              <a:rPr lang="en-US" sz="2400" baseline="-25000" dirty="0" err="1" smtClean="0"/>
              <a:t>A,B</a:t>
            </a:r>
            <a:r>
              <a:rPr lang="en-US" sz="2400" dirty="0" smtClean="0"/>
              <a:t> &gt; 0, A and B are positively correlated (A’s values increase as B’s).  The higher, the stronger correlation.</a:t>
            </a:r>
          </a:p>
          <a:p>
            <a:pPr>
              <a:lnSpc>
                <a:spcPct val="110000"/>
              </a:lnSpc>
            </a:pPr>
            <a:r>
              <a:rPr lang="en-US" sz="2400" dirty="0" err="1" smtClean="0"/>
              <a:t>r</a:t>
            </a:r>
            <a:r>
              <a:rPr lang="en-US" sz="2400" baseline="-25000" dirty="0" err="1" smtClean="0"/>
              <a:t>A,B</a:t>
            </a:r>
            <a:r>
              <a:rPr lang="en-US" sz="2400" dirty="0" smtClean="0"/>
              <a:t> = 0: independent;  </a:t>
            </a:r>
            <a:r>
              <a:rPr lang="en-US" sz="2400" dirty="0" err="1" smtClean="0"/>
              <a:t>r</a:t>
            </a:r>
            <a:r>
              <a:rPr lang="en-US" sz="2400" baseline="-25000" dirty="0" err="1" smtClean="0"/>
              <a:t>AB</a:t>
            </a:r>
            <a:r>
              <a:rPr lang="en-US" sz="2400" dirty="0" smtClean="0"/>
              <a:t> &lt; 0: negatively correlated</a:t>
            </a:r>
          </a:p>
        </p:txBody>
      </p:sp>
      <p:graphicFrame>
        <p:nvGraphicFramePr>
          <p:cNvPr id="22533" name="Object 4"/>
          <p:cNvGraphicFramePr>
            <a:graphicFrameLocks noChangeAspect="1"/>
          </p:cNvGraphicFramePr>
          <p:nvPr>
            <p:ph sz="quarter" idx="2"/>
          </p:nvPr>
        </p:nvGraphicFramePr>
        <p:xfrm>
          <a:off x="1905000" y="2473325"/>
          <a:ext cx="5081588" cy="900113"/>
        </p:xfrm>
        <a:graphic>
          <a:graphicData uri="http://schemas.openxmlformats.org/presentationml/2006/ole">
            <p:oleObj spid="_x0000_s249858" name="Equation" r:id="rId4" imgW="2869920" imgH="507960" progId="Equation.3">
              <p:embed/>
            </p:oleObj>
          </a:graphicData>
        </a:graphic>
      </p:graphicFrame>
      <p:graphicFrame>
        <p:nvGraphicFramePr>
          <p:cNvPr id="22534" name="Object 5"/>
          <p:cNvGraphicFramePr>
            <a:graphicFrameLocks noChangeAspect="1"/>
          </p:cNvGraphicFramePr>
          <p:nvPr>
            <p:ph sz="quarter" idx="3"/>
          </p:nvPr>
        </p:nvGraphicFramePr>
        <p:xfrm>
          <a:off x="3771900" y="3760788"/>
          <a:ext cx="255587" cy="341312"/>
        </p:xfrm>
        <a:graphic>
          <a:graphicData uri="http://schemas.openxmlformats.org/presentationml/2006/ole">
            <p:oleObj spid="_x0000_s249859" name="Equation" r:id="rId5" imgW="152268" imgH="203024" progId="Equation.3">
              <p:embed/>
            </p:oleObj>
          </a:graphicData>
        </a:graphic>
      </p:graphicFrame>
      <p:graphicFrame>
        <p:nvGraphicFramePr>
          <p:cNvPr id="22535" name="Object 6"/>
          <p:cNvGraphicFramePr>
            <a:graphicFrameLocks noChangeAspect="1"/>
          </p:cNvGraphicFramePr>
          <p:nvPr/>
        </p:nvGraphicFramePr>
        <p:xfrm>
          <a:off x="4419600" y="3733800"/>
          <a:ext cx="295275" cy="392112"/>
        </p:xfrm>
        <a:graphic>
          <a:graphicData uri="http://schemas.openxmlformats.org/presentationml/2006/ole">
            <p:oleObj spid="_x0000_s249860" name="Equation" r:id="rId6" imgW="152268" imgH="203024" progId="Equation.3">
              <p:embed/>
            </p:oleObj>
          </a:graphicData>
        </a:graphic>
      </p:graphicFrame>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556" name="Object 3"/>
          <p:cNvGraphicFramePr>
            <a:graphicFrameLocks noChangeAspect="1"/>
          </p:cNvGraphicFramePr>
          <p:nvPr/>
        </p:nvGraphicFramePr>
        <p:xfrm>
          <a:off x="228600" y="990600"/>
          <a:ext cx="6096000" cy="5381625"/>
        </p:xfrm>
        <a:graphic>
          <a:graphicData uri="http://schemas.openxmlformats.org/presentationml/2006/ole">
            <p:oleObj spid="_x0000_s250882" name="Bitmap Image" r:id="rId4" imgW="6035563" imgH="5784081" progId="PBrush">
              <p:embed/>
            </p:oleObj>
          </a:graphicData>
        </a:graphic>
      </p:graphicFrame>
      <p:sp>
        <p:nvSpPr>
          <p:cNvPr id="23557" name="Text Box 4"/>
          <p:cNvSpPr txBox="1">
            <a:spLocks noChangeArrowheads="1"/>
          </p:cNvSpPr>
          <p:nvPr/>
        </p:nvSpPr>
        <p:spPr bwMode="auto">
          <a:xfrm>
            <a:off x="6858000" y="2971800"/>
            <a:ext cx="1828800" cy="1190625"/>
          </a:xfrm>
          <a:prstGeom prst="rect">
            <a:avLst/>
          </a:prstGeom>
          <a:noFill/>
          <a:ln w="12700">
            <a:noFill/>
            <a:miter lim="800000"/>
            <a:headEnd/>
            <a:tailEnd/>
          </a:ln>
        </p:spPr>
        <p:txBody>
          <a:bodyPr>
            <a:spAutoFit/>
          </a:bodyPr>
          <a:lstStyle/>
          <a:p>
            <a:pPr eaLnBrk="0" hangingPunct="0">
              <a:spcBef>
                <a:spcPct val="50000"/>
              </a:spcBef>
            </a:pPr>
            <a:r>
              <a:rPr lang="en-US" sz="1800" b="1">
                <a:latin typeface="Arial" charset="0"/>
              </a:rPr>
              <a:t>Scatter plots showing the similarity from –1 to 1.</a:t>
            </a:r>
          </a:p>
        </p:txBody>
      </p:sp>
      <p:sp>
        <p:nvSpPr>
          <p:cNvPr id="8" name="Rectangle 2"/>
          <p:cNvSpPr>
            <a:spLocks noGrp="1" noChangeArrowheads="1"/>
          </p:cNvSpPr>
          <p:nvPr>
            <p:ph type="title"/>
          </p:nvPr>
        </p:nvSpPr>
        <p:spPr>
          <a:xfrm>
            <a:off x="0" y="304800"/>
            <a:ext cx="9144000" cy="609600"/>
          </a:xfrm>
        </p:spPr>
        <p:txBody>
          <a:bodyPr>
            <a:noAutofit/>
          </a:bodyPr>
          <a:lstStyle/>
          <a:p>
            <a:r>
              <a:rPr lang="en-US" sz="3200" dirty="0" smtClean="0"/>
              <a:t>Visually Evaluating Correlation</a:t>
            </a: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14"/>
          <p:cNvPicPr>
            <a:picLocks noChangeAspect="1" noChangeArrowheads="1"/>
          </p:cNvPicPr>
          <p:nvPr/>
        </p:nvPicPr>
        <p:blipFill>
          <a:blip r:embed="rId4" cstate="print"/>
          <a:srcRect/>
          <a:stretch>
            <a:fillRect/>
          </a:stretch>
        </p:blipFill>
        <p:spPr bwMode="auto">
          <a:xfrm>
            <a:off x="3886200" y="2274888"/>
            <a:ext cx="2447925" cy="703262"/>
          </a:xfrm>
          <a:prstGeom prst="rect">
            <a:avLst/>
          </a:prstGeom>
          <a:noFill/>
          <a:ln w="9525">
            <a:noFill/>
            <a:miter lim="800000"/>
            <a:headEnd/>
            <a:tailEnd/>
          </a:ln>
          <a:effectLst/>
        </p:spPr>
      </p:pic>
      <p:pic>
        <p:nvPicPr>
          <p:cNvPr id="25603" name="Picture 13"/>
          <p:cNvPicPr>
            <a:picLocks noChangeAspect="1" noChangeArrowheads="1"/>
          </p:cNvPicPr>
          <p:nvPr/>
        </p:nvPicPr>
        <p:blipFill>
          <a:blip r:embed="rId5" cstate="print"/>
          <a:srcRect/>
          <a:stretch>
            <a:fillRect/>
          </a:stretch>
        </p:blipFill>
        <p:spPr bwMode="auto">
          <a:xfrm>
            <a:off x="533400" y="1524000"/>
            <a:ext cx="8504238" cy="762000"/>
          </a:xfrm>
          <a:prstGeom prst="rect">
            <a:avLst/>
          </a:prstGeom>
          <a:noFill/>
          <a:ln w="9525">
            <a:noFill/>
            <a:miter lim="800000"/>
            <a:headEnd/>
            <a:tailEnd/>
          </a:ln>
          <a:effectLst/>
        </p:spPr>
      </p:pic>
      <p:sp>
        <p:nvSpPr>
          <p:cNvPr id="25605" name="Rectangle 2"/>
          <p:cNvSpPr>
            <a:spLocks noGrp="1" noChangeArrowheads="1"/>
          </p:cNvSpPr>
          <p:nvPr>
            <p:ph type="title"/>
          </p:nvPr>
        </p:nvSpPr>
        <p:spPr>
          <a:xfrm>
            <a:off x="0" y="304800"/>
            <a:ext cx="9144000" cy="609600"/>
          </a:xfrm>
        </p:spPr>
        <p:txBody>
          <a:bodyPr>
            <a:noAutofit/>
          </a:bodyPr>
          <a:lstStyle/>
          <a:p>
            <a:r>
              <a:rPr lang="en-US" sz="3200" dirty="0" smtClean="0"/>
              <a:t>Covariance (Numeric Data)</a:t>
            </a:r>
          </a:p>
        </p:txBody>
      </p:sp>
      <p:sp>
        <p:nvSpPr>
          <p:cNvPr id="25606" name="Rectangle 3"/>
          <p:cNvSpPr>
            <a:spLocks noGrp="1" noChangeArrowheads="1"/>
          </p:cNvSpPr>
          <p:nvPr>
            <p:ph type="body" sz="half" idx="1"/>
          </p:nvPr>
        </p:nvSpPr>
        <p:spPr>
          <a:xfrm>
            <a:off x="304800" y="1219200"/>
            <a:ext cx="8839200" cy="5334000"/>
          </a:xfrm>
        </p:spPr>
        <p:txBody>
          <a:bodyPr>
            <a:normAutofit lnSpcReduction="10000"/>
          </a:bodyPr>
          <a:lstStyle/>
          <a:p>
            <a:pPr>
              <a:lnSpc>
                <a:spcPct val="110000"/>
              </a:lnSpc>
            </a:pPr>
            <a:r>
              <a:rPr lang="en-US" sz="2000" dirty="0" smtClean="0"/>
              <a:t>Covariance is similar to correlation</a:t>
            </a:r>
          </a:p>
          <a:p>
            <a:pPr>
              <a:lnSpc>
                <a:spcPct val="110000"/>
              </a:lnSpc>
            </a:pPr>
            <a:endParaRPr lang="en-US" sz="1800" dirty="0" smtClean="0"/>
          </a:p>
          <a:p>
            <a:pPr>
              <a:lnSpc>
                <a:spcPct val="110000"/>
              </a:lnSpc>
            </a:pPr>
            <a:endParaRPr lang="en-US" sz="1800" dirty="0" smtClean="0"/>
          </a:p>
          <a:p>
            <a:pPr>
              <a:lnSpc>
                <a:spcPct val="110000"/>
              </a:lnSpc>
            </a:pPr>
            <a:endParaRPr lang="en-US" sz="1800" dirty="0" smtClean="0"/>
          </a:p>
          <a:p>
            <a:pPr>
              <a:lnSpc>
                <a:spcPct val="110000"/>
              </a:lnSpc>
            </a:pPr>
            <a:endParaRPr lang="en-US" sz="1800" dirty="0" smtClean="0"/>
          </a:p>
          <a:p>
            <a:pPr marL="290513" lvl="1" indent="0">
              <a:lnSpc>
                <a:spcPct val="110000"/>
              </a:lnSpc>
              <a:buFont typeface="Wingdings" pitchFamily="2" charset="2"/>
              <a:buNone/>
              <a:tabLst>
                <a:tab pos="347663" algn="l"/>
              </a:tabLst>
            </a:pPr>
            <a:r>
              <a:rPr lang="en-US" sz="2000" dirty="0" smtClean="0"/>
              <a:t>where n is the number of </a:t>
            </a:r>
            <a:r>
              <a:rPr lang="en-US" sz="2000" dirty="0" err="1" smtClean="0"/>
              <a:t>tuples</a:t>
            </a:r>
            <a:r>
              <a:rPr lang="en-US" sz="2000" dirty="0" smtClean="0"/>
              <a:t>,      and      are the respective mean or </a:t>
            </a:r>
            <a:r>
              <a:rPr lang="en-US" sz="2000" b="1" dirty="0" smtClean="0"/>
              <a:t>expected values</a:t>
            </a:r>
            <a:r>
              <a:rPr lang="en-US" sz="2000" dirty="0" smtClean="0"/>
              <a:t> of A and B, </a:t>
            </a:r>
            <a:r>
              <a:rPr lang="el-GR" sz="2000" dirty="0" smtClean="0"/>
              <a:t>σ</a:t>
            </a:r>
            <a:r>
              <a:rPr lang="en-US" sz="2000" baseline="-25000" dirty="0" smtClean="0"/>
              <a:t>A </a:t>
            </a:r>
            <a:r>
              <a:rPr lang="en-US" sz="2000" dirty="0" smtClean="0"/>
              <a:t>and </a:t>
            </a:r>
            <a:r>
              <a:rPr lang="el-GR" sz="2000" dirty="0" smtClean="0"/>
              <a:t>σ</a:t>
            </a:r>
            <a:r>
              <a:rPr lang="en-US" sz="2000" baseline="-25000" dirty="0" smtClean="0"/>
              <a:t>B </a:t>
            </a:r>
            <a:r>
              <a:rPr lang="en-US" sz="2000" dirty="0" smtClean="0"/>
              <a:t>are the respective standard deviation of A and B.</a:t>
            </a:r>
          </a:p>
          <a:p>
            <a:pPr>
              <a:lnSpc>
                <a:spcPct val="110000"/>
              </a:lnSpc>
            </a:pPr>
            <a:r>
              <a:rPr lang="en-US" sz="2000" b="1" dirty="0" smtClean="0"/>
              <a:t>Positive covariance</a:t>
            </a:r>
            <a:r>
              <a:rPr lang="en-US" sz="2000" dirty="0" smtClean="0"/>
              <a:t>: If </a:t>
            </a:r>
            <a:r>
              <a:rPr lang="en-US" sz="2000" dirty="0" err="1" smtClean="0"/>
              <a:t>Cov</a:t>
            </a:r>
            <a:r>
              <a:rPr lang="en-US" sz="2000" baseline="-25000" dirty="0" err="1" smtClean="0"/>
              <a:t>A,B</a:t>
            </a:r>
            <a:r>
              <a:rPr lang="en-US" sz="2000" baseline="-25000" dirty="0" smtClean="0"/>
              <a:t> </a:t>
            </a:r>
            <a:r>
              <a:rPr lang="en-US" sz="2000" dirty="0" smtClean="0"/>
              <a:t>&gt; 0, then A and B both tend to be larger than their expected values.</a:t>
            </a:r>
          </a:p>
          <a:p>
            <a:pPr>
              <a:lnSpc>
                <a:spcPct val="110000"/>
              </a:lnSpc>
            </a:pPr>
            <a:r>
              <a:rPr lang="en-US" sz="2000" b="1" dirty="0" smtClean="0"/>
              <a:t>Negative covariance</a:t>
            </a:r>
            <a:r>
              <a:rPr lang="en-US" sz="2000" dirty="0" smtClean="0"/>
              <a:t>: If </a:t>
            </a:r>
            <a:r>
              <a:rPr lang="en-US" sz="2000" dirty="0" err="1" smtClean="0"/>
              <a:t>Cov</a:t>
            </a:r>
            <a:r>
              <a:rPr lang="en-US" sz="2000" baseline="-25000" dirty="0" err="1" smtClean="0"/>
              <a:t>A,B</a:t>
            </a:r>
            <a:r>
              <a:rPr lang="en-US" sz="2000" baseline="-25000" dirty="0" smtClean="0"/>
              <a:t> </a:t>
            </a:r>
            <a:r>
              <a:rPr lang="en-US" sz="2000" dirty="0" smtClean="0"/>
              <a:t>&lt; 0 then if A is larger than its expected value, B is likely to be smaller than its expected value.</a:t>
            </a:r>
          </a:p>
          <a:p>
            <a:pPr>
              <a:lnSpc>
                <a:spcPct val="80000"/>
              </a:lnSpc>
            </a:pPr>
            <a:r>
              <a:rPr lang="en-US" sz="2000" b="1" dirty="0" smtClean="0"/>
              <a:t>Independence</a:t>
            </a:r>
            <a:r>
              <a:rPr lang="en-US" sz="2000" dirty="0" smtClean="0"/>
              <a:t>: </a:t>
            </a:r>
            <a:r>
              <a:rPr lang="en-US" sz="2000" dirty="0" err="1" smtClean="0"/>
              <a:t>Cov</a:t>
            </a:r>
            <a:r>
              <a:rPr lang="en-US" sz="2000" baseline="-25000" dirty="0" err="1" smtClean="0"/>
              <a:t>A,B</a:t>
            </a:r>
            <a:r>
              <a:rPr lang="en-US" sz="2000" dirty="0" smtClean="0"/>
              <a:t> = 0 but the converse is not true:</a:t>
            </a:r>
          </a:p>
          <a:p>
            <a:pPr lvl="1"/>
            <a:r>
              <a:rPr lang="en-US" sz="1800" dirty="0" smtClean="0"/>
              <a:t>Some pairs of random variables may have a covariance of 0 but are not independent. Only under some additional assumptions (e.g., the data follow multivariate normal distributions) does a covariance of 0 imply independence</a:t>
            </a:r>
          </a:p>
        </p:txBody>
      </p:sp>
      <p:graphicFrame>
        <p:nvGraphicFramePr>
          <p:cNvPr id="25607" name="Object 13"/>
          <p:cNvGraphicFramePr>
            <a:graphicFrameLocks noChangeAspect="1"/>
          </p:cNvGraphicFramePr>
          <p:nvPr/>
        </p:nvGraphicFramePr>
        <p:xfrm>
          <a:off x="3701932" y="2974060"/>
          <a:ext cx="255588" cy="339725"/>
        </p:xfrm>
        <a:graphic>
          <a:graphicData uri="http://schemas.openxmlformats.org/presentationml/2006/ole">
            <p:oleObj spid="_x0000_s252930" name="Equation" r:id="rId6" imgW="152268" imgH="203024" progId="Equation.3">
              <p:embed/>
            </p:oleObj>
          </a:graphicData>
        </a:graphic>
      </p:graphicFrame>
      <p:graphicFrame>
        <p:nvGraphicFramePr>
          <p:cNvPr id="25608" name="Object 14"/>
          <p:cNvGraphicFramePr>
            <a:graphicFrameLocks noChangeAspect="1"/>
          </p:cNvGraphicFramePr>
          <p:nvPr/>
        </p:nvGraphicFramePr>
        <p:xfrm>
          <a:off x="4341570" y="2929735"/>
          <a:ext cx="295275" cy="392112"/>
        </p:xfrm>
        <a:graphic>
          <a:graphicData uri="http://schemas.openxmlformats.org/presentationml/2006/ole">
            <p:oleObj spid="_x0000_s252931" name="Equation" r:id="rId7" imgW="152268" imgH="203024" progId="Equation.3">
              <p:embed/>
            </p:oleObj>
          </a:graphicData>
        </a:graphic>
      </p:graphicFrame>
      <p:sp>
        <p:nvSpPr>
          <p:cNvPr id="25609" name="TextBox 2"/>
          <p:cNvSpPr txBox="1">
            <a:spLocks noChangeArrowheads="1"/>
          </p:cNvSpPr>
          <p:nvPr/>
        </p:nvSpPr>
        <p:spPr bwMode="auto">
          <a:xfrm>
            <a:off x="569913" y="2439988"/>
            <a:ext cx="2746375" cy="400050"/>
          </a:xfrm>
          <a:prstGeom prst="rect">
            <a:avLst/>
          </a:prstGeom>
          <a:noFill/>
          <a:ln w="9525">
            <a:noFill/>
            <a:miter lim="800000"/>
            <a:headEnd/>
            <a:tailEnd/>
          </a:ln>
        </p:spPr>
        <p:txBody>
          <a:bodyPr wrap="none">
            <a:spAutoFit/>
          </a:bodyPr>
          <a:lstStyle/>
          <a:p>
            <a:r>
              <a:rPr lang="en-US" sz="2000"/>
              <a:t>Correlation coefficient:</a:t>
            </a: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3" cstate="print"/>
          <a:srcRect/>
          <a:stretch>
            <a:fillRect/>
          </a:stretch>
        </p:blipFill>
        <p:spPr bwMode="auto">
          <a:xfrm>
            <a:off x="990600" y="1185863"/>
            <a:ext cx="6705600" cy="642937"/>
          </a:xfrm>
          <a:prstGeom prst="rect">
            <a:avLst/>
          </a:prstGeom>
          <a:noFill/>
          <a:ln w="9525">
            <a:noFill/>
            <a:miter lim="800000"/>
            <a:headEnd/>
            <a:tailEnd/>
          </a:ln>
        </p:spPr>
      </p:pic>
      <p:sp>
        <p:nvSpPr>
          <p:cNvPr id="26627" name="Title 1"/>
          <p:cNvSpPr>
            <a:spLocks noGrp="1"/>
          </p:cNvSpPr>
          <p:nvPr>
            <p:ph type="title"/>
          </p:nvPr>
        </p:nvSpPr>
        <p:spPr/>
        <p:txBody>
          <a:bodyPr>
            <a:noAutofit/>
          </a:bodyPr>
          <a:lstStyle/>
          <a:p>
            <a:r>
              <a:rPr lang="en-US" sz="3200" dirty="0" smtClean="0"/>
              <a:t>Co-Variance: An Example</a:t>
            </a:r>
          </a:p>
        </p:txBody>
      </p:sp>
      <p:sp>
        <p:nvSpPr>
          <p:cNvPr id="3" name="Text Placeholder 2"/>
          <p:cNvSpPr>
            <a:spLocks noGrp="1"/>
          </p:cNvSpPr>
          <p:nvPr>
            <p:ph type="body" sz="half" idx="1"/>
          </p:nvPr>
        </p:nvSpPr>
        <p:spPr>
          <a:xfrm>
            <a:off x="304800" y="1066800"/>
            <a:ext cx="8534400" cy="5486400"/>
          </a:xfrm>
        </p:spPr>
        <p:txBody>
          <a:bodyPr>
            <a:normAutofit lnSpcReduction="10000"/>
          </a:bodyPr>
          <a:lstStyle/>
          <a:p>
            <a:pPr>
              <a:lnSpc>
                <a:spcPct val="150000"/>
              </a:lnSpc>
              <a:defRPr/>
            </a:pPr>
            <a:endParaRPr lang="en-US" sz="2000" dirty="0" smtClean="0"/>
          </a:p>
          <a:p>
            <a:pPr>
              <a:lnSpc>
                <a:spcPct val="150000"/>
              </a:lnSpc>
              <a:defRPr/>
            </a:pPr>
            <a:r>
              <a:rPr lang="en-US" sz="2000" dirty="0" smtClean="0"/>
              <a:t>It can be simplified in computation as</a:t>
            </a:r>
          </a:p>
          <a:p>
            <a:pPr>
              <a:lnSpc>
                <a:spcPct val="150000"/>
              </a:lnSpc>
              <a:defRPr/>
            </a:pPr>
            <a:endParaRPr lang="en-US" sz="2000" dirty="0" smtClean="0"/>
          </a:p>
          <a:p>
            <a:pPr>
              <a:lnSpc>
                <a:spcPct val="150000"/>
              </a:lnSpc>
              <a:defRPr/>
            </a:pPr>
            <a:r>
              <a:rPr lang="en-US" sz="2000" dirty="0" smtClean="0"/>
              <a:t>Suppose two stocks A and B have the following values in one week:  (2, 5), (3, 8), (5, 10), (4, 11), (6, 14). </a:t>
            </a:r>
          </a:p>
          <a:p>
            <a:pPr>
              <a:lnSpc>
                <a:spcPct val="150000"/>
              </a:lnSpc>
              <a:defRPr/>
            </a:pPr>
            <a:r>
              <a:rPr lang="en-US" sz="2000" dirty="0" smtClean="0"/>
              <a:t>Question:  If the stocks are affected by the same industry trends, will their prices rise or fall together?</a:t>
            </a:r>
          </a:p>
          <a:p>
            <a:pPr lvl="1">
              <a:lnSpc>
                <a:spcPct val="150000"/>
              </a:lnSpc>
              <a:defRPr/>
            </a:pPr>
            <a:r>
              <a:rPr lang="en-US" sz="2000" dirty="0" smtClean="0">
                <a:ea typeface="+mn-ea"/>
                <a:cs typeface="+mn-cs"/>
              </a:rPr>
              <a:t>E(A) = (2 + 3 + 5 + 4 + 6)</a:t>
            </a:r>
            <a:r>
              <a:rPr lang="en-US" sz="2000" dirty="0" smtClean="0"/>
              <a:t>/ </a:t>
            </a:r>
            <a:r>
              <a:rPr lang="en-US" sz="2000" dirty="0" smtClean="0">
                <a:ea typeface="+mn-ea"/>
                <a:cs typeface="+mn-cs"/>
              </a:rPr>
              <a:t>5</a:t>
            </a:r>
            <a:r>
              <a:rPr lang="en-US" sz="2000" dirty="0" smtClean="0"/>
              <a:t> </a:t>
            </a:r>
            <a:r>
              <a:rPr lang="en-US" sz="2000" dirty="0" smtClean="0">
                <a:ea typeface="+mn-ea"/>
                <a:cs typeface="+mn-cs"/>
              </a:rPr>
              <a:t>=</a:t>
            </a:r>
            <a:r>
              <a:rPr lang="en-US" sz="2000" dirty="0" smtClean="0"/>
              <a:t> </a:t>
            </a:r>
            <a:r>
              <a:rPr lang="en-US" sz="2000" dirty="0" smtClean="0">
                <a:ea typeface="+mn-ea"/>
                <a:cs typeface="+mn-cs"/>
              </a:rPr>
              <a:t>20</a:t>
            </a:r>
            <a:r>
              <a:rPr lang="en-US" sz="2000" dirty="0" smtClean="0"/>
              <a:t>/</a:t>
            </a:r>
            <a:r>
              <a:rPr lang="en-US" sz="2000" dirty="0" smtClean="0">
                <a:ea typeface="+mn-ea"/>
                <a:cs typeface="+mn-cs"/>
              </a:rPr>
              <a:t>5</a:t>
            </a:r>
            <a:r>
              <a:rPr lang="en-US" sz="2000" dirty="0" smtClean="0"/>
              <a:t> </a:t>
            </a:r>
            <a:r>
              <a:rPr lang="en-US" sz="2000" dirty="0" smtClean="0">
                <a:ea typeface="+mn-ea"/>
                <a:cs typeface="+mn-cs"/>
              </a:rPr>
              <a:t>= 4</a:t>
            </a:r>
          </a:p>
          <a:p>
            <a:pPr lvl="1">
              <a:lnSpc>
                <a:spcPct val="150000"/>
              </a:lnSpc>
              <a:defRPr/>
            </a:pPr>
            <a:r>
              <a:rPr lang="en-US" sz="2000" dirty="0" smtClean="0">
                <a:ea typeface="+mn-ea"/>
                <a:cs typeface="+mn-cs"/>
              </a:rPr>
              <a:t>E(B) = (5 + 8 + 10 + 11 + 14) /5 =</a:t>
            </a:r>
            <a:r>
              <a:rPr lang="en-US" sz="2000" dirty="0" smtClean="0"/>
              <a:t> </a:t>
            </a:r>
            <a:r>
              <a:rPr lang="en-US" sz="2000" dirty="0" smtClean="0">
                <a:ea typeface="+mn-ea"/>
                <a:cs typeface="+mn-cs"/>
              </a:rPr>
              <a:t>48/5 =</a:t>
            </a:r>
            <a:r>
              <a:rPr lang="en-US" sz="2000" dirty="0" smtClean="0"/>
              <a:t> </a:t>
            </a:r>
            <a:r>
              <a:rPr lang="en-US" sz="2000" dirty="0" smtClean="0">
                <a:ea typeface="+mn-ea"/>
                <a:cs typeface="+mn-cs"/>
              </a:rPr>
              <a:t>9.6</a:t>
            </a:r>
          </a:p>
          <a:p>
            <a:pPr lvl="1">
              <a:lnSpc>
                <a:spcPct val="150000"/>
              </a:lnSpc>
              <a:defRPr/>
            </a:pPr>
            <a:r>
              <a:rPr lang="en-US" sz="2000" dirty="0" err="1" smtClean="0">
                <a:ea typeface="+mn-ea"/>
                <a:cs typeface="+mn-cs"/>
              </a:rPr>
              <a:t>Cov</a:t>
            </a:r>
            <a:r>
              <a:rPr lang="en-US" sz="2000" dirty="0" smtClean="0">
                <a:ea typeface="+mn-ea"/>
                <a:cs typeface="+mn-cs"/>
              </a:rPr>
              <a:t>(A,B) = (2×5+3×8+5×10+4×11+6×14)/5 − 4 × 9.6 = 4</a:t>
            </a:r>
          </a:p>
          <a:p>
            <a:pPr>
              <a:lnSpc>
                <a:spcPct val="150000"/>
              </a:lnSpc>
              <a:defRPr/>
            </a:pPr>
            <a:r>
              <a:rPr lang="en-US" sz="2000" dirty="0" smtClean="0"/>
              <a:t>Thus, A and B rise together since </a:t>
            </a:r>
            <a:r>
              <a:rPr lang="en-US" sz="2000" dirty="0" err="1" smtClean="0"/>
              <a:t>Cov</a:t>
            </a:r>
            <a:r>
              <a:rPr lang="en-US" sz="2000" dirty="0" smtClean="0"/>
              <a:t>(A, B) &gt; 0.</a:t>
            </a:r>
            <a:endParaRPr lang="en-US" sz="2000" dirty="0"/>
          </a:p>
        </p:txBody>
      </p:sp>
      <p:pic>
        <p:nvPicPr>
          <p:cNvPr id="26629" name="Picture 3"/>
          <p:cNvPicPr>
            <a:picLocks noChangeAspect="1" noChangeArrowheads="1"/>
          </p:cNvPicPr>
          <p:nvPr/>
        </p:nvPicPr>
        <p:blipFill>
          <a:blip r:embed="rId4" cstate="print"/>
          <a:srcRect/>
          <a:stretch>
            <a:fillRect/>
          </a:stretch>
        </p:blipFill>
        <p:spPr bwMode="auto">
          <a:xfrm>
            <a:off x="2057400" y="2133600"/>
            <a:ext cx="4267200" cy="45878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3"/>
          <p:cNvSpPr>
            <a:spLocks noGrp="1" noChangeArrowheads="1"/>
          </p:cNvSpPr>
          <p:nvPr>
            <p:ph type="body" sz="half" idx="1"/>
          </p:nvPr>
        </p:nvSpPr>
        <p:spPr>
          <a:xfrm>
            <a:off x="381000" y="1371600"/>
            <a:ext cx="8229600" cy="5105400"/>
          </a:xfrm>
          <a:noFill/>
        </p:spPr>
        <p:txBody>
          <a:bodyPr lIns="92075" tIns="46038" rIns="92075" bIns="46038"/>
          <a:lstStyle/>
          <a:p>
            <a:pPr eaLnBrk="1" hangingPunct="1">
              <a:lnSpc>
                <a:spcPct val="150000"/>
              </a:lnSpc>
            </a:pPr>
            <a:r>
              <a:rPr lang="en-US" sz="2400" dirty="0" smtClean="0"/>
              <a:t>Data Preprocessing: An Overview</a:t>
            </a:r>
          </a:p>
          <a:p>
            <a:pPr lvl="1" eaLnBrk="1" hangingPunct="1">
              <a:lnSpc>
                <a:spcPct val="150000"/>
              </a:lnSpc>
            </a:pPr>
            <a:r>
              <a:rPr lang="en-US" sz="2400" dirty="0" smtClean="0"/>
              <a:t>Data Quality</a:t>
            </a:r>
          </a:p>
          <a:p>
            <a:pPr lvl="1" eaLnBrk="1" hangingPunct="1">
              <a:lnSpc>
                <a:spcPct val="150000"/>
              </a:lnSpc>
            </a:pPr>
            <a:r>
              <a:rPr lang="en-US" sz="2400" dirty="0" smtClean="0"/>
              <a:t>Major Tasks in Data Preprocessing</a:t>
            </a:r>
          </a:p>
          <a:p>
            <a:pPr eaLnBrk="1" hangingPunct="1">
              <a:lnSpc>
                <a:spcPct val="150000"/>
              </a:lnSpc>
            </a:pPr>
            <a:r>
              <a:rPr lang="en-US" sz="2400" dirty="0" smtClean="0"/>
              <a:t>Data Cleaning</a:t>
            </a:r>
          </a:p>
          <a:p>
            <a:pPr eaLnBrk="1" hangingPunct="1">
              <a:lnSpc>
                <a:spcPct val="150000"/>
              </a:lnSpc>
            </a:pPr>
            <a:r>
              <a:rPr lang="en-US" sz="2400" dirty="0" smtClean="0"/>
              <a:t>Data Integration</a:t>
            </a:r>
          </a:p>
          <a:p>
            <a:pPr eaLnBrk="1" hangingPunct="1">
              <a:lnSpc>
                <a:spcPct val="150000"/>
              </a:lnSpc>
            </a:pPr>
            <a:r>
              <a:rPr lang="en-US" sz="2400" dirty="0" smtClean="0"/>
              <a:t>Data Reduction</a:t>
            </a:r>
          </a:p>
          <a:p>
            <a:pPr eaLnBrk="1" hangingPunct="1">
              <a:lnSpc>
                <a:spcPct val="150000"/>
              </a:lnSpc>
            </a:pPr>
            <a:r>
              <a:rPr lang="en-US" sz="2400" dirty="0" smtClean="0"/>
              <a:t>Data Transformation and Data </a:t>
            </a:r>
            <a:r>
              <a:rPr lang="en-US" sz="2400" dirty="0" err="1" smtClean="0"/>
              <a:t>Discretization</a:t>
            </a:r>
            <a:endParaRPr lang="en-US" sz="2400" dirty="0" smtClean="0"/>
          </a:p>
          <a:p>
            <a:pPr eaLnBrk="1" hangingPunct="1">
              <a:lnSpc>
                <a:spcPct val="150000"/>
              </a:lnSpc>
            </a:pPr>
            <a:r>
              <a:rPr lang="en-US" sz="2400" dirty="0" smtClean="0"/>
              <a:t>Summary</a:t>
            </a:r>
          </a:p>
        </p:txBody>
      </p:sp>
      <p:sp>
        <p:nvSpPr>
          <p:cNvPr id="7" name="Rectangle 2"/>
          <p:cNvSpPr txBox="1">
            <a:spLocks noChangeArrowheads="1"/>
          </p:cNvSpPr>
          <p:nvPr/>
        </p:nvSpPr>
        <p:spPr>
          <a:xfrm>
            <a:off x="0" y="304800"/>
            <a:ext cx="9144000" cy="685800"/>
          </a:xfrm>
          <a:prstGeom prst="rect">
            <a:avLst/>
          </a:prstGeom>
        </p:spPr>
        <p:txBody>
          <a:bodyPr bIns="91440" anchor="b" anchorCtr="0">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Data Preprocessing</a:t>
            </a:r>
            <a:endParaRPr kumimoji="0" lang="en-US" sz="4000" b="0" i="0" u="none" strike="noStrike" kern="1200" cap="none" spc="0" normalizeH="0" baseline="0" noProof="0" dirty="0" smtClean="0">
              <a:ln>
                <a:noFill/>
              </a:ln>
              <a:solidFill>
                <a:schemeClr val="tx2"/>
              </a:solidFill>
              <a:effectLst/>
              <a:uLnTx/>
              <a:uFillTx/>
              <a:latin typeface="+mj-lt"/>
              <a:ea typeface="+mj-ea"/>
              <a:cs typeface="+mj-cs"/>
            </a:endParaRP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3"/>
          <p:cNvSpPr>
            <a:spLocks noGrp="1" noChangeArrowheads="1"/>
          </p:cNvSpPr>
          <p:nvPr>
            <p:ph type="body" idx="1"/>
          </p:nvPr>
        </p:nvSpPr>
        <p:spPr>
          <a:xfrm>
            <a:off x="304800" y="1295400"/>
            <a:ext cx="8610600" cy="5410200"/>
          </a:xfrm>
        </p:spPr>
        <p:txBody>
          <a:bodyPr/>
          <a:lstStyle/>
          <a:p>
            <a:pPr eaLnBrk="1" hangingPunct="1">
              <a:lnSpc>
                <a:spcPct val="90000"/>
              </a:lnSpc>
            </a:pPr>
            <a:r>
              <a:rPr lang="en-US" sz="2000" b="1" dirty="0" smtClean="0"/>
              <a:t>Data reduction</a:t>
            </a:r>
            <a:r>
              <a:rPr lang="en-US" sz="2000" dirty="0" smtClean="0"/>
              <a:t>: Obtain a reduced representation of the data set that is much smaller in volume but yet produces the same (or almost the same) analytical results</a:t>
            </a:r>
          </a:p>
          <a:p>
            <a:pPr eaLnBrk="1" hangingPunct="1">
              <a:lnSpc>
                <a:spcPct val="90000"/>
              </a:lnSpc>
            </a:pPr>
            <a:r>
              <a:rPr lang="en-US" sz="2000" dirty="0" smtClean="0"/>
              <a:t>Why data reduction? </a:t>
            </a:r>
            <a:r>
              <a:rPr lang="en-US" sz="2000" dirty="0" smtClean="0">
                <a:cs typeface="Tahoma" pitchFamily="34" charset="0"/>
              </a:rPr>
              <a:t>— </a:t>
            </a:r>
            <a:r>
              <a:rPr lang="en-US" sz="2000" dirty="0" smtClean="0"/>
              <a:t>A database/data warehouse may store terabytes of data.  Complex data analysis may take a very long time to run on the complete data set.</a:t>
            </a:r>
          </a:p>
          <a:p>
            <a:pPr eaLnBrk="1" hangingPunct="1">
              <a:lnSpc>
                <a:spcPct val="90000"/>
              </a:lnSpc>
            </a:pPr>
            <a:r>
              <a:rPr lang="en-US" sz="2000" dirty="0" smtClean="0"/>
              <a:t>Data reduction strategies</a:t>
            </a:r>
          </a:p>
          <a:p>
            <a:pPr lvl="1" eaLnBrk="1" hangingPunct="1">
              <a:lnSpc>
                <a:spcPct val="90000"/>
              </a:lnSpc>
            </a:pPr>
            <a:r>
              <a:rPr lang="en-US" sz="2000" dirty="0" smtClean="0">
                <a:solidFill>
                  <a:srgbClr val="FFC000"/>
                </a:solidFill>
              </a:rPr>
              <a:t>Dimensionality reduction</a:t>
            </a:r>
            <a:r>
              <a:rPr lang="en-US" sz="2000" dirty="0" smtClean="0">
                <a:solidFill>
                  <a:schemeClr val="folHlink"/>
                </a:solidFill>
              </a:rPr>
              <a:t>, </a:t>
            </a:r>
            <a:r>
              <a:rPr lang="en-US" sz="2000" dirty="0" smtClean="0"/>
              <a:t>e.g.,</a:t>
            </a:r>
            <a:r>
              <a:rPr lang="en-US" sz="2000" dirty="0" smtClean="0">
                <a:solidFill>
                  <a:schemeClr val="folHlink"/>
                </a:solidFill>
              </a:rPr>
              <a:t> </a:t>
            </a:r>
            <a:r>
              <a:rPr lang="en-US" sz="2000" dirty="0" smtClean="0"/>
              <a:t>remove unimportant attributes</a:t>
            </a:r>
          </a:p>
          <a:p>
            <a:pPr lvl="2">
              <a:lnSpc>
                <a:spcPct val="90000"/>
              </a:lnSpc>
            </a:pPr>
            <a:r>
              <a:rPr lang="en-US" sz="2000" dirty="0" smtClean="0">
                <a:solidFill>
                  <a:schemeClr val="folHlink"/>
                </a:solidFill>
              </a:rPr>
              <a:t>Feature subset selection, feature creation</a:t>
            </a:r>
          </a:p>
          <a:p>
            <a:pPr lvl="2" eaLnBrk="1" hangingPunct="1">
              <a:lnSpc>
                <a:spcPct val="90000"/>
              </a:lnSpc>
            </a:pPr>
            <a:r>
              <a:rPr lang="en-US" sz="2000" dirty="0" smtClean="0">
                <a:solidFill>
                  <a:schemeClr val="folHlink"/>
                </a:solidFill>
              </a:rPr>
              <a:t>Wavelet transforms</a:t>
            </a:r>
          </a:p>
          <a:p>
            <a:pPr lvl="2" eaLnBrk="1" hangingPunct="1">
              <a:lnSpc>
                <a:spcPct val="90000"/>
              </a:lnSpc>
            </a:pPr>
            <a:r>
              <a:rPr lang="en-US" sz="2000" dirty="0" smtClean="0">
                <a:solidFill>
                  <a:schemeClr val="folHlink"/>
                </a:solidFill>
              </a:rPr>
              <a:t>Principal Components Analysis (PCA)</a:t>
            </a:r>
          </a:p>
          <a:p>
            <a:pPr lvl="1" eaLnBrk="1" hangingPunct="1">
              <a:lnSpc>
                <a:spcPct val="90000"/>
              </a:lnSpc>
            </a:pPr>
            <a:r>
              <a:rPr lang="en-US" sz="2000" dirty="0" err="1" smtClean="0">
                <a:solidFill>
                  <a:srgbClr val="FFC000"/>
                </a:solidFill>
              </a:rPr>
              <a:t>Numerosity</a:t>
            </a:r>
            <a:r>
              <a:rPr lang="en-US" sz="2000" dirty="0" smtClean="0">
                <a:solidFill>
                  <a:srgbClr val="FFC000"/>
                </a:solidFill>
              </a:rPr>
              <a:t> reduction </a:t>
            </a:r>
            <a:r>
              <a:rPr lang="en-US" sz="2000" dirty="0" smtClean="0">
                <a:solidFill>
                  <a:schemeClr val="folHlink"/>
                </a:solidFill>
              </a:rPr>
              <a:t>(some simply call it: Data Reduction)</a:t>
            </a:r>
          </a:p>
          <a:p>
            <a:pPr lvl="2" eaLnBrk="1" hangingPunct="1">
              <a:lnSpc>
                <a:spcPct val="90000"/>
              </a:lnSpc>
            </a:pPr>
            <a:r>
              <a:rPr lang="en-US" sz="2000" dirty="0" smtClean="0">
                <a:solidFill>
                  <a:schemeClr val="folHlink"/>
                </a:solidFill>
              </a:rPr>
              <a:t>Regression and Log-Linear Models</a:t>
            </a:r>
          </a:p>
          <a:p>
            <a:pPr lvl="2" eaLnBrk="1" hangingPunct="1">
              <a:lnSpc>
                <a:spcPct val="90000"/>
              </a:lnSpc>
            </a:pPr>
            <a:r>
              <a:rPr lang="en-US" sz="2000" dirty="0" smtClean="0">
                <a:solidFill>
                  <a:schemeClr val="folHlink"/>
                </a:solidFill>
              </a:rPr>
              <a:t>Histograms, clustering, sampling</a:t>
            </a:r>
          </a:p>
          <a:p>
            <a:pPr lvl="2" eaLnBrk="1" hangingPunct="1">
              <a:lnSpc>
                <a:spcPct val="90000"/>
              </a:lnSpc>
            </a:pPr>
            <a:r>
              <a:rPr lang="en-US" sz="2000" dirty="0" smtClean="0">
                <a:solidFill>
                  <a:schemeClr val="folHlink"/>
                </a:solidFill>
              </a:rPr>
              <a:t>Data cube aggregation</a:t>
            </a:r>
          </a:p>
          <a:p>
            <a:pPr lvl="1">
              <a:lnSpc>
                <a:spcPct val="90000"/>
              </a:lnSpc>
            </a:pPr>
            <a:r>
              <a:rPr lang="en-US" sz="2200" dirty="0" smtClean="0">
                <a:solidFill>
                  <a:srgbClr val="FFC000"/>
                </a:solidFill>
              </a:rPr>
              <a:t>Data Compression</a:t>
            </a:r>
          </a:p>
        </p:txBody>
      </p:sp>
      <p:sp>
        <p:nvSpPr>
          <p:cNvPr id="5" name="Rectangle 2"/>
          <p:cNvSpPr txBox="1">
            <a:spLocks noChangeArrowheads="1"/>
          </p:cNvSpPr>
          <p:nvPr/>
        </p:nvSpPr>
        <p:spPr>
          <a:xfrm>
            <a:off x="0" y="304800"/>
            <a:ext cx="9144000" cy="685800"/>
          </a:xfrm>
          <a:prstGeom prst="rect">
            <a:avLst/>
          </a:prstGeom>
        </p:spPr>
        <p:txBody>
          <a:bodyPr bIns="91440" anchor="b" anchorCtr="0">
            <a:normAutofit/>
          </a:bodyPr>
          <a:lstStyle/>
          <a:p>
            <a:pPr lvl="0" eaLnBrk="1" fontAlgn="auto" hangingPunct="1">
              <a:spcAft>
                <a:spcPts val="0"/>
              </a:spcAft>
            </a:pPr>
            <a:r>
              <a:rPr lang="en-US" sz="3200" dirty="0" smtClean="0">
                <a:solidFill>
                  <a:schemeClr val="tx2"/>
                </a:solidFill>
                <a:latin typeface="+mj-lt"/>
              </a:rPr>
              <a:t>Data Reduction Strategies</a:t>
            </a:r>
            <a:endParaRPr kumimoji="0" lang="en-US" sz="4000" b="0" i="0" u="none" strike="noStrike" kern="1200" cap="none" spc="0" normalizeH="0" baseline="0" noProof="0" dirty="0" smtClean="0">
              <a:ln>
                <a:noFill/>
              </a:ln>
              <a:solidFill>
                <a:schemeClr val="tx2"/>
              </a:solidFill>
              <a:effectLst/>
              <a:uLnTx/>
              <a:uFillTx/>
              <a:latin typeface="+mj-lt"/>
              <a:ea typeface="+mj-ea"/>
              <a:cs typeface="+mj-cs"/>
            </a:endParaRP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3"/>
          <p:cNvSpPr>
            <a:spLocks noGrp="1" noChangeArrowheads="1"/>
          </p:cNvSpPr>
          <p:nvPr>
            <p:ph type="body" idx="4294967295"/>
          </p:nvPr>
        </p:nvSpPr>
        <p:spPr>
          <a:xfrm>
            <a:off x="304800" y="1295400"/>
            <a:ext cx="8534400" cy="5181600"/>
          </a:xfrm>
        </p:spPr>
        <p:txBody>
          <a:bodyPr/>
          <a:lstStyle/>
          <a:p>
            <a:pPr eaLnBrk="1" hangingPunct="1">
              <a:lnSpc>
                <a:spcPct val="110000"/>
              </a:lnSpc>
            </a:pPr>
            <a:r>
              <a:rPr lang="en-US" sz="1800" b="1" dirty="0" smtClean="0"/>
              <a:t>Curse of dimensionality</a:t>
            </a:r>
          </a:p>
          <a:p>
            <a:pPr lvl="1" eaLnBrk="1" hangingPunct="1">
              <a:lnSpc>
                <a:spcPct val="110000"/>
              </a:lnSpc>
            </a:pPr>
            <a:r>
              <a:rPr lang="en-US" sz="1800" dirty="0" smtClean="0"/>
              <a:t>When dimensionality increases, data becomes increasingly sparse</a:t>
            </a:r>
          </a:p>
          <a:p>
            <a:pPr lvl="1" eaLnBrk="1" hangingPunct="1">
              <a:lnSpc>
                <a:spcPct val="110000"/>
              </a:lnSpc>
            </a:pPr>
            <a:r>
              <a:rPr lang="en-US" sz="1800" dirty="0" smtClean="0"/>
              <a:t>Density and distance between points, which is critical to clustering, outlier analysis, becomes less meaningful</a:t>
            </a:r>
          </a:p>
          <a:p>
            <a:pPr lvl="1" eaLnBrk="1" hangingPunct="1">
              <a:lnSpc>
                <a:spcPct val="110000"/>
              </a:lnSpc>
            </a:pPr>
            <a:r>
              <a:rPr lang="en-US" sz="1800" dirty="0" smtClean="0"/>
              <a:t>The possible combinations of subspaces will grow exponentially</a:t>
            </a:r>
          </a:p>
          <a:p>
            <a:pPr eaLnBrk="1" hangingPunct="1">
              <a:lnSpc>
                <a:spcPct val="110000"/>
              </a:lnSpc>
            </a:pPr>
            <a:r>
              <a:rPr lang="en-US" sz="1800" b="1" dirty="0" smtClean="0"/>
              <a:t>Dimensionality reduction</a:t>
            </a:r>
          </a:p>
          <a:p>
            <a:pPr lvl="1" eaLnBrk="1" hangingPunct="1">
              <a:lnSpc>
                <a:spcPct val="110000"/>
              </a:lnSpc>
            </a:pPr>
            <a:r>
              <a:rPr lang="en-US" sz="1800" dirty="0" smtClean="0"/>
              <a:t>Avoid the curse of dimensionality</a:t>
            </a:r>
          </a:p>
          <a:p>
            <a:pPr lvl="1" eaLnBrk="1" hangingPunct="1">
              <a:lnSpc>
                <a:spcPct val="110000"/>
              </a:lnSpc>
            </a:pPr>
            <a:r>
              <a:rPr lang="en-US" sz="1800" dirty="0" smtClean="0"/>
              <a:t>Help eliminate irrelevant features and reduce noise</a:t>
            </a:r>
          </a:p>
          <a:p>
            <a:pPr lvl="1" eaLnBrk="1" hangingPunct="1">
              <a:lnSpc>
                <a:spcPct val="110000"/>
              </a:lnSpc>
            </a:pPr>
            <a:r>
              <a:rPr lang="en-US" sz="1800" dirty="0" smtClean="0"/>
              <a:t>Reduce time and space required in data mining</a:t>
            </a:r>
          </a:p>
          <a:p>
            <a:pPr lvl="1" eaLnBrk="1" hangingPunct="1">
              <a:lnSpc>
                <a:spcPct val="110000"/>
              </a:lnSpc>
            </a:pPr>
            <a:r>
              <a:rPr lang="en-US" sz="1800" dirty="0" smtClean="0"/>
              <a:t>Allow easier visualization</a:t>
            </a:r>
          </a:p>
          <a:p>
            <a:pPr eaLnBrk="1" hangingPunct="1">
              <a:lnSpc>
                <a:spcPct val="110000"/>
              </a:lnSpc>
            </a:pPr>
            <a:r>
              <a:rPr lang="en-US" sz="1800" b="1" dirty="0" smtClean="0"/>
              <a:t>Dimensionality reduction techniques</a:t>
            </a:r>
          </a:p>
          <a:p>
            <a:pPr lvl="1">
              <a:lnSpc>
                <a:spcPct val="110000"/>
              </a:lnSpc>
            </a:pPr>
            <a:r>
              <a:rPr lang="en-US" sz="1800" dirty="0" smtClean="0"/>
              <a:t>Supervised and nonlinear techniques (e.g., feature selection)</a:t>
            </a:r>
          </a:p>
          <a:p>
            <a:pPr lvl="1" eaLnBrk="1" hangingPunct="1">
              <a:lnSpc>
                <a:spcPct val="110000"/>
              </a:lnSpc>
            </a:pPr>
            <a:r>
              <a:rPr lang="en-US" sz="1800" dirty="0" smtClean="0"/>
              <a:t>Wavelet transforms</a:t>
            </a:r>
          </a:p>
          <a:p>
            <a:pPr lvl="1" eaLnBrk="1" hangingPunct="1">
              <a:lnSpc>
                <a:spcPct val="110000"/>
              </a:lnSpc>
            </a:pPr>
            <a:r>
              <a:rPr lang="en-US" sz="1800" dirty="0" smtClean="0"/>
              <a:t>Principal Component Analysis</a:t>
            </a:r>
          </a:p>
        </p:txBody>
      </p:sp>
      <p:sp>
        <p:nvSpPr>
          <p:cNvPr id="5" name="Rectangle 2"/>
          <p:cNvSpPr txBox="1">
            <a:spLocks noChangeArrowheads="1"/>
          </p:cNvSpPr>
          <p:nvPr/>
        </p:nvSpPr>
        <p:spPr>
          <a:xfrm>
            <a:off x="0" y="304800"/>
            <a:ext cx="9144000" cy="685800"/>
          </a:xfrm>
          <a:prstGeom prst="rect">
            <a:avLst/>
          </a:prstGeom>
        </p:spPr>
        <p:txBody>
          <a:bodyPr bIns="91440" anchor="b" anchorCtr="0">
            <a:normAutofit/>
          </a:bodyPr>
          <a:lstStyle/>
          <a:p>
            <a:pPr lvl="0" eaLnBrk="1" fontAlgn="auto" hangingPunct="1">
              <a:spcAft>
                <a:spcPts val="0"/>
              </a:spcAft>
            </a:pPr>
            <a:r>
              <a:rPr lang="en-US" sz="3200" dirty="0" smtClean="0">
                <a:solidFill>
                  <a:schemeClr val="tx2"/>
                </a:solidFill>
                <a:latin typeface="+mj-lt"/>
              </a:rPr>
              <a:t>Data Reduction 1: Dimensionality Reduction</a:t>
            </a:r>
            <a:endParaRPr kumimoji="0" lang="en-US" sz="4000" b="0" i="0" u="none" strike="noStrike" kern="1200" cap="none" spc="0" normalizeH="0" baseline="0" noProof="0" dirty="0" smtClean="0">
              <a:ln>
                <a:noFill/>
              </a:ln>
              <a:solidFill>
                <a:schemeClr val="tx2"/>
              </a:solidFill>
              <a:effectLst/>
              <a:uLnTx/>
              <a:uFillTx/>
              <a:latin typeface="+mj-lt"/>
              <a:ea typeface="+mj-ea"/>
              <a:cs typeface="+mj-cs"/>
            </a:endParaRP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body" idx="1"/>
          </p:nvPr>
        </p:nvSpPr>
        <p:spPr>
          <a:xfrm>
            <a:off x="304800" y="1295400"/>
            <a:ext cx="8534400" cy="5257800"/>
          </a:xfrm>
        </p:spPr>
        <p:txBody>
          <a:bodyPr>
            <a:noAutofit/>
          </a:bodyPr>
          <a:lstStyle/>
          <a:p>
            <a:pPr>
              <a:lnSpc>
                <a:spcPct val="110000"/>
              </a:lnSpc>
            </a:pPr>
            <a:r>
              <a:rPr lang="en-US" sz="2400" smtClean="0"/>
              <a:t>A </a:t>
            </a:r>
            <a:r>
              <a:rPr lang="en-US" sz="2400" dirty="0" smtClean="0"/>
              <a:t>way to reduce dimensionality of data</a:t>
            </a:r>
          </a:p>
          <a:p>
            <a:pPr>
              <a:lnSpc>
                <a:spcPct val="110000"/>
              </a:lnSpc>
            </a:pPr>
            <a:r>
              <a:rPr lang="en-US" sz="2400" dirty="0" smtClean="0"/>
              <a:t>Redundant attributes </a:t>
            </a:r>
          </a:p>
          <a:p>
            <a:pPr lvl="1">
              <a:lnSpc>
                <a:spcPct val="110000"/>
              </a:lnSpc>
            </a:pPr>
            <a:r>
              <a:rPr lang="en-US" sz="2400" dirty="0" smtClean="0"/>
              <a:t>Duplicate much or all of the information contained in one or more other attributes</a:t>
            </a:r>
          </a:p>
          <a:p>
            <a:pPr lvl="1">
              <a:lnSpc>
                <a:spcPct val="110000"/>
              </a:lnSpc>
            </a:pPr>
            <a:r>
              <a:rPr lang="en-US" sz="2400" dirty="0" smtClean="0"/>
              <a:t>E.g., purchase price of a product and the amount of sales tax paid</a:t>
            </a:r>
          </a:p>
          <a:p>
            <a:pPr>
              <a:lnSpc>
                <a:spcPct val="110000"/>
              </a:lnSpc>
            </a:pPr>
            <a:r>
              <a:rPr lang="en-US" sz="2400" dirty="0" smtClean="0"/>
              <a:t>Irrelevant attributes</a:t>
            </a:r>
          </a:p>
          <a:p>
            <a:pPr lvl="1">
              <a:lnSpc>
                <a:spcPct val="110000"/>
              </a:lnSpc>
            </a:pPr>
            <a:r>
              <a:rPr lang="en-US" sz="2400" dirty="0" smtClean="0"/>
              <a:t>Contain no information that is useful for the data mining task at hand</a:t>
            </a:r>
          </a:p>
          <a:p>
            <a:pPr lvl="1">
              <a:lnSpc>
                <a:spcPct val="110000"/>
              </a:lnSpc>
            </a:pPr>
            <a:r>
              <a:rPr lang="en-US" sz="2400" dirty="0" smtClean="0"/>
              <a:t>E.g., students' ID is often irrelevant to the task of predicting students' GPA</a:t>
            </a:r>
          </a:p>
        </p:txBody>
      </p:sp>
      <p:sp>
        <p:nvSpPr>
          <p:cNvPr id="36868" name="Text Box 3"/>
          <p:cNvSpPr>
            <a:spLocks noGrp="1" noChangeArrowheads="1"/>
          </p:cNvSpPr>
          <p:nvPr>
            <p:ph type="title"/>
          </p:nvPr>
        </p:nvSpPr>
        <p:spPr>
          <a:xfrm>
            <a:off x="0" y="152400"/>
            <a:ext cx="9144000" cy="990600"/>
          </a:xfrm>
          <a:noFill/>
        </p:spPr>
        <p:txBody>
          <a:bodyPr anchor="ctr">
            <a:normAutofit/>
          </a:bodyPr>
          <a:lstStyle/>
          <a:p>
            <a:r>
              <a:rPr lang="en-US" sz="3200" dirty="0" smtClean="0"/>
              <a:t>Attribute Subset Selection</a:t>
            </a: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body" idx="1"/>
          </p:nvPr>
        </p:nvSpPr>
        <p:spPr>
          <a:xfrm>
            <a:off x="304800" y="1295400"/>
            <a:ext cx="8534400" cy="5257800"/>
          </a:xfrm>
        </p:spPr>
        <p:txBody>
          <a:bodyPr>
            <a:noAutofit/>
          </a:bodyPr>
          <a:lstStyle/>
          <a:p>
            <a:r>
              <a:rPr lang="en-US" sz="2400" dirty="0" smtClean="0"/>
              <a:t>To find a minimum set of attributes such that the resulting probability distribution of the data classes is as close as possible to the original distribution obtained using all the attributes</a:t>
            </a:r>
          </a:p>
          <a:p>
            <a:r>
              <a:rPr lang="en-US" sz="2400" dirty="0" smtClean="0"/>
              <a:t>Exhaustive search is usually prohibitively expensive, heuristic methods are commonly used </a:t>
            </a:r>
          </a:p>
          <a:p>
            <a:r>
              <a:rPr lang="en-US" sz="2400" dirty="0" smtClean="0"/>
              <a:t>The attributes are typically selected using relevance measures such as information gain</a:t>
            </a:r>
          </a:p>
          <a:p>
            <a:r>
              <a:rPr lang="en-US" sz="2400" dirty="0" smtClean="0"/>
              <a:t>There are </a:t>
            </a:r>
            <a:r>
              <a:rPr lang="en-US" sz="2400" i="1" dirty="0" smtClean="0"/>
              <a:t>2</a:t>
            </a:r>
            <a:r>
              <a:rPr lang="en-US" sz="2400" i="1" baseline="30000" dirty="0" smtClean="0"/>
              <a:t>d</a:t>
            </a:r>
            <a:r>
              <a:rPr lang="en-US" sz="2400" dirty="0" smtClean="0"/>
              <a:t> possible attribute combinations of </a:t>
            </a:r>
            <a:r>
              <a:rPr lang="en-US" sz="2400" i="1" dirty="0" smtClean="0"/>
              <a:t>d</a:t>
            </a:r>
            <a:r>
              <a:rPr lang="en-US" sz="2400" dirty="0" smtClean="0"/>
              <a:t>  attributes</a:t>
            </a:r>
          </a:p>
          <a:p>
            <a:r>
              <a:rPr lang="en-US" sz="2400" dirty="0" smtClean="0"/>
              <a:t>Typical heuristic attribute selection methods:</a:t>
            </a:r>
          </a:p>
          <a:p>
            <a:pPr lvl="1"/>
            <a:r>
              <a:rPr lang="en-US" sz="2400" dirty="0" smtClean="0"/>
              <a:t>Best single attribute under the attribute independence assumption: choose by significance tests</a:t>
            </a:r>
          </a:p>
          <a:p>
            <a:endParaRPr lang="en-US" sz="2400" dirty="0" smtClean="0"/>
          </a:p>
        </p:txBody>
      </p:sp>
      <p:sp>
        <p:nvSpPr>
          <p:cNvPr id="36868" name="Text Box 3"/>
          <p:cNvSpPr>
            <a:spLocks noGrp="1" noChangeArrowheads="1"/>
          </p:cNvSpPr>
          <p:nvPr>
            <p:ph type="title"/>
          </p:nvPr>
        </p:nvSpPr>
        <p:spPr>
          <a:xfrm>
            <a:off x="0" y="152400"/>
            <a:ext cx="9144000" cy="990600"/>
          </a:xfrm>
          <a:noFill/>
        </p:spPr>
        <p:txBody>
          <a:bodyPr anchor="ctr">
            <a:normAutofit/>
          </a:bodyPr>
          <a:lstStyle/>
          <a:p>
            <a:r>
              <a:rPr lang="en-US" sz="3200" dirty="0" smtClean="0"/>
              <a:t>Attribute Subset Selection</a:t>
            </a: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body" idx="1"/>
          </p:nvPr>
        </p:nvSpPr>
        <p:spPr>
          <a:xfrm>
            <a:off x="304800" y="1295400"/>
            <a:ext cx="8534400" cy="5257800"/>
          </a:xfrm>
        </p:spPr>
        <p:txBody>
          <a:bodyPr>
            <a:noAutofit/>
          </a:bodyPr>
          <a:lstStyle/>
          <a:p>
            <a:r>
              <a:rPr lang="en-US" dirty="0" smtClean="0"/>
              <a:t>Best step-wise feature selection:</a:t>
            </a:r>
          </a:p>
          <a:p>
            <a:pPr lvl="1"/>
            <a:r>
              <a:rPr lang="en-US" dirty="0" smtClean="0"/>
              <a:t>The best single-attribute is picked first</a:t>
            </a:r>
          </a:p>
          <a:p>
            <a:pPr lvl="1"/>
            <a:r>
              <a:rPr lang="en-US" dirty="0" smtClean="0"/>
              <a:t>Then next best attribute condition to the first, …</a:t>
            </a:r>
          </a:p>
        </p:txBody>
      </p:sp>
      <p:sp>
        <p:nvSpPr>
          <p:cNvPr id="36868" name="Text Box 3"/>
          <p:cNvSpPr>
            <a:spLocks noGrp="1" noChangeArrowheads="1"/>
          </p:cNvSpPr>
          <p:nvPr>
            <p:ph type="title"/>
          </p:nvPr>
        </p:nvSpPr>
        <p:spPr>
          <a:xfrm>
            <a:off x="0" y="152400"/>
            <a:ext cx="9144000" cy="990600"/>
          </a:xfrm>
          <a:noFill/>
        </p:spPr>
        <p:txBody>
          <a:bodyPr anchor="ctr">
            <a:normAutofit/>
          </a:bodyPr>
          <a:lstStyle/>
          <a:p>
            <a:r>
              <a:rPr lang="en-US" sz="3200" dirty="0" smtClean="0"/>
              <a:t>Heuristic Search in Attribute Selection</a:t>
            </a:r>
          </a:p>
        </p:txBody>
      </p:sp>
      <p:pic>
        <p:nvPicPr>
          <p:cNvPr id="313345" name="Picture 1"/>
          <p:cNvPicPr>
            <a:picLocks noChangeAspect="1" noChangeArrowheads="1"/>
          </p:cNvPicPr>
          <p:nvPr/>
        </p:nvPicPr>
        <p:blipFill>
          <a:blip r:embed="rId3"/>
          <a:srcRect/>
          <a:stretch>
            <a:fillRect/>
          </a:stretch>
        </p:blipFill>
        <p:spPr bwMode="auto">
          <a:xfrm>
            <a:off x="1371600" y="2724150"/>
            <a:ext cx="5257800" cy="268605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body" idx="1"/>
          </p:nvPr>
        </p:nvSpPr>
        <p:spPr>
          <a:xfrm>
            <a:off x="304800" y="1295400"/>
            <a:ext cx="8534400" cy="5257800"/>
          </a:xfrm>
        </p:spPr>
        <p:txBody>
          <a:bodyPr>
            <a:noAutofit/>
          </a:bodyPr>
          <a:lstStyle/>
          <a:p>
            <a:r>
              <a:rPr lang="en-US" dirty="0" smtClean="0"/>
              <a:t>Step-wise attribute elimination:</a:t>
            </a:r>
          </a:p>
          <a:p>
            <a:pPr lvl="1"/>
            <a:r>
              <a:rPr lang="en-US" dirty="0" smtClean="0"/>
              <a:t>Repeatedly eliminate the worst attribute</a:t>
            </a:r>
          </a:p>
          <a:p>
            <a:pPr lvl="1"/>
            <a:endParaRPr lang="en-US" sz="2400" dirty="0" smtClean="0"/>
          </a:p>
          <a:p>
            <a:pPr lvl="1"/>
            <a:endParaRPr lang="en-US" sz="2400" dirty="0" smtClean="0"/>
          </a:p>
          <a:p>
            <a:pPr lvl="1"/>
            <a:endParaRPr lang="en-US" sz="2400" dirty="0" smtClean="0"/>
          </a:p>
          <a:p>
            <a:pPr>
              <a:buNone/>
            </a:pPr>
            <a:endParaRPr lang="en-US" dirty="0" smtClean="0"/>
          </a:p>
          <a:p>
            <a:endParaRPr lang="en-US" dirty="0" smtClean="0"/>
          </a:p>
        </p:txBody>
      </p:sp>
      <p:sp>
        <p:nvSpPr>
          <p:cNvPr id="36868" name="Text Box 3"/>
          <p:cNvSpPr>
            <a:spLocks noGrp="1" noChangeArrowheads="1"/>
          </p:cNvSpPr>
          <p:nvPr>
            <p:ph type="title"/>
          </p:nvPr>
        </p:nvSpPr>
        <p:spPr>
          <a:xfrm>
            <a:off x="0" y="152400"/>
            <a:ext cx="9144000" cy="990600"/>
          </a:xfrm>
          <a:noFill/>
        </p:spPr>
        <p:txBody>
          <a:bodyPr anchor="ctr">
            <a:normAutofit/>
          </a:bodyPr>
          <a:lstStyle/>
          <a:p>
            <a:r>
              <a:rPr lang="en-US" sz="3200" dirty="0" smtClean="0"/>
              <a:t>Heuristic Search in Attribute Selection</a:t>
            </a:r>
          </a:p>
        </p:txBody>
      </p:sp>
      <p:pic>
        <p:nvPicPr>
          <p:cNvPr id="366594" name="Picture 2"/>
          <p:cNvPicPr>
            <a:picLocks noChangeAspect="1" noChangeArrowheads="1"/>
          </p:cNvPicPr>
          <p:nvPr/>
        </p:nvPicPr>
        <p:blipFill>
          <a:blip r:embed="rId3"/>
          <a:srcRect/>
          <a:stretch>
            <a:fillRect/>
          </a:stretch>
        </p:blipFill>
        <p:spPr bwMode="auto">
          <a:xfrm>
            <a:off x="1266825" y="2438400"/>
            <a:ext cx="4714875" cy="217170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body" idx="1"/>
          </p:nvPr>
        </p:nvSpPr>
        <p:spPr>
          <a:xfrm>
            <a:off x="304800" y="1295400"/>
            <a:ext cx="8534400" cy="5257800"/>
          </a:xfrm>
        </p:spPr>
        <p:txBody>
          <a:bodyPr>
            <a:noAutofit/>
          </a:bodyPr>
          <a:lstStyle/>
          <a:p>
            <a:r>
              <a:rPr lang="en-US" dirty="0" smtClean="0"/>
              <a:t>Best combined attribute selection and elimination</a:t>
            </a:r>
          </a:p>
          <a:p>
            <a:pPr lvl="1"/>
            <a:r>
              <a:rPr lang="en-US" dirty="0" smtClean="0"/>
              <a:t>Select the best of the original attributes and eliminate the worst of the remaining original attributes </a:t>
            </a:r>
          </a:p>
          <a:p>
            <a:endParaRPr lang="en-US" dirty="0" smtClean="0"/>
          </a:p>
          <a:p>
            <a:endParaRPr lang="en-US" dirty="0" smtClean="0"/>
          </a:p>
          <a:p>
            <a:endParaRPr lang="en-US" dirty="0" smtClean="0"/>
          </a:p>
          <a:p>
            <a:endParaRPr lang="en-US" dirty="0" smtClean="0"/>
          </a:p>
        </p:txBody>
      </p:sp>
      <p:sp>
        <p:nvSpPr>
          <p:cNvPr id="36868" name="Text Box 3"/>
          <p:cNvSpPr>
            <a:spLocks noGrp="1" noChangeArrowheads="1"/>
          </p:cNvSpPr>
          <p:nvPr>
            <p:ph type="title"/>
          </p:nvPr>
        </p:nvSpPr>
        <p:spPr>
          <a:xfrm>
            <a:off x="0" y="152400"/>
            <a:ext cx="9144000" cy="990600"/>
          </a:xfrm>
          <a:noFill/>
        </p:spPr>
        <p:txBody>
          <a:bodyPr anchor="ctr">
            <a:normAutofit/>
          </a:bodyPr>
          <a:lstStyle/>
          <a:p>
            <a:r>
              <a:rPr lang="en-US" sz="3200" dirty="0" smtClean="0"/>
              <a:t>Heuristic Search in Attribute Selection</a:t>
            </a:r>
          </a:p>
        </p:txBody>
      </p:sp>
      <p:pic>
        <p:nvPicPr>
          <p:cNvPr id="367618" name="Picture 2"/>
          <p:cNvPicPr>
            <a:picLocks noChangeAspect="1" noChangeArrowheads="1"/>
          </p:cNvPicPr>
          <p:nvPr/>
        </p:nvPicPr>
        <p:blipFill>
          <a:blip r:embed="rId3"/>
          <a:srcRect/>
          <a:stretch>
            <a:fillRect/>
          </a:stretch>
        </p:blipFill>
        <p:spPr bwMode="auto">
          <a:xfrm>
            <a:off x="1752600" y="2857500"/>
            <a:ext cx="5143500" cy="240030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body" idx="1"/>
          </p:nvPr>
        </p:nvSpPr>
        <p:spPr>
          <a:xfrm>
            <a:off x="304800" y="1295400"/>
            <a:ext cx="8534400" cy="5257800"/>
          </a:xfrm>
        </p:spPr>
        <p:txBody>
          <a:bodyPr>
            <a:noAutofit/>
          </a:bodyPr>
          <a:lstStyle/>
          <a:p>
            <a:r>
              <a:rPr lang="en-US" dirty="0" smtClean="0"/>
              <a:t>Optimal branch and bound:</a:t>
            </a:r>
          </a:p>
          <a:p>
            <a:pPr lvl="1"/>
            <a:r>
              <a:rPr lang="en-US" dirty="0" smtClean="0">
                <a:sym typeface="Symbol" pitchFamily="18" charset="2"/>
              </a:rPr>
              <a:t>Use attribute elimination and backtracking</a:t>
            </a:r>
          </a:p>
          <a:p>
            <a:pPr lvl="1"/>
            <a:r>
              <a:rPr lang="en-US" dirty="0" smtClean="0"/>
              <a:t>Decision tree induction </a:t>
            </a:r>
          </a:p>
          <a:p>
            <a:pPr lvl="2"/>
            <a:r>
              <a:rPr lang="en-US" dirty="0" smtClean="0"/>
              <a:t>Train a decision tree </a:t>
            </a:r>
          </a:p>
          <a:p>
            <a:pPr lvl="2"/>
            <a:r>
              <a:rPr lang="en-US" dirty="0" smtClean="0"/>
              <a:t>Remove the attributes that have not appeared in the tree </a:t>
            </a:r>
          </a:p>
          <a:p>
            <a:endParaRPr lang="en-US" dirty="0" smtClean="0"/>
          </a:p>
          <a:p>
            <a:endParaRPr lang="en-US" dirty="0" smtClean="0"/>
          </a:p>
          <a:p>
            <a:endParaRPr lang="en-US" dirty="0" smtClean="0"/>
          </a:p>
          <a:p>
            <a:pPr lvl="2"/>
            <a:endParaRPr lang="en-US" dirty="0" smtClean="0"/>
          </a:p>
        </p:txBody>
      </p:sp>
      <p:sp>
        <p:nvSpPr>
          <p:cNvPr id="36868" name="Text Box 3"/>
          <p:cNvSpPr>
            <a:spLocks noGrp="1" noChangeArrowheads="1"/>
          </p:cNvSpPr>
          <p:nvPr>
            <p:ph type="title"/>
          </p:nvPr>
        </p:nvSpPr>
        <p:spPr>
          <a:xfrm>
            <a:off x="0" y="152400"/>
            <a:ext cx="9144000" cy="990600"/>
          </a:xfrm>
          <a:noFill/>
        </p:spPr>
        <p:txBody>
          <a:bodyPr anchor="ctr">
            <a:normAutofit/>
          </a:bodyPr>
          <a:lstStyle/>
          <a:p>
            <a:r>
              <a:rPr lang="en-US" sz="3200" dirty="0" smtClean="0"/>
              <a:t>Heuristic Search in Attribute Selection</a:t>
            </a:r>
          </a:p>
        </p:txBody>
      </p:sp>
      <p:pic>
        <p:nvPicPr>
          <p:cNvPr id="368642" name="Picture 2"/>
          <p:cNvPicPr>
            <a:picLocks noChangeAspect="1" noChangeArrowheads="1"/>
          </p:cNvPicPr>
          <p:nvPr/>
        </p:nvPicPr>
        <p:blipFill>
          <a:blip r:embed="rId3"/>
          <a:srcRect/>
          <a:stretch>
            <a:fillRect/>
          </a:stretch>
        </p:blipFill>
        <p:spPr bwMode="auto">
          <a:xfrm>
            <a:off x="1638300" y="3481387"/>
            <a:ext cx="5427345" cy="3187065"/>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061"/>
          <p:cNvSpPr txBox="1">
            <a:spLocks noGrp="1" noChangeArrowheads="1"/>
          </p:cNvSpPr>
          <p:nvPr/>
        </p:nvSpPr>
        <p:spPr bwMode="auto">
          <a:xfrm>
            <a:off x="7239000" y="6477000"/>
            <a:ext cx="1905000" cy="381000"/>
          </a:xfrm>
          <a:prstGeom prst="rect">
            <a:avLst/>
          </a:prstGeom>
          <a:noFill/>
          <a:ln w="9525">
            <a:noFill/>
            <a:miter lim="800000"/>
            <a:headEnd/>
            <a:tailEnd/>
          </a:ln>
        </p:spPr>
        <p:txBody>
          <a:bodyPr anchor="b"/>
          <a:lstStyle/>
          <a:p>
            <a:pPr algn="r"/>
            <a:fld id="{7A496395-E5A9-4208-9B96-956E81A9E23C}" type="slidenum">
              <a:rPr lang="en-US" sz="1200"/>
              <a:pPr algn="r"/>
              <a:t>36</a:t>
            </a:fld>
            <a:endParaRPr lang="en-US" sz="1200"/>
          </a:p>
        </p:txBody>
      </p:sp>
      <p:sp>
        <p:nvSpPr>
          <p:cNvPr id="5" name="Text Box 3"/>
          <p:cNvSpPr>
            <a:spLocks noGrp="1" noChangeArrowheads="1"/>
          </p:cNvSpPr>
          <p:nvPr>
            <p:ph type="title"/>
          </p:nvPr>
        </p:nvSpPr>
        <p:spPr>
          <a:xfrm>
            <a:off x="0" y="152400"/>
            <a:ext cx="9144000" cy="990600"/>
          </a:xfrm>
          <a:noFill/>
        </p:spPr>
        <p:txBody>
          <a:bodyPr anchor="ctr">
            <a:normAutofit/>
          </a:bodyPr>
          <a:lstStyle/>
          <a:p>
            <a:r>
              <a:rPr lang="en-US" sz="3200" dirty="0" smtClean="0"/>
              <a:t>Attribute Creation (Feature Generation)</a:t>
            </a:r>
          </a:p>
        </p:txBody>
      </p:sp>
      <p:sp>
        <p:nvSpPr>
          <p:cNvPr id="6" name="Rectangle 2"/>
          <p:cNvSpPr txBox="1">
            <a:spLocks noChangeArrowheads="1"/>
          </p:cNvSpPr>
          <p:nvPr/>
        </p:nvSpPr>
        <p:spPr>
          <a:xfrm>
            <a:off x="304800" y="1295400"/>
            <a:ext cx="8534400" cy="5257800"/>
          </a:xfrm>
          <a:prstGeom prst="rect">
            <a:avLst/>
          </a:prstGeom>
        </p:spPr>
        <p:txBody>
          <a:bodyPr vert="horz">
            <a:noAutofit/>
          </a:bodyPr>
          <a:lstStyle/>
          <a:p>
            <a:pPr marL="274320" indent="-274320" eaLnBrk="1" fontAlgn="auto" hangingPunct="1">
              <a:spcBef>
                <a:spcPts val="580"/>
              </a:spcBef>
              <a:spcAft>
                <a:spcPts val="0"/>
              </a:spcAft>
              <a:buClr>
                <a:schemeClr val="accent1"/>
              </a:buClr>
              <a:buSzPct val="85000"/>
              <a:buFont typeface="Wingdings 2"/>
              <a:buChar char=""/>
            </a:pPr>
            <a:r>
              <a:rPr lang="en-US" sz="2800" dirty="0" smtClean="0">
                <a:latin typeface="+mn-lt"/>
              </a:rPr>
              <a:t>Create new attributes (features) that can capture the important information in a data set more effectively than the original ones</a:t>
            </a:r>
          </a:p>
          <a:p>
            <a:pPr marL="274320" indent="-274320" eaLnBrk="1" fontAlgn="auto" hangingPunct="1">
              <a:spcBef>
                <a:spcPts val="580"/>
              </a:spcBef>
              <a:spcAft>
                <a:spcPts val="0"/>
              </a:spcAft>
              <a:buClr>
                <a:schemeClr val="accent1"/>
              </a:buClr>
              <a:buSzPct val="85000"/>
              <a:buFont typeface="Wingdings 2"/>
              <a:buChar char=""/>
            </a:pPr>
            <a:r>
              <a:rPr lang="en-US" sz="2400" dirty="0" smtClean="0">
                <a:latin typeface="+mn-lt"/>
              </a:rPr>
              <a:t>Three general methodologies</a:t>
            </a:r>
          </a:p>
          <a:p>
            <a:pPr marL="274320" indent="-274320" eaLnBrk="1" fontAlgn="auto" hangingPunct="1">
              <a:spcBef>
                <a:spcPts val="580"/>
              </a:spcBef>
              <a:spcAft>
                <a:spcPts val="0"/>
              </a:spcAft>
              <a:buClr>
                <a:schemeClr val="accent1"/>
              </a:buClr>
              <a:buSzPct val="85000"/>
              <a:buFont typeface="Wingdings 2"/>
              <a:buChar char=""/>
            </a:pPr>
            <a:r>
              <a:rPr lang="en-US" sz="2400" dirty="0" smtClean="0">
                <a:latin typeface="+mn-lt"/>
              </a:rPr>
              <a:t>Attribute extraction</a:t>
            </a:r>
          </a:p>
          <a:p>
            <a:pPr marL="731520" lvl="1" indent="-274320" eaLnBrk="1" fontAlgn="auto" hangingPunct="1">
              <a:spcBef>
                <a:spcPts val="580"/>
              </a:spcBef>
              <a:spcAft>
                <a:spcPts val="0"/>
              </a:spcAft>
              <a:buClr>
                <a:schemeClr val="accent1"/>
              </a:buClr>
              <a:buSzPct val="85000"/>
              <a:buFont typeface="Wingdings 2"/>
              <a:buChar char=""/>
            </a:pPr>
            <a:r>
              <a:rPr lang="en-US" dirty="0" smtClean="0">
                <a:latin typeface="+mn-lt"/>
              </a:rPr>
              <a:t>Domain-specific</a:t>
            </a:r>
          </a:p>
          <a:p>
            <a:pPr marL="274320" indent="-274320" eaLnBrk="1" fontAlgn="auto" hangingPunct="1">
              <a:spcBef>
                <a:spcPts val="580"/>
              </a:spcBef>
              <a:spcAft>
                <a:spcPts val="0"/>
              </a:spcAft>
              <a:buClr>
                <a:schemeClr val="accent1"/>
              </a:buClr>
              <a:buSzPct val="85000"/>
              <a:buFont typeface="Wingdings 2"/>
              <a:buChar char=""/>
            </a:pPr>
            <a:r>
              <a:rPr lang="en-US" sz="2400" dirty="0" smtClean="0">
                <a:latin typeface="+mn-lt"/>
              </a:rPr>
              <a:t>Mapping data to new space (see: data reduction)</a:t>
            </a:r>
          </a:p>
          <a:p>
            <a:pPr marL="731520" lvl="1" indent="-274320" eaLnBrk="1" fontAlgn="auto" hangingPunct="1">
              <a:spcBef>
                <a:spcPts val="580"/>
              </a:spcBef>
              <a:spcAft>
                <a:spcPts val="0"/>
              </a:spcAft>
              <a:buClr>
                <a:schemeClr val="accent1"/>
              </a:buClr>
              <a:buSzPct val="85000"/>
              <a:buFont typeface="Wingdings 2"/>
              <a:buChar char=""/>
            </a:pPr>
            <a:r>
              <a:rPr lang="en-US" dirty="0" smtClean="0">
                <a:latin typeface="+mn-lt"/>
              </a:rPr>
              <a:t>E.g., Fourier transformation, wavelet transformation, manifold approaches (not covered)</a:t>
            </a:r>
          </a:p>
          <a:p>
            <a:pPr marL="274320" indent="-274320" eaLnBrk="1" fontAlgn="auto" hangingPunct="1">
              <a:spcBef>
                <a:spcPts val="580"/>
              </a:spcBef>
              <a:spcAft>
                <a:spcPts val="0"/>
              </a:spcAft>
              <a:buClr>
                <a:schemeClr val="accent1"/>
              </a:buClr>
              <a:buSzPct val="85000"/>
              <a:buFont typeface="Wingdings 2"/>
              <a:buChar char=""/>
            </a:pPr>
            <a:r>
              <a:rPr lang="en-US" sz="2400" dirty="0" smtClean="0">
                <a:latin typeface="+mn-lt"/>
              </a:rPr>
              <a:t>Attribute construction </a:t>
            </a:r>
          </a:p>
          <a:p>
            <a:pPr marL="731520" lvl="1" indent="-274320" eaLnBrk="1" fontAlgn="auto" hangingPunct="1">
              <a:spcBef>
                <a:spcPts val="580"/>
              </a:spcBef>
              <a:spcAft>
                <a:spcPts val="0"/>
              </a:spcAft>
              <a:buClr>
                <a:schemeClr val="accent1"/>
              </a:buClr>
              <a:buSzPct val="85000"/>
              <a:buFont typeface="Wingdings 2"/>
              <a:buChar char=""/>
            </a:pPr>
            <a:r>
              <a:rPr lang="en-US" dirty="0" smtClean="0">
                <a:latin typeface="+mn-lt"/>
              </a:rPr>
              <a:t>Combining features (see: discriminative frequent patterns in Chapter 7) Data </a:t>
            </a:r>
            <a:r>
              <a:rPr lang="en-US" dirty="0" err="1" smtClean="0">
                <a:latin typeface="+mn-lt"/>
              </a:rPr>
              <a:t>discretization</a:t>
            </a:r>
            <a:endParaRPr lang="en-US" sz="2800" dirty="0" smtClean="0">
              <a:latin typeface="+mn-lt"/>
            </a:endParaRPr>
          </a:p>
          <a:p>
            <a:pPr marL="274320" indent="-274320" eaLnBrk="1" fontAlgn="auto" hangingPunct="1">
              <a:spcBef>
                <a:spcPts val="580"/>
              </a:spcBef>
              <a:spcAft>
                <a:spcPts val="0"/>
              </a:spcAft>
              <a:buClr>
                <a:schemeClr val="accent1"/>
              </a:buClr>
              <a:buSzPct val="85000"/>
              <a:buFont typeface="Wingdings 2"/>
              <a:buChar char=""/>
            </a:pPr>
            <a:endParaRPr kumimoji="0" lang="en-US" sz="2400" i="0" u="none" strike="noStrike" kern="1200" cap="none" spc="0" normalizeH="0" baseline="0" noProof="0" dirty="0" smtClean="0">
              <a:ln>
                <a:noFill/>
              </a:ln>
              <a:solidFill>
                <a:schemeClr val="tx1"/>
              </a:solidFill>
              <a:effectLst/>
              <a:uLnTx/>
              <a:uFillTx/>
              <a:latin typeface="+mn-lt"/>
              <a:ea typeface="+mn-ea"/>
              <a:cs typeface="+mn-cs"/>
            </a:endParaRPr>
          </a:p>
          <a:p>
            <a:pPr marL="548640" marR="0" lvl="1" indent="-228600" algn="l" defTabSz="914400" rtl="0" eaLnBrk="1" fontAlgn="auto" latinLnBrk="0" hangingPunct="1">
              <a:lnSpc>
                <a:spcPct val="100000"/>
              </a:lnSpc>
              <a:spcBef>
                <a:spcPts val="370"/>
              </a:spcBef>
              <a:spcAft>
                <a:spcPts val="0"/>
              </a:spcAft>
              <a:buClr>
                <a:schemeClr val="accent2"/>
              </a:buClr>
              <a:buSzPct val="85000"/>
              <a:buFont typeface="Wingdings 2"/>
              <a:buChar char=""/>
              <a:tabLst/>
              <a:defRPr/>
            </a:pPr>
            <a:endParaRPr kumimoji="0" lang="en-US" sz="240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None/>
              <a:tabLst/>
              <a:defRPr/>
            </a:pPr>
            <a:endParaRPr kumimoji="0" lang="en-US" sz="2800" i="0" u="none" strike="noStrike" kern="1200" cap="none" spc="0" normalizeH="0" baseline="0" noProof="0" dirty="0" smtClean="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n-US" sz="280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3"/>
          <p:cNvSpPr>
            <a:spLocks noGrp="1" noChangeArrowheads="1"/>
          </p:cNvSpPr>
          <p:nvPr>
            <p:ph type="body" sz="half" idx="4294967295"/>
          </p:nvPr>
        </p:nvSpPr>
        <p:spPr>
          <a:xfrm>
            <a:off x="304800" y="1295400"/>
            <a:ext cx="8534400" cy="5181600"/>
          </a:xfrm>
        </p:spPr>
        <p:txBody>
          <a:bodyPr>
            <a:normAutofit/>
          </a:bodyPr>
          <a:lstStyle/>
          <a:p>
            <a:pPr eaLnBrk="1" hangingPunct="1">
              <a:lnSpc>
                <a:spcPct val="110000"/>
              </a:lnSpc>
            </a:pPr>
            <a:r>
              <a:rPr lang="en-US" sz="2600" dirty="0" smtClean="0"/>
              <a:t>Data are transformed to preserve relative distance between objects at different levels of resolution</a:t>
            </a:r>
          </a:p>
          <a:p>
            <a:pPr eaLnBrk="1" hangingPunct="1">
              <a:lnSpc>
                <a:spcPct val="110000"/>
              </a:lnSpc>
            </a:pPr>
            <a:r>
              <a:rPr lang="en-US" sz="2600" dirty="0" smtClean="0"/>
              <a:t>Allow natural clusters to become more distinguishable</a:t>
            </a:r>
          </a:p>
          <a:p>
            <a:pPr eaLnBrk="1" hangingPunct="1">
              <a:lnSpc>
                <a:spcPct val="110000"/>
              </a:lnSpc>
            </a:pPr>
            <a:r>
              <a:rPr lang="en-US" sz="2600" dirty="0" smtClean="0"/>
              <a:t>Used for image compression</a:t>
            </a:r>
          </a:p>
        </p:txBody>
      </p:sp>
      <p:sp>
        <p:nvSpPr>
          <p:cNvPr id="6" name="Rectangle 2"/>
          <p:cNvSpPr txBox="1">
            <a:spLocks noChangeArrowheads="1"/>
          </p:cNvSpPr>
          <p:nvPr/>
        </p:nvSpPr>
        <p:spPr>
          <a:xfrm>
            <a:off x="0" y="304800"/>
            <a:ext cx="9144000" cy="685800"/>
          </a:xfrm>
          <a:prstGeom prst="rect">
            <a:avLst/>
          </a:prstGeom>
        </p:spPr>
        <p:txBody>
          <a:bodyPr bIns="91440" anchor="b" anchorCtr="0">
            <a:normAutofit/>
          </a:bodyPr>
          <a:lstStyle/>
          <a:p>
            <a:pPr lvl="0" eaLnBrk="1" fontAlgn="auto" hangingPunct="1">
              <a:spcAft>
                <a:spcPts val="0"/>
              </a:spcAft>
            </a:pPr>
            <a:r>
              <a:rPr lang="en-US" sz="3200" dirty="0" smtClean="0">
                <a:solidFill>
                  <a:schemeClr val="tx2"/>
                </a:solidFill>
                <a:latin typeface="+mj-lt"/>
              </a:rPr>
              <a:t>What Is Wavelet Transform?</a:t>
            </a: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txBox="1">
            <a:spLocks noChangeArrowheads="1"/>
          </p:cNvSpPr>
          <p:nvPr/>
        </p:nvSpPr>
        <p:spPr>
          <a:xfrm>
            <a:off x="0" y="304800"/>
            <a:ext cx="9144000" cy="685800"/>
          </a:xfrm>
          <a:prstGeom prst="rect">
            <a:avLst/>
          </a:prstGeom>
        </p:spPr>
        <p:txBody>
          <a:bodyPr bIns="91440" anchor="b" anchorCtr="0">
            <a:normAutofit/>
          </a:bodyPr>
          <a:lstStyle/>
          <a:p>
            <a:pPr lvl="0" eaLnBrk="1" fontAlgn="auto" hangingPunct="1">
              <a:spcAft>
                <a:spcPts val="0"/>
              </a:spcAft>
            </a:pPr>
            <a:r>
              <a:rPr lang="en-US" sz="3200" dirty="0" smtClean="0">
                <a:solidFill>
                  <a:schemeClr val="tx2"/>
                </a:solidFill>
                <a:latin typeface="+mj-lt"/>
              </a:rPr>
              <a:t>Wavelet Transformation </a:t>
            </a:r>
          </a:p>
        </p:txBody>
      </p:sp>
      <p:sp>
        <p:nvSpPr>
          <p:cNvPr id="32772" name="Rectangle 3"/>
          <p:cNvSpPr>
            <a:spLocks noGrp="1" noChangeArrowheads="1"/>
          </p:cNvSpPr>
          <p:nvPr>
            <p:ph type="body" idx="4294967295"/>
          </p:nvPr>
        </p:nvSpPr>
        <p:spPr>
          <a:xfrm>
            <a:off x="304800" y="1447800"/>
            <a:ext cx="8458200" cy="4933950"/>
          </a:xfrm>
        </p:spPr>
        <p:txBody>
          <a:bodyPr/>
          <a:lstStyle/>
          <a:p>
            <a:pPr eaLnBrk="1" hangingPunct="1">
              <a:lnSpc>
                <a:spcPct val="110000"/>
              </a:lnSpc>
            </a:pPr>
            <a:r>
              <a:rPr lang="en-US" sz="2600" dirty="0" smtClean="0"/>
              <a:t>Compressed approximation: store only a small fraction of the strongest of the wavelet coefficients</a:t>
            </a:r>
          </a:p>
          <a:p>
            <a:pPr eaLnBrk="1" hangingPunct="1">
              <a:lnSpc>
                <a:spcPct val="110000"/>
              </a:lnSpc>
            </a:pPr>
            <a:r>
              <a:rPr lang="en-US" sz="2600" dirty="0" smtClean="0"/>
              <a:t>Similar to discrete Fourier transform (DFT), but better </a:t>
            </a:r>
            <a:r>
              <a:rPr lang="en-US" sz="2600" dirty="0" err="1" smtClean="0"/>
              <a:t>lossy</a:t>
            </a:r>
            <a:r>
              <a:rPr lang="en-US" sz="2600" dirty="0" smtClean="0"/>
              <a:t> compression, localized in space</a:t>
            </a:r>
          </a:p>
          <a:p>
            <a:pPr eaLnBrk="1" hangingPunct="1">
              <a:lnSpc>
                <a:spcPct val="110000"/>
              </a:lnSpc>
            </a:pPr>
            <a:r>
              <a:rPr lang="en-US" sz="2600" dirty="0" smtClean="0"/>
              <a:t>Method:</a:t>
            </a:r>
          </a:p>
          <a:p>
            <a:pPr lvl="1" eaLnBrk="1" hangingPunct="1">
              <a:lnSpc>
                <a:spcPct val="110000"/>
              </a:lnSpc>
            </a:pPr>
            <a:r>
              <a:rPr lang="en-US" sz="2400" dirty="0" smtClean="0"/>
              <a:t>Length, L, must be an integer power of 2 (padding with 0’s, when necessary)</a:t>
            </a:r>
          </a:p>
          <a:p>
            <a:pPr lvl="1" eaLnBrk="1" hangingPunct="1">
              <a:lnSpc>
                <a:spcPct val="110000"/>
              </a:lnSpc>
            </a:pPr>
            <a:r>
              <a:rPr lang="en-US" sz="2400" dirty="0" smtClean="0"/>
              <a:t>Each transform has 2 functions: smoothing, difference</a:t>
            </a:r>
          </a:p>
          <a:p>
            <a:pPr lvl="1" eaLnBrk="1" hangingPunct="1">
              <a:lnSpc>
                <a:spcPct val="110000"/>
              </a:lnSpc>
            </a:pPr>
            <a:r>
              <a:rPr lang="en-US" sz="2400" dirty="0" smtClean="0"/>
              <a:t>Applies to pairs of data, resulting in two set of data of length L/2</a:t>
            </a:r>
          </a:p>
          <a:p>
            <a:pPr lvl="1" eaLnBrk="1" hangingPunct="1">
              <a:lnSpc>
                <a:spcPct val="110000"/>
              </a:lnSpc>
            </a:pPr>
            <a:r>
              <a:rPr lang="en-US" sz="2400" dirty="0" smtClean="0"/>
              <a:t>Applies two functions recursively, until reaches the desired length</a:t>
            </a: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3"/>
          <p:cNvSpPr>
            <a:spLocks noGrp="1" noChangeArrowheads="1"/>
          </p:cNvSpPr>
          <p:nvPr>
            <p:ph type="body" idx="4294967295"/>
          </p:nvPr>
        </p:nvSpPr>
        <p:spPr>
          <a:xfrm>
            <a:off x="304800" y="1295400"/>
            <a:ext cx="8534400" cy="5181600"/>
          </a:xfrm>
        </p:spPr>
        <p:txBody>
          <a:bodyPr>
            <a:normAutofit/>
          </a:bodyPr>
          <a:lstStyle/>
          <a:p>
            <a:pPr>
              <a:lnSpc>
                <a:spcPct val="110000"/>
              </a:lnSpc>
            </a:pPr>
            <a:r>
              <a:rPr lang="en-US" sz="2400" dirty="0" smtClean="0"/>
              <a:t>Wavelets: A math tool for space-efficient hierarchical decomposition of functions </a:t>
            </a:r>
          </a:p>
          <a:p>
            <a:pPr>
              <a:lnSpc>
                <a:spcPct val="110000"/>
              </a:lnSpc>
            </a:pPr>
            <a:r>
              <a:rPr lang="en-US" sz="2400" dirty="0" smtClean="0"/>
              <a:t>S = [2, 2, 0, 2, 3, 5, 4, 4] can be transformed to S</a:t>
            </a:r>
            <a:r>
              <a:rPr lang="en-US" sz="2400" baseline="-25000" dirty="0" smtClean="0"/>
              <a:t>^ </a:t>
            </a:r>
            <a:r>
              <a:rPr lang="en-US" sz="2400" dirty="0" smtClean="0"/>
              <a:t>= [2</a:t>
            </a:r>
            <a:r>
              <a:rPr lang="en-US" sz="2400" baseline="30000" dirty="0" smtClean="0"/>
              <a:t>3</a:t>
            </a:r>
            <a:r>
              <a:rPr lang="en-US" sz="2400" dirty="0" smtClean="0"/>
              <a:t>/</a:t>
            </a:r>
            <a:r>
              <a:rPr lang="en-US" sz="2400" baseline="-25000" dirty="0" smtClean="0"/>
              <a:t>4</a:t>
            </a:r>
            <a:r>
              <a:rPr lang="en-US" sz="2400" dirty="0" smtClean="0"/>
              <a:t>, -1</a:t>
            </a:r>
            <a:r>
              <a:rPr lang="en-US" sz="2400" baseline="30000" dirty="0" smtClean="0"/>
              <a:t>1</a:t>
            </a:r>
            <a:r>
              <a:rPr lang="en-US" sz="2400" dirty="0" smtClean="0"/>
              <a:t>/</a:t>
            </a:r>
            <a:r>
              <a:rPr lang="en-US" sz="2400" baseline="-25000" dirty="0" smtClean="0"/>
              <a:t>4</a:t>
            </a:r>
            <a:r>
              <a:rPr lang="en-US" sz="2400" dirty="0" smtClean="0"/>
              <a:t>, </a:t>
            </a:r>
            <a:r>
              <a:rPr lang="en-US" sz="2400" baseline="30000" dirty="0" smtClean="0"/>
              <a:t>1</a:t>
            </a:r>
            <a:r>
              <a:rPr lang="en-US" sz="2400" dirty="0" smtClean="0"/>
              <a:t>/</a:t>
            </a:r>
            <a:r>
              <a:rPr lang="en-US" sz="2400" baseline="-25000" dirty="0" smtClean="0"/>
              <a:t>2</a:t>
            </a:r>
            <a:r>
              <a:rPr lang="en-US" sz="2400" dirty="0" smtClean="0"/>
              <a:t>, 0, 0, -1, -1, 0]</a:t>
            </a:r>
          </a:p>
          <a:p>
            <a:pPr>
              <a:lnSpc>
                <a:spcPct val="110000"/>
              </a:lnSpc>
            </a:pPr>
            <a:r>
              <a:rPr lang="en-US" sz="2400" dirty="0" smtClean="0"/>
              <a:t>Compression: many small detail coefficients can be replaced by 0’s, and only the significant coefficients are retained</a:t>
            </a:r>
          </a:p>
        </p:txBody>
      </p:sp>
      <p:sp>
        <p:nvSpPr>
          <p:cNvPr id="5" name="Rectangle 2"/>
          <p:cNvSpPr txBox="1">
            <a:spLocks noChangeArrowheads="1"/>
          </p:cNvSpPr>
          <p:nvPr/>
        </p:nvSpPr>
        <p:spPr>
          <a:xfrm>
            <a:off x="0" y="304800"/>
            <a:ext cx="9144000" cy="685800"/>
          </a:xfrm>
          <a:prstGeom prst="rect">
            <a:avLst/>
          </a:prstGeom>
        </p:spPr>
        <p:txBody>
          <a:bodyPr bIns="91440" anchor="b" anchorCtr="0">
            <a:normAutofit/>
          </a:bodyPr>
          <a:lstStyle/>
          <a:p>
            <a:pPr lvl="0" eaLnBrk="1" fontAlgn="auto" hangingPunct="1">
              <a:spcAft>
                <a:spcPts val="0"/>
              </a:spcAft>
            </a:pPr>
            <a:r>
              <a:rPr lang="en-US" sz="3200" dirty="0" smtClean="0">
                <a:solidFill>
                  <a:schemeClr val="tx2"/>
                </a:solidFill>
                <a:latin typeface="+mj-lt"/>
              </a:rPr>
              <a:t>Wavelet Decomposition</a:t>
            </a:r>
            <a:endParaRPr kumimoji="0" lang="en-US" sz="4000" b="0" i="0" u="none" strike="noStrike" kern="1200" cap="none" spc="0" normalizeH="0" baseline="0" noProof="0" dirty="0" smtClean="0">
              <a:ln>
                <a:noFill/>
              </a:ln>
              <a:solidFill>
                <a:schemeClr val="tx2"/>
              </a:solidFill>
              <a:effectLst/>
              <a:uLnTx/>
              <a:uFillTx/>
              <a:latin typeface="+mj-lt"/>
              <a:ea typeface="+mj-ea"/>
              <a:cs typeface="+mj-cs"/>
            </a:endParaRPr>
          </a:p>
        </p:txBody>
      </p:sp>
      <p:pic>
        <p:nvPicPr>
          <p:cNvPr id="4" name="Picture 4"/>
          <p:cNvPicPr>
            <a:picLocks noChangeAspect="1" noChangeArrowheads="1"/>
          </p:cNvPicPr>
          <p:nvPr/>
        </p:nvPicPr>
        <p:blipFill>
          <a:blip r:embed="rId3" cstate="print"/>
          <a:srcRect/>
          <a:stretch>
            <a:fillRect/>
          </a:stretch>
        </p:blipFill>
        <p:spPr bwMode="auto">
          <a:xfrm>
            <a:off x="685800" y="4419600"/>
            <a:ext cx="7543800" cy="2047875"/>
          </a:xfrm>
          <a:prstGeom prst="rect">
            <a:avLst/>
          </a:prstGeom>
          <a:noFill/>
          <a:ln w="9525">
            <a:noFill/>
            <a:miter lim="800000"/>
            <a:headEnd/>
            <a:tailEnd type="none" w="lg" len="lg"/>
          </a:ln>
        </p:spPr>
      </p:pic>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body" idx="1"/>
          </p:nvPr>
        </p:nvSpPr>
        <p:spPr>
          <a:xfrm>
            <a:off x="304800" y="1295400"/>
            <a:ext cx="8534400" cy="5257800"/>
          </a:xfrm>
        </p:spPr>
        <p:txBody>
          <a:bodyPr>
            <a:noAutofit/>
          </a:bodyPr>
          <a:lstStyle/>
          <a:p>
            <a:r>
              <a:rPr lang="en-US" sz="2400" dirty="0" smtClean="0"/>
              <a:t>Try to reserve the most variance among data </a:t>
            </a:r>
          </a:p>
          <a:p>
            <a:r>
              <a:rPr lang="en-US" sz="2400" dirty="0" smtClean="0"/>
              <a:t>Search for d number of D-dimensional orthogonal vectors that can best be used to represent the data (d &lt;&lt; D) </a:t>
            </a:r>
          </a:p>
          <a:p>
            <a:r>
              <a:rPr lang="en-US" sz="2400" dirty="0" smtClean="0"/>
              <a:t>Each original data is a linear combination of the d principal components </a:t>
            </a:r>
          </a:p>
          <a:p>
            <a:endParaRPr lang="en-US" sz="2400" dirty="0" smtClean="0"/>
          </a:p>
          <a:p>
            <a:endParaRPr lang="en-US" sz="2400" dirty="0" smtClean="0"/>
          </a:p>
        </p:txBody>
      </p:sp>
      <p:sp>
        <p:nvSpPr>
          <p:cNvPr id="36868" name="Text Box 3"/>
          <p:cNvSpPr>
            <a:spLocks noGrp="1" noChangeArrowheads="1"/>
          </p:cNvSpPr>
          <p:nvPr>
            <p:ph type="title"/>
          </p:nvPr>
        </p:nvSpPr>
        <p:spPr>
          <a:xfrm>
            <a:off x="0" y="152400"/>
            <a:ext cx="9144000" cy="990600"/>
          </a:xfrm>
          <a:noFill/>
        </p:spPr>
        <p:txBody>
          <a:bodyPr anchor="ctr">
            <a:normAutofit/>
          </a:bodyPr>
          <a:lstStyle/>
          <a:p>
            <a:r>
              <a:rPr lang="en-US" sz="3200" dirty="0" smtClean="0"/>
              <a:t>Principal Component Analysis (Steps)</a:t>
            </a:r>
          </a:p>
        </p:txBody>
      </p:sp>
      <p:pic>
        <p:nvPicPr>
          <p:cNvPr id="388098" name="Picture 2"/>
          <p:cNvPicPr>
            <a:picLocks noChangeAspect="1" noChangeArrowheads="1"/>
          </p:cNvPicPr>
          <p:nvPr/>
        </p:nvPicPr>
        <p:blipFill>
          <a:blip r:embed="rId3"/>
          <a:srcRect/>
          <a:stretch>
            <a:fillRect/>
          </a:stretch>
        </p:blipFill>
        <p:spPr bwMode="auto">
          <a:xfrm>
            <a:off x="4953000" y="3429000"/>
            <a:ext cx="3143250" cy="2895600"/>
          </a:xfrm>
          <a:prstGeom prst="rect">
            <a:avLst/>
          </a:prstGeom>
          <a:noFill/>
          <a:ln w="9525">
            <a:noFill/>
            <a:miter lim="800000"/>
            <a:headEnd/>
            <a:tailEnd/>
          </a:ln>
          <a:effectLst/>
        </p:spPr>
      </p:pic>
      <p:sp>
        <p:nvSpPr>
          <p:cNvPr id="5" name="Rectangle 4"/>
          <p:cNvSpPr/>
          <p:nvPr/>
        </p:nvSpPr>
        <p:spPr>
          <a:xfrm>
            <a:off x="457200" y="3733800"/>
            <a:ext cx="4800600" cy="2031325"/>
          </a:xfrm>
          <a:prstGeom prst="rect">
            <a:avLst/>
          </a:prstGeom>
        </p:spPr>
        <p:txBody>
          <a:bodyPr wrap="square">
            <a:spAutoFit/>
          </a:bodyPr>
          <a:lstStyle/>
          <a:p>
            <a:r>
              <a:rPr lang="en-US" dirty="0" smtClean="0"/>
              <a:t>An example of reducing 2-d data to 1-d with PCA. Green dots denote 2-d data points. The goal of PCA is to find a line such that the average distance between the projections of the data points on the line is the maximal, that is, the differences between the data points are reserved at most</a:t>
            </a: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body" idx="1"/>
          </p:nvPr>
        </p:nvSpPr>
        <p:spPr>
          <a:xfrm>
            <a:off x="304800" y="1295400"/>
            <a:ext cx="8534400" cy="5257800"/>
          </a:xfrm>
        </p:spPr>
        <p:txBody>
          <a:bodyPr>
            <a:noAutofit/>
          </a:bodyPr>
          <a:lstStyle/>
          <a:p>
            <a:r>
              <a:rPr lang="en-US" sz="2400" dirty="0" smtClean="0"/>
              <a:t>Reduce data volume by choosing alternative, </a:t>
            </a:r>
            <a:r>
              <a:rPr lang="en-US" sz="2400" i="1" dirty="0" smtClean="0"/>
              <a:t>smaller forms</a:t>
            </a:r>
            <a:r>
              <a:rPr lang="en-US" sz="2400" dirty="0" smtClean="0"/>
              <a:t> of data representation</a:t>
            </a:r>
          </a:p>
          <a:p>
            <a:r>
              <a:rPr lang="en-US" sz="2400" b="1" dirty="0" smtClean="0"/>
              <a:t>Parametric methods</a:t>
            </a:r>
            <a:r>
              <a:rPr lang="en-US" sz="2400" dirty="0" smtClean="0"/>
              <a:t> (e.g., regression)</a:t>
            </a:r>
          </a:p>
          <a:p>
            <a:pPr lvl="1"/>
            <a:r>
              <a:rPr lang="en-US" sz="2400" dirty="0" smtClean="0"/>
              <a:t>Assume the data fits some model, estimate model parameters, store only the parameters, and discard the data (except possible outliers)</a:t>
            </a:r>
            <a:endParaRPr lang="en-US" sz="2400" dirty="0" smtClean="0">
              <a:sym typeface="Symbol" pitchFamily="18" charset="2"/>
            </a:endParaRPr>
          </a:p>
          <a:p>
            <a:pPr lvl="1"/>
            <a:r>
              <a:rPr lang="en-US" sz="2400" dirty="0" smtClean="0"/>
              <a:t>Ex.: Log-linear models—obtain value at a point in </a:t>
            </a:r>
            <a:r>
              <a:rPr lang="en-US" sz="2400" i="1" dirty="0" smtClean="0"/>
              <a:t>m</a:t>
            </a:r>
            <a:r>
              <a:rPr lang="en-US" sz="2400" dirty="0" smtClean="0"/>
              <a:t>-D space as the product on appropriate marginal subspaces </a:t>
            </a:r>
          </a:p>
          <a:p>
            <a:r>
              <a:rPr lang="en-US" sz="2400" b="1" dirty="0" smtClean="0"/>
              <a:t>Non-parametric</a:t>
            </a:r>
            <a:r>
              <a:rPr lang="en-US" sz="2400" dirty="0" smtClean="0"/>
              <a:t> methods</a:t>
            </a:r>
            <a:r>
              <a:rPr lang="en-US" sz="2400" dirty="0" smtClean="0">
                <a:sym typeface="Symbol" pitchFamily="18" charset="2"/>
              </a:rPr>
              <a:t> </a:t>
            </a:r>
          </a:p>
          <a:p>
            <a:pPr lvl="1"/>
            <a:r>
              <a:rPr lang="en-US" sz="2400" dirty="0" smtClean="0">
                <a:sym typeface="Symbol" pitchFamily="18" charset="2"/>
              </a:rPr>
              <a:t>Do not assume models</a:t>
            </a:r>
          </a:p>
          <a:p>
            <a:pPr lvl="1"/>
            <a:r>
              <a:rPr lang="en-US" sz="2400" dirty="0" smtClean="0">
                <a:sym typeface="Symbol" pitchFamily="18" charset="2"/>
              </a:rPr>
              <a:t>Major families: histograms, clustering, sampling, … </a:t>
            </a:r>
          </a:p>
        </p:txBody>
      </p:sp>
      <p:sp>
        <p:nvSpPr>
          <p:cNvPr id="36868" name="Text Box 3"/>
          <p:cNvSpPr>
            <a:spLocks noGrp="1" noChangeArrowheads="1"/>
          </p:cNvSpPr>
          <p:nvPr>
            <p:ph type="title"/>
          </p:nvPr>
        </p:nvSpPr>
        <p:spPr>
          <a:xfrm>
            <a:off x="0" y="152400"/>
            <a:ext cx="9144000" cy="990600"/>
          </a:xfrm>
          <a:noFill/>
        </p:spPr>
        <p:txBody>
          <a:bodyPr anchor="ctr">
            <a:normAutofit/>
          </a:bodyPr>
          <a:lstStyle/>
          <a:p>
            <a:r>
              <a:rPr lang="en-US" sz="3200" dirty="0" smtClean="0"/>
              <a:t>Data Reduction 2: </a:t>
            </a:r>
            <a:r>
              <a:rPr lang="en-US" sz="3200" dirty="0" err="1" smtClean="0"/>
              <a:t>Numerosity</a:t>
            </a:r>
            <a:r>
              <a:rPr lang="en-US" sz="3200" dirty="0" smtClean="0"/>
              <a:t> Reduction</a:t>
            </a: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3"/>
          <p:cNvSpPr>
            <a:spLocks noGrp="1" noChangeArrowheads="1"/>
          </p:cNvSpPr>
          <p:nvPr>
            <p:ph type="body" idx="1"/>
          </p:nvPr>
        </p:nvSpPr>
        <p:spPr>
          <a:xfrm>
            <a:off x="0" y="1371600"/>
            <a:ext cx="4648200" cy="4191000"/>
          </a:xfrm>
        </p:spPr>
        <p:txBody>
          <a:bodyPr/>
          <a:lstStyle/>
          <a:p>
            <a:pPr eaLnBrk="1" hangingPunct="1">
              <a:lnSpc>
                <a:spcPct val="120000"/>
              </a:lnSpc>
            </a:pPr>
            <a:r>
              <a:rPr lang="en-US" sz="2400" dirty="0" smtClean="0"/>
              <a:t>Divide data into buckets and store average (sum) for each bucket</a:t>
            </a:r>
          </a:p>
          <a:p>
            <a:pPr eaLnBrk="1" hangingPunct="1">
              <a:lnSpc>
                <a:spcPct val="120000"/>
              </a:lnSpc>
            </a:pPr>
            <a:r>
              <a:rPr lang="en-US" sz="2400" dirty="0" smtClean="0"/>
              <a:t>Partitioning rules:</a:t>
            </a:r>
          </a:p>
          <a:p>
            <a:pPr lvl="1" eaLnBrk="1" hangingPunct="1">
              <a:lnSpc>
                <a:spcPct val="120000"/>
              </a:lnSpc>
            </a:pPr>
            <a:r>
              <a:rPr lang="en-US" sz="2400" dirty="0" smtClean="0"/>
              <a:t>Equal-width: equal bucket range</a:t>
            </a:r>
          </a:p>
          <a:p>
            <a:pPr lvl="1" eaLnBrk="1" hangingPunct="1">
              <a:lnSpc>
                <a:spcPct val="120000"/>
              </a:lnSpc>
            </a:pPr>
            <a:r>
              <a:rPr lang="en-US" sz="2400" dirty="0" smtClean="0"/>
              <a:t>Equal-frequency (or equal-depth)</a:t>
            </a:r>
          </a:p>
          <a:p>
            <a:pPr lvl="1" eaLnBrk="1" hangingPunct="1">
              <a:lnSpc>
                <a:spcPct val="120000"/>
              </a:lnSpc>
            </a:pPr>
            <a:endParaRPr lang="en-US" sz="2400" dirty="0" smtClean="0"/>
          </a:p>
        </p:txBody>
      </p:sp>
      <p:graphicFrame>
        <p:nvGraphicFramePr>
          <p:cNvPr id="45061" name="Object 4"/>
          <p:cNvGraphicFramePr>
            <a:graphicFrameLocks/>
          </p:cNvGraphicFramePr>
          <p:nvPr/>
        </p:nvGraphicFramePr>
        <p:xfrm>
          <a:off x="3962400" y="1295400"/>
          <a:ext cx="6477000" cy="5410200"/>
        </p:xfrm>
        <a:graphic>
          <a:graphicData uri="http://schemas.openxmlformats.org/presentationml/2006/ole">
            <p:oleObj spid="_x0000_s253954" name="Chart" r:id="rId4" imgW="7915206" imgH="3848173" progId="MSGraph.Chart.8">
              <p:embed followColorScheme="full"/>
            </p:oleObj>
          </a:graphicData>
        </a:graphic>
      </p:graphicFrame>
      <p:sp>
        <p:nvSpPr>
          <p:cNvPr id="5" name="Rectangle 2"/>
          <p:cNvSpPr txBox="1">
            <a:spLocks noChangeArrowheads="1"/>
          </p:cNvSpPr>
          <p:nvPr/>
        </p:nvSpPr>
        <p:spPr>
          <a:xfrm>
            <a:off x="152400" y="304800"/>
            <a:ext cx="6248400" cy="609600"/>
          </a:xfrm>
          <a:prstGeom prst="rect">
            <a:avLst/>
          </a:prstGeom>
        </p:spPr>
        <p:txBody>
          <a:bodyPr bIns="91440" anchor="b" anchorCtr="0">
            <a:noAutofit/>
          </a:bodyPr>
          <a:lstStyle/>
          <a:p>
            <a:pPr lvl="0" eaLnBrk="1" fontAlgn="auto" hangingPunct="1">
              <a:spcAft>
                <a:spcPts val="0"/>
              </a:spcAft>
            </a:pPr>
            <a:r>
              <a:rPr lang="en-US" sz="3200" dirty="0" smtClean="0">
                <a:solidFill>
                  <a:schemeClr val="tx2"/>
                </a:solidFill>
                <a:latin typeface="+mj-lt"/>
              </a:rPr>
              <a:t>Histogram Analysis</a:t>
            </a:r>
            <a:endParaRPr kumimoji="0" lang="en-US" sz="3200" b="0" i="0" u="none" strike="noStrike" kern="1200" cap="none" spc="0" normalizeH="0" baseline="0" noProof="0" dirty="0" smtClean="0">
              <a:ln>
                <a:noFill/>
              </a:ln>
              <a:solidFill>
                <a:schemeClr val="tx2"/>
              </a:solidFill>
              <a:effectLst/>
              <a:uLnTx/>
              <a:uFillTx/>
              <a:latin typeface="+mj-lt"/>
              <a:ea typeface="+mj-ea"/>
              <a:cs typeface="+mj-cs"/>
            </a:endParaRP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a:xfrm>
            <a:off x="0" y="381000"/>
            <a:ext cx="9144000" cy="609600"/>
          </a:xfrm>
        </p:spPr>
        <p:txBody>
          <a:bodyPr>
            <a:noAutofit/>
          </a:bodyPr>
          <a:lstStyle/>
          <a:p>
            <a:pPr eaLnBrk="1" hangingPunct="1"/>
            <a:r>
              <a:rPr lang="en-US" sz="3200" dirty="0" smtClean="0"/>
              <a:t>Clustering</a:t>
            </a:r>
          </a:p>
        </p:txBody>
      </p:sp>
      <p:sp>
        <p:nvSpPr>
          <p:cNvPr id="46084" name="Rectangle 3"/>
          <p:cNvSpPr>
            <a:spLocks noGrp="1" noChangeArrowheads="1"/>
          </p:cNvSpPr>
          <p:nvPr>
            <p:ph type="body" idx="1"/>
          </p:nvPr>
        </p:nvSpPr>
        <p:spPr>
          <a:xfrm>
            <a:off x="381000" y="1371600"/>
            <a:ext cx="8229600" cy="5105400"/>
          </a:xfrm>
        </p:spPr>
        <p:txBody>
          <a:bodyPr/>
          <a:lstStyle/>
          <a:p>
            <a:r>
              <a:rPr lang="en-US" sz="2400" dirty="0" smtClean="0"/>
              <a:t>Partition the objects into clusters, so that objects within a cluster are similar to each other while dissimilar to objects in other clusters</a:t>
            </a:r>
          </a:p>
          <a:p>
            <a:r>
              <a:rPr lang="en-US" sz="2400" dirty="0" smtClean="0"/>
              <a:t>The quality of a cluster may be measured by: </a:t>
            </a:r>
          </a:p>
          <a:p>
            <a:pPr lvl="1"/>
            <a:r>
              <a:rPr lang="en-US" sz="2200" dirty="0" smtClean="0"/>
              <a:t>diameter: the maximum distance between any two objects in the cluster </a:t>
            </a:r>
          </a:p>
          <a:p>
            <a:pPr lvl="1"/>
            <a:r>
              <a:rPr lang="en-US" sz="2200" dirty="0" err="1" smtClean="0"/>
              <a:t>centroid</a:t>
            </a:r>
            <a:r>
              <a:rPr lang="en-US" sz="2200" dirty="0" smtClean="0"/>
              <a:t> distance: the average distance of each cluster object from the cluster </a:t>
            </a:r>
            <a:r>
              <a:rPr lang="en-US" sz="2200" dirty="0" err="1" smtClean="0"/>
              <a:t>centroid</a:t>
            </a:r>
            <a:r>
              <a:rPr lang="en-US" sz="2200" dirty="0" smtClean="0"/>
              <a:t> </a:t>
            </a:r>
          </a:p>
          <a:p>
            <a:endParaRPr lang="en-US" sz="2400" dirty="0" smtClean="0"/>
          </a:p>
          <a:p>
            <a:endParaRPr lang="en-US" sz="2400" dirty="0" smtClean="0"/>
          </a:p>
          <a:p>
            <a:endParaRPr lang="en-US" sz="2400" dirty="0" smtClean="0"/>
          </a:p>
        </p:txBody>
      </p:sp>
      <p:pic>
        <p:nvPicPr>
          <p:cNvPr id="360449" name="Picture 1"/>
          <p:cNvPicPr>
            <a:picLocks noChangeAspect="1" noChangeArrowheads="1"/>
          </p:cNvPicPr>
          <p:nvPr/>
        </p:nvPicPr>
        <p:blipFill>
          <a:blip r:embed="rId3"/>
          <a:srcRect/>
          <a:stretch>
            <a:fillRect/>
          </a:stretch>
        </p:blipFill>
        <p:spPr bwMode="auto">
          <a:xfrm>
            <a:off x="2667000" y="3962400"/>
            <a:ext cx="2743200" cy="2095500"/>
          </a:xfrm>
          <a:prstGeom prst="rect">
            <a:avLst/>
          </a:prstGeom>
          <a:noFill/>
          <a:ln w="9525">
            <a:noFill/>
            <a:miter lim="800000"/>
            <a:headEnd/>
            <a:tailEnd/>
          </a:ln>
          <a:effectLst/>
        </p:spPr>
      </p:pic>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3"/>
          <p:cNvSpPr>
            <a:spLocks noGrp="1" noChangeArrowheads="1"/>
          </p:cNvSpPr>
          <p:nvPr>
            <p:ph type="body" idx="1"/>
          </p:nvPr>
        </p:nvSpPr>
        <p:spPr>
          <a:xfrm>
            <a:off x="381000" y="1371600"/>
            <a:ext cx="8458200" cy="5181600"/>
          </a:xfrm>
        </p:spPr>
        <p:txBody>
          <a:bodyPr/>
          <a:lstStyle/>
          <a:p>
            <a:pPr eaLnBrk="1" hangingPunct="1">
              <a:lnSpc>
                <a:spcPct val="120000"/>
              </a:lnSpc>
            </a:pPr>
            <a:r>
              <a:rPr lang="en-US" sz="2400" dirty="0" smtClean="0"/>
              <a:t>Sampling: obtaining a small sample </a:t>
            </a:r>
            <a:r>
              <a:rPr lang="en-US" sz="2400" i="1" dirty="0" smtClean="0"/>
              <a:t>s</a:t>
            </a:r>
            <a:r>
              <a:rPr lang="en-US" sz="2400" dirty="0" smtClean="0"/>
              <a:t> to represent the whole data set </a:t>
            </a:r>
            <a:r>
              <a:rPr lang="en-US" sz="2400" i="1" dirty="0" smtClean="0"/>
              <a:t>N</a:t>
            </a:r>
          </a:p>
          <a:p>
            <a:pPr eaLnBrk="1" hangingPunct="1">
              <a:lnSpc>
                <a:spcPct val="120000"/>
              </a:lnSpc>
            </a:pPr>
            <a:r>
              <a:rPr lang="en-US" sz="2400" dirty="0" smtClean="0"/>
              <a:t>Allow a mining algorithm to run in complexity that is potentially sub-linear to the size of the data</a:t>
            </a:r>
          </a:p>
          <a:p>
            <a:pPr eaLnBrk="1" hangingPunct="1">
              <a:lnSpc>
                <a:spcPct val="120000"/>
              </a:lnSpc>
            </a:pPr>
            <a:r>
              <a:rPr lang="en-US" sz="2400" dirty="0" smtClean="0"/>
              <a:t>Key principle: Choose a </a:t>
            </a:r>
            <a:r>
              <a:rPr lang="en-US" sz="2400" dirty="0" smtClean="0">
                <a:solidFill>
                  <a:schemeClr val="hlink"/>
                </a:solidFill>
              </a:rPr>
              <a:t>representative</a:t>
            </a:r>
            <a:r>
              <a:rPr lang="en-US" sz="2400" dirty="0" smtClean="0"/>
              <a:t> subset of the data</a:t>
            </a:r>
          </a:p>
          <a:p>
            <a:pPr lvl="1" eaLnBrk="1" hangingPunct="1">
              <a:lnSpc>
                <a:spcPct val="120000"/>
              </a:lnSpc>
            </a:pPr>
            <a:r>
              <a:rPr lang="en-US" sz="2400" dirty="0" smtClean="0"/>
              <a:t>Simple random sampling may have very poor performance in the presence of skew</a:t>
            </a:r>
          </a:p>
          <a:p>
            <a:pPr lvl="1" eaLnBrk="1" hangingPunct="1">
              <a:lnSpc>
                <a:spcPct val="120000"/>
              </a:lnSpc>
            </a:pPr>
            <a:r>
              <a:rPr lang="en-US" sz="2400" dirty="0" smtClean="0"/>
              <a:t>Develop adaptive sampling methods, e.g., stratified sampling: </a:t>
            </a:r>
          </a:p>
        </p:txBody>
      </p:sp>
      <p:sp>
        <p:nvSpPr>
          <p:cNvPr id="6" name="Text Box 3"/>
          <p:cNvSpPr txBox="1">
            <a:spLocks noChangeArrowheads="1"/>
          </p:cNvSpPr>
          <p:nvPr/>
        </p:nvSpPr>
        <p:spPr>
          <a:xfrm>
            <a:off x="0" y="152400"/>
            <a:ext cx="9144000" cy="990600"/>
          </a:xfrm>
          <a:prstGeom prst="rect">
            <a:avLst/>
          </a:prstGeom>
          <a:noFill/>
        </p:spPr>
        <p:txBody>
          <a:bodyPr bIns="91440" anchor="ctr" anchorCtr="0">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Sampling</a:t>
            </a: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3"/>
          <p:cNvSpPr>
            <a:spLocks noGrp="1" noChangeArrowheads="1"/>
          </p:cNvSpPr>
          <p:nvPr>
            <p:ph type="body" idx="1"/>
          </p:nvPr>
        </p:nvSpPr>
        <p:spPr>
          <a:xfrm>
            <a:off x="304800" y="1447800"/>
            <a:ext cx="8534400" cy="5105400"/>
          </a:xfrm>
        </p:spPr>
        <p:txBody>
          <a:bodyPr/>
          <a:lstStyle/>
          <a:p>
            <a:pPr eaLnBrk="1" hangingPunct="1">
              <a:lnSpc>
                <a:spcPct val="90000"/>
              </a:lnSpc>
            </a:pPr>
            <a:r>
              <a:rPr lang="en-US" sz="2400" b="1" dirty="0" smtClean="0"/>
              <a:t>Simple random sampling</a:t>
            </a:r>
          </a:p>
          <a:p>
            <a:pPr lvl="1" eaLnBrk="1" hangingPunct="1">
              <a:lnSpc>
                <a:spcPct val="90000"/>
              </a:lnSpc>
            </a:pPr>
            <a:r>
              <a:rPr lang="en-US" sz="2400" dirty="0" smtClean="0"/>
              <a:t>There is an equal probability of selecting any particular item</a:t>
            </a:r>
          </a:p>
          <a:p>
            <a:pPr eaLnBrk="1" hangingPunct="1">
              <a:lnSpc>
                <a:spcPct val="90000"/>
              </a:lnSpc>
            </a:pPr>
            <a:r>
              <a:rPr lang="en-US" sz="2400" b="1" dirty="0" smtClean="0"/>
              <a:t>Sampling without replacement</a:t>
            </a:r>
          </a:p>
          <a:p>
            <a:pPr lvl="1" eaLnBrk="1" hangingPunct="1">
              <a:lnSpc>
                <a:spcPct val="90000"/>
              </a:lnSpc>
            </a:pPr>
            <a:r>
              <a:rPr lang="en-US" sz="2400" dirty="0" smtClean="0"/>
              <a:t>Once an object is selected, it is removed from the population</a:t>
            </a:r>
          </a:p>
          <a:p>
            <a:pPr eaLnBrk="1" hangingPunct="1">
              <a:lnSpc>
                <a:spcPct val="90000"/>
              </a:lnSpc>
            </a:pPr>
            <a:r>
              <a:rPr lang="en-US" sz="2400" b="1" dirty="0" smtClean="0"/>
              <a:t>Sampling with replacement</a:t>
            </a:r>
          </a:p>
          <a:p>
            <a:pPr lvl="1" eaLnBrk="1" hangingPunct="1">
              <a:lnSpc>
                <a:spcPct val="90000"/>
              </a:lnSpc>
            </a:pPr>
            <a:r>
              <a:rPr lang="en-US" sz="2400" dirty="0" smtClean="0"/>
              <a:t>A selected object is not removed from the population</a:t>
            </a:r>
          </a:p>
          <a:p>
            <a:pPr eaLnBrk="1" hangingPunct="1">
              <a:lnSpc>
                <a:spcPct val="90000"/>
              </a:lnSpc>
            </a:pPr>
            <a:r>
              <a:rPr lang="en-US" sz="2400" b="1" dirty="0" smtClean="0"/>
              <a:t>Cluster sample:  </a:t>
            </a:r>
          </a:p>
          <a:p>
            <a:pPr lvl="1">
              <a:lnSpc>
                <a:spcPct val="90000"/>
              </a:lnSpc>
            </a:pPr>
            <a:r>
              <a:rPr lang="en-US" sz="2400" dirty="0" err="1" smtClean="0"/>
              <a:t>Tuples</a:t>
            </a:r>
            <a:r>
              <a:rPr lang="en-US" sz="2400" dirty="0" smtClean="0"/>
              <a:t> are grouped into M  mutually disjoint clusters</a:t>
            </a:r>
          </a:p>
          <a:p>
            <a:pPr lvl="1">
              <a:lnSpc>
                <a:spcPct val="90000"/>
              </a:lnSpc>
            </a:pPr>
            <a:r>
              <a:rPr lang="en-US" sz="2400" dirty="0" smtClean="0"/>
              <a:t>An SRS of s clusters can be obtained, where s&lt;M</a:t>
            </a:r>
          </a:p>
          <a:p>
            <a:pPr eaLnBrk="1" hangingPunct="1">
              <a:lnSpc>
                <a:spcPct val="90000"/>
              </a:lnSpc>
            </a:pPr>
            <a:r>
              <a:rPr lang="en-US" sz="2400" b="1" dirty="0" smtClean="0"/>
              <a:t>Stratified sampling: </a:t>
            </a:r>
          </a:p>
          <a:p>
            <a:pPr lvl="1" eaLnBrk="1" hangingPunct="1">
              <a:lnSpc>
                <a:spcPct val="90000"/>
              </a:lnSpc>
            </a:pPr>
            <a:r>
              <a:rPr lang="en-US" sz="2400" dirty="0" smtClean="0"/>
              <a:t>Partition the data set, and draw samples from each partition (proportionally, i.e., approximately the same percentage of the data) </a:t>
            </a:r>
          </a:p>
          <a:p>
            <a:pPr lvl="1" eaLnBrk="1" hangingPunct="1">
              <a:lnSpc>
                <a:spcPct val="90000"/>
              </a:lnSpc>
            </a:pPr>
            <a:r>
              <a:rPr lang="en-US" sz="2400" dirty="0" smtClean="0"/>
              <a:t>Used in conjunction with skewed data</a:t>
            </a:r>
          </a:p>
          <a:p>
            <a:pPr lvl="1" eaLnBrk="1" hangingPunct="1">
              <a:lnSpc>
                <a:spcPct val="90000"/>
              </a:lnSpc>
            </a:pPr>
            <a:endParaRPr lang="en-US" sz="2000" dirty="0" smtClean="0"/>
          </a:p>
        </p:txBody>
      </p:sp>
      <p:sp>
        <p:nvSpPr>
          <p:cNvPr id="4" name="Text Box 3"/>
          <p:cNvSpPr>
            <a:spLocks noGrp="1" noChangeArrowheads="1"/>
          </p:cNvSpPr>
          <p:nvPr>
            <p:ph type="title"/>
          </p:nvPr>
        </p:nvSpPr>
        <p:spPr>
          <a:xfrm>
            <a:off x="0" y="152400"/>
            <a:ext cx="9144000" cy="990600"/>
          </a:xfrm>
          <a:noFill/>
        </p:spPr>
        <p:txBody>
          <a:bodyPr anchor="ctr">
            <a:normAutofit/>
          </a:bodyPr>
          <a:lstStyle/>
          <a:p>
            <a:r>
              <a:rPr lang="en-US" sz="3200" dirty="0" smtClean="0"/>
              <a:t>Types of Sampling</a:t>
            </a: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Text Box 3"/>
          <p:cNvSpPr txBox="1">
            <a:spLocks noChangeArrowheads="1"/>
          </p:cNvSpPr>
          <p:nvPr/>
        </p:nvSpPr>
        <p:spPr bwMode="auto">
          <a:xfrm rot="-1013563">
            <a:off x="3733800" y="2819400"/>
            <a:ext cx="2205038" cy="1552575"/>
          </a:xfrm>
          <a:prstGeom prst="rect">
            <a:avLst/>
          </a:prstGeom>
          <a:noFill/>
          <a:ln w="9525">
            <a:noFill/>
            <a:miter lim="800000"/>
            <a:headEnd/>
            <a:tailEnd/>
          </a:ln>
        </p:spPr>
        <p:txBody>
          <a:bodyPr wrap="none">
            <a:spAutoFit/>
          </a:bodyPr>
          <a:lstStyle/>
          <a:p>
            <a:pPr eaLnBrk="0" hangingPunct="0"/>
            <a:r>
              <a:rPr lang="en-US">
                <a:latin typeface="Times New Roman" pitchFamily="18" charset="0"/>
              </a:rPr>
              <a:t>SRSWOR</a:t>
            </a:r>
          </a:p>
          <a:p>
            <a:pPr eaLnBrk="0" hangingPunct="0"/>
            <a:r>
              <a:rPr lang="en-US">
                <a:latin typeface="Times New Roman" pitchFamily="18" charset="0"/>
              </a:rPr>
              <a:t>(simple random</a:t>
            </a:r>
          </a:p>
          <a:p>
            <a:pPr eaLnBrk="0" hangingPunct="0"/>
            <a:r>
              <a:rPr lang="en-US">
                <a:latin typeface="Times New Roman" pitchFamily="18" charset="0"/>
              </a:rPr>
              <a:t> sample without </a:t>
            </a:r>
          </a:p>
          <a:p>
            <a:pPr eaLnBrk="0" hangingPunct="0"/>
            <a:r>
              <a:rPr lang="en-US">
                <a:latin typeface="Times New Roman" pitchFamily="18" charset="0"/>
              </a:rPr>
              <a:t>replacement)</a:t>
            </a:r>
          </a:p>
        </p:txBody>
      </p:sp>
      <p:grpSp>
        <p:nvGrpSpPr>
          <p:cNvPr id="2" name="Group 4"/>
          <p:cNvGrpSpPr>
            <a:grpSpLocks/>
          </p:cNvGrpSpPr>
          <p:nvPr/>
        </p:nvGrpSpPr>
        <p:grpSpPr bwMode="auto">
          <a:xfrm>
            <a:off x="5695950" y="1771650"/>
            <a:ext cx="2438400" cy="1676400"/>
            <a:chOff x="3588" y="1116"/>
            <a:chExt cx="1536" cy="1056"/>
          </a:xfrm>
        </p:grpSpPr>
        <p:sp>
          <p:nvSpPr>
            <p:cNvPr id="49178" name="AutoShape 5"/>
            <p:cNvSpPr>
              <a:spLocks noChangeArrowheads="1"/>
            </p:cNvSpPr>
            <p:nvPr/>
          </p:nvSpPr>
          <p:spPr bwMode="auto">
            <a:xfrm>
              <a:off x="3588" y="1116"/>
              <a:ext cx="1536" cy="1056"/>
            </a:xfrm>
            <a:prstGeom prst="can">
              <a:avLst>
                <a:gd name="adj" fmla="val 25000"/>
              </a:avLst>
            </a:prstGeom>
            <a:noFill/>
            <a:ln w="9525">
              <a:solidFill>
                <a:schemeClr val="tx1"/>
              </a:solidFill>
              <a:round/>
              <a:headEnd/>
              <a:tailEnd/>
            </a:ln>
          </p:spPr>
          <p:txBody>
            <a:bodyPr wrap="none" anchor="ctr"/>
            <a:lstStyle/>
            <a:p>
              <a:endParaRPr lang="en-US"/>
            </a:p>
          </p:txBody>
        </p:sp>
        <p:sp>
          <p:nvSpPr>
            <p:cNvPr id="49179" name="Oval 6"/>
            <p:cNvSpPr>
              <a:spLocks noChangeArrowheads="1"/>
            </p:cNvSpPr>
            <p:nvPr/>
          </p:nvSpPr>
          <p:spPr bwMode="auto">
            <a:xfrm>
              <a:off x="4092" y="1788"/>
              <a:ext cx="540" cy="360"/>
            </a:xfrm>
            <a:prstGeom prst="ellipse">
              <a:avLst/>
            </a:prstGeom>
            <a:solidFill>
              <a:schemeClr val="bg1"/>
            </a:solidFill>
            <a:ln w="9525">
              <a:solidFill>
                <a:schemeClr val="tx1"/>
              </a:solidFill>
              <a:round/>
              <a:headEnd/>
              <a:tailEnd/>
            </a:ln>
          </p:spPr>
          <p:txBody>
            <a:bodyPr wrap="none" anchor="ctr"/>
            <a:lstStyle/>
            <a:p>
              <a:endParaRPr lang="en-US"/>
            </a:p>
          </p:txBody>
        </p:sp>
        <p:sp>
          <p:nvSpPr>
            <p:cNvPr id="49180" name="Oval 7"/>
            <p:cNvSpPr>
              <a:spLocks noChangeArrowheads="1"/>
            </p:cNvSpPr>
            <p:nvPr/>
          </p:nvSpPr>
          <p:spPr bwMode="auto">
            <a:xfrm>
              <a:off x="4632" y="1632"/>
              <a:ext cx="492" cy="396"/>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49181" name="Oval 8"/>
            <p:cNvSpPr>
              <a:spLocks noChangeArrowheads="1"/>
            </p:cNvSpPr>
            <p:nvPr/>
          </p:nvSpPr>
          <p:spPr bwMode="auto">
            <a:xfrm>
              <a:off x="3588" y="1668"/>
              <a:ext cx="540" cy="360"/>
            </a:xfrm>
            <a:prstGeom prst="ellipse">
              <a:avLst/>
            </a:prstGeom>
            <a:solidFill>
              <a:schemeClr val="tx2"/>
            </a:solidFill>
            <a:ln w="9525">
              <a:solidFill>
                <a:schemeClr val="tx1"/>
              </a:solidFill>
              <a:round/>
              <a:headEnd/>
              <a:tailEnd/>
            </a:ln>
          </p:spPr>
          <p:txBody>
            <a:bodyPr wrap="none" anchor="ctr"/>
            <a:lstStyle/>
            <a:p>
              <a:endParaRPr lang="en-US"/>
            </a:p>
          </p:txBody>
        </p:sp>
      </p:grpSp>
      <p:sp>
        <p:nvSpPr>
          <p:cNvPr id="49158" name="Text Box 9"/>
          <p:cNvSpPr txBox="1">
            <a:spLocks noChangeArrowheads="1"/>
          </p:cNvSpPr>
          <p:nvPr/>
        </p:nvSpPr>
        <p:spPr bwMode="auto">
          <a:xfrm rot="848056">
            <a:off x="3962400" y="5105400"/>
            <a:ext cx="1217613" cy="457200"/>
          </a:xfrm>
          <a:prstGeom prst="rect">
            <a:avLst/>
          </a:prstGeom>
          <a:noFill/>
          <a:ln w="9525">
            <a:noFill/>
            <a:miter lim="800000"/>
            <a:headEnd/>
            <a:tailEnd/>
          </a:ln>
        </p:spPr>
        <p:txBody>
          <a:bodyPr wrap="none">
            <a:spAutoFit/>
          </a:bodyPr>
          <a:lstStyle/>
          <a:p>
            <a:pPr eaLnBrk="0" hangingPunct="0"/>
            <a:r>
              <a:rPr lang="en-US">
                <a:latin typeface="Times New Roman" pitchFamily="18" charset="0"/>
              </a:rPr>
              <a:t>SRSWR</a:t>
            </a:r>
          </a:p>
        </p:txBody>
      </p:sp>
      <p:grpSp>
        <p:nvGrpSpPr>
          <p:cNvPr id="3" name="Group 10"/>
          <p:cNvGrpSpPr>
            <a:grpSpLocks/>
          </p:cNvGrpSpPr>
          <p:nvPr/>
        </p:nvGrpSpPr>
        <p:grpSpPr bwMode="auto">
          <a:xfrm>
            <a:off x="5772150" y="4457700"/>
            <a:ext cx="2438400" cy="1676400"/>
            <a:chOff x="3636" y="2808"/>
            <a:chExt cx="1536" cy="1056"/>
          </a:xfrm>
        </p:grpSpPr>
        <p:sp>
          <p:nvSpPr>
            <p:cNvPr id="49174" name="AutoShape 11"/>
            <p:cNvSpPr>
              <a:spLocks noChangeArrowheads="1"/>
            </p:cNvSpPr>
            <p:nvPr/>
          </p:nvSpPr>
          <p:spPr bwMode="auto">
            <a:xfrm>
              <a:off x="3636" y="2808"/>
              <a:ext cx="1536" cy="1056"/>
            </a:xfrm>
            <a:prstGeom prst="can">
              <a:avLst>
                <a:gd name="adj" fmla="val 25000"/>
              </a:avLst>
            </a:prstGeom>
            <a:noFill/>
            <a:ln w="9525">
              <a:solidFill>
                <a:schemeClr val="tx1"/>
              </a:solidFill>
              <a:round/>
              <a:headEnd/>
              <a:tailEnd/>
            </a:ln>
          </p:spPr>
          <p:txBody>
            <a:bodyPr wrap="none" anchor="ctr"/>
            <a:lstStyle/>
            <a:p>
              <a:endParaRPr lang="en-US"/>
            </a:p>
          </p:txBody>
        </p:sp>
        <p:sp>
          <p:nvSpPr>
            <p:cNvPr id="49175" name="Oval 12"/>
            <p:cNvSpPr>
              <a:spLocks noChangeArrowheads="1"/>
            </p:cNvSpPr>
            <p:nvPr/>
          </p:nvSpPr>
          <p:spPr bwMode="auto">
            <a:xfrm>
              <a:off x="3648" y="3372"/>
              <a:ext cx="540" cy="360"/>
            </a:xfrm>
            <a:prstGeom prst="ellipse">
              <a:avLst/>
            </a:prstGeom>
            <a:solidFill>
              <a:schemeClr val="tx2"/>
            </a:solidFill>
            <a:ln w="9525">
              <a:solidFill>
                <a:schemeClr val="tx1"/>
              </a:solidFill>
              <a:round/>
              <a:headEnd/>
              <a:tailEnd/>
            </a:ln>
          </p:spPr>
          <p:txBody>
            <a:bodyPr wrap="none" anchor="ctr"/>
            <a:lstStyle/>
            <a:p>
              <a:endParaRPr lang="en-US"/>
            </a:p>
          </p:txBody>
        </p:sp>
        <p:sp>
          <p:nvSpPr>
            <p:cNvPr id="49176" name="Oval 13"/>
            <p:cNvSpPr>
              <a:spLocks noChangeArrowheads="1"/>
            </p:cNvSpPr>
            <p:nvPr/>
          </p:nvSpPr>
          <p:spPr bwMode="auto">
            <a:xfrm>
              <a:off x="4188" y="3480"/>
              <a:ext cx="540" cy="360"/>
            </a:xfrm>
            <a:prstGeom prst="ellipse">
              <a:avLst/>
            </a:prstGeom>
            <a:solidFill>
              <a:schemeClr val="tx2"/>
            </a:solidFill>
            <a:ln w="9525">
              <a:solidFill>
                <a:schemeClr val="tx1"/>
              </a:solidFill>
              <a:round/>
              <a:headEnd/>
              <a:tailEnd/>
            </a:ln>
          </p:spPr>
          <p:txBody>
            <a:bodyPr wrap="none" anchor="ctr"/>
            <a:lstStyle/>
            <a:p>
              <a:endParaRPr lang="en-US"/>
            </a:p>
          </p:txBody>
        </p:sp>
        <p:sp>
          <p:nvSpPr>
            <p:cNvPr id="49177" name="Oval 14"/>
            <p:cNvSpPr>
              <a:spLocks noChangeArrowheads="1"/>
            </p:cNvSpPr>
            <p:nvPr/>
          </p:nvSpPr>
          <p:spPr bwMode="auto">
            <a:xfrm>
              <a:off x="4656" y="3288"/>
              <a:ext cx="516" cy="396"/>
            </a:xfrm>
            <a:prstGeom prst="ellipse">
              <a:avLst/>
            </a:prstGeom>
            <a:solidFill>
              <a:srgbClr val="FAE2F6"/>
            </a:solidFill>
            <a:ln w="9525">
              <a:solidFill>
                <a:schemeClr val="tx1"/>
              </a:solidFill>
              <a:round/>
              <a:headEnd/>
              <a:tailEnd/>
            </a:ln>
          </p:spPr>
          <p:txBody>
            <a:bodyPr wrap="none" anchor="ctr"/>
            <a:lstStyle/>
            <a:p>
              <a:endParaRPr lang="en-US"/>
            </a:p>
          </p:txBody>
        </p:sp>
      </p:grpSp>
      <p:grpSp>
        <p:nvGrpSpPr>
          <p:cNvPr id="4" name="Group 15"/>
          <p:cNvGrpSpPr>
            <a:grpSpLocks/>
          </p:cNvGrpSpPr>
          <p:nvPr/>
        </p:nvGrpSpPr>
        <p:grpSpPr bwMode="auto">
          <a:xfrm>
            <a:off x="876300" y="1905000"/>
            <a:ext cx="2724150" cy="4556125"/>
            <a:chOff x="564" y="1284"/>
            <a:chExt cx="1716" cy="2870"/>
          </a:xfrm>
        </p:grpSpPr>
        <p:sp>
          <p:nvSpPr>
            <p:cNvPr id="49163" name="AutoShape 16"/>
            <p:cNvSpPr>
              <a:spLocks noChangeArrowheads="1"/>
            </p:cNvSpPr>
            <p:nvPr/>
          </p:nvSpPr>
          <p:spPr bwMode="auto">
            <a:xfrm>
              <a:off x="564" y="1284"/>
              <a:ext cx="1716" cy="2616"/>
            </a:xfrm>
            <a:prstGeom prst="can">
              <a:avLst>
                <a:gd name="adj" fmla="val 38112"/>
              </a:avLst>
            </a:prstGeom>
            <a:noFill/>
            <a:ln w="9525">
              <a:solidFill>
                <a:schemeClr val="tx1"/>
              </a:solidFill>
              <a:round/>
              <a:headEnd/>
              <a:tailEnd/>
            </a:ln>
          </p:spPr>
          <p:txBody>
            <a:bodyPr wrap="none" anchor="ctr"/>
            <a:lstStyle/>
            <a:p>
              <a:endParaRPr lang="en-US"/>
            </a:p>
          </p:txBody>
        </p:sp>
        <p:sp>
          <p:nvSpPr>
            <p:cNvPr id="49164" name="Oval 17"/>
            <p:cNvSpPr>
              <a:spLocks noChangeArrowheads="1"/>
            </p:cNvSpPr>
            <p:nvPr/>
          </p:nvSpPr>
          <p:spPr bwMode="auto">
            <a:xfrm>
              <a:off x="672" y="3336"/>
              <a:ext cx="516" cy="396"/>
            </a:xfrm>
            <a:prstGeom prst="ellipse">
              <a:avLst/>
            </a:prstGeom>
            <a:solidFill>
              <a:srgbClr val="FAE2F6"/>
            </a:solidFill>
            <a:ln w="9525">
              <a:solidFill>
                <a:schemeClr val="tx1"/>
              </a:solidFill>
              <a:round/>
              <a:headEnd/>
              <a:tailEnd/>
            </a:ln>
          </p:spPr>
          <p:txBody>
            <a:bodyPr wrap="none" anchor="ctr"/>
            <a:lstStyle/>
            <a:p>
              <a:endParaRPr lang="en-US"/>
            </a:p>
          </p:txBody>
        </p:sp>
        <p:sp>
          <p:nvSpPr>
            <p:cNvPr id="49165" name="Oval 18"/>
            <p:cNvSpPr>
              <a:spLocks noChangeArrowheads="1"/>
            </p:cNvSpPr>
            <p:nvPr/>
          </p:nvSpPr>
          <p:spPr bwMode="auto">
            <a:xfrm>
              <a:off x="660" y="2916"/>
              <a:ext cx="540" cy="360"/>
            </a:xfrm>
            <a:prstGeom prst="ellipse">
              <a:avLst/>
            </a:prstGeom>
            <a:solidFill>
              <a:srgbClr val="006666"/>
            </a:solidFill>
            <a:ln w="9525">
              <a:solidFill>
                <a:schemeClr val="accent2"/>
              </a:solidFill>
              <a:round/>
              <a:headEnd/>
              <a:tailEnd/>
            </a:ln>
          </p:spPr>
          <p:txBody>
            <a:bodyPr wrap="none" anchor="ctr"/>
            <a:lstStyle/>
            <a:p>
              <a:endParaRPr lang="en-US"/>
            </a:p>
          </p:txBody>
        </p:sp>
        <p:sp>
          <p:nvSpPr>
            <p:cNvPr id="49166" name="Oval 19"/>
            <p:cNvSpPr>
              <a:spLocks noChangeArrowheads="1"/>
            </p:cNvSpPr>
            <p:nvPr/>
          </p:nvSpPr>
          <p:spPr bwMode="auto">
            <a:xfrm>
              <a:off x="1236" y="3468"/>
              <a:ext cx="564" cy="396"/>
            </a:xfrm>
            <a:prstGeom prst="ellipse">
              <a:avLst/>
            </a:prstGeom>
            <a:solidFill>
              <a:srgbClr val="121328"/>
            </a:solidFill>
            <a:ln w="9525">
              <a:solidFill>
                <a:schemeClr val="tx1"/>
              </a:solidFill>
              <a:round/>
              <a:headEnd/>
              <a:tailEnd/>
            </a:ln>
          </p:spPr>
          <p:txBody>
            <a:bodyPr wrap="none" anchor="ctr"/>
            <a:lstStyle/>
            <a:p>
              <a:endParaRPr lang="en-US"/>
            </a:p>
          </p:txBody>
        </p:sp>
        <p:sp>
          <p:nvSpPr>
            <p:cNvPr id="49167" name="Oval 20"/>
            <p:cNvSpPr>
              <a:spLocks noChangeArrowheads="1"/>
            </p:cNvSpPr>
            <p:nvPr/>
          </p:nvSpPr>
          <p:spPr bwMode="auto">
            <a:xfrm>
              <a:off x="1764" y="3240"/>
              <a:ext cx="492" cy="396"/>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49168" name="Oval 21"/>
            <p:cNvSpPr>
              <a:spLocks noChangeArrowheads="1"/>
            </p:cNvSpPr>
            <p:nvPr/>
          </p:nvSpPr>
          <p:spPr bwMode="auto">
            <a:xfrm>
              <a:off x="1236" y="3084"/>
              <a:ext cx="468" cy="372"/>
            </a:xfrm>
            <a:prstGeom prst="ellipse">
              <a:avLst/>
            </a:prstGeom>
            <a:solidFill>
              <a:srgbClr val="CCFF99"/>
            </a:solidFill>
            <a:ln w="9525">
              <a:solidFill>
                <a:schemeClr val="tx1"/>
              </a:solidFill>
              <a:round/>
              <a:headEnd/>
              <a:tailEnd/>
            </a:ln>
          </p:spPr>
          <p:txBody>
            <a:bodyPr wrap="none" anchor="ctr"/>
            <a:lstStyle/>
            <a:p>
              <a:endParaRPr lang="en-US"/>
            </a:p>
          </p:txBody>
        </p:sp>
        <p:sp>
          <p:nvSpPr>
            <p:cNvPr id="49169" name="Oval 22"/>
            <p:cNvSpPr>
              <a:spLocks noChangeArrowheads="1"/>
            </p:cNvSpPr>
            <p:nvPr/>
          </p:nvSpPr>
          <p:spPr bwMode="auto">
            <a:xfrm>
              <a:off x="1680" y="2808"/>
              <a:ext cx="540" cy="360"/>
            </a:xfrm>
            <a:prstGeom prst="ellipse">
              <a:avLst/>
            </a:prstGeom>
            <a:solidFill>
              <a:schemeClr val="hlink"/>
            </a:solidFill>
            <a:ln w="9525">
              <a:solidFill>
                <a:schemeClr val="hlink"/>
              </a:solidFill>
              <a:round/>
              <a:headEnd/>
              <a:tailEnd/>
            </a:ln>
          </p:spPr>
          <p:txBody>
            <a:bodyPr wrap="none" anchor="ctr"/>
            <a:lstStyle/>
            <a:p>
              <a:endParaRPr lang="en-US"/>
            </a:p>
          </p:txBody>
        </p:sp>
        <p:sp>
          <p:nvSpPr>
            <p:cNvPr id="49170" name="Oval 23"/>
            <p:cNvSpPr>
              <a:spLocks noChangeArrowheads="1"/>
            </p:cNvSpPr>
            <p:nvPr/>
          </p:nvSpPr>
          <p:spPr bwMode="auto">
            <a:xfrm>
              <a:off x="1092" y="2664"/>
              <a:ext cx="540" cy="360"/>
            </a:xfrm>
            <a:prstGeom prst="ellipse">
              <a:avLst/>
            </a:prstGeom>
            <a:solidFill>
              <a:schemeClr val="bg1"/>
            </a:solidFill>
            <a:ln w="9525">
              <a:solidFill>
                <a:schemeClr val="tx1"/>
              </a:solidFill>
              <a:round/>
              <a:headEnd/>
              <a:tailEnd/>
            </a:ln>
          </p:spPr>
          <p:txBody>
            <a:bodyPr wrap="none" anchor="ctr"/>
            <a:lstStyle/>
            <a:p>
              <a:endParaRPr lang="en-US"/>
            </a:p>
          </p:txBody>
        </p:sp>
        <p:sp>
          <p:nvSpPr>
            <p:cNvPr id="49171" name="Oval 24"/>
            <p:cNvSpPr>
              <a:spLocks noChangeArrowheads="1"/>
            </p:cNvSpPr>
            <p:nvPr/>
          </p:nvSpPr>
          <p:spPr bwMode="auto">
            <a:xfrm>
              <a:off x="564" y="2556"/>
              <a:ext cx="540" cy="360"/>
            </a:xfrm>
            <a:prstGeom prst="ellipse">
              <a:avLst/>
            </a:prstGeom>
            <a:solidFill>
              <a:schemeClr val="tx2"/>
            </a:solidFill>
            <a:ln w="9525">
              <a:solidFill>
                <a:schemeClr val="tx1"/>
              </a:solidFill>
              <a:round/>
              <a:headEnd/>
              <a:tailEnd/>
            </a:ln>
          </p:spPr>
          <p:txBody>
            <a:bodyPr wrap="none" anchor="ctr"/>
            <a:lstStyle/>
            <a:p>
              <a:endParaRPr lang="en-US"/>
            </a:p>
          </p:txBody>
        </p:sp>
        <p:sp>
          <p:nvSpPr>
            <p:cNvPr id="49172" name="Oval 25"/>
            <p:cNvSpPr>
              <a:spLocks noChangeArrowheads="1"/>
            </p:cNvSpPr>
            <p:nvPr/>
          </p:nvSpPr>
          <p:spPr bwMode="auto">
            <a:xfrm>
              <a:off x="1620" y="2424"/>
              <a:ext cx="540" cy="360"/>
            </a:xfrm>
            <a:prstGeom prst="ellipse">
              <a:avLst/>
            </a:prstGeom>
            <a:solidFill>
              <a:srgbClr val="423E78"/>
            </a:solidFill>
            <a:ln w="9525">
              <a:solidFill>
                <a:schemeClr val="tx1"/>
              </a:solidFill>
              <a:round/>
              <a:headEnd/>
              <a:tailEnd/>
            </a:ln>
          </p:spPr>
          <p:txBody>
            <a:bodyPr wrap="none" anchor="ctr"/>
            <a:lstStyle/>
            <a:p>
              <a:endParaRPr lang="en-US"/>
            </a:p>
          </p:txBody>
        </p:sp>
        <p:sp>
          <p:nvSpPr>
            <p:cNvPr id="49173" name="Text Box 26"/>
            <p:cNvSpPr txBox="1">
              <a:spLocks noChangeArrowheads="1"/>
            </p:cNvSpPr>
            <p:nvPr/>
          </p:nvSpPr>
          <p:spPr bwMode="auto">
            <a:xfrm>
              <a:off x="974" y="3866"/>
              <a:ext cx="878" cy="288"/>
            </a:xfrm>
            <a:prstGeom prst="rect">
              <a:avLst/>
            </a:prstGeom>
            <a:noFill/>
            <a:ln w="9525">
              <a:noFill/>
              <a:miter lim="800000"/>
              <a:headEnd/>
              <a:tailEnd/>
            </a:ln>
          </p:spPr>
          <p:txBody>
            <a:bodyPr wrap="none">
              <a:spAutoFit/>
            </a:bodyPr>
            <a:lstStyle/>
            <a:p>
              <a:pPr eaLnBrk="0" hangingPunct="0"/>
              <a:r>
                <a:rPr lang="en-US">
                  <a:latin typeface="Times New Roman" pitchFamily="18" charset="0"/>
                </a:rPr>
                <a:t>Raw Data</a:t>
              </a:r>
            </a:p>
          </p:txBody>
        </p:sp>
      </p:grpSp>
      <p:sp>
        <p:nvSpPr>
          <p:cNvPr id="49161" name="Line 27"/>
          <p:cNvSpPr>
            <a:spLocks noChangeShapeType="1"/>
          </p:cNvSpPr>
          <p:nvPr/>
        </p:nvSpPr>
        <p:spPr bwMode="auto">
          <a:xfrm flipV="1">
            <a:off x="3810000" y="2971800"/>
            <a:ext cx="1657350" cy="552450"/>
          </a:xfrm>
          <a:prstGeom prst="line">
            <a:avLst/>
          </a:prstGeom>
          <a:noFill/>
          <a:ln w="9525">
            <a:solidFill>
              <a:schemeClr val="tx1"/>
            </a:solidFill>
            <a:round/>
            <a:headEnd/>
            <a:tailEnd type="triangle" w="med" len="med"/>
          </a:ln>
        </p:spPr>
        <p:txBody>
          <a:bodyPr wrap="none" anchor="ctr"/>
          <a:lstStyle/>
          <a:p>
            <a:endParaRPr lang="en-AU"/>
          </a:p>
        </p:txBody>
      </p:sp>
      <p:sp>
        <p:nvSpPr>
          <p:cNvPr id="49162" name="Line 28"/>
          <p:cNvSpPr>
            <a:spLocks noChangeShapeType="1"/>
          </p:cNvSpPr>
          <p:nvPr/>
        </p:nvSpPr>
        <p:spPr bwMode="auto">
          <a:xfrm>
            <a:off x="3829050" y="4895850"/>
            <a:ext cx="1790700" cy="495300"/>
          </a:xfrm>
          <a:prstGeom prst="line">
            <a:avLst/>
          </a:prstGeom>
          <a:noFill/>
          <a:ln w="9525">
            <a:solidFill>
              <a:schemeClr val="tx1"/>
            </a:solidFill>
            <a:round/>
            <a:headEnd/>
            <a:tailEnd type="triangle" w="med" len="med"/>
          </a:ln>
        </p:spPr>
        <p:txBody>
          <a:bodyPr wrap="none" anchor="ctr"/>
          <a:lstStyle/>
          <a:p>
            <a:endParaRPr lang="en-AU"/>
          </a:p>
        </p:txBody>
      </p:sp>
      <p:sp>
        <p:nvSpPr>
          <p:cNvPr id="29" name="Text Box 3"/>
          <p:cNvSpPr txBox="1">
            <a:spLocks noChangeArrowheads="1"/>
          </p:cNvSpPr>
          <p:nvPr/>
        </p:nvSpPr>
        <p:spPr>
          <a:xfrm>
            <a:off x="0" y="152400"/>
            <a:ext cx="9144000" cy="990600"/>
          </a:xfrm>
          <a:prstGeom prst="rect">
            <a:avLst/>
          </a:prstGeom>
          <a:noFill/>
        </p:spPr>
        <p:txBody>
          <a:bodyPr anchor="ctr">
            <a:normAutofit/>
          </a:bodyPr>
          <a:lstStyle/>
          <a:p>
            <a:r>
              <a:rPr lang="en-US" sz="3200" dirty="0" smtClean="0">
                <a:solidFill>
                  <a:schemeClr val="tx2"/>
                </a:solidFill>
                <a:latin typeface="+mj-lt"/>
              </a:rPr>
              <a:t>Sampling: With or without Replacement</a:t>
            </a:r>
            <a:endParaRPr lang="en-US" sz="3200" dirty="0">
              <a:solidFill>
                <a:schemeClr val="tx2"/>
              </a:solidFill>
              <a:latin typeface="+mj-lt"/>
            </a:endParaRP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3"/>
          <p:cNvSpPr>
            <a:spLocks noGrp="1" noChangeArrowheads="1"/>
          </p:cNvSpPr>
          <p:nvPr>
            <p:ph type="body" idx="4294967295"/>
          </p:nvPr>
        </p:nvSpPr>
        <p:spPr>
          <a:xfrm>
            <a:off x="304800" y="1371600"/>
            <a:ext cx="8458200" cy="5238750"/>
          </a:xfrm>
        </p:spPr>
        <p:txBody>
          <a:bodyPr/>
          <a:lstStyle/>
          <a:p>
            <a:pPr eaLnBrk="1" hangingPunct="1">
              <a:lnSpc>
                <a:spcPct val="120000"/>
              </a:lnSpc>
            </a:pPr>
            <a:r>
              <a:rPr lang="en-US" sz="2400" smtClean="0"/>
              <a:t>The lowest level of a data cube (base cuboid)</a:t>
            </a:r>
          </a:p>
          <a:p>
            <a:pPr lvl="1" eaLnBrk="1" hangingPunct="1">
              <a:lnSpc>
                <a:spcPct val="120000"/>
              </a:lnSpc>
            </a:pPr>
            <a:r>
              <a:rPr lang="en-US" sz="2400" smtClean="0"/>
              <a:t>The aggregated data for an </a:t>
            </a:r>
            <a:r>
              <a:rPr lang="en-US" sz="2400" smtClean="0">
                <a:solidFill>
                  <a:schemeClr val="hlink"/>
                </a:solidFill>
              </a:rPr>
              <a:t>individual entity of interest</a:t>
            </a:r>
          </a:p>
          <a:p>
            <a:pPr lvl="1" eaLnBrk="1" hangingPunct="1">
              <a:lnSpc>
                <a:spcPct val="120000"/>
              </a:lnSpc>
            </a:pPr>
            <a:r>
              <a:rPr lang="en-US" sz="2400" smtClean="0"/>
              <a:t>E.g., a customer in a phone calling data warehouse</a:t>
            </a:r>
          </a:p>
          <a:p>
            <a:pPr eaLnBrk="1" hangingPunct="1">
              <a:lnSpc>
                <a:spcPct val="120000"/>
              </a:lnSpc>
            </a:pPr>
            <a:r>
              <a:rPr lang="en-US" sz="2400" smtClean="0"/>
              <a:t>Multiple levels of aggregation in data cubes</a:t>
            </a:r>
          </a:p>
          <a:p>
            <a:pPr lvl="1" eaLnBrk="1" hangingPunct="1">
              <a:lnSpc>
                <a:spcPct val="120000"/>
              </a:lnSpc>
            </a:pPr>
            <a:r>
              <a:rPr lang="en-US" sz="2400" smtClean="0"/>
              <a:t>Further reduce the size of data to deal with</a:t>
            </a:r>
          </a:p>
          <a:p>
            <a:pPr eaLnBrk="1" hangingPunct="1">
              <a:lnSpc>
                <a:spcPct val="120000"/>
              </a:lnSpc>
            </a:pPr>
            <a:r>
              <a:rPr lang="en-US" sz="2400" smtClean="0"/>
              <a:t>Reference appropriate levels</a:t>
            </a:r>
          </a:p>
          <a:p>
            <a:pPr lvl="1" eaLnBrk="1" hangingPunct="1">
              <a:lnSpc>
                <a:spcPct val="120000"/>
              </a:lnSpc>
            </a:pPr>
            <a:r>
              <a:rPr lang="en-US" sz="2400" smtClean="0"/>
              <a:t>Use the smallest representation which is enough to solve the task</a:t>
            </a:r>
          </a:p>
          <a:p>
            <a:pPr eaLnBrk="1" hangingPunct="1">
              <a:lnSpc>
                <a:spcPct val="120000"/>
              </a:lnSpc>
            </a:pPr>
            <a:r>
              <a:rPr lang="en-US" sz="2400" smtClean="0"/>
              <a:t>Queries regarding aggregated information should be answered using data cube, when possible</a:t>
            </a:r>
          </a:p>
        </p:txBody>
      </p:sp>
      <p:sp>
        <p:nvSpPr>
          <p:cNvPr id="5" name="Text Box 3"/>
          <p:cNvSpPr txBox="1">
            <a:spLocks noChangeArrowheads="1"/>
          </p:cNvSpPr>
          <p:nvPr/>
        </p:nvSpPr>
        <p:spPr>
          <a:xfrm>
            <a:off x="0" y="152400"/>
            <a:ext cx="9144000" cy="990600"/>
          </a:xfrm>
          <a:prstGeom prst="rect">
            <a:avLst/>
          </a:prstGeom>
          <a:noFill/>
        </p:spPr>
        <p:txBody>
          <a:bodyPr anchor="ctr">
            <a:normAutofit/>
          </a:bodyPr>
          <a:lstStyle/>
          <a:p>
            <a:r>
              <a:rPr lang="en-US" sz="3200" dirty="0" smtClean="0">
                <a:solidFill>
                  <a:schemeClr val="tx2"/>
                </a:solidFill>
                <a:latin typeface="+mj-lt"/>
              </a:rPr>
              <a:t>Data Cube Aggregation</a:t>
            </a:r>
            <a:endParaRPr lang="en-US" sz="3200" dirty="0">
              <a:solidFill>
                <a:schemeClr val="tx2"/>
              </a:solidFill>
              <a:latin typeface="+mj-lt"/>
            </a:endParaRPr>
          </a:p>
        </p:txBody>
      </p:sp>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3"/>
          <p:cNvSpPr>
            <a:spLocks noGrp="1" noChangeArrowheads="1"/>
          </p:cNvSpPr>
          <p:nvPr>
            <p:ph type="body" idx="4294967295"/>
          </p:nvPr>
        </p:nvSpPr>
        <p:spPr>
          <a:xfrm>
            <a:off x="304800" y="1371600"/>
            <a:ext cx="8610600" cy="5314950"/>
          </a:xfrm>
        </p:spPr>
        <p:txBody>
          <a:bodyPr/>
          <a:lstStyle/>
          <a:p>
            <a:pPr eaLnBrk="1" hangingPunct="1"/>
            <a:r>
              <a:rPr lang="en-US" sz="2400" dirty="0" smtClean="0"/>
              <a:t>String compression</a:t>
            </a:r>
          </a:p>
          <a:p>
            <a:pPr lvl="1" eaLnBrk="1" hangingPunct="1"/>
            <a:r>
              <a:rPr lang="en-US" sz="2400" dirty="0" smtClean="0"/>
              <a:t>There are extensive theories and well-tuned algorithms</a:t>
            </a:r>
          </a:p>
          <a:p>
            <a:pPr lvl="1" eaLnBrk="1" hangingPunct="1"/>
            <a:r>
              <a:rPr lang="en-US" sz="2400" dirty="0" smtClean="0"/>
              <a:t>Typically lossless, but only limited manipulation is possible without expansion</a:t>
            </a:r>
            <a:endParaRPr lang="en-US" sz="2400" dirty="0" smtClean="0">
              <a:sym typeface="Symbol" pitchFamily="18" charset="2"/>
            </a:endParaRPr>
          </a:p>
          <a:p>
            <a:pPr eaLnBrk="1" hangingPunct="1"/>
            <a:r>
              <a:rPr lang="en-US" sz="2400" dirty="0" smtClean="0">
                <a:sym typeface="Symbol" pitchFamily="18" charset="2"/>
              </a:rPr>
              <a:t>Audio/video compression</a:t>
            </a:r>
          </a:p>
          <a:p>
            <a:pPr lvl="1" eaLnBrk="1" hangingPunct="1"/>
            <a:r>
              <a:rPr lang="en-US" sz="2400" dirty="0" smtClean="0">
                <a:sym typeface="Symbol" pitchFamily="18" charset="2"/>
              </a:rPr>
              <a:t>Typically </a:t>
            </a:r>
            <a:r>
              <a:rPr lang="en-US" sz="2400" dirty="0" err="1" smtClean="0">
                <a:sym typeface="Symbol" pitchFamily="18" charset="2"/>
              </a:rPr>
              <a:t>lossy</a:t>
            </a:r>
            <a:r>
              <a:rPr lang="en-US" sz="2400" dirty="0" smtClean="0">
                <a:sym typeface="Symbol" pitchFamily="18" charset="2"/>
              </a:rPr>
              <a:t> compression, with progressive refinement</a:t>
            </a:r>
          </a:p>
          <a:p>
            <a:pPr lvl="1" eaLnBrk="1" hangingPunct="1"/>
            <a:r>
              <a:rPr lang="en-US" sz="2400" dirty="0" smtClean="0">
                <a:sym typeface="Symbol" pitchFamily="18" charset="2"/>
              </a:rPr>
              <a:t>Sometimes small fragments of signal can be reconstructed without reconstructing the whole</a:t>
            </a:r>
          </a:p>
          <a:p>
            <a:pPr eaLnBrk="1" hangingPunct="1"/>
            <a:r>
              <a:rPr lang="en-US" sz="2400" dirty="0" smtClean="0">
                <a:sym typeface="Symbol" pitchFamily="18" charset="2"/>
              </a:rPr>
              <a:t>Time sequence is not audio</a:t>
            </a:r>
          </a:p>
          <a:p>
            <a:pPr lvl="1" eaLnBrk="1" hangingPunct="1"/>
            <a:r>
              <a:rPr lang="en-US" sz="2400" dirty="0" smtClean="0">
                <a:sym typeface="Symbol" pitchFamily="18" charset="2"/>
              </a:rPr>
              <a:t>Typically short and vary slowly with time</a:t>
            </a:r>
          </a:p>
          <a:p>
            <a:pPr eaLnBrk="1" hangingPunct="1"/>
            <a:r>
              <a:rPr lang="en-US" sz="2400" dirty="0" smtClean="0">
                <a:sym typeface="Symbol" pitchFamily="18" charset="2"/>
              </a:rPr>
              <a:t>Dimensionality and </a:t>
            </a:r>
            <a:r>
              <a:rPr lang="en-US" sz="2400" dirty="0" err="1" smtClean="0">
                <a:sym typeface="Symbol" pitchFamily="18" charset="2"/>
              </a:rPr>
              <a:t>numerosity</a:t>
            </a:r>
            <a:r>
              <a:rPr lang="en-US" sz="2400" dirty="0" smtClean="0">
                <a:sym typeface="Symbol" pitchFamily="18" charset="2"/>
              </a:rPr>
              <a:t> reduction may also be considered as forms of data compression</a:t>
            </a:r>
          </a:p>
          <a:p>
            <a:pPr lvl="1" eaLnBrk="1" hangingPunct="1">
              <a:lnSpc>
                <a:spcPct val="80000"/>
              </a:lnSpc>
            </a:pPr>
            <a:endParaRPr lang="en-US" sz="2400" dirty="0" smtClean="0">
              <a:sym typeface="Symbol" pitchFamily="18" charset="2"/>
            </a:endParaRPr>
          </a:p>
        </p:txBody>
      </p:sp>
      <p:sp>
        <p:nvSpPr>
          <p:cNvPr id="4" name="Text Box 3"/>
          <p:cNvSpPr txBox="1">
            <a:spLocks noChangeArrowheads="1"/>
          </p:cNvSpPr>
          <p:nvPr/>
        </p:nvSpPr>
        <p:spPr>
          <a:xfrm>
            <a:off x="0" y="152400"/>
            <a:ext cx="9144000" cy="990600"/>
          </a:xfrm>
          <a:prstGeom prst="rect">
            <a:avLst/>
          </a:prstGeom>
          <a:noFill/>
        </p:spPr>
        <p:txBody>
          <a:bodyPr anchor="ctr">
            <a:normAutofit/>
          </a:bodyPr>
          <a:lstStyle/>
          <a:p>
            <a:r>
              <a:rPr lang="en-US" sz="3200" dirty="0" smtClean="0">
                <a:solidFill>
                  <a:schemeClr val="tx2"/>
                </a:solidFill>
                <a:latin typeface="+mj-lt"/>
              </a:rPr>
              <a:t>Data Reduction 3: Data Compression</a:t>
            </a:r>
            <a:endParaRPr lang="en-US" sz="3200" dirty="0">
              <a:solidFill>
                <a:schemeClr val="tx2"/>
              </a:solidFill>
              <a:latin typeface="+mj-lt"/>
            </a:endParaRPr>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3"/>
          <p:cNvSpPr>
            <a:spLocks noGrp="1" noChangeArrowheads="1"/>
          </p:cNvSpPr>
          <p:nvPr>
            <p:ph type="body" sz="half" idx="1"/>
          </p:nvPr>
        </p:nvSpPr>
        <p:spPr>
          <a:xfrm>
            <a:off x="381000" y="1371600"/>
            <a:ext cx="8229600" cy="5105400"/>
          </a:xfrm>
          <a:noFill/>
        </p:spPr>
        <p:txBody>
          <a:bodyPr lIns="92075" tIns="46038" rIns="92075" bIns="46038"/>
          <a:lstStyle/>
          <a:p>
            <a:pPr eaLnBrk="1" hangingPunct="1">
              <a:lnSpc>
                <a:spcPct val="150000"/>
              </a:lnSpc>
            </a:pPr>
            <a:r>
              <a:rPr lang="en-US" sz="2400" dirty="0" smtClean="0"/>
              <a:t>Data Preprocessing: An Overview</a:t>
            </a:r>
          </a:p>
          <a:p>
            <a:pPr lvl="1" eaLnBrk="1" hangingPunct="1">
              <a:lnSpc>
                <a:spcPct val="150000"/>
              </a:lnSpc>
            </a:pPr>
            <a:r>
              <a:rPr lang="en-US" sz="2400" dirty="0" smtClean="0"/>
              <a:t>Data Quality</a:t>
            </a:r>
          </a:p>
          <a:p>
            <a:pPr lvl="1" eaLnBrk="1" hangingPunct="1">
              <a:lnSpc>
                <a:spcPct val="150000"/>
              </a:lnSpc>
            </a:pPr>
            <a:r>
              <a:rPr lang="en-US" sz="2400" dirty="0" smtClean="0"/>
              <a:t>Major Tasks in Data Preprocessing</a:t>
            </a:r>
          </a:p>
          <a:p>
            <a:pPr eaLnBrk="1" hangingPunct="1">
              <a:lnSpc>
                <a:spcPct val="150000"/>
              </a:lnSpc>
            </a:pPr>
            <a:r>
              <a:rPr lang="en-US" sz="2400" dirty="0" smtClean="0"/>
              <a:t>Data Cleaning</a:t>
            </a:r>
          </a:p>
          <a:p>
            <a:pPr eaLnBrk="1" hangingPunct="1">
              <a:lnSpc>
                <a:spcPct val="150000"/>
              </a:lnSpc>
            </a:pPr>
            <a:r>
              <a:rPr lang="en-US" sz="2400" dirty="0" smtClean="0"/>
              <a:t>Data Integration</a:t>
            </a:r>
          </a:p>
          <a:p>
            <a:pPr eaLnBrk="1" hangingPunct="1">
              <a:lnSpc>
                <a:spcPct val="150000"/>
              </a:lnSpc>
            </a:pPr>
            <a:r>
              <a:rPr lang="en-US" sz="2400" dirty="0" smtClean="0"/>
              <a:t>Data Reduction</a:t>
            </a:r>
          </a:p>
          <a:p>
            <a:pPr eaLnBrk="1" hangingPunct="1">
              <a:lnSpc>
                <a:spcPct val="150000"/>
              </a:lnSpc>
            </a:pPr>
            <a:r>
              <a:rPr lang="en-US" sz="2400" dirty="0" smtClean="0"/>
              <a:t>Data Transformation and Data </a:t>
            </a:r>
            <a:r>
              <a:rPr lang="en-US" sz="2400" dirty="0" err="1" smtClean="0"/>
              <a:t>Discretization</a:t>
            </a:r>
            <a:endParaRPr lang="en-US" sz="2400" dirty="0" smtClean="0"/>
          </a:p>
          <a:p>
            <a:pPr eaLnBrk="1" hangingPunct="1">
              <a:lnSpc>
                <a:spcPct val="150000"/>
              </a:lnSpc>
            </a:pPr>
            <a:r>
              <a:rPr lang="en-US" sz="2400" dirty="0" smtClean="0"/>
              <a:t>Summary</a:t>
            </a:r>
          </a:p>
        </p:txBody>
      </p:sp>
      <p:sp>
        <p:nvSpPr>
          <p:cNvPr id="7" name="Rectangle 2"/>
          <p:cNvSpPr txBox="1">
            <a:spLocks noChangeArrowheads="1"/>
          </p:cNvSpPr>
          <p:nvPr/>
        </p:nvSpPr>
        <p:spPr>
          <a:xfrm>
            <a:off x="0" y="304800"/>
            <a:ext cx="9144000" cy="685800"/>
          </a:xfrm>
          <a:prstGeom prst="rect">
            <a:avLst/>
          </a:prstGeom>
        </p:spPr>
        <p:txBody>
          <a:bodyPr bIns="91440" anchor="b" anchorCtr="0">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Data Preprocessing</a:t>
            </a:r>
            <a:endParaRPr kumimoji="0" lang="en-US" sz="4000" b="0" i="0" u="none" strike="noStrike" kern="1200" cap="none" spc="0" normalizeH="0" baseline="0" noProof="0" dirty="0" smtClean="0">
              <a:ln>
                <a:noFill/>
              </a:ln>
              <a:solidFill>
                <a:schemeClr val="tx2"/>
              </a:solidFill>
              <a:effectLst/>
              <a:uLnTx/>
              <a:uFillTx/>
              <a:latin typeface="+mj-lt"/>
              <a:ea typeface="+mj-ea"/>
              <a:cs typeface="+mj-cs"/>
            </a:endParaRPr>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3"/>
          <p:cNvSpPr>
            <a:spLocks noGrp="1" noChangeArrowheads="1"/>
          </p:cNvSpPr>
          <p:nvPr>
            <p:ph type="body" idx="4294967295"/>
          </p:nvPr>
        </p:nvSpPr>
        <p:spPr>
          <a:xfrm>
            <a:off x="304800" y="1219200"/>
            <a:ext cx="8305800" cy="5334000"/>
          </a:xfrm>
        </p:spPr>
        <p:txBody>
          <a:bodyPr/>
          <a:lstStyle/>
          <a:p>
            <a:pPr eaLnBrk="1" hangingPunct="1">
              <a:spcBef>
                <a:spcPts val="600"/>
              </a:spcBef>
              <a:spcAft>
                <a:spcPts val="600"/>
              </a:spcAft>
            </a:pPr>
            <a:r>
              <a:rPr lang="en-US" sz="2000" dirty="0" smtClean="0"/>
              <a:t>A function that maps the entire set of values of a given attribute to a new set of replacement values </a:t>
            </a:r>
            <a:r>
              <a:rPr lang="en-US" sz="2000" dirty="0" err="1" smtClean="0"/>
              <a:t>s.t</a:t>
            </a:r>
            <a:r>
              <a:rPr lang="en-US" sz="2000" dirty="0" smtClean="0"/>
              <a:t>. each old value can be identified with one of the new values</a:t>
            </a:r>
          </a:p>
          <a:p>
            <a:pPr eaLnBrk="1" hangingPunct="1">
              <a:spcBef>
                <a:spcPts val="600"/>
              </a:spcBef>
              <a:spcAft>
                <a:spcPts val="600"/>
              </a:spcAft>
            </a:pPr>
            <a:r>
              <a:rPr lang="en-US" sz="2000" dirty="0" smtClean="0"/>
              <a:t>Methods</a:t>
            </a:r>
          </a:p>
          <a:p>
            <a:pPr lvl="1" eaLnBrk="1" hangingPunct="1">
              <a:spcBef>
                <a:spcPts val="600"/>
              </a:spcBef>
              <a:spcAft>
                <a:spcPts val="600"/>
              </a:spcAft>
            </a:pPr>
            <a:r>
              <a:rPr lang="en-US" sz="2000" dirty="0" smtClean="0"/>
              <a:t>Smoothing: Remove noise from data</a:t>
            </a:r>
          </a:p>
          <a:p>
            <a:pPr lvl="1" eaLnBrk="1" hangingPunct="1">
              <a:spcBef>
                <a:spcPts val="600"/>
              </a:spcBef>
              <a:spcAft>
                <a:spcPts val="600"/>
              </a:spcAft>
            </a:pPr>
            <a:r>
              <a:rPr lang="en-US" sz="2000" dirty="0" smtClean="0"/>
              <a:t>Attribute/feature construction</a:t>
            </a:r>
          </a:p>
          <a:p>
            <a:pPr lvl="2" eaLnBrk="1" hangingPunct="1">
              <a:spcBef>
                <a:spcPts val="600"/>
              </a:spcBef>
              <a:spcAft>
                <a:spcPts val="600"/>
              </a:spcAft>
            </a:pPr>
            <a:r>
              <a:rPr lang="en-US" sz="2000" dirty="0" smtClean="0"/>
              <a:t>New attributes constructed from the given ones</a:t>
            </a:r>
          </a:p>
          <a:p>
            <a:pPr lvl="1" eaLnBrk="1" hangingPunct="1">
              <a:spcBef>
                <a:spcPts val="600"/>
              </a:spcBef>
              <a:spcAft>
                <a:spcPts val="600"/>
              </a:spcAft>
            </a:pPr>
            <a:r>
              <a:rPr lang="en-US" sz="2000" dirty="0" smtClean="0"/>
              <a:t>Aggregation: Summarization, data cube construction</a:t>
            </a:r>
          </a:p>
          <a:p>
            <a:pPr lvl="1" eaLnBrk="1" hangingPunct="1">
              <a:spcBef>
                <a:spcPts val="600"/>
              </a:spcBef>
              <a:spcAft>
                <a:spcPts val="600"/>
              </a:spcAft>
            </a:pPr>
            <a:r>
              <a:rPr lang="en-US" sz="2000" dirty="0" smtClean="0"/>
              <a:t>Normalization: Scaled to fall within a smaller, specified range</a:t>
            </a:r>
          </a:p>
          <a:p>
            <a:pPr lvl="2" eaLnBrk="1" hangingPunct="1">
              <a:spcBef>
                <a:spcPts val="600"/>
              </a:spcBef>
              <a:spcAft>
                <a:spcPts val="600"/>
              </a:spcAft>
            </a:pPr>
            <a:r>
              <a:rPr lang="en-US" sz="2000" dirty="0" smtClean="0"/>
              <a:t>min-max normalization</a:t>
            </a:r>
          </a:p>
          <a:p>
            <a:pPr lvl="2" eaLnBrk="1" hangingPunct="1">
              <a:spcBef>
                <a:spcPts val="600"/>
              </a:spcBef>
              <a:spcAft>
                <a:spcPts val="600"/>
              </a:spcAft>
            </a:pPr>
            <a:r>
              <a:rPr lang="en-US" sz="2000" dirty="0" smtClean="0"/>
              <a:t>z-score normalization</a:t>
            </a:r>
          </a:p>
          <a:p>
            <a:pPr lvl="2" eaLnBrk="1" hangingPunct="1">
              <a:spcBef>
                <a:spcPts val="600"/>
              </a:spcBef>
              <a:spcAft>
                <a:spcPts val="600"/>
              </a:spcAft>
            </a:pPr>
            <a:r>
              <a:rPr lang="en-US" sz="2000" dirty="0" smtClean="0"/>
              <a:t>normalization by decimal scaling</a:t>
            </a:r>
          </a:p>
          <a:p>
            <a:pPr lvl="1" eaLnBrk="1" hangingPunct="1">
              <a:spcBef>
                <a:spcPts val="600"/>
              </a:spcBef>
              <a:spcAft>
                <a:spcPts val="600"/>
              </a:spcAft>
            </a:pPr>
            <a:r>
              <a:rPr lang="en-US" sz="2000" dirty="0" err="1" smtClean="0"/>
              <a:t>Discretization</a:t>
            </a:r>
            <a:r>
              <a:rPr lang="en-US" sz="2000" dirty="0" smtClean="0"/>
              <a:t>: Concept hierarchy climbing</a:t>
            </a:r>
          </a:p>
        </p:txBody>
      </p:sp>
      <p:sp>
        <p:nvSpPr>
          <p:cNvPr id="4" name="Rectangle 2"/>
          <p:cNvSpPr txBox="1">
            <a:spLocks noChangeArrowheads="1"/>
          </p:cNvSpPr>
          <p:nvPr/>
        </p:nvSpPr>
        <p:spPr>
          <a:xfrm>
            <a:off x="0" y="304800"/>
            <a:ext cx="9144000" cy="685800"/>
          </a:xfrm>
          <a:prstGeom prst="rect">
            <a:avLst/>
          </a:prstGeom>
        </p:spPr>
        <p:txBody>
          <a:bodyPr bIns="91440" anchor="b" anchorCtr="0">
            <a:normAutofit/>
          </a:bodyPr>
          <a:lstStyle/>
          <a:p>
            <a:pPr lvl="0" eaLnBrk="1" fontAlgn="auto" hangingPunct="1">
              <a:spcAft>
                <a:spcPts val="0"/>
              </a:spcAft>
              <a:defRPr/>
            </a:pPr>
            <a:r>
              <a:rPr lang="en-US" sz="3200" dirty="0" smtClean="0">
                <a:solidFill>
                  <a:schemeClr val="tx2"/>
                </a:solidFill>
                <a:latin typeface="+mj-lt"/>
              </a:rPr>
              <a:t>Data Transformation</a:t>
            </a:r>
            <a:endParaRPr kumimoji="0" lang="en-US" sz="4000" b="0" i="0" u="none" strike="noStrike" kern="1200" cap="none" spc="0" normalizeH="0" baseline="0" noProof="0" dirty="0" smtClean="0">
              <a:ln>
                <a:noFill/>
              </a:ln>
              <a:solidFill>
                <a:schemeClr val="tx2"/>
              </a:solidFill>
              <a:effectLst/>
              <a:uLnTx/>
              <a:uFillTx/>
              <a:latin typeface="+mj-lt"/>
              <a:ea typeface="+mj-ea"/>
              <a:cs typeface="+mj-cs"/>
            </a:endParaRPr>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txBox="1">
            <a:spLocks noChangeArrowheads="1"/>
          </p:cNvSpPr>
          <p:nvPr/>
        </p:nvSpPr>
        <p:spPr>
          <a:xfrm>
            <a:off x="0" y="304800"/>
            <a:ext cx="9144000" cy="685800"/>
          </a:xfrm>
          <a:prstGeom prst="rect">
            <a:avLst/>
          </a:prstGeom>
        </p:spPr>
        <p:txBody>
          <a:bodyPr bIns="91440" anchor="b" anchorCtr="0">
            <a:normAutofit/>
          </a:bodyPr>
          <a:lstStyle/>
          <a:p>
            <a:pPr lvl="0" eaLnBrk="1" fontAlgn="auto" hangingPunct="1">
              <a:spcAft>
                <a:spcPts val="0"/>
              </a:spcAft>
              <a:defRPr/>
            </a:pPr>
            <a:r>
              <a:rPr lang="en-US" sz="3200" dirty="0" smtClean="0">
                <a:solidFill>
                  <a:schemeClr val="tx2"/>
                </a:solidFill>
                <a:latin typeface="+mj-lt"/>
              </a:rPr>
              <a:t>Normalization</a:t>
            </a:r>
            <a:endParaRPr kumimoji="0" lang="en-US" sz="4000" b="0" i="0" u="none" strike="noStrike" kern="1200" cap="none" spc="0" normalizeH="0" baseline="0" noProof="0" dirty="0" smtClean="0">
              <a:ln>
                <a:noFill/>
              </a:ln>
              <a:solidFill>
                <a:schemeClr val="tx2"/>
              </a:solidFill>
              <a:effectLst/>
              <a:uLnTx/>
              <a:uFillTx/>
              <a:latin typeface="+mj-lt"/>
              <a:ea typeface="+mj-ea"/>
              <a:cs typeface="+mj-cs"/>
            </a:endParaRPr>
          </a:p>
        </p:txBody>
      </p:sp>
      <p:sp>
        <p:nvSpPr>
          <p:cNvPr id="56324" name="Rectangle 3"/>
          <p:cNvSpPr>
            <a:spLocks noGrp="1" noChangeArrowheads="1"/>
          </p:cNvSpPr>
          <p:nvPr>
            <p:ph type="body" sz="half" idx="1"/>
          </p:nvPr>
        </p:nvSpPr>
        <p:spPr>
          <a:xfrm>
            <a:off x="304800" y="1295400"/>
            <a:ext cx="8305800" cy="5029200"/>
          </a:xfrm>
        </p:spPr>
        <p:txBody>
          <a:bodyPr/>
          <a:lstStyle/>
          <a:p>
            <a:pPr eaLnBrk="1" hangingPunct="1">
              <a:lnSpc>
                <a:spcPct val="120000"/>
              </a:lnSpc>
            </a:pPr>
            <a:r>
              <a:rPr lang="en-US" sz="2000" b="1" smtClean="0"/>
              <a:t>Min-max normalization</a:t>
            </a:r>
            <a:r>
              <a:rPr lang="en-US" sz="2000" smtClean="0"/>
              <a:t>: to [new_min</a:t>
            </a:r>
            <a:r>
              <a:rPr lang="en-US" sz="2000" baseline="-25000" smtClean="0"/>
              <a:t>A</a:t>
            </a:r>
            <a:r>
              <a:rPr lang="en-US" sz="2000" smtClean="0"/>
              <a:t>, new_max</a:t>
            </a:r>
            <a:r>
              <a:rPr lang="en-US" sz="2000" baseline="-25000" smtClean="0"/>
              <a:t>A</a:t>
            </a:r>
            <a:r>
              <a:rPr lang="en-US" sz="2000" smtClean="0"/>
              <a:t>]</a:t>
            </a:r>
          </a:p>
          <a:p>
            <a:pPr lvl="1" eaLnBrk="1" hangingPunct="1">
              <a:lnSpc>
                <a:spcPct val="120000"/>
              </a:lnSpc>
            </a:pPr>
            <a:endParaRPr lang="en-US" sz="2000" smtClean="0"/>
          </a:p>
          <a:p>
            <a:pPr lvl="1" eaLnBrk="1" hangingPunct="1">
              <a:lnSpc>
                <a:spcPct val="120000"/>
              </a:lnSpc>
            </a:pPr>
            <a:endParaRPr lang="en-US" sz="2000" smtClean="0"/>
          </a:p>
          <a:p>
            <a:pPr lvl="1" eaLnBrk="1" hangingPunct="1">
              <a:lnSpc>
                <a:spcPct val="120000"/>
              </a:lnSpc>
            </a:pPr>
            <a:r>
              <a:rPr lang="en-US" sz="2000" smtClean="0"/>
              <a:t>Ex.  Let income range $12,000 to $98,000 normalized to [0.0, 1.0].  Then $73,000 is mapped to  </a:t>
            </a:r>
          </a:p>
          <a:p>
            <a:pPr eaLnBrk="1" hangingPunct="1">
              <a:lnSpc>
                <a:spcPct val="120000"/>
              </a:lnSpc>
            </a:pPr>
            <a:r>
              <a:rPr lang="en-US" sz="2000" b="1" smtClean="0"/>
              <a:t>Z-score normalization</a:t>
            </a:r>
            <a:r>
              <a:rPr lang="en-US" sz="2000" smtClean="0"/>
              <a:t> (</a:t>
            </a:r>
            <a:r>
              <a:rPr lang="el-GR" sz="2000" smtClean="0"/>
              <a:t>μ</a:t>
            </a:r>
            <a:r>
              <a:rPr lang="en-US" sz="2000" smtClean="0"/>
              <a:t>: mean, </a:t>
            </a:r>
            <a:r>
              <a:rPr lang="el-GR" sz="2000" smtClean="0"/>
              <a:t>σ</a:t>
            </a:r>
            <a:r>
              <a:rPr lang="en-US" sz="2000" smtClean="0"/>
              <a:t>: standard deviation):</a:t>
            </a:r>
          </a:p>
          <a:p>
            <a:pPr eaLnBrk="1" hangingPunct="1">
              <a:lnSpc>
                <a:spcPct val="120000"/>
              </a:lnSpc>
            </a:pPr>
            <a:endParaRPr lang="en-US" sz="2000" smtClean="0"/>
          </a:p>
          <a:p>
            <a:pPr lvl="1" eaLnBrk="1" hangingPunct="1">
              <a:lnSpc>
                <a:spcPct val="120000"/>
              </a:lnSpc>
            </a:pPr>
            <a:endParaRPr lang="en-US" sz="2000" smtClean="0"/>
          </a:p>
          <a:p>
            <a:pPr lvl="1" eaLnBrk="1" hangingPunct="1">
              <a:lnSpc>
                <a:spcPct val="120000"/>
              </a:lnSpc>
            </a:pPr>
            <a:r>
              <a:rPr lang="en-US" sz="2000" smtClean="0"/>
              <a:t>Ex. Let </a:t>
            </a:r>
            <a:r>
              <a:rPr lang="el-GR" sz="2000" smtClean="0"/>
              <a:t>μ</a:t>
            </a:r>
            <a:r>
              <a:rPr lang="en-US" sz="2000" smtClean="0"/>
              <a:t> = 54,000, </a:t>
            </a:r>
            <a:r>
              <a:rPr lang="el-GR" sz="2000" smtClean="0"/>
              <a:t>σ</a:t>
            </a:r>
            <a:r>
              <a:rPr lang="en-US" sz="2000" smtClean="0"/>
              <a:t> = 16,000.  Then</a:t>
            </a:r>
            <a:endParaRPr lang="el-GR" sz="2000" smtClean="0"/>
          </a:p>
          <a:p>
            <a:pPr eaLnBrk="1" hangingPunct="1">
              <a:lnSpc>
                <a:spcPct val="120000"/>
              </a:lnSpc>
            </a:pPr>
            <a:r>
              <a:rPr lang="en-US" sz="2000" b="1" smtClean="0"/>
              <a:t>Normalization by decimal scaling</a:t>
            </a:r>
          </a:p>
        </p:txBody>
      </p:sp>
      <p:graphicFrame>
        <p:nvGraphicFramePr>
          <p:cNvPr id="56325" name="Object 4"/>
          <p:cNvGraphicFramePr>
            <a:graphicFrameLocks noChangeAspect="1"/>
          </p:cNvGraphicFramePr>
          <p:nvPr>
            <p:ph sz="quarter" idx="2"/>
          </p:nvPr>
        </p:nvGraphicFramePr>
        <p:xfrm>
          <a:off x="5181600" y="2895600"/>
          <a:ext cx="2514600" cy="488950"/>
        </p:xfrm>
        <a:graphic>
          <a:graphicData uri="http://schemas.openxmlformats.org/presentationml/2006/ole">
            <p:oleObj spid="_x0000_s254978" name="Equation" r:id="rId4" imgW="2222500" imgH="419100" progId="Equation.3">
              <p:embed/>
            </p:oleObj>
          </a:graphicData>
        </a:graphic>
      </p:graphicFrame>
      <p:graphicFrame>
        <p:nvGraphicFramePr>
          <p:cNvPr id="56326" name="Object 5"/>
          <p:cNvGraphicFramePr>
            <a:graphicFrameLocks noChangeAspect="1"/>
          </p:cNvGraphicFramePr>
          <p:nvPr/>
        </p:nvGraphicFramePr>
        <p:xfrm>
          <a:off x="1905000" y="1828800"/>
          <a:ext cx="5943600" cy="709613"/>
        </p:xfrm>
        <a:graphic>
          <a:graphicData uri="http://schemas.openxmlformats.org/presentationml/2006/ole">
            <p:oleObj spid="_x0000_s254979" name="Equation" r:id="rId5" imgW="3340100" imgH="393700" progId="Equation.3">
              <p:embed/>
            </p:oleObj>
          </a:graphicData>
        </a:graphic>
      </p:graphicFrame>
      <p:graphicFrame>
        <p:nvGraphicFramePr>
          <p:cNvPr id="56327" name="Object 6"/>
          <p:cNvGraphicFramePr>
            <a:graphicFrameLocks noChangeAspect="1"/>
          </p:cNvGraphicFramePr>
          <p:nvPr/>
        </p:nvGraphicFramePr>
        <p:xfrm>
          <a:off x="1981200" y="3886200"/>
          <a:ext cx="1447800" cy="679450"/>
        </p:xfrm>
        <a:graphic>
          <a:graphicData uri="http://schemas.openxmlformats.org/presentationml/2006/ole">
            <p:oleObj spid="_x0000_s254980" name="Equation" r:id="rId6" imgW="634725" imgH="393529" progId="Equation.3">
              <p:embed/>
            </p:oleObj>
          </a:graphicData>
        </a:graphic>
      </p:graphicFrame>
      <p:graphicFrame>
        <p:nvGraphicFramePr>
          <p:cNvPr id="56328" name="Object 7"/>
          <p:cNvGraphicFramePr>
            <a:graphicFrameLocks noChangeAspect="1"/>
          </p:cNvGraphicFramePr>
          <p:nvPr/>
        </p:nvGraphicFramePr>
        <p:xfrm>
          <a:off x="1219200" y="5486400"/>
          <a:ext cx="1066800" cy="847725"/>
        </p:xfrm>
        <a:graphic>
          <a:graphicData uri="http://schemas.openxmlformats.org/presentationml/2006/ole">
            <p:oleObj spid="_x0000_s254981" name="Equation" r:id="rId7" imgW="495085" imgH="393529" progId="Equation.3">
              <p:embed/>
            </p:oleObj>
          </a:graphicData>
        </a:graphic>
      </p:graphicFrame>
      <p:graphicFrame>
        <p:nvGraphicFramePr>
          <p:cNvPr id="56329" name="Object 8"/>
          <p:cNvGraphicFramePr>
            <a:graphicFrameLocks noChangeAspect="1"/>
          </p:cNvGraphicFramePr>
          <p:nvPr/>
        </p:nvGraphicFramePr>
        <p:xfrm>
          <a:off x="4514850" y="3321050"/>
          <a:ext cx="112713" cy="214313"/>
        </p:xfrm>
        <a:graphic>
          <a:graphicData uri="http://schemas.openxmlformats.org/presentationml/2006/ole">
            <p:oleObj spid="_x0000_s254982" name="Equation" r:id="rId8" imgW="114151" imgH="215619" progId="Equation.3">
              <p:embed/>
            </p:oleObj>
          </a:graphicData>
        </a:graphic>
      </p:graphicFrame>
      <p:sp>
        <p:nvSpPr>
          <p:cNvPr id="56330" name="Text Box 9"/>
          <p:cNvSpPr txBox="1">
            <a:spLocks noChangeArrowheads="1"/>
          </p:cNvSpPr>
          <p:nvPr/>
        </p:nvSpPr>
        <p:spPr bwMode="auto">
          <a:xfrm>
            <a:off x="2514600" y="5638800"/>
            <a:ext cx="6126163" cy="457200"/>
          </a:xfrm>
          <a:prstGeom prst="rect">
            <a:avLst/>
          </a:prstGeom>
          <a:noFill/>
          <a:ln w="9525">
            <a:noFill/>
            <a:miter lim="800000"/>
            <a:headEnd/>
            <a:tailEnd/>
          </a:ln>
        </p:spPr>
        <p:txBody>
          <a:bodyPr>
            <a:spAutoFit/>
          </a:bodyPr>
          <a:lstStyle/>
          <a:p>
            <a:pPr eaLnBrk="0" hangingPunct="0"/>
            <a:r>
              <a:rPr lang="en-US" sz="2000">
                <a:latin typeface="Times New Roman" pitchFamily="18" charset="0"/>
              </a:rPr>
              <a:t>Where </a:t>
            </a:r>
            <a:r>
              <a:rPr lang="en-US" i="1">
                <a:latin typeface="Times New Roman" pitchFamily="18" charset="0"/>
              </a:rPr>
              <a:t>j</a:t>
            </a:r>
            <a:r>
              <a:rPr lang="en-US" sz="2000">
                <a:latin typeface="Times New Roman" pitchFamily="18" charset="0"/>
              </a:rPr>
              <a:t> is the smallest integer such that Max(|</a:t>
            </a:r>
            <a:r>
              <a:rPr lang="el-GR" sz="2000">
                <a:latin typeface="Times New Roman" pitchFamily="18" charset="0"/>
                <a:cs typeface="Times New Roman" pitchFamily="18" charset="0"/>
              </a:rPr>
              <a:t>ν</a:t>
            </a:r>
            <a:r>
              <a:rPr lang="en-US" sz="2000">
                <a:latin typeface="Times New Roman" pitchFamily="18" charset="0"/>
                <a:cs typeface="Times New Roman" pitchFamily="18" charset="0"/>
              </a:rPr>
              <a:t>’</a:t>
            </a:r>
            <a:r>
              <a:rPr lang="en-US" sz="2000">
                <a:latin typeface="Times New Roman" pitchFamily="18" charset="0"/>
              </a:rPr>
              <a:t>|) &lt; 1</a:t>
            </a:r>
            <a:endParaRPr lang="en-US">
              <a:latin typeface="Times New Roman" pitchFamily="18" charset="0"/>
            </a:endParaRPr>
          </a:p>
        </p:txBody>
      </p:sp>
      <p:graphicFrame>
        <p:nvGraphicFramePr>
          <p:cNvPr id="56331" name="Object 10"/>
          <p:cNvGraphicFramePr>
            <a:graphicFrameLocks noChangeAspect="1"/>
          </p:cNvGraphicFramePr>
          <p:nvPr>
            <p:ph sz="quarter" idx="3"/>
          </p:nvPr>
        </p:nvGraphicFramePr>
        <p:xfrm>
          <a:off x="5562600" y="4592638"/>
          <a:ext cx="1952625" cy="563562"/>
        </p:xfrm>
        <a:graphic>
          <a:graphicData uri="http://schemas.openxmlformats.org/presentationml/2006/ole">
            <p:oleObj spid="_x0000_s254983" name="Equation" r:id="rId9" imgW="1498600" imgH="419100" progId="Equation.3">
              <p:embed/>
            </p:oleObj>
          </a:graphicData>
        </a:graphic>
      </p:graphicFrame>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Rectangle 3"/>
          <p:cNvSpPr>
            <a:spLocks noGrp="1" noChangeArrowheads="1"/>
          </p:cNvSpPr>
          <p:nvPr>
            <p:ph type="body" idx="1"/>
          </p:nvPr>
        </p:nvSpPr>
        <p:spPr>
          <a:xfrm>
            <a:off x="304800" y="1219200"/>
            <a:ext cx="8534400" cy="5334000"/>
          </a:xfrm>
        </p:spPr>
        <p:txBody>
          <a:bodyPr/>
          <a:lstStyle/>
          <a:p>
            <a:pPr eaLnBrk="1" hangingPunct="1">
              <a:lnSpc>
                <a:spcPct val="120000"/>
              </a:lnSpc>
            </a:pPr>
            <a:r>
              <a:rPr lang="en-US" sz="2600" dirty="0" err="1" smtClean="0"/>
              <a:t>Discretization</a:t>
            </a:r>
            <a:r>
              <a:rPr lang="en-US" sz="2600" dirty="0" smtClean="0"/>
              <a:t>: Divide the range of a continuous attribute into intervals</a:t>
            </a:r>
          </a:p>
          <a:p>
            <a:pPr lvl="1" eaLnBrk="1" hangingPunct="1">
              <a:lnSpc>
                <a:spcPct val="120000"/>
              </a:lnSpc>
            </a:pPr>
            <a:r>
              <a:rPr lang="en-US" sz="2400" dirty="0" smtClean="0"/>
              <a:t>Interval labels can then be used to replace actual data values </a:t>
            </a:r>
          </a:p>
          <a:p>
            <a:pPr lvl="1" eaLnBrk="1" hangingPunct="1">
              <a:lnSpc>
                <a:spcPct val="120000"/>
              </a:lnSpc>
            </a:pPr>
            <a:r>
              <a:rPr lang="en-US" sz="2400" dirty="0" smtClean="0"/>
              <a:t>Reduce data size by </a:t>
            </a:r>
            <a:r>
              <a:rPr lang="en-US" sz="2400" dirty="0" err="1" smtClean="0"/>
              <a:t>discretization</a:t>
            </a:r>
            <a:endParaRPr lang="en-US" sz="2400" dirty="0" smtClean="0"/>
          </a:p>
          <a:p>
            <a:pPr lvl="1" eaLnBrk="1" hangingPunct="1">
              <a:lnSpc>
                <a:spcPct val="120000"/>
              </a:lnSpc>
            </a:pPr>
            <a:r>
              <a:rPr lang="en-US" sz="2400" dirty="0" smtClean="0"/>
              <a:t>Supervised vs. unsupervised</a:t>
            </a:r>
          </a:p>
          <a:p>
            <a:pPr lvl="1" eaLnBrk="1" hangingPunct="1">
              <a:lnSpc>
                <a:spcPct val="120000"/>
              </a:lnSpc>
            </a:pPr>
            <a:r>
              <a:rPr lang="en-US" sz="2400" dirty="0" smtClean="0"/>
              <a:t>Split (top-down) vs. merge (bottom-up)</a:t>
            </a:r>
          </a:p>
          <a:p>
            <a:pPr lvl="1" eaLnBrk="1" hangingPunct="1">
              <a:lnSpc>
                <a:spcPct val="120000"/>
              </a:lnSpc>
            </a:pPr>
            <a:r>
              <a:rPr lang="en-US" sz="2400" dirty="0" err="1" smtClean="0"/>
              <a:t>Discretization</a:t>
            </a:r>
            <a:r>
              <a:rPr lang="en-US" sz="2400" dirty="0" smtClean="0"/>
              <a:t> can be performed recursively on an attribute</a:t>
            </a:r>
          </a:p>
          <a:p>
            <a:pPr lvl="1" eaLnBrk="1" hangingPunct="1">
              <a:lnSpc>
                <a:spcPct val="120000"/>
              </a:lnSpc>
            </a:pPr>
            <a:r>
              <a:rPr lang="en-US" sz="2400" dirty="0" smtClean="0"/>
              <a:t>Prepare for further analysis, e.g., classification</a:t>
            </a:r>
          </a:p>
        </p:txBody>
      </p:sp>
      <p:sp>
        <p:nvSpPr>
          <p:cNvPr id="4" name="Rectangle 2"/>
          <p:cNvSpPr txBox="1">
            <a:spLocks noChangeArrowheads="1"/>
          </p:cNvSpPr>
          <p:nvPr/>
        </p:nvSpPr>
        <p:spPr>
          <a:xfrm>
            <a:off x="0" y="304800"/>
            <a:ext cx="9144000" cy="685800"/>
          </a:xfrm>
          <a:prstGeom prst="rect">
            <a:avLst/>
          </a:prstGeom>
        </p:spPr>
        <p:txBody>
          <a:bodyPr bIns="91440" anchor="b" anchorCtr="0">
            <a:normAutofit/>
          </a:bodyPr>
          <a:lstStyle/>
          <a:p>
            <a:pPr lvl="0" eaLnBrk="1" fontAlgn="auto" hangingPunct="1">
              <a:spcAft>
                <a:spcPts val="0"/>
              </a:spcAft>
              <a:defRPr/>
            </a:pPr>
            <a:r>
              <a:rPr lang="en-US" sz="3200" dirty="0" err="1" smtClean="0">
                <a:solidFill>
                  <a:schemeClr val="tx2"/>
                </a:solidFill>
                <a:latin typeface="+mj-lt"/>
              </a:rPr>
              <a:t>Discretization</a:t>
            </a:r>
            <a:r>
              <a:rPr lang="en-US" sz="3200" dirty="0" smtClean="0">
                <a:solidFill>
                  <a:schemeClr val="tx2"/>
                </a:solidFill>
                <a:latin typeface="+mj-lt"/>
              </a:rPr>
              <a:t> </a:t>
            </a:r>
            <a:endParaRPr kumimoji="0" lang="en-US" sz="4000" b="0" i="0" u="none" strike="noStrike" kern="1200" cap="none" spc="0" normalizeH="0" baseline="0" noProof="0" dirty="0" smtClean="0">
              <a:ln>
                <a:noFill/>
              </a:ln>
              <a:solidFill>
                <a:schemeClr val="tx2"/>
              </a:solidFill>
              <a:effectLst/>
              <a:uLnTx/>
              <a:uFillTx/>
              <a:latin typeface="+mj-lt"/>
              <a:ea typeface="+mj-ea"/>
              <a:cs typeface="+mj-cs"/>
            </a:endParaRP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Rectangle 3"/>
          <p:cNvSpPr>
            <a:spLocks noGrp="1" noChangeArrowheads="1"/>
          </p:cNvSpPr>
          <p:nvPr>
            <p:ph type="body" idx="4294967295"/>
          </p:nvPr>
        </p:nvSpPr>
        <p:spPr>
          <a:xfrm>
            <a:off x="304800" y="1295400"/>
            <a:ext cx="8610600" cy="5181600"/>
          </a:xfrm>
        </p:spPr>
        <p:txBody>
          <a:bodyPr/>
          <a:lstStyle/>
          <a:p>
            <a:pPr eaLnBrk="1" hangingPunct="1">
              <a:lnSpc>
                <a:spcPct val="120000"/>
              </a:lnSpc>
            </a:pPr>
            <a:r>
              <a:rPr lang="en-US" sz="2600" dirty="0" smtClean="0"/>
              <a:t>Typical methods: All the methods can be applied recursively</a:t>
            </a:r>
          </a:p>
          <a:p>
            <a:pPr lvl="1">
              <a:lnSpc>
                <a:spcPct val="120000"/>
              </a:lnSpc>
            </a:pPr>
            <a:r>
              <a:rPr lang="en-US" sz="2400" dirty="0" smtClean="0">
                <a:solidFill>
                  <a:schemeClr val="hlink"/>
                </a:solidFill>
              </a:rPr>
              <a:t>Binning</a:t>
            </a:r>
            <a:r>
              <a:rPr lang="en-US" sz="2400" dirty="0" smtClean="0"/>
              <a:t> (unsupervised, top-down split)</a:t>
            </a:r>
          </a:p>
          <a:p>
            <a:pPr lvl="1">
              <a:lnSpc>
                <a:spcPct val="120000"/>
              </a:lnSpc>
            </a:pPr>
            <a:r>
              <a:rPr lang="en-US" sz="2400" dirty="0" smtClean="0">
                <a:solidFill>
                  <a:schemeClr val="hlink"/>
                </a:solidFill>
              </a:rPr>
              <a:t>Histogram analysis </a:t>
            </a:r>
            <a:r>
              <a:rPr lang="en-US" sz="2400" dirty="0" smtClean="0"/>
              <a:t>(unsupervised, top-down split)</a:t>
            </a:r>
            <a:endParaRPr lang="en-US" dirty="0" smtClean="0"/>
          </a:p>
          <a:p>
            <a:pPr lvl="1" eaLnBrk="1" hangingPunct="1">
              <a:lnSpc>
                <a:spcPct val="120000"/>
              </a:lnSpc>
            </a:pPr>
            <a:r>
              <a:rPr lang="en-US" sz="2400" dirty="0" smtClean="0">
                <a:solidFill>
                  <a:schemeClr val="hlink"/>
                </a:solidFill>
              </a:rPr>
              <a:t>Clustering analysis</a:t>
            </a:r>
            <a:r>
              <a:rPr lang="en-US" sz="2400" dirty="0" smtClean="0"/>
              <a:t> (unsupervised, top-down split or bottom-up merge)</a:t>
            </a:r>
          </a:p>
          <a:p>
            <a:pPr lvl="1" eaLnBrk="1" hangingPunct="1">
              <a:lnSpc>
                <a:spcPct val="120000"/>
              </a:lnSpc>
            </a:pPr>
            <a:r>
              <a:rPr lang="en-US" sz="2400" dirty="0" smtClean="0">
                <a:solidFill>
                  <a:schemeClr val="hlink"/>
                </a:solidFill>
              </a:rPr>
              <a:t>Decision-tree analysis</a:t>
            </a:r>
            <a:r>
              <a:rPr lang="en-US" sz="2400" dirty="0" smtClean="0"/>
              <a:t> (supervised, top-down split)</a:t>
            </a:r>
          </a:p>
          <a:p>
            <a:pPr lvl="1" eaLnBrk="1" hangingPunct="1">
              <a:lnSpc>
                <a:spcPct val="120000"/>
              </a:lnSpc>
            </a:pPr>
            <a:r>
              <a:rPr lang="en-US" sz="2400" dirty="0" smtClean="0">
                <a:solidFill>
                  <a:schemeClr val="hlink"/>
                </a:solidFill>
                <a:sym typeface="Symbol" pitchFamily="18" charset="2"/>
              </a:rPr>
              <a:t>Correlation (e.g., </a:t>
            </a:r>
            <a:r>
              <a:rPr lang="en-US" sz="2400" baseline="30000" dirty="0" smtClean="0">
                <a:solidFill>
                  <a:schemeClr val="hlink"/>
                </a:solidFill>
              </a:rPr>
              <a:t>2</a:t>
            </a:r>
            <a:r>
              <a:rPr lang="en-US" sz="2400" dirty="0" smtClean="0">
                <a:solidFill>
                  <a:schemeClr val="hlink"/>
                </a:solidFill>
              </a:rPr>
              <a:t>) analysis</a:t>
            </a:r>
            <a:r>
              <a:rPr lang="en-US" sz="2400" dirty="0" smtClean="0"/>
              <a:t> (unsupervised, bottom-up merge)</a:t>
            </a:r>
          </a:p>
        </p:txBody>
      </p:sp>
      <p:sp>
        <p:nvSpPr>
          <p:cNvPr id="4" name="Rectangle 2"/>
          <p:cNvSpPr txBox="1">
            <a:spLocks noChangeArrowheads="1"/>
          </p:cNvSpPr>
          <p:nvPr/>
        </p:nvSpPr>
        <p:spPr>
          <a:xfrm>
            <a:off x="0" y="304800"/>
            <a:ext cx="9144000" cy="685800"/>
          </a:xfrm>
          <a:prstGeom prst="rect">
            <a:avLst/>
          </a:prstGeom>
        </p:spPr>
        <p:txBody>
          <a:bodyPr bIns="91440" anchor="b" anchorCtr="0">
            <a:normAutofit/>
          </a:bodyPr>
          <a:lstStyle/>
          <a:p>
            <a:pPr lvl="0" eaLnBrk="1" fontAlgn="auto" hangingPunct="1">
              <a:spcAft>
                <a:spcPts val="0"/>
              </a:spcAft>
              <a:defRPr/>
            </a:pPr>
            <a:r>
              <a:rPr lang="en-US" sz="3200" dirty="0" smtClean="0">
                <a:solidFill>
                  <a:schemeClr val="tx2"/>
                </a:solidFill>
                <a:latin typeface="+mj-lt"/>
              </a:rPr>
              <a:t>Data </a:t>
            </a:r>
            <a:r>
              <a:rPr lang="en-US" sz="3200" dirty="0" err="1" smtClean="0">
                <a:solidFill>
                  <a:schemeClr val="tx2"/>
                </a:solidFill>
                <a:latin typeface="+mj-lt"/>
              </a:rPr>
              <a:t>Discretization</a:t>
            </a:r>
            <a:r>
              <a:rPr lang="en-US" sz="3200" dirty="0" smtClean="0">
                <a:solidFill>
                  <a:schemeClr val="tx2"/>
                </a:solidFill>
                <a:latin typeface="+mj-lt"/>
              </a:rPr>
              <a:t> Methods </a:t>
            </a:r>
            <a:endParaRPr kumimoji="0" lang="en-US" sz="4000" b="0" i="0" u="none" strike="noStrike" kern="1200" cap="none" spc="0" normalizeH="0" baseline="0" noProof="0" dirty="0" smtClean="0">
              <a:ln>
                <a:noFill/>
              </a:ln>
              <a:solidFill>
                <a:schemeClr val="tx2"/>
              </a:solidFill>
              <a:effectLst/>
              <a:uLnTx/>
              <a:uFillTx/>
              <a:latin typeface="+mj-lt"/>
              <a:ea typeface="+mj-ea"/>
              <a:cs typeface="+mj-cs"/>
            </a:endParaRP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2"/>
          <p:cNvSpPr>
            <a:spLocks noGrp="1" noChangeArrowheads="1"/>
          </p:cNvSpPr>
          <p:nvPr>
            <p:ph type="title" idx="4294967295"/>
          </p:nvPr>
        </p:nvSpPr>
        <p:spPr>
          <a:xfrm>
            <a:off x="228600" y="0"/>
            <a:ext cx="8585200" cy="1219200"/>
          </a:xfrm>
        </p:spPr>
        <p:txBody>
          <a:bodyPr>
            <a:normAutofit/>
          </a:bodyPr>
          <a:lstStyle/>
          <a:p>
            <a:pPr eaLnBrk="1" hangingPunct="1"/>
            <a:r>
              <a:rPr lang="en-US" sz="3200" dirty="0" err="1" smtClean="0">
                <a:cs typeface="Times New Roman" pitchFamily="18" charset="0"/>
              </a:rPr>
              <a:t>Discretization</a:t>
            </a:r>
            <a:r>
              <a:rPr lang="en-US" sz="3200" dirty="0" smtClean="0">
                <a:cs typeface="Times New Roman" pitchFamily="18" charset="0"/>
              </a:rPr>
              <a:t> </a:t>
            </a:r>
            <a:br>
              <a:rPr lang="en-US" sz="3200" dirty="0" smtClean="0">
                <a:cs typeface="Times New Roman" pitchFamily="18" charset="0"/>
              </a:rPr>
            </a:br>
            <a:r>
              <a:rPr lang="en-US" sz="3200" dirty="0" smtClean="0">
                <a:cs typeface="Times New Roman" pitchFamily="18" charset="0"/>
              </a:rPr>
              <a:t>by </a:t>
            </a:r>
            <a:r>
              <a:rPr lang="en-US" sz="3200" dirty="0" smtClean="0"/>
              <a:t>Classification &amp; Correlation Analysis</a:t>
            </a:r>
          </a:p>
        </p:txBody>
      </p:sp>
      <p:sp>
        <p:nvSpPr>
          <p:cNvPr id="62468" name="Rectangle 3"/>
          <p:cNvSpPr>
            <a:spLocks noGrp="1" noChangeArrowheads="1"/>
          </p:cNvSpPr>
          <p:nvPr>
            <p:ph type="body" idx="4294967295"/>
          </p:nvPr>
        </p:nvSpPr>
        <p:spPr>
          <a:xfrm>
            <a:off x="457200" y="1295400"/>
            <a:ext cx="8394700" cy="5181600"/>
          </a:xfrm>
          <a:noFill/>
        </p:spPr>
        <p:txBody>
          <a:bodyPr lIns="90488" tIns="44450" rIns="90488" bIns="44450">
            <a:normAutofit/>
          </a:bodyPr>
          <a:lstStyle/>
          <a:p>
            <a:pPr marL="285750" indent="-285750" algn="just" eaLnBrk="1" hangingPunct="1">
              <a:lnSpc>
                <a:spcPct val="145000"/>
              </a:lnSpc>
              <a:tabLst>
                <a:tab pos="1198563" algn="l"/>
              </a:tabLst>
            </a:pPr>
            <a:r>
              <a:rPr lang="en-US" sz="2600" dirty="0" smtClean="0">
                <a:cs typeface="Times New Roman" pitchFamily="18" charset="0"/>
              </a:rPr>
              <a:t>Classification (e.g., decision tree analysis)</a:t>
            </a:r>
          </a:p>
          <a:p>
            <a:pPr lvl="1" algn="just" eaLnBrk="1" hangingPunct="1">
              <a:lnSpc>
                <a:spcPct val="145000"/>
              </a:lnSpc>
              <a:tabLst>
                <a:tab pos="1198563" algn="l"/>
              </a:tabLst>
            </a:pPr>
            <a:r>
              <a:rPr lang="en-US" sz="2200" dirty="0" smtClean="0"/>
              <a:t>Supervised: Given class labels, e.g., cancerous vs. benign</a:t>
            </a:r>
          </a:p>
          <a:p>
            <a:pPr lvl="1" algn="just" eaLnBrk="1" hangingPunct="1">
              <a:lnSpc>
                <a:spcPct val="145000"/>
              </a:lnSpc>
              <a:tabLst>
                <a:tab pos="1198563" algn="l"/>
              </a:tabLst>
            </a:pPr>
            <a:r>
              <a:rPr lang="en-US" sz="2200" dirty="0" smtClean="0"/>
              <a:t>Top-down</a:t>
            </a:r>
            <a:r>
              <a:rPr lang="en-US" sz="2200" dirty="0" smtClean="0"/>
              <a:t>, recursive split</a:t>
            </a:r>
          </a:p>
          <a:p>
            <a:pPr lvl="1" algn="just" eaLnBrk="1" hangingPunct="1">
              <a:lnSpc>
                <a:spcPct val="145000"/>
              </a:lnSpc>
              <a:tabLst>
                <a:tab pos="1198563" algn="l"/>
              </a:tabLst>
            </a:pPr>
            <a:r>
              <a:rPr lang="en-US" sz="2200" dirty="0" smtClean="0"/>
              <a:t>Details to be covered in Chapter 7</a:t>
            </a:r>
            <a:endParaRPr lang="en-US" sz="2200" dirty="0" smtClean="0">
              <a:cs typeface="Times New Roman" pitchFamily="18" charset="0"/>
            </a:endParaRPr>
          </a:p>
          <a:p>
            <a:pPr marL="285750" indent="-285750" algn="just" eaLnBrk="1" hangingPunct="1">
              <a:lnSpc>
                <a:spcPct val="145000"/>
              </a:lnSpc>
              <a:tabLst>
                <a:tab pos="1198563" algn="l"/>
              </a:tabLst>
            </a:pPr>
            <a:r>
              <a:rPr lang="en-US" sz="2600" dirty="0" smtClean="0">
                <a:cs typeface="Times New Roman" pitchFamily="18" charset="0"/>
              </a:rPr>
              <a:t>Correlation analysis (e.g., Chi-merge: </a:t>
            </a:r>
            <a:r>
              <a:rPr lang="el-GR" sz="2600" dirty="0" smtClean="0">
                <a:cs typeface="Tahoma" pitchFamily="34" charset="0"/>
              </a:rPr>
              <a:t>χ</a:t>
            </a:r>
            <a:r>
              <a:rPr lang="en-US" sz="2600" baseline="30000" dirty="0" smtClean="0">
                <a:cs typeface="Tahoma" pitchFamily="34" charset="0"/>
              </a:rPr>
              <a:t>2</a:t>
            </a:r>
            <a:r>
              <a:rPr lang="en-US" sz="2600" dirty="0" smtClean="0">
                <a:cs typeface="Tahoma" pitchFamily="34" charset="0"/>
              </a:rPr>
              <a:t>-based </a:t>
            </a:r>
            <a:r>
              <a:rPr lang="en-US" sz="2600" dirty="0" err="1" smtClean="0">
                <a:cs typeface="Tahoma" pitchFamily="34" charset="0"/>
              </a:rPr>
              <a:t>discretization</a:t>
            </a:r>
            <a:r>
              <a:rPr lang="en-US" sz="2600" dirty="0" smtClean="0">
                <a:cs typeface="Times New Roman" pitchFamily="18" charset="0"/>
              </a:rPr>
              <a:t>)</a:t>
            </a:r>
            <a:endParaRPr lang="en-US" sz="2600" dirty="0" smtClean="0">
              <a:cs typeface="Tahoma" pitchFamily="34" charset="0"/>
            </a:endParaRPr>
          </a:p>
          <a:p>
            <a:pPr lvl="1" algn="just" eaLnBrk="1" hangingPunct="1">
              <a:lnSpc>
                <a:spcPct val="145000"/>
              </a:lnSpc>
              <a:tabLst>
                <a:tab pos="1198563" algn="l"/>
              </a:tabLst>
            </a:pPr>
            <a:r>
              <a:rPr lang="en-US" sz="2200" dirty="0" smtClean="0">
                <a:cs typeface="Tahoma" pitchFamily="34" charset="0"/>
              </a:rPr>
              <a:t>Supervised: use class information</a:t>
            </a:r>
          </a:p>
          <a:p>
            <a:pPr lvl="1" algn="just" eaLnBrk="1" hangingPunct="1">
              <a:lnSpc>
                <a:spcPct val="145000"/>
              </a:lnSpc>
              <a:tabLst>
                <a:tab pos="1198563" algn="l"/>
              </a:tabLst>
            </a:pPr>
            <a:r>
              <a:rPr lang="en-US" sz="2200" dirty="0" smtClean="0">
                <a:cs typeface="Tahoma" pitchFamily="34" charset="0"/>
              </a:rPr>
              <a:t>Bottom-up merge: find the best neighboring intervals (those having similar distributions of classes, i.e., low </a:t>
            </a:r>
            <a:r>
              <a:rPr lang="el-GR" sz="2200" dirty="0" smtClean="0">
                <a:cs typeface="Tahoma" pitchFamily="34" charset="0"/>
              </a:rPr>
              <a:t>χ</a:t>
            </a:r>
            <a:r>
              <a:rPr lang="en-US" sz="2200" baseline="30000" dirty="0" smtClean="0">
                <a:cs typeface="Tahoma" pitchFamily="34" charset="0"/>
              </a:rPr>
              <a:t>2</a:t>
            </a:r>
            <a:r>
              <a:rPr lang="en-US" sz="2200" dirty="0" smtClean="0">
                <a:cs typeface="Tahoma" pitchFamily="34" charset="0"/>
              </a:rPr>
              <a:t> values) to merge</a:t>
            </a:r>
          </a:p>
          <a:p>
            <a:pPr lvl="1" algn="just" eaLnBrk="1" hangingPunct="1">
              <a:lnSpc>
                <a:spcPct val="145000"/>
              </a:lnSpc>
              <a:tabLst>
                <a:tab pos="1198563" algn="l"/>
              </a:tabLst>
            </a:pPr>
            <a:r>
              <a:rPr lang="en-US" sz="2200" dirty="0" smtClean="0">
                <a:cs typeface="Tahoma" pitchFamily="34" charset="0"/>
              </a:rPr>
              <a:t>Merge performed recursively, until a predefined stopping condition</a:t>
            </a:r>
          </a:p>
        </p:txBody>
      </p:sp>
      <p:sp>
        <p:nvSpPr>
          <p:cNvPr id="62469" name="Text Box 4"/>
          <p:cNvSpPr txBox="1">
            <a:spLocks noChangeArrowheads="1"/>
          </p:cNvSpPr>
          <p:nvPr/>
        </p:nvSpPr>
        <p:spPr bwMode="auto">
          <a:xfrm>
            <a:off x="1676400" y="3657600"/>
            <a:ext cx="1600200" cy="304800"/>
          </a:xfrm>
          <a:prstGeom prst="rect">
            <a:avLst/>
          </a:prstGeom>
          <a:noFill/>
          <a:ln w="12700">
            <a:noFill/>
            <a:miter lim="800000"/>
            <a:headEnd/>
            <a:tailEnd/>
          </a:ln>
        </p:spPr>
        <p:txBody>
          <a:bodyPr>
            <a:spAutoFit/>
          </a:bodyPr>
          <a:lstStyle/>
          <a:p>
            <a:pPr eaLnBrk="0" hangingPunct="0">
              <a:spcBef>
                <a:spcPct val="50000"/>
              </a:spcBef>
            </a:pPr>
            <a:endParaRPr lang="en-US" sz="1400" b="1">
              <a:latin typeface="Arial" charset="0"/>
            </a:endParaRPr>
          </a:p>
        </p:txBody>
      </p:sp>
      <p:sp>
        <p:nvSpPr>
          <p:cNvPr id="62470" name="Rectangle 7"/>
          <p:cNvSpPr>
            <a:spLocks noChangeArrowheads="1"/>
          </p:cNvSpPr>
          <p:nvPr/>
        </p:nvSpPr>
        <p:spPr bwMode="auto">
          <a:xfrm>
            <a:off x="1717675" y="5984875"/>
            <a:ext cx="184150" cy="304800"/>
          </a:xfrm>
          <a:prstGeom prst="rect">
            <a:avLst/>
          </a:prstGeom>
          <a:noFill/>
          <a:ln w="12700">
            <a:noFill/>
            <a:miter lim="800000"/>
            <a:headEnd/>
            <a:tailEnd/>
          </a:ln>
        </p:spPr>
        <p:txBody>
          <a:bodyPr wrap="none">
            <a:spAutoFit/>
          </a:bodyPr>
          <a:lstStyle/>
          <a:p>
            <a:pPr eaLnBrk="0" hangingPunct="0">
              <a:spcBef>
                <a:spcPct val="50000"/>
              </a:spcBef>
            </a:pPr>
            <a:endParaRPr lang="en-US" sz="1400" b="1">
              <a:latin typeface="Arial" charset="0"/>
            </a:endParaRP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2" name="Rectangle 3"/>
          <p:cNvSpPr>
            <a:spLocks noGrp="1" noChangeArrowheads="1"/>
          </p:cNvSpPr>
          <p:nvPr>
            <p:ph type="body" idx="1"/>
          </p:nvPr>
        </p:nvSpPr>
        <p:spPr>
          <a:xfrm>
            <a:off x="304800" y="1371600"/>
            <a:ext cx="8534400" cy="5105400"/>
          </a:xfrm>
        </p:spPr>
        <p:txBody>
          <a:bodyPr>
            <a:normAutofit fontScale="92500"/>
          </a:bodyPr>
          <a:lstStyle/>
          <a:p>
            <a:pPr eaLnBrk="1" hangingPunct="1">
              <a:lnSpc>
                <a:spcPct val="120000"/>
              </a:lnSpc>
            </a:pPr>
            <a:r>
              <a:rPr lang="en-US" sz="2400" b="1" dirty="0" smtClean="0"/>
              <a:t>Concept hierarchy</a:t>
            </a:r>
            <a:r>
              <a:rPr lang="en-US" sz="2400" dirty="0" smtClean="0"/>
              <a:t> organizes concepts (i.e., attribute values) hierarchically and is usually associated with each dimension in a data warehouse</a:t>
            </a:r>
          </a:p>
          <a:p>
            <a:pPr eaLnBrk="1" hangingPunct="1">
              <a:lnSpc>
                <a:spcPct val="120000"/>
              </a:lnSpc>
            </a:pPr>
            <a:r>
              <a:rPr lang="en-US" sz="2400" dirty="0" smtClean="0"/>
              <a:t>Concept hierarchies facilitate </a:t>
            </a:r>
            <a:r>
              <a:rPr lang="en-US" sz="2400" u="sng" dirty="0" smtClean="0"/>
              <a:t>drilling and rolling</a:t>
            </a:r>
            <a:r>
              <a:rPr lang="en-US" sz="2400" dirty="0" smtClean="0"/>
              <a:t> in data warehouses to view data in multiple granularity</a:t>
            </a:r>
          </a:p>
          <a:p>
            <a:pPr eaLnBrk="1" hangingPunct="1">
              <a:lnSpc>
                <a:spcPct val="120000"/>
              </a:lnSpc>
            </a:pPr>
            <a:r>
              <a:rPr lang="en-US" sz="2400" dirty="0" smtClean="0"/>
              <a:t>Concept hierarchy formation: Recursively reduce the data by collecting and replacing low level concepts (such as numeric values for </a:t>
            </a:r>
            <a:r>
              <a:rPr lang="en-US" sz="2400" i="1" dirty="0" smtClean="0"/>
              <a:t>age</a:t>
            </a:r>
            <a:r>
              <a:rPr lang="en-US" sz="2400" dirty="0" smtClean="0"/>
              <a:t>) by higher level concepts (such as </a:t>
            </a:r>
            <a:r>
              <a:rPr lang="en-US" sz="2400" i="1" dirty="0" smtClean="0"/>
              <a:t>youth, adult</a:t>
            </a:r>
            <a:r>
              <a:rPr lang="en-US" sz="2400" dirty="0" smtClean="0"/>
              <a:t>, or </a:t>
            </a:r>
            <a:r>
              <a:rPr lang="en-US" sz="2400" i="1" dirty="0" smtClean="0"/>
              <a:t>senior</a:t>
            </a:r>
            <a:r>
              <a:rPr lang="en-US" sz="2400" dirty="0" smtClean="0"/>
              <a:t>)</a:t>
            </a:r>
          </a:p>
          <a:p>
            <a:pPr eaLnBrk="1" hangingPunct="1">
              <a:lnSpc>
                <a:spcPct val="120000"/>
              </a:lnSpc>
            </a:pPr>
            <a:r>
              <a:rPr lang="en-US" sz="2400" dirty="0" smtClean="0"/>
              <a:t>Concept hierarchies can be explicitly specified by domain experts and/or data warehouse designers</a:t>
            </a:r>
          </a:p>
          <a:p>
            <a:pPr eaLnBrk="1" hangingPunct="1">
              <a:lnSpc>
                <a:spcPct val="120000"/>
              </a:lnSpc>
            </a:pPr>
            <a:r>
              <a:rPr lang="en-US" sz="2400" dirty="0" smtClean="0"/>
              <a:t>Concept hierarchy can be automatically formed for both numeric and nominal data.  For numeric data, use </a:t>
            </a:r>
            <a:r>
              <a:rPr lang="en-US" sz="2400" dirty="0" err="1" smtClean="0"/>
              <a:t>discretization</a:t>
            </a:r>
            <a:r>
              <a:rPr lang="en-US" sz="2400" dirty="0" smtClean="0"/>
              <a:t> methods shown.</a:t>
            </a:r>
          </a:p>
          <a:p>
            <a:pPr eaLnBrk="1" hangingPunct="1">
              <a:lnSpc>
                <a:spcPct val="120000"/>
              </a:lnSpc>
            </a:pPr>
            <a:endParaRPr lang="en-US" sz="2000" dirty="0" smtClean="0"/>
          </a:p>
        </p:txBody>
      </p:sp>
      <p:sp>
        <p:nvSpPr>
          <p:cNvPr id="4" name="Rectangle 2"/>
          <p:cNvSpPr txBox="1">
            <a:spLocks noChangeArrowheads="1"/>
          </p:cNvSpPr>
          <p:nvPr/>
        </p:nvSpPr>
        <p:spPr>
          <a:xfrm>
            <a:off x="0" y="304800"/>
            <a:ext cx="9144000" cy="685800"/>
          </a:xfrm>
          <a:prstGeom prst="rect">
            <a:avLst/>
          </a:prstGeom>
        </p:spPr>
        <p:txBody>
          <a:bodyPr bIns="91440" anchor="b" anchorCtr="0">
            <a:normAutofit/>
          </a:bodyPr>
          <a:lstStyle/>
          <a:p>
            <a:pPr lvl="0" eaLnBrk="1" fontAlgn="auto" hangingPunct="1">
              <a:spcAft>
                <a:spcPts val="0"/>
              </a:spcAft>
              <a:defRPr/>
            </a:pPr>
            <a:r>
              <a:rPr lang="en-US" sz="3200" dirty="0" smtClean="0">
                <a:solidFill>
                  <a:schemeClr val="tx2"/>
                </a:solidFill>
                <a:latin typeface="+mj-lt"/>
              </a:rPr>
              <a:t>Concept Hierarchy Generation</a:t>
            </a:r>
            <a:endParaRPr kumimoji="0" lang="en-US" sz="4000" b="0" i="0" u="none" strike="noStrike" kern="1200" cap="none" spc="0" normalizeH="0" baseline="0" noProof="0" dirty="0" smtClean="0">
              <a:ln>
                <a:noFill/>
              </a:ln>
              <a:solidFill>
                <a:schemeClr val="tx2"/>
              </a:solidFill>
              <a:effectLst/>
              <a:uLnTx/>
              <a:uFillTx/>
              <a:latin typeface="+mj-lt"/>
              <a:ea typeface="+mj-ea"/>
              <a:cs typeface="+mj-cs"/>
            </a:endParaRPr>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a:xfrm>
            <a:off x="0" y="304800"/>
            <a:ext cx="9144000" cy="685800"/>
          </a:xfrm>
          <a:prstGeom prst="rect">
            <a:avLst/>
          </a:prstGeom>
        </p:spPr>
        <p:txBody>
          <a:bodyPr bIns="91440" anchor="b" anchorCtr="0">
            <a:noAutofit/>
          </a:bodyPr>
          <a:lstStyle/>
          <a:p>
            <a:pPr lvl="0" eaLnBrk="1" fontAlgn="auto" hangingPunct="1">
              <a:spcAft>
                <a:spcPts val="0"/>
              </a:spcAft>
              <a:defRPr/>
            </a:pPr>
            <a:r>
              <a:rPr lang="en-US" sz="3200" dirty="0" smtClean="0">
                <a:solidFill>
                  <a:schemeClr val="tx2"/>
                </a:solidFill>
                <a:latin typeface="+mj-lt"/>
              </a:rPr>
              <a:t>Concept Hierarchy Generation for Nominal Data</a:t>
            </a:r>
            <a:endParaRPr kumimoji="0" lang="en-US" sz="3200" b="0" i="0" u="none" strike="noStrike" kern="1200" cap="none" spc="0" normalizeH="0" baseline="0" noProof="0" dirty="0" smtClean="0">
              <a:ln>
                <a:noFill/>
              </a:ln>
              <a:solidFill>
                <a:schemeClr val="tx2"/>
              </a:solidFill>
              <a:effectLst/>
              <a:uLnTx/>
              <a:uFillTx/>
              <a:latin typeface="+mj-lt"/>
              <a:ea typeface="+mj-ea"/>
              <a:cs typeface="+mj-cs"/>
            </a:endParaRPr>
          </a:p>
        </p:txBody>
      </p:sp>
      <p:sp>
        <p:nvSpPr>
          <p:cNvPr id="64516" name="Rectangle 3"/>
          <p:cNvSpPr>
            <a:spLocks noGrp="1" noChangeArrowheads="1"/>
          </p:cNvSpPr>
          <p:nvPr>
            <p:ph type="body" idx="1"/>
          </p:nvPr>
        </p:nvSpPr>
        <p:spPr>
          <a:xfrm>
            <a:off x="304800" y="1371600"/>
            <a:ext cx="8458200" cy="5105400"/>
          </a:xfrm>
        </p:spPr>
        <p:txBody>
          <a:bodyPr/>
          <a:lstStyle/>
          <a:p>
            <a:pPr eaLnBrk="1" hangingPunct="1">
              <a:lnSpc>
                <a:spcPct val="110000"/>
              </a:lnSpc>
            </a:pPr>
            <a:r>
              <a:rPr lang="en-US" sz="2400" smtClean="0"/>
              <a:t>Specification of a partial/total ordering of attributes explicitly at the schema level by users or experts</a:t>
            </a:r>
          </a:p>
          <a:p>
            <a:pPr lvl="1" eaLnBrk="1" hangingPunct="1">
              <a:lnSpc>
                <a:spcPct val="110000"/>
              </a:lnSpc>
            </a:pPr>
            <a:r>
              <a:rPr lang="en-US" sz="2400" i="1" smtClean="0"/>
              <a:t>street</a:t>
            </a:r>
            <a:r>
              <a:rPr lang="en-US" sz="2400" smtClean="0"/>
              <a:t> &lt; </a:t>
            </a:r>
            <a:r>
              <a:rPr lang="en-US" sz="2400" i="1" smtClean="0"/>
              <a:t>city</a:t>
            </a:r>
            <a:r>
              <a:rPr lang="en-US" sz="2400" smtClean="0"/>
              <a:t> &lt; </a:t>
            </a:r>
            <a:r>
              <a:rPr lang="en-US" sz="2400" i="1" smtClean="0"/>
              <a:t>state</a:t>
            </a:r>
            <a:r>
              <a:rPr lang="en-US" sz="2400" smtClean="0"/>
              <a:t> &lt; </a:t>
            </a:r>
            <a:r>
              <a:rPr lang="en-US" sz="2400" i="1" smtClean="0"/>
              <a:t>country</a:t>
            </a:r>
          </a:p>
          <a:p>
            <a:pPr eaLnBrk="1" hangingPunct="1">
              <a:lnSpc>
                <a:spcPct val="110000"/>
              </a:lnSpc>
            </a:pPr>
            <a:r>
              <a:rPr lang="en-US" sz="2400" smtClean="0"/>
              <a:t>Specification of a hierarchy for a set of values by explicit data grouping</a:t>
            </a:r>
          </a:p>
          <a:p>
            <a:pPr lvl="1" eaLnBrk="1" hangingPunct="1">
              <a:lnSpc>
                <a:spcPct val="110000"/>
              </a:lnSpc>
            </a:pPr>
            <a:r>
              <a:rPr lang="en-US" sz="2400" smtClean="0"/>
              <a:t>{Urbana, Champaign, Chicago} &lt; Illinois</a:t>
            </a:r>
          </a:p>
          <a:p>
            <a:pPr eaLnBrk="1" hangingPunct="1">
              <a:lnSpc>
                <a:spcPct val="110000"/>
              </a:lnSpc>
            </a:pPr>
            <a:r>
              <a:rPr lang="en-US" sz="2400" smtClean="0"/>
              <a:t>Specification of only a partial set of attributes</a:t>
            </a:r>
          </a:p>
          <a:p>
            <a:pPr lvl="1" eaLnBrk="1" hangingPunct="1">
              <a:lnSpc>
                <a:spcPct val="110000"/>
              </a:lnSpc>
            </a:pPr>
            <a:r>
              <a:rPr lang="en-US" sz="2400" smtClean="0"/>
              <a:t>E.g., only </a:t>
            </a:r>
            <a:r>
              <a:rPr lang="en-US" sz="2400" i="1" smtClean="0"/>
              <a:t>street</a:t>
            </a:r>
            <a:r>
              <a:rPr lang="en-US" sz="2400" smtClean="0"/>
              <a:t> &lt; </a:t>
            </a:r>
            <a:r>
              <a:rPr lang="en-US" sz="2400" i="1" smtClean="0"/>
              <a:t>city</a:t>
            </a:r>
            <a:r>
              <a:rPr lang="en-US" sz="2400" smtClean="0"/>
              <a:t>, not others</a:t>
            </a:r>
          </a:p>
          <a:p>
            <a:pPr eaLnBrk="1" hangingPunct="1">
              <a:lnSpc>
                <a:spcPct val="110000"/>
              </a:lnSpc>
            </a:pPr>
            <a:r>
              <a:rPr lang="en-US" sz="2400" smtClean="0"/>
              <a:t>Automatic generation of hierarchies (or attribute levels) by the analysis of the number of distinct values</a:t>
            </a:r>
          </a:p>
          <a:p>
            <a:pPr lvl="1" eaLnBrk="1" hangingPunct="1">
              <a:lnSpc>
                <a:spcPct val="110000"/>
              </a:lnSpc>
            </a:pPr>
            <a:r>
              <a:rPr lang="en-US" sz="2400" smtClean="0"/>
              <a:t>E.g., for a set of attributes: {</a:t>
            </a:r>
            <a:r>
              <a:rPr lang="en-US" sz="2400" i="1" smtClean="0"/>
              <a:t>street, city, state, country</a:t>
            </a:r>
            <a:r>
              <a:rPr lang="en-US" sz="2400" smtClean="0"/>
              <a:t>}</a:t>
            </a:r>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a:xfrm>
            <a:off x="0" y="304800"/>
            <a:ext cx="9144000" cy="685800"/>
          </a:xfrm>
        </p:spPr>
        <p:txBody>
          <a:bodyPr/>
          <a:lstStyle/>
          <a:p>
            <a:pPr eaLnBrk="1" hangingPunct="1"/>
            <a:r>
              <a:rPr lang="en-US" sz="3200" smtClean="0"/>
              <a:t>Automatic Concept Hierarchy Generation</a:t>
            </a:r>
          </a:p>
        </p:txBody>
      </p:sp>
      <p:sp>
        <p:nvSpPr>
          <p:cNvPr id="65540" name="Rectangle 3"/>
          <p:cNvSpPr>
            <a:spLocks noGrp="1" noChangeArrowheads="1"/>
          </p:cNvSpPr>
          <p:nvPr>
            <p:ph type="body" idx="1"/>
          </p:nvPr>
        </p:nvSpPr>
        <p:spPr>
          <a:xfrm>
            <a:off x="381000" y="1295400"/>
            <a:ext cx="8077200" cy="2286000"/>
          </a:xfrm>
        </p:spPr>
        <p:txBody>
          <a:bodyPr/>
          <a:lstStyle/>
          <a:p>
            <a:pPr eaLnBrk="1" hangingPunct="1">
              <a:lnSpc>
                <a:spcPct val="90000"/>
              </a:lnSpc>
            </a:pPr>
            <a:r>
              <a:rPr lang="en-US" sz="2400" dirty="0" smtClean="0">
                <a:cs typeface="Calibri" pitchFamily="34" charset="0"/>
              </a:rPr>
              <a:t>Some hierarchies can be automatically generated based on the analysis of the number of distinct values per attribute in the data set </a:t>
            </a:r>
          </a:p>
          <a:p>
            <a:pPr lvl="1" eaLnBrk="1" hangingPunct="1">
              <a:lnSpc>
                <a:spcPct val="90000"/>
              </a:lnSpc>
            </a:pPr>
            <a:r>
              <a:rPr lang="en-US" sz="2400" dirty="0" smtClean="0">
                <a:cs typeface="Calibri" pitchFamily="34" charset="0"/>
              </a:rPr>
              <a:t>The attribute with the most distinct values is placed at the lowest level of the hierarchy</a:t>
            </a:r>
          </a:p>
          <a:p>
            <a:pPr lvl="1" eaLnBrk="1" hangingPunct="1">
              <a:lnSpc>
                <a:spcPct val="90000"/>
              </a:lnSpc>
            </a:pPr>
            <a:r>
              <a:rPr lang="en-US" sz="2400" dirty="0" smtClean="0">
                <a:cs typeface="Calibri" pitchFamily="34" charset="0"/>
              </a:rPr>
              <a:t>Exceptions, e.g., weekday, month, quarter, year</a:t>
            </a:r>
          </a:p>
        </p:txBody>
      </p:sp>
      <p:grpSp>
        <p:nvGrpSpPr>
          <p:cNvPr id="2" name="Group 4"/>
          <p:cNvGrpSpPr>
            <a:grpSpLocks/>
          </p:cNvGrpSpPr>
          <p:nvPr/>
        </p:nvGrpSpPr>
        <p:grpSpPr bwMode="auto">
          <a:xfrm>
            <a:off x="914400" y="3733800"/>
            <a:ext cx="7156450" cy="2724150"/>
            <a:chOff x="672" y="2438"/>
            <a:chExt cx="4508" cy="1716"/>
          </a:xfrm>
        </p:grpSpPr>
        <p:sp>
          <p:nvSpPr>
            <p:cNvPr id="65542" name="Oval 5"/>
            <p:cNvSpPr>
              <a:spLocks noChangeArrowheads="1"/>
            </p:cNvSpPr>
            <p:nvPr/>
          </p:nvSpPr>
          <p:spPr bwMode="auto">
            <a:xfrm>
              <a:off x="672" y="2496"/>
              <a:ext cx="2256" cy="216"/>
            </a:xfrm>
            <a:prstGeom prst="ellipse">
              <a:avLst/>
            </a:prstGeom>
            <a:noFill/>
            <a:ln w="9525">
              <a:solidFill>
                <a:schemeClr val="folHlink"/>
              </a:solidFill>
              <a:round/>
              <a:headEnd/>
              <a:tailEnd/>
            </a:ln>
          </p:spPr>
          <p:txBody>
            <a:bodyPr wrap="none" anchor="ctr"/>
            <a:lstStyle/>
            <a:p>
              <a:pPr algn="ctr" eaLnBrk="0" hangingPunct="0"/>
              <a:r>
                <a:rPr lang="en-US" i="1">
                  <a:latin typeface="Times New Roman" pitchFamily="18" charset="0"/>
                </a:rPr>
                <a:t>country</a:t>
              </a:r>
            </a:p>
          </p:txBody>
        </p:sp>
        <p:sp>
          <p:nvSpPr>
            <p:cNvPr id="65543" name="Oval 6"/>
            <p:cNvSpPr>
              <a:spLocks noChangeArrowheads="1"/>
            </p:cNvSpPr>
            <p:nvPr/>
          </p:nvSpPr>
          <p:spPr bwMode="auto">
            <a:xfrm>
              <a:off x="708" y="2952"/>
              <a:ext cx="2256" cy="216"/>
            </a:xfrm>
            <a:prstGeom prst="ellipse">
              <a:avLst/>
            </a:prstGeom>
            <a:noFill/>
            <a:ln w="9525">
              <a:solidFill>
                <a:schemeClr val="folHlink"/>
              </a:solidFill>
              <a:round/>
              <a:headEnd/>
              <a:tailEnd/>
            </a:ln>
          </p:spPr>
          <p:txBody>
            <a:bodyPr wrap="none" anchor="ctr"/>
            <a:lstStyle/>
            <a:p>
              <a:pPr algn="ctr" eaLnBrk="0" hangingPunct="0"/>
              <a:r>
                <a:rPr lang="en-US" i="1">
                  <a:latin typeface="Times New Roman" pitchFamily="18" charset="0"/>
                </a:rPr>
                <a:t>province_or_ state</a:t>
              </a:r>
            </a:p>
          </p:txBody>
        </p:sp>
        <p:sp>
          <p:nvSpPr>
            <p:cNvPr id="65544" name="Oval 7"/>
            <p:cNvSpPr>
              <a:spLocks noChangeArrowheads="1"/>
            </p:cNvSpPr>
            <p:nvPr/>
          </p:nvSpPr>
          <p:spPr bwMode="auto">
            <a:xfrm>
              <a:off x="756" y="3456"/>
              <a:ext cx="2256" cy="216"/>
            </a:xfrm>
            <a:prstGeom prst="ellipse">
              <a:avLst/>
            </a:prstGeom>
            <a:noFill/>
            <a:ln w="9525">
              <a:solidFill>
                <a:schemeClr val="folHlink"/>
              </a:solidFill>
              <a:round/>
              <a:headEnd/>
              <a:tailEnd/>
            </a:ln>
          </p:spPr>
          <p:txBody>
            <a:bodyPr wrap="none" anchor="ctr"/>
            <a:lstStyle/>
            <a:p>
              <a:pPr algn="ctr" eaLnBrk="0" hangingPunct="0"/>
              <a:r>
                <a:rPr lang="en-US" i="1">
                  <a:latin typeface="Times New Roman" pitchFamily="18" charset="0"/>
                </a:rPr>
                <a:t>city</a:t>
              </a:r>
            </a:p>
          </p:txBody>
        </p:sp>
        <p:sp>
          <p:nvSpPr>
            <p:cNvPr id="65545" name="Oval 8"/>
            <p:cNvSpPr>
              <a:spLocks noChangeArrowheads="1"/>
            </p:cNvSpPr>
            <p:nvPr/>
          </p:nvSpPr>
          <p:spPr bwMode="auto">
            <a:xfrm>
              <a:off x="744" y="3936"/>
              <a:ext cx="2256" cy="216"/>
            </a:xfrm>
            <a:prstGeom prst="ellipse">
              <a:avLst/>
            </a:prstGeom>
            <a:noFill/>
            <a:ln w="9525">
              <a:solidFill>
                <a:schemeClr val="folHlink"/>
              </a:solidFill>
              <a:round/>
              <a:headEnd/>
              <a:tailEnd/>
            </a:ln>
          </p:spPr>
          <p:txBody>
            <a:bodyPr wrap="none" anchor="ctr"/>
            <a:lstStyle/>
            <a:p>
              <a:pPr algn="ctr" eaLnBrk="0" hangingPunct="0"/>
              <a:r>
                <a:rPr lang="en-US" i="1">
                  <a:latin typeface="Times New Roman" pitchFamily="18" charset="0"/>
                </a:rPr>
                <a:t>street</a:t>
              </a:r>
            </a:p>
          </p:txBody>
        </p:sp>
        <p:sp>
          <p:nvSpPr>
            <p:cNvPr id="65546" name="Line 9"/>
            <p:cNvSpPr>
              <a:spLocks noChangeShapeType="1"/>
            </p:cNvSpPr>
            <p:nvPr/>
          </p:nvSpPr>
          <p:spPr bwMode="auto">
            <a:xfrm flipH="1">
              <a:off x="1836" y="2736"/>
              <a:ext cx="0" cy="240"/>
            </a:xfrm>
            <a:prstGeom prst="line">
              <a:avLst/>
            </a:prstGeom>
            <a:noFill/>
            <a:ln w="9525">
              <a:solidFill>
                <a:schemeClr val="tx2"/>
              </a:solidFill>
              <a:round/>
              <a:headEnd/>
              <a:tailEnd/>
            </a:ln>
          </p:spPr>
          <p:txBody>
            <a:bodyPr/>
            <a:lstStyle/>
            <a:p>
              <a:endParaRPr lang="en-AU"/>
            </a:p>
          </p:txBody>
        </p:sp>
        <p:sp>
          <p:nvSpPr>
            <p:cNvPr id="65547" name="Line 10"/>
            <p:cNvSpPr>
              <a:spLocks noChangeShapeType="1"/>
            </p:cNvSpPr>
            <p:nvPr/>
          </p:nvSpPr>
          <p:spPr bwMode="auto">
            <a:xfrm>
              <a:off x="1836" y="3096"/>
              <a:ext cx="0" cy="336"/>
            </a:xfrm>
            <a:prstGeom prst="line">
              <a:avLst/>
            </a:prstGeom>
            <a:noFill/>
            <a:ln w="9525">
              <a:solidFill>
                <a:schemeClr val="tx2"/>
              </a:solidFill>
              <a:round/>
              <a:headEnd/>
              <a:tailEnd/>
            </a:ln>
          </p:spPr>
          <p:txBody>
            <a:bodyPr/>
            <a:lstStyle/>
            <a:p>
              <a:endParaRPr lang="en-AU"/>
            </a:p>
          </p:txBody>
        </p:sp>
        <p:sp>
          <p:nvSpPr>
            <p:cNvPr id="65548" name="Line 11"/>
            <p:cNvSpPr>
              <a:spLocks noChangeShapeType="1"/>
            </p:cNvSpPr>
            <p:nvPr/>
          </p:nvSpPr>
          <p:spPr bwMode="auto">
            <a:xfrm>
              <a:off x="1836" y="3612"/>
              <a:ext cx="0" cy="348"/>
            </a:xfrm>
            <a:prstGeom prst="line">
              <a:avLst/>
            </a:prstGeom>
            <a:noFill/>
            <a:ln w="9525">
              <a:solidFill>
                <a:schemeClr val="tx2"/>
              </a:solidFill>
              <a:round/>
              <a:headEnd/>
              <a:tailEnd/>
            </a:ln>
          </p:spPr>
          <p:txBody>
            <a:bodyPr/>
            <a:lstStyle/>
            <a:p>
              <a:endParaRPr lang="en-AU"/>
            </a:p>
          </p:txBody>
        </p:sp>
        <p:sp>
          <p:nvSpPr>
            <p:cNvPr id="65549" name="Text Box 12"/>
            <p:cNvSpPr txBox="1">
              <a:spLocks noChangeArrowheads="1"/>
            </p:cNvSpPr>
            <p:nvPr/>
          </p:nvSpPr>
          <p:spPr bwMode="auto">
            <a:xfrm>
              <a:off x="3542" y="2438"/>
              <a:ext cx="1458" cy="288"/>
            </a:xfrm>
            <a:prstGeom prst="rect">
              <a:avLst/>
            </a:prstGeom>
            <a:noFill/>
            <a:ln w="9525">
              <a:noFill/>
              <a:miter lim="800000"/>
              <a:headEnd/>
              <a:tailEnd/>
            </a:ln>
          </p:spPr>
          <p:txBody>
            <a:bodyPr wrap="none">
              <a:spAutoFit/>
            </a:bodyPr>
            <a:lstStyle/>
            <a:p>
              <a:pPr algn="ctr" eaLnBrk="0" hangingPunct="0"/>
              <a:r>
                <a:rPr lang="en-US">
                  <a:latin typeface="Times New Roman" pitchFamily="18" charset="0"/>
                </a:rPr>
                <a:t>15 distinct values</a:t>
              </a:r>
            </a:p>
          </p:txBody>
        </p:sp>
        <p:sp>
          <p:nvSpPr>
            <p:cNvPr id="65550" name="Text Box 13"/>
            <p:cNvSpPr txBox="1">
              <a:spLocks noChangeArrowheads="1"/>
            </p:cNvSpPr>
            <p:nvPr/>
          </p:nvSpPr>
          <p:spPr bwMode="auto">
            <a:xfrm>
              <a:off x="3552" y="2942"/>
              <a:ext cx="1570" cy="288"/>
            </a:xfrm>
            <a:prstGeom prst="rect">
              <a:avLst/>
            </a:prstGeom>
            <a:noFill/>
            <a:ln w="9525">
              <a:noFill/>
              <a:miter lim="800000"/>
              <a:headEnd/>
              <a:tailEnd/>
            </a:ln>
          </p:spPr>
          <p:txBody>
            <a:bodyPr>
              <a:spAutoFit/>
            </a:bodyPr>
            <a:lstStyle/>
            <a:p>
              <a:pPr algn="ctr" eaLnBrk="0" hangingPunct="0"/>
              <a:r>
                <a:rPr lang="en-US">
                  <a:latin typeface="Times New Roman" pitchFamily="18" charset="0"/>
                </a:rPr>
                <a:t>365 distinct values</a:t>
              </a:r>
            </a:p>
          </p:txBody>
        </p:sp>
        <p:sp>
          <p:nvSpPr>
            <p:cNvPr id="65551" name="Text Box 14"/>
            <p:cNvSpPr txBox="1">
              <a:spLocks noChangeArrowheads="1"/>
            </p:cNvSpPr>
            <p:nvPr/>
          </p:nvSpPr>
          <p:spPr bwMode="auto">
            <a:xfrm>
              <a:off x="3470" y="3410"/>
              <a:ext cx="1650" cy="288"/>
            </a:xfrm>
            <a:prstGeom prst="rect">
              <a:avLst/>
            </a:prstGeom>
            <a:noFill/>
            <a:ln w="9525">
              <a:noFill/>
              <a:miter lim="800000"/>
              <a:headEnd/>
              <a:tailEnd/>
            </a:ln>
          </p:spPr>
          <p:txBody>
            <a:bodyPr wrap="none">
              <a:spAutoFit/>
            </a:bodyPr>
            <a:lstStyle/>
            <a:p>
              <a:pPr algn="ctr" eaLnBrk="0" hangingPunct="0"/>
              <a:r>
                <a:rPr lang="en-US">
                  <a:latin typeface="Times New Roman" pitchFamily="18" charset="0"/>
                </a:rPr>
                <a:t>3567 distinct values</a:t>
              </a:r>
            </a:p>
          </p:txBody>
        </p:sp>
        <p:sp>
          <p:nvSpPr>
            <p:cNvPr id="65552" name="Text Box 15"/>
            <p:cNvSpPr txBox="1">
              <a:spLocks noChangeArrowheads="1"/>
            </p:cNvSpPr>
            <p:nvPr/>
          </p:nvSpPr>
          <p:spPr bwMode="auto">
            <a:xfrm>
              <a:off x="3290" y="3866"/>
              <a:ext cx="1890" cy="288"/>
            </a:xfrm>
            <a:prstGeom prst="rect">
              <a:avLst/>
            </a:prstGeom>
            <a:noFill/>
            <a:ln w="9525">
              <a:noFill/>
              <a:miter lim="800000"/>
              <a:headEnd/>
              <a:tailEnd/>
            </a:ln>
          </p:spPr>
          <p:txBody>
            <a:bodyPr wrap="none">
              <a:spAutoFit/>
            </a:bodyPr>
            <a:lstStyle/>
            <a:p>
              <a:pPr algn="ctr" eaLnBrk="0" hangingPunct="0"/>
              <a:r>
                <a:rPr lang="en-US">
                  <a:latin typeface="Times New Roman" pitchFamily="18" charset="0"/>
                </a:rPr>
                <a:t>674,339 distinct values</a:t>
              </a:r>
            </a:p>
          </p:txBody>
        </p:sp>
      </p:gr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3"/>
          <p:cNvSpPr>
            <a:spLocks noGrp="1" noChangeArrowheads="1"/>
          </p:cNvSpPr>
          <p:nvPr>
            <p:ph type="body" sz="half" idx="1"/>
          </p:nvPr>
        </p:nvSpPr>
        <p:spPr>
          <a:xfrm>
            <a:off x="381000" y="1371600"/>
            <a:ext cx="8229600" cy="5105400"/>
          </a:xfrm>
          <a:noFill/>
        </p:spPr>
        <p:txBody>
          <a:bodyPr lIns="92075" tIns="46038" rIns="92075" bIns="46038"/>
          <a:lstStyle/>
          <a:p>
            <a:pPr eaLnBrk="1" hangingPunct="1">
              <a:lnSpc>
                <a:spcPct val="150000"/>
              </a:lnSpc>
            </a:pPr>
            <a:r>
              <a:rPr lang="en-US" sz="2400" dirty="0" smtClean="0"/>
              <a:t>Data Preprocessing: An Overview</a:t>
            </a:r>
          </a:p>
          <a:p>
            <a:pPr lvl="1" eaLnBrk="1" hangingPunct="1">
              <a:lnSpc>
                <a:spcPct val="150000"/>
              </a:lnSpc>
            </a:pPr>
            <a:r>
              <a:rPr lang="en-US" sz="2400" dirty="0" smtClean="0"/>
              <a:t>Data Quality</a:t>
            </a:r>
          </a:p>
          <a:p>
            <a:pPr lvl="1" eaLnBrk="1" hangingPunct="1">
              <a:lnSpc>
                <a:spcPct val="150000"/>
              </a:lnSpc>
            </a:pPr>
            <a:r>
              <a:rPr lang="en-US" sz="2400" dirty="0" smtClean="0"/>
              <a:t>Major Tasks in Data Preprocessing</a:t>
            </a:r>
          </a:p>
          <a:p>
            <a:pPr eaLnBrk="1" hangingPunct="1">
              <a:lnSpc>
                <a:spcPct val="150000"/>
              </a:lnSpc>
            </a:pPr>
            <a:r>
              <a:rPr lang="en-US" sz="2400" dirty="0" smtClean="0"/>
              <a:t>Data Cleaning</a:t>
            </a:r>
          </a:p>
          <a:p>
            <a:pPr eaLnBrk="1" hangingPunct="1">
              <a:lnSpc>
                <a:spcPct val="150000"/>
              </a:lnSpc>
            </a:pPr>
            <a:r>
              <a:rPr lang="en-US" sz="2400" dirty="0" smtClean="0"/>
              <a:t>Data Integration</a:t>
            </a:r>
          </a:p>
          <a:p>
            <a:pPr eaLnBrk="1" hangingPunct="1">
              <a:lnSpc>
                <a:spcPct val="150000"/>
              </a:lnSpc>
            </a:pPr>
            <a:r>
              <a:rPr lang="en-US" sz="2400" dirty="0" smtClean="0"/>
              <a:t>Data Reduction</a:t>
            </a:r>
          </a:p>
          <a:p>
            <a:pPr eaLnBrk="1" hangingPunct="1">
              <a:lnSpc>
                <a:spcPct val="150000"/>
              </a:lnSpc>
            </a:pPr>
            <a:r>
              <a:rPr lang="en-US" sz="2400" dirty="0" smtClean="0"/>
              <a:t>Data Transformation and Data </a:t>
            </a:r>
            <a:r>
              <a:rPr lang="en-US" sz="2400" dirty="0" err="1" smtClean="0"/>
              <a:t>Discretization</a:t>
            </a:r>
            <a:endParaRPr lang="en-US" sz="2400" dirty="0" smtClean="0"/>
          </a:p>
          <a:p>
            <a:pPr eaLnBrk="1" hangingPunct="1">
              <a:lnSpc>
                <a:spcPct val="150000"/>
              </a:lnSpc>
            </a:pPr>
            <a:r>
              <a:rPr lang="en-US" sz="2400" dirty="0" smtClean="0"/>
              <a:t>Summary</a:t>
            </a:r>
          </a:p>
        </p:txBody>
      </p:sp>
      <p:sp>
        <p:nvSpPr>
          <p:cNvPr id="7" name="Rectangle 2"/>
          <p:cNvSpPr txBox="1">
            <a:spLocks noChangeArrowheads="1"/>
          </p:cNvSpPr>
          <p:nvPr/>
        </p:nvSpPr>
        <p:spPr>
          <a:xfrm>
            <a:off x="0" y="304800"/>
            <a:ext cx="9144000" cy="685800"/>
          </a:xfrm>
          <a:prstGeom prst="rect">
            <a:avLst/>
          </a:prstGeom>
        </p:spPr>
        <p:txBody>
          <a:bodyPr bIns="91440" anchor="b" anchorCtr="0">
            <a:norm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smtClean="0">
                <a:ln>
                  <a:noFill/>
                </a:ln>
                <a:solidFill>
                  <a:schemeClr val="tx2"/>
                </a:solidFill>
                <a:effectLst/>
                <a:uLnTx/>
                <a:uFillTx/>
                <a:latin typeface="+mj-lt"/>
                <a:ea typeface="+mj-ea"/>
                <a:cs typeface="+mj-cs"/>
              </a:rPr>
              <a:t>Data Preprocessing</a:t>
            </a:r>
            <a:endParaRPr kumimoji="0" lang="en-US" sz="4000" b="0" i="0" u="none" strike="noStrike" kern="1200" cap="none" spc="0" normalizeH="0" baseline="0" noProof="0" dirty="0" smtClean="0">
              <a:ln>
                <a:noFill/>
              </a:ln>
              <a:solidFill>
                <a:schemeClr val="tx2"/>
              </a:solidFill>
              <a:effectLst/>
              <a:uLnTx/>
              <a:uFillTx/>
              <a:latin typeface="+mj-lt"/>
              <a:ea typeface="+mj-ea"/>
              <a:cs typeface="+mj-cs"/>
            </a:endParaRPr>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
          <p:cNvSpPr>
            <a:spLocks noGrp="1" noChangeArrowheads="1"/>
          </p:cNvSpPr>
          <p:nvPr>
            <p:ph type="title"/>
          </p:nvPr>
        </p:nvSpPr>
        <p:spPr>
          <a:xfrm>
            <a:off x="0" y="457200"/>
            <a:ext cx="9144000" cy="609600"/>
          </a:xfrm>
        </p:spPr>
        <p:txBody>
          <a:bodyPr>
            <a:noAutofit/>
          </a:bodyPr>
          <a:lstStyle/>
          <a:p>
            <a:pPr eaLnBrk="1" hangingPunct="1"/>
            <a:r>
              <a:rPr lang="en-US" sz="3200" dirty="0" smtClean="0"/>
              <a:t>Summary</a:t>
            </a:r>
          </a:p>
        </p:txBody>
      </p:sp>
      <p:sp>
        <p:nvSpPr>
          <p:cNvPr id="67588" name="Rectangle 3"/>
          <p:cNvSpPr>
            <a:spLocks noGrp="1" noChangeArrowheads="1"/>
          </p:cNvSpPr>
          <p:nvPr>
            <p:ph type="body" idx="1"/>
          </p:nvPr>
        </p:nvSpPr>
        <p:spPr>
          <a:xfrm>
            <a:off x="304800" y="1295400"/>
            <a:ext cx="8610600" cy="5103813"/>
          </a:xfrm>
        </p:spPr>
        <p:txBody>
          <a:bodyPr/>
          <a:lstStyle/>
          <a:p>
            <a:pPr eaLnBrk="1" hangingPunct="1"/>
            <a:r>
              <a:rPr lang="en-US" sz="2000" b="1" smtClean="0"/>
              <a:t>Data quality</a:t>
            </a:r>
            <a:r>
              <a:rPr lang="en-US" sz="2000" smtClean="0"/>
              <a:t>: accuracy, completeness, consistency, timeliness, believability, interpretability</a:t>
            </a:r>
          </a:p>
          <a:p>
            <a:pPr eaLnBrk="1" hangingPunct="1"/>
            <a:r>
              <a:rPr lang="en-US" sz="2000" b="1" smtClean="0"/>
              <a:t>Data cleaning</a:t>
            </a:r>
            <a:r>
              <a:rPr lang="en-US" sz="2000" smtClean="0"/>
              <a:t>: e.g. missing/noisy values, outliers</a:t>
            </a:r>
          </a:p>
          <a:p>
            <a:pPr eaLnBrk="1" hangingPunct="1"/>
            <a:r>
              <a:rPr lang="en-US" sz="2000" b="1" smtClean="0"/>
              <a:t>Data integration</a:t>
            </a:r>
            <a:r>
              <a:rPr lang="en-US" sz="2000" smtClean="0"/>
              <a:t> from multiple sources: </a:t>
            </a:r>
          </a:p>
          <a:p>
            <a:pPr lvl="1" eaLnBrk="1" hangingPunct="1"/>
            <a:r>
              <a:rPr lang="en-US" sz="2000" smtClean="0"/>
              <a:t>Entity identification problem</a:t>
            </a:r>
          </a:p>
          <a:p>
            <a:pPr lvl="1" eaLnBrk="1" hangingPunct="1"/>
            <a:r>
              <a:rPr lang="en-US" sz="2000" smtClean="0"/>
              <a:t>Remove redundancies</a:t>
            </a:r>
          </a:p>
          <a:p>
            <a:pPr lvl="1" eaLnBrk="1" hangingPunct="1"/>
            <a:r>
              <a:rPr lang="en-US" sz="2000" smtClean="0"/>
              <a:t>Detect inconsistencies</a:t>
            </a:r>
          </a:p>
          <a:p>
            <a:pPr eaLnBrk="1" hangingPunct="1"/>
            <a:r>
              <a:rPr lang="en-US" sz="2000" b="1" smtClean="0"/>
              <a:t>Data reduction</a:t>
            </a:r>
          </a:p>
          <a:p>
            <a:pPr lvl="1" eaLnBrk="1" hangingPunct="1"/>
            <a:r>
              <a:rPr lang="en-US" sz="2000" smtClean="0"/>
              <a:t>Dimensionality reduction</a:t>
            </a:r>
          </a:p>
          <a:p>
            <a:pPr lvl="1" eaLnBrk="1" hangingPunct="1"/>
            <a:r>
              <a:rPr lang="en-US" sz="2000" smtClean="0"/>
              <a:t>Numerosity reduction</a:t>
            </a:r>
          </a:p>
          <a:p>
            <a:pPr lvl="1" eaLnBrk="1" hangingPunct="1"/>
            <a:r>
              <a:rPr lang="en-US" sz="2000" smtClean="0"/>
              <a:t>Data compression</a:t>
            </a:r>
          </a:p>
          <a:p>
            <a:pPr eaLnBrk="1" hangingPunct="1"/>
            <a:r>
              <a:rPr lang="en-US" sz="2000" b="1" smtClean="0"/>
              <a:t>Data transformation and data discretization</a:t>
            </a:r>
            <a:endParaRPr lang="en-US" sz="2000" smtClean="0"/>
          </a:p>
          <a:p>
            <a:pPr lvl="1" eaLnBrk="1" hangingPunct="1"/>
            <a:r>
              <a:rPr lang="en-US" sz="2000" smtClean="0"/>
              <a:t>Normalization</a:t>
            </a:r>
          </a:p>
          <a:p>
            <a:pPr lvl="1" eaLnBrk="1" hangingPunct="1"/>
            <a:r>
              <a:rPr lang="en-US" sz="2000" smtClean="0"/>
              <a:t>Concept hierarchy generation</a:t>
            </a:r>
          </a:p>
          <a:p>
            <a:pPr lvl="1" eaLnBrk="1" hangingPunct="1">
              <a:lnSpc>
                <a:spcPct val="120000"/>
              </a:lnSpc>
            </a:pPr>
            <a:endParaRPr lang="en-US" sz="1600" smtClean="0"/>
          </a:p>
          <a:p>
            <a:pPr eaLnBrk="1" hangingPunct="1">
              <a:lnSpc>
                <a:spcPct val="120000"/>
              </a:lnSpc>
            </a:pPr>
            <a:endParaRPr lang="en-US" sz="1600" smtClean="0"/>
          </a:p>
          <a:p>
            <a:pPr eaLnBrk="1" hangingPunct="1">
              <a:lnSpc>
                <a:spcPct val="120000"/>
              </a:lnSpc>
              <a:buFont typeface="Wingdings" pitchFamily="2" charset="2"/>
              <a:buNone/>
            </a:pPr>
            <a:endParaRPr lang="en-US" sz="1600" smtClean="0"/>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Reading Material</a:t>
            </a:r>
            <a:endParaRPr lang="en-US" dirty="0"/>
          </a:p>
        </p:txBody>
      </p:sp>
      <p:sp>
        <p:nvSpPr>
          <p:cNvPr id="6" name="Content Placeholder 5"/>
          <p:cNvSpPr>
            <a:spLocks noGrp="1"/>
          </p:cNvSpPr>
          <p:nvPr>
            <p:ph sz="quarter" idx="1"/>
          </p:nvPr>
        </p:nvSpPr>
        <p:spPr/>
        <p:txBody>
          <a:bodyPr>
            <a:noAutofit/>
          </a:bodyPr>
          <a:lstStyle/>
          <a:p>
            <a:pPr marL="400050">
              <a:lnSpc>
                <a:spcPct val="90000"/>
              </a:lnSpc>
            </a:pPr>
            <a:r>
              <a:rPr lang="en-US" sz="2400" dirty="0" smtClean="0"/>
              <a:t>Class Lecture</a:t>
            </a:r>
          </a:p>
          <a:p>
            <a:pPr marL="400050">
              <a:lnSpc>
                <a:spcPct val="90000"/>
              </a:lnSpc>
            </a:pPr>
            <a:r>
              <a:rPr lang="en-US" sz="2400" dirty="0" smtClean="0"/>
              <a:t>Text Book: Chapter 3</a:t>
            </a:r>
          </a:p>
          <a:p>
            <a:endParaRPr lang="en-US" sz="2200" dirty="0"/>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dirty="0" smtClean="0"/>
              <a:t>Acknowledgements</a:t>
            </a:r>
          </a:p>
        </p:txBody>
      </p:sp>
      <p:sp>
        <p:nvSpPr>
          <p:cNvPr id="38915" name="Rectangle 3"/>
          <p:cNvSpPr>
            <a:spLocks noGrp="1" noChangeArrowheads="1"/>
          </p:cNvSpPr>
          <p:nvPr>
            <p:ph sz="quarter" idx="1"/>
          </p:nvPr>
        </p:nvSpPr>
        <p:spPr/>
        <p:txBody>
          <a:bodyPr/>
          <a:lstStyle/>
          <a:p>
            <a:pPr eaLnBrk="1" hangingPunct="1"/>
            <a:r>
              <a:rPr lang="en-US" dirty="0" smtClean="0"/>
              <a:t>These slides contain material developed and copyright by:</a:t>
            </a:r>
          </a:p>
          <a:p>
            <a:pPr lvl="1" eaLnBrk="1" hangingPunct="1"/>
            <a:r>
              <a:rPr lang="en-US" sz="2600" dirty="0" err="1" smtClean="0"/>
              <a:t>Jiawei</a:t>
            </a:r>
            <a:r>
              <a:rPr lang="en-US" sz="2600" dirty="0" smtClean="0"/>
              <a:t> Han (UIUC)  (CS412)</a:t>
            </a:r>
          </a:p>
          <a:p>
            <a:pPr lvl="1" eaLnBrk="1" hangingPunct="1"/>
            <a:r>
              <a:rPr lang="en-US" sz="2600" dirty="0" err="1" smtClean="0"/>
              <a:t>Yizhou</a:t>
            </a:r>
            <a:r>
              <a:rPr lang="en-US" sz="2600" dirty="0" smtClean="0"/>
              <a:t> Sun (Northeastern University) (CS6220)</a:t>
            </a:r>
          </a:p>
          <a:p>
            <a:pPr lvl="1"/>
            <a:r>
              <a:rPr lang="en-US" dirty="0" err="1" smtClean="0"/>
              <a:t>Zhi-Hua</a:t>
            </a:r>
            <a:r>
              <a:rPr lang="en-US" dirty="0" smtClean="0"/>
              <a:t> Zhou (Nanjing University)</a:t>
            </a:r>
          </a:p>
          <a:p>
            <a:pPr lvl="1" eaLnBrk="1" hangingPunct="1"/>
            <a:endParaRPr lang="en-US" dirty="0" smtClean="0"/>
          </a:p>
          <a:p>
            <a:pPr lvl="1" eaLnBrk="1" hangingPunct="1"/>
            <a:endParaRPr lang="en-US" sz="2600" dirty="0" smtClean="0"/>
          </a:p>
          <a:p>
            <a:pPr lvl="1" eaLnBrk="1" hangingPunct="1"/>
            <a:endParaRPr lang="en-US" dirty="0" smtClean="0"/>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9"/>
          <p:cNvSpPr>
            <a:spLocks noGrp="1" noChangeArrowheads="1"/>
          </p:cNvSpPr>
          <p:nvPr>
            <p:ph type="subTitle" idx="1"/>
          </p:nvPr>
        </p:nvSpPr>
        <p:spPr/>
        <p:txBody>
          <a:bodyPr rtlCol="0">
            <a:normAutofit/>
          </a:bodyPr>
          <a:lstStyle/>
          <a:p>
            <a:pPr eaLnBrk="1" fontAlgn="auto" hangingPunct="1">
              <a:spcAft>
                <a:spcPts val="0"/>
              </a:spcAft>
              <a:buFont typeface="Wingdings 3" pitchFamily="18" charset="2"/>
              <a:buNone/>
              <a:defRPr/>
            </a:pPr>
            <a:endParaRPr lang="en-US" smtClean="0"/>
          </a:p>
        </p:txBody>
      </p:sp>
      <p:sp>
        <p:nvSpPr>
          <p:cNvPr id="39938" name="Rectangle 5"/>
          <p:cNvSpPr>
            <a:spLocks noGrp="1" noChangeArrowheads="1"/>
          </p:cNvSpPr>
          <p:nvPr>
            <p:ph type="ctrTitle"/>
          </p:nvPr>
        </p:nvSpPr>
        <p:spPr/>
        <p:txBody>
          <a:bodyPr/>
          <a:lstStyle/>
          <a:p>
            <a:pPr eaLnBrk="1" hangingPunct="1"/>
            <a:r>
              <a:rPr lang="en-US" smtClean="0"/>
              <a:t>The End</a:t>
            </a:r>
          </a:p>
        </p:txBody>
      </p:sp>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12345</TotalTime>
  <Words>3734</Words>
  <Application>Microsoft Office PowerPoint</Application>
  <PresentationFormat>On-screen Show (4:3)</PresentationFormat>
  <Paragraphs>568</Paragraphs>
  <Slides>62</Slides>
  <Notes>61</Notes>
  <HiddenSlides>0</HiddenSlides>
  <MMClips>0</MMClips>
  <ScaleCrop>false</ScaleCrop>
  <HeadingPairs>
    <vt:vector size="6" baseType="variant">
      <vt:variant>
        <vt:lpstr>Theme</vt:lpstr>
      </vt:variant>
      <vt:variant>
        <vt:i4>1</vt:i4>
      </vt:variant>
      <vt:variant>
        <vt:lpstr>Embedded OLE Servers</vt:lpstr>
      </vt:variant>
      <vt:variant>
        <vt:i4>3</vt:i4>
      </vt:variant>
      <vt:variant>
        <vt:lpstr>Slide Titles</vt:lpstr>
      </vt:variant>
      <vt:variant>
        <vt:i4>62</vt:i4>
      </vt:variant>
    </vt:vector>
  </HeadingPairs>
  <TitlesOfParts>
    <vt:vector size="66" baseType="lpstr">
      <vt:lpstr>Equity</vt:lpstr>
      <vt:lpstr>Equation</vt:lpstr>
      <vt:lpstr>Bitmap Image</vt:lpstr>
      <vt:lpstr>Chart</vt:lpstr>
      <vt:lpstr>Data Mining</vt:lpstr>
      <vt:lpstr>Slide 2</vt:lpstr>
      <vt:lpstr>Data Quality: Why Preprocess the Data?</vt:lpstr>
      <vt:lpstr>Why Incomplete?</vt:lpstr>
      <vt:lpstr>Why Noisy?</vt:lpstr>
      <vt:lpstr>Why Inconsistent?</vt:lpstr>
      <vt:lpstr>Data Quality</vt:lpstr>
      <vt:lpstr>Why is Data Preprocessing Important?</vt:lpstr>
      <vt:lpstr>Major Tasks in Data Preprocessing</vt:lpstr>
      <vt:lpstr>Major Tasks in Data Preprocessing</vt:lpstr>
      <vt:lpstr>Slide 11</vt:lpstr>
      <vt:lpstr>Data Cleaning</vt:lpstr>
      <vt:lpstr>Slide 13</vt:lpstr>
      <vt:lpstr>Slide 14</vt:lpstr>
      <vt:lpstr>Slide 15</vt:lpstr>
      <vt:lpstr>Slide 16</vt:lpstr>
      <vt:lpstr>Slide 17</vt:lpstr>
      <vt:lpstr>Slide 18</vt:lpstr>
      <vt:lpstr>Data Integration</vt:lpstr>
      <vt:lpstr>Data Integration</vt:lpstr>
      <vt:lpstr>Correlation Analysis (Nominal Data)</vt:lpstr>
      <vt:lpstr>Slide 22</vt:lpstr>
      <vt:lpstr>Correlation Analysis (Numeric Data)</vt:lpstr>
      <vt:lpstr>Visually Evaluating Correlation</vt:lpstr>
      <vt:lpstr>Covariance (Numeric Data)</vt:lpstr>
      <vt:lpstr>Co-Variance: An Example</vt:lpstr>
      <vt:lpstr>Slide 27</vt:lpstr>
      <vt:lpstr>Slide 28</vt:lpstr>
      <vt:lpstr>Slide 29</vt:lpstr>
      <vt:lpstr>Attribute Subset Selection</vt:lpstr>
      <vt:lpstr>Attribute Subset Selection</vt:lpstr>
      <vt:lpstr>Heuristic Search in Attribute Selection</vt:lpstr>
      <vt:lpstr>Heuristic Search in Attribute Selection</vt:lpstr>
      <vt:lpstr>Heuristic Search in Attribute Selection</vt:lpstr>
      <vt:lpstr>Heuristic Search in Attribute Selection</vt:lpstr>
      <vt:lpstr>Attribute Creation (Feature Generation)</vt:lpstr>
      <vt:lpstr>Slide 37</vt:lpstr>
      <vt:lpstr>Slide 38</vt:lpstr>
      <vt:lpstr>Slide 39</vt:lpstr>
      <vt:lpstr>Principal Component Analysis (Steps)</vt:lpstr>
      <vt:lpstr>Data Reduction 2: Numerosity Reduction</vt:lpstr>
      <vt:lpstr>Slide 42</vt:lpstr>
      <vt:lpstr>Clustering</vt:lpstr>
      <vt:lpstr>Slide 44</vt:lpstr>
      <vt:lpstr>Types of Sampling</vt:lpstr>
      <vt:lpstr>Slide 46</vt:lpstr>
      <vt:lpstr>Slide 47</vt:lpstr>
      <vt:lpstr>Slide 48</vt:lpstr>
      <vt:lpstr>Slide 49</vt:lpstr>
      <vt:lpstr>Slide 50</vt:lpstr>
      <vt:lpstr>Slide 51</vt:lpstr>
      <vt:lpstr>Slide 52</vt:lpstr>
      <vt:lpstr>Slide 53</vt:lpstr>
      <vt:lpstr>Discretization  by Classification &amp; Correlation Analysis</vt:lpstr>
      <vt:lpstr>Slide 55</vt:lpstr>
      <vt:lpstr>Slide 56</vt:lpstr>
      <vt:lpstr>Automatic Concept Hierarchy Generation</vt:lpstr>
      <vt:lpstr>Slide 58</vt:lpstr>
      <vt:lpstr>Summary</vt:lpstr>
      <vt:lpstr>Reading Material</vt:lpstr>
      <vt:lpstr>Acknowledgements</vt:lpstr>
      <vt:lpstr>The End</vt:lpstr>
    </vt:vector>
  </TitlesOfParts>
  <Company>CSE, BUET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dc:title>
  <dc:creator>User</dc:creator>
  <cp:lastModifiedBy>samsung</cp:lastModifiedBy>
  <cp:revision>1484</cp:revision>
  <dcterms:created xsi:type="dcterms:W3CDTF">2002-08-18T16:43:01Z</dcterms:created>
  <dcterms:modified xsi:type="dcterms:W3CDTF">2013-06-09T10:21:01Z</dcterms:modified>
</cp:coreProperties>
</file>