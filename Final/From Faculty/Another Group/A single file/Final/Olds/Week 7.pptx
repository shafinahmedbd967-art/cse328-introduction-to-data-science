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48.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8.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47.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Lst>
  <p:sldSz cy="6858000" cx="12192000"/>
  <p:notesSz cx="6858000" cy="9144000"/>
  <p:embeddedFontLst>
    <p:embeddedFont>
      <p:font typeface="Quattrocento Sans"/>
      <p:regular r:id="rId54"/>
      <p:bold r:id="rId55"/>
      <p:italic r:id="rId56"/>
      <p:boldItalic r:id="rId5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58" roundtripDataSignature="AMtx7mjufPRy4rrKBflUkrnvCUOTGVwun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800DA60-C0CE-4EA3-9BE5-66FB3202CD5A}">
  <a:tblStyle styleId="{D800DA60-C0CE-4EA3-9BE5-66FB3202CD5A}" styleName="Table_0">
    <a:wholeTbl>
      <a:tcTxStyle b="off" i="off">
        <a:font>
          <a:latin typeface="Calibri"/>
          <a:ea typeface="Calibri"/>
          <a:cs typeface="Calibri"/>
        </a:font>
        <a:schemeClr val="dk1"/>
      </a:tcTxStyle>
      <a:tcStyle>
        <a:tcBdr>
          <a:left>
            <a:ln cap="flat" cmpd="sng" w="12700">
              <a:solidFill>
                <a:schemeClr val="lt1"/>
              </a:solidFill>
              <a:prstDash val="solid"/>
              <a:round/>
              <a:headEnd len="sm" w="sm" type="none"/>
              <a:tailEnd len="sm" w="sm" type="none"/>
            </a:ln>
          </a:left>
          <a:right>
            <a:ln cap="flat" cmpd="sng" w="12700">
              <a:solidFill>
                <a:schemeClr val="lt1"/>
              </a:solidFill>
              <a:prstDash val="solid"/>
              <a:round/>
              <a:headEnd len="sm" w="sm" type="none"/>
              <a:tailEnd len="sm" w="sm" type="none"/>
            </a:ln>
          </a:right>
          <a:top>
            <a:ln cap="flat" cmpd="sng" w="12700">
              <a:solidFill>
                <a:schemeClr val="lt1"/>
              </a:solidFill>
              <a:prstDash val="solid"/>
              <a:round/>
              <a:headEnd len="sm" w="sm" type="none"/>
              <a:tailEnd len="sm" w="sm" type="none"/>
            </a:ln>
          </a:top>
          <a:bottom>
            <a:ln cap="flat" cmpd="sng" w="12700">
              <a:solidFill>
                <a:schemeClr val="lt1"/>
              </a:solidFill>
              <a:prstDash val="solid"/>
              <a:round/>
              <a:headEnd len="sm" w="sm" type="none"/>
              <a:tailEnd len="sm" w="sm" type="none"/>
            </a:ln>
          </a:bottom>
          <a:insideH>
            <a:ln cap="flat" cmpd="sng" w="12700">
              <a:solidFill>
                <a:schemeClr val="lt1"/>
              </a:solidFill>
              <a:prstDash val="solid"/>
              <a:round/>
              <a:headEnd len="sm" w="sm" type="none"/>
              <a:tailEnd len="sm" w="sm" type="none"/>
            </a:ln>
          </a:insideH>
          <a:insideV>
            <a:ln cap="flat" cmpd="sng" w="12700">
              <a:solidFill>
                <a:schemeClr val="lt1"/>
              </a:solidFill>
              <a:prstDash val="solid"/>
              <a:round/>
              <a:headEnd len="sm" w="sm" type="none"/>
              <a:tailEnd len="sm" w="sm" type="none"/>
            </a:ln>
          </a:insideV>
        </a:tcBdr>
        <a:fill>
          <a:solidFill>
            <a:srgbClr val="E9EFF7"/>
          </a:solidFill>
        </a:fill>
      </a:tcStyle>
    </a:wholeTbl>
    <a:band1H>
      <a:tcTxStyle/>
      <a:tcStyle>
        <a:fill>
          <a:solidFill>
            <a:srgbClr val="D0DEEF"/>
          </a:solidFill>
        </a:fill>
      </a:tcStyle>
    </a:band1H>
    <a:band2H>
      <a:tcTxStyle/>
    </a:band2H>
    <a:band1V>
      <a:tcTxStyle/>
      <a:tcStyle>
        <a:fill>
          <a:solidFill>
            <a:srgbClr val="D0DEEF"/>
          </a:solidFill>
        </a:fill>
      </a:tcStyle>
    </a:band1V>
    <a:band2V>
      <a:tcTxStyle/>
    </a:band2V>
    <a:lastCol>
      <a:tcTxStyle b="on" i="off">
        <a:font>
          <a:latin typeface="Calibri"/>
          <a:ea typeface="Calibri"/>
          <a:cs typeface="Calibri"/>
        </a:font>
        <a:schemeClr val="lt1"/>
      </a:tcTxStyle>
      <a:tcStyle>
        <a:fill>
          <a:solidFill>
            <a:schemeClr val="accent1"/>
          </a:solidFill>
        </a:fill>
      </a:tcStyle>
    </a:lastCol>
    <a:firstCol>
      <a:tcTxStyle b="on" i="off">
        <a:font>
          <a:latin typeface="Calibri"/>
          <a:ea typeface="Calibri"/>
          <a:cs typeface="Calibri"/>
        </a:font>
        <a:schemeClr val="lt1"/>
      </a:tcTxStyle>
      <a:tcStyle>
        <a:fill>
          <a:solidFill>
            <a:schemeClr val="accent1"/>
          </a:solidFill>
        </a:fill>
      </a:tcStyle>
    </a:firstCol>
    <a:lastRow>
      <a:tcTxStyle b="on" i="off">
        <a:font>
          <a:latin typeface="Calibri"/>
          <a:ea typeface="Calibri"/>
          <a:cs typeface="Calibri"/>
        </a:font>
        <a:schemeClr val="lt1"/>
      </a:tcTxStyle>
      <a:tcStyle>
        <a:tcBdr>
          <a:top>
            <a:ln cap="flat" cmpd="sng" w="38100">
              <a:solidFill>
                <a:schemeClr val="lt1"/>
              </a:solidFill>
              <a:prstDash val="solid"/>
              <a:round/>
              <a:headEnd len="sm" w="sm" type="none"/>
              <a:tailEnd len="sm" w="sm" type="none"/>
            </a:ln>
          </a:top>
        </a:tcBdr>
        <a:fill>
          <a:solidFill>
            <a:schemeClr val="accent1"/>
          </a:solidFill>
        </a:fill>
      </a:tcStyle>
    </a:lastRow>
    <a:seCell>
      <a:tcTxStyle/>
    </a:seCell>
    <a:swCell>
      <a:tcTxStyle/>
    </a:swCell>
    <a:firstRow>
      <a:tcTxStyle b="on" i="off">
        <a:font>
          <a:latin typeface="Calibri"/>
          <a:ea typeface="Calibri"/>
          <a:cs typeface="Calibri"/>
        </a:font>
        <a:schemeClr val="lt1"/>
      </a:tcTxStyle>
      <a:tcStyle>
        <a:tcBdr>
          <a:bottom>
            <a:ln cap="flat" cmpd="sng" w="38100">
              <a:solidFill>
                <a:schemeClr val="lt1"/>
              </a:solidFill>
              <a:prstDash val="solid"/>
              <a:round/>
              <a:headEnd len="sm" w="sm" type="none"/>
              <a:tailEnd len="sm" w="sm" type="none"/>
            </a:ln>
          </a:bottom>
        </a:tcBdr>
        <a:fill>
          <a:solidFill>
            <a:schemeClr val="accent1"/>
          </a:solidFill>
        </a:fill>
      </a:tcStyle>
    </a:firstRow>
    <a:neCell>
      <a:tcTxStyle/>
    </a:neCell>
    <a:nwCell>
      <a:tcTxStyle/>
    </a:nwCell>
  </a:tblStyle>
  <a:tblStyle styleId="{1755E7DA-98E4-4EC1-B8E4-D68808E3F0D1}"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53" Type="http://schemas.openxmlformats.org/officeDocument/2006/relationships/slide" Target="slides/slide48.xml"/><Relationship Id="rId52" Type="http://schemas.openxmlformats.org/officeDocument/2006/relationships/slide" Target="slides/slide47.xml"/><Relationship Id="rId11" Type="http://schemas.openxmlformats.org/officeDocument/2006/relationships/slide" Target="slides/slide6.xml"/><Relationship Id="rId55" Type="http://schemas.openxmlformats.org/officeDocument/2006/relationships/font" Target="fonts/QuattrocentoSans-bold.fntdata"/><Relationship Id="rId10" Type="http://schemas.openxmlformats.org/officeDocument/2006/relationships/slide" Target="slides/slide5.xml"/><Relationship Id="rId54" Type="http://schemas.openxmlformats.org/officeDocument/2006/relationships/font" Target="fonts/QuattrocentoSans-regular.fntdata"/><Relationship Id="rId13" Type="http://schemas.openxmlformats.org/officeDocument/2006/relationships/slide" Target="slides/slide8.xml"/><Relationship Id="rId57" Type="http://schemas.openxmlformats.org/officeDocument/2006/relationships/font" Target="fonts/QuattrocentoSans-boldItalic.fntdata"/><Relationship Id="rId12" Type="http://schemas.openxmlformats.org/officeDocument/2006/relationships/slide" Target="slides/slide7.xml"/><Relationship Id="rId56" Type="http://schemas.openxmlformats.org/officeDocument/2006/relationships/font" Target="fonts/QuattrocentoSans-italic.fntdata"/><Relationship Id="rId15" Type="http://schemas.openxmlformats.org/officeDocument/2006/relationships/slide" Target="slides/slide10.xml"/><Relationship Id="rId14" Type="http://schemas.openxmlformats.org/officeDocument/2006/relationships/slide" Target="slides/slide9.xml"/><Relationship Id="rId58" Type="http://customschemas.google.com/relationships/presentationmetadata" Target="meta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86" name="Google Shape;8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p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92" name="Google Shape;92;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8" name="Google Shape;98;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p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05" name="Google Shape;105;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12" name="Google Shape;112;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8" name="Google Shape;118;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4" name="Google Shape;124;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3" name="Google Shape;133;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p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40" name="Google Shape;14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46" name="Google Shape;146;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1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3" name="Google Shape;15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p1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9" name="Google Shape;159;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166" name="Google Shape;166;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3" name="Google Shape;173;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9" name="Google Shape;17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6" name="Google Shape;18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194" name="Google Shape;194;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00" name="Google Shape;200;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06" name="Google Shape;206;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14" name="Google Shape;214;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p2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1" name="Google Shape;221;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28" name="Google Shape;228;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p2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6" name="Google Shape;236;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2" name="Google Shape;242;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Calibri"/>
              <a:buNone/>
            </a:pPr>
            <a:r>
              <a:t/>
            </a:r>
            <a:endParaRPr/>
          </a:p>
        </p:txBody>
      </p:sp>
      <p:sp>
        <p:nvSpPr>
          <p:cNvPr id="248" name="Google Shape;248;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2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2" name="Google Shape;262;p2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269" name="Google Shape;269;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p3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5" name="Google Shape;275;p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p3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2" name="Google Shape;282;p3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p3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8" name="Google Shape;288;p3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3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3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3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0" name="Google Shape;300;p3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3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3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p3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4" name="Google Shape;314;p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3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1" name="Google Shape;321;p3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5" name="Shape 325"/>
        <p:cNvGrpSpPr/>
        <p:nvPr/>
      </p:nvGrpSpPr>
      <p:grpSpPr>
        <a:xfrm>
          <a:off x="0" y="0"/>
          <a:ext cx="0" cy="0"/>
          <a:chOff x="0" y="0"/>
          <a:chExt cx="0" cy="0"/>
        </a:xfrm>
      </p:grpSpPr>
      <p:sp>
        <p:nvSpPr>
          <p:cNvPr id="326" name="Google Shape;326;p3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7" name="Google Shape;327;p3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3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34" name="Google Shape;334;p3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p40: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1" name="Google Shape;341;p4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4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7" name="Google Shape;347;p4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p4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53" name="Google Shape;353;p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p4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4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p4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6" name="Google Shape;366;p4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p4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72" name="Google Shape;372;p4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4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0" name="Google Shape;380;p4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4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4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4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4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9" name="Google Shape;399;p4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5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 name="Google Shape;18;p5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5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5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5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5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 name="Google Shape;24;p5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5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5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0" name="Google Shape;30;p5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5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6" name="Google Shape;36;p5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5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5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5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5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5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5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5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5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5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5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5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5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5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5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5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5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5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5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5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5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5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5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5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6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60"/>
          <p:cNvSpPr/>
          <p:nvPr>
            <p:ph idx="2" type="pic"/>
          </p:nvPr>
        </p:nvSpPr>
        <p:spPr>
          <a:xfrm>
            <a:off x="5183188" y="987425"/>
            <a:ext cx="6172200" cy="4873625"/>
          </a:xfrm>
          <a:prstGeom prst="rect">
            <a:avLst/>
          </a:prstGeom>
          <a:noFill/>
          <a:ln>
            <a:noFill/>
          </a:ln>
        </p:spPr>
      </p:sp>
      <p:sp>
        <p:nvSpPr>
          <p:cNvPr id="68" name="Google Shape;68;p6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6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6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6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6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6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6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6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6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6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6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6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6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6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5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5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5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 name="Google Shape;13;p5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 name="Google Shape;14;p5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3.png"/><Relationship Id="rId4" Type="http://schemas.openxmlformats.org/officeDocument/2006/relationships/image" Target="../media/image21.png"/><Relationship Id="rId5"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5.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1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1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9.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8.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1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 Id="rId3" Type="http://schemas.openxmlformats.org/officeDocument/2006/relationships/image" Target="../media/image19.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8.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 Id="rId3" Type="http://schemas.openxmlformats.org/officeDocument/2006/relationships/image" Target="../media/image20.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90000"/>
              </a:lnSpc>
              <a:spcBef>
                <a:spcPts val="0"/>
              </a:spcBef>
              <a:spcAft>
                <a:spcPts val="0"/>
              </a:spcAft>
              <a:buClr>
                <a:schemeClr val="dk1"/>
              </a:buClr>
              <a:buSzPts val="4800"/>
              <a:buFont typeface="Calibri"/>
              <a:buNone/>
            </a:pPr>
            <a:r>
              <a:rPr b="1" lang="en-US" sz="4800"/>
              <a:t>CSE315:Introduction to Data Science</a:t>
            </a:r>
            <a:br>
              <a:rPr b="1" lang="en-US" sz="4800"/>
            </a:br>
            <a:r>
              <a:rPr b="1" i="1" lang="en-US" sz="4800">
                <a:solidFill>
                  <a:srgbClr val="0070C0"/>
                </a:solidFill>
              </a:rPr>
              <a:t>Feature Engineering</a:t>
            </a:r>
            <a:endParaRPr/>
          </a:p>
        </p:txBody>
      </p:sp>
      <p:sp>
        <p:nvSpPr>
          <p:cNvPr id="89" name="Google Shape;89;p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3600"/>
              <a:buNone/>
            </a:pPr>
            <a:r>
              <a:rPr lang="en-US" sz="3600"/>
              <a:t>WEEK-??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Feature Engineering</a:t>
            </a:r>
            <a:endParaRPr/>
          </a:p>
        </p:txBody>
      </p:sp>
      <p:sp>
        <p:nvSpPr>
          <p:cNvPr id="95" name="Google Shape;95;p2"/>
          <p:cNvSpPr txBox="1"/>
          <p:nvPr>
            <p:ph idx="1" type="body"/>
          </p:nvPr>
        </p:nvSpPr>
        <p:spPr>
          <a:xfrm>
            <a:off x="1981200" y="1417638"/>
            <a:ext cx="8229600" cy="5103477"/>
          </a:xfrm>
          <a:prstGeom prst="rect">
            <a:avLst/>
          </a:prstGeom>
          <a:noFill/>
          <a:ln>
            <a:noFill/>
          </a:ln>
        </p:spPr>
        <p:txBody>
          <a:bodyPr anchorCtr="0" anchor="t" bIns="45700" lIns="91425" spcFirstLastPara="1" rIns="91425" wrap="square" tIns="45700">
            <a:noAutofit/>
          </a:bodyPr>
          <a:lstStyle/>
          <a:p>
            <a:pPr indent="0" lvl="0" marL="0" marR="0" rtl="0" algn="l">
              <a:lnSpc>
                <a:spcPct val="107000"/>
              </a:lnSpc>
              <a:spcBef>
                <a:spcPts val="0"/>
              </a:spcBef>
              <a:spcAft>
                <a:spcPts val="0"/>
              </a:spcAft>
              <a:buClr>
                <a:schemeClr val="dk1"/>
              </a:buClr>
              <a:buSzPts val="2000"/>
              <a:buNone/>
            </a:pPr>
            <a:r>
              <a:rPr b="1" i="1" lang="en-US" sz="2000">
                <a:latin typeface="Times New Roman"/>
                <a:ea typeface="Times New Roman"/>
                <a:cs typeface="Times New Roman"/>
                <a:sym typeface="Times New Roman"/>
              </a:rPr>
              <a:t>Feature engineering is the process of extracting meaningful features from raw data. </a:t>
            </a:r>
            <a:r>
              <a:rPr lang="en-US" sz="1800">
                <a:latin typeface="Times New Roman"/>
                <a:ea typeface="Times New Roman"/>
                <a:cs typeface="Times New Roman"/>
                <a:sym typeface="Times New Roman"/>
              </a:rPr>
              <a:t>We can experiment with different features based on our domain knowledge or understanding of the data. </a:t>
            </a:r>
            <a:endParaRPr sz="1800">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800"/>
              <a:buChar char="•"/>
            </a:pPr>
            <a:r>
              <a:rPr b="1" lang="en-US" sz="1800">
                <a:latin typeface="Times New Roman"/>
                <a:ea typeface="Times New Roman"/>
                <a:cs typeface="Times New Roman"/>
                <a:sym typeface="Times New Roman"/>
              </a:rPr>
              <a:t>There are mainly four different ways to do feature engineering:</a:t>
            </a:r>
            <a:endParaRPr sz="1800">
              <a:latin typeface="Calibri"/>
              <a:ea typeface="Calibri"/>
              <a:cs typeface="Calibri"/>
              <a:sym typeface="Calibri"/>
            </a:endParaRPr>
          </a:p>
          <a:p>
            <a:pPr indent="-233362" lvl="0" marL="690563" marR="0" rtl="0" algn="l">
              <a:lnSpc>
                <a:spcPct val="107000"/>
              </a:lnSpc>
              <a:spcBef>
                <a:spcPts val="0"/>
              </a:spcBef>
              <a:spcAft>
                <a:spcPts val="0"/>
              </a:spcAft>
              <a:buClr>
                <a:schemeClr val="dk1"/>
              </a:buClr>
              <a:buSzPts val="1000"/>
              <a:buFont typeface="Calibri"/>
              <a:buAutoNum type="arabicPeriod"/>
            </a:pPr>
            <a:r>
              <a:rPr lang="en-US" sz="1800">
                <a:latin typeface="Times New Roman"/>
                <a:ea typeface="Times New Roman"/>
                <a:cs typeface="Times New Roman"/>
                <a:sym typeface="Times New Roman"/>
              </a:rPr>
              <a:t>Feature Transformation (FT) </a:t>
            </a:r>
            <a:endParaRPr sz="1800">
              <a:latin typeface="Calibri"/>
              <a:ea typeface="Calibri"/>
              <a:cs typeface="Calibri"/>
              <a:sym typeface="Calibri"/>
            </a:endParaRPr>
          </a:p>
          <a:p>
            <a:pPr indent="-233362" lvl="0" marL="690563" marR="0" rtl="0" algn="l">
              <a:lnSpc>
                <a:spcPct val="107000"/>
              </a:lnSpc>
              <a:spcBef>
                <a:spcPts val="0"/>
              </a:spcBef>
              <a:spcAft>
                <a:spcPts val="0"/>
              </a:spcAft>
              <a:buClr>
                <a:schemeClr val="dk1"/>
              </a:buClr>
              <a:buSzPts val="1000"/>
              <a:buFont typeface="Calibri"/>
              <a:buAutoNum type="arabicPeriod"/>
            </a:pPr>
            <a:r>
              <a:rPr lang="en-US" sz="1800">
                <a:latin typeface="Times New Roman"/>
                <a:ea typeface="Times New Roman"/>
                <a:cs typeface="Times New Roman"/>
                <a:sym typeface="Times New Roman"/>
              </a:rPr>
              <a:t>Feature Construction</a:t>
            </a:r>
            <a:endParaRPr sz="1800">
              <a:latin typeface="Calibri"/>
              <a:ea typeface="Calibri"/>
              <a:cs typeface="Calibri"/>
              <a:sym typeface="Calibri"/>
            </a:endParaRPr>
          </a:p>
          <a:p>
            <a:pPr indent="-233362" lvl="0" marL="690563" marR="0" rtl="0" algn="l">
              <a:lnSpc>
                <a:spcPct val="107000"/>
              </a:lnSpc>
              <a:spcBef>
                <a:spcPts val="0"/>
              </a:spcBef>
              <a:spcAft>
                <a:spcPts val="0"/>
              </a:spcAft>
              <a:buClr>
                <a:schemeClr val="dk1"/>
              </a:buClr>
              <a:buSzPts val="1000"/>
              <a:buFont typeface="Calibri"/>
              <a:buAutoNum type="arabicPeriod"/>
            </a:pPr>
            <a:r>
              <a:rPr lang="en-US" sz="1800">
                <a:latin typeface="Times New Roman"/>
                <a:ea typeface="Times New Roman"/>
                <a:cs typeface="Times New Roman"/>
                <a:sym typeface="Times New Roman"/>
              </a:rPr>
              <a:t>Feature Selection</a:t>
            </a:r>
            <a:endParaRPr sz="1800">
              <a:latin typeface="Calibri"/>
              <a:ea typeface="Calibri"/>
              <a:cs typeface="Calibri"/>
              <a:sym typeface="Calibri"/>
            </a:endParaRPr>
          </a:p>
          <a:p>
            <a:pPr indent="-233362" lvl="0" marL="690563" marR="0" rtl="0" algn="l">
              <a:lnSpc>
                <a:spcPct val="107000"/>
              </a:lnSpc>
              <a:spcBef>
                <a:spcPts val="0"/>
              </a:spcBef>
              <a:spcAft>
                <a:spcPts val="0"/>
              </a:spcAft>
              <a:buClr>
                <a:schemeClr val="dk1"/>
              </a:buClr>
              <a:buSzPts val="1000"/>
              <a:buFont typeface="Calibri"/>
              <a:buAutoNum type="arabicPeriod"/>
            </a:pPr>
            <a:r>
              <a:rPr lang="en-US" sz="1800">
                <a:latin typeface="Times New Roman"/>
                <a:ea typeface="Times New Roman"/>
                <a:cs typeface="Times New Roman"/>
                <a:sym typeface="Times New Roman"/>
              </a:rPr>
              <a:t>Feature Extraction</a:t>
            </a:r>
            <a:endParaRPr/>
          </a:p>
          <a:p>
            <a:pPr indent="-169862" lvl="0" marL="690563" marR="0" rtl="0" algn="l">
              <a:lnSpc>
                <a:spcPct val="107000"/>
              </a:lnSpc>
              <a:spcBef>
                <a:spcPts val="0"/>
              </a:spcBef>
              <a:spcAft>
                <a:spcPts val="0"/>
              </a:spcAft>
              <a:buClr>
                <a:schemeClr val="dk1"/>
              </a:buClr>
              <a:buSzPts val="1000"/>
              <a:buFont typeface="Calibri"/>
              <a:buNone/>
            </a:pPr>
            <a:r>
              <a:t/>
            </a:r>
            <a:endParaRPr sz="1800">
              <a:latin typeface="Calibri"/>
              <a:ea typeface="Calibri"/>
              <a:cs typeface="Calibri"/>
              <a:sym typeface="Calibri"/>
            </a:endParaRPr>
          </a:p>
          <a:p>
            <a:pPr indent="0" lvl="0" marL="0" marR="0" rtl="0" algn="l">
              <a:lnSpc>
                <a:spcPct val="107000"/>
              </a:lnSpc>
              <a:spcBef>
                <a:spcPts val="0"/>
              </a:spcBef>
              <a:spcAft>
                <a:spcPts val="0"/>
              </a:spcAft>
              <a:buClr>
                <a:srgbClr val="000000"/>
              </a:buClr>
              <a:buSzPts val="1800"/>
              <a:buNone/>
            </a:pPr>
            <a:r>
              <a:rPr b="1" lang="en-US" sz="1800">
                <a:solidFill>
                  <a:srgbClr val="000000"/>
                </a:solidFill>
                <a:latin typeface="Times New Roman"/>
                <a:ea typeface="Times New Roman"/>
                <a:cs typeface="Times New Roman"/>
                <a:sym typeface="Times New Roman"/>
              </a:rPr>
              <a:t>1. Feature Transformation</a:t>
            </a:r>
            <a:endParaRPr sz="1800">
              <a:latin typeface="Calibri"/>
              <a:ea typeface="Calibri"/>
              <a:cs typeface="Calibri"/>
              <a:sym typeface="Calibri"/>
            </a:endParaRPr>
          </a:p>
          <a:p>
            <a:pPr indent="0" lvl="0" marL="0" marR="0" rtl="0" algn="l">
              <a:lnSpc>
                <a:spcPct val="107000"/>
              </a:lnSpc>
              <a:spcBef>
                <a:spcPts val="0"/>
              </a:spcBef>
              <a:spcAft>
                <a:spcPts val="0"/>
              </a:spcAft>
              <a:buClr>
                <a:schemeClr val="dk1"/>
              </a:buClr>
              <a:buSzPts val="1800"/>
              <a:buNone/>
            </a:pPr>
            <a:r>
              <a:rPr i="1" lang="en-US" sz="1800">
                <a:latin typeface="Times New Roman"/>
                <a:ea typeface="Times New Roman"/>
                <a:cs typeface="Times New Roman"/>
                <a:sym typeface="Times New Roman"/>
              </a:rPr>
              <a:t>Feature transformation is the process of modifying features to make them more suitable for machine learning algorithms."</a:t>
            </a:r>
            <a:r>
              <a:rPr lang="en-US" sz="1800">
                <a:latin typeface="Times New Roman"/>
                <a:ea typeface="Times New Roman"/>
                <a:cs typeface="Times New Roman"/>
                <a:sym typeface="Times New Roman"/>
              </a:rPr>
              <a:t> It includes </a:t>
            </a:r>
            <a:endParaRPr sz="1800">
              <a:latin typeface="Calibri"/>
              <a:ea typeface="Calibri"/>
              <a:cs typeface="Calibri"/>
              <a:sym typeface="Calibri"/>
            </a:endParaRPr>
          </a:p>
          <a:p>
            <a:pPr indent="-279399" lvl="0" marL="512763" marR="0" rtl="0" algn="l">
              <a:lnSpc>
                <a:spcPct val="107000"/>
              </a:lnSpc>
              <a:spcBef>
                <a:spcPts val="0"/>
              </a:spcBef>
              <a:spcAft>
                <a:spcPts val="0"/>
              </a:spcAft>
              <a:buClr>
                <a:schemeClr val="dk1"/>
              </a:buClr>
              <a:buSzPts val="1800"/>
              <a:buFont typeface="Calibri"/>
              <a:buAutoNum type="arabicPeriod"/>
            </a:pPr>
            <a:r>
              <a:rPr lang="en-US" sz="1800">
                <a:latin typeface="Times New Roman"/>
                <a:ea typeface="Times New Roman"/>
                <a:cs typeface="Times New Roman"/>
                <a:sym typeface="Times New Roman"/>
              </a:rPr>
              <a:t>Handling missing values, </a:t>
            </a:r>
            <a:endParaRPr sz="1800">
              <a:latin typeface="Calibri"/>
              <a:ea typeface="Calibri"/>
              <a:cs typeface="Calibri"/>
              <a:sym typeface="Calibri"/>
            </a:endParaRPr>
          </a:p>
          <a:p>
            <a:pPr indent="-279399" lvl="0" marL="512763" marR="0" rtl="0" algn="l">
              <a:lnSpc>
                <a:spcPct val="107000"/>
              </a:lnSpc>
              <a:spcBef>
                <a:spcPts val="0"/>
              </a:spcBef>
              <a:spcAft>
                <a:spcPts val="0"/>
              </a:spcAft>
              <a:buClr>
                <a:schemeClr val="dk1"/>
              </a:buClr>
              <a:buSzPts val="1800"/>
              <a:buFont typeface="Calibri"/>
              <a:buAutoNum type="arabicPeriod"/>
            </a:pPr>
            <a:r>
              <a:rPr lang="en-US" sz="1800">
                <a:latin typeface="Times New Roman"/>
                <a:ea typeface="Times New Roman"/>
                <a:cs typeface="Times New Roman"/>
                <a:sym typeface="Times New Roman"/>
              </a:rPr>
              <a:t>Handling categorical values (converting categorical features to numerical values)</a:t>
            </a:r>
            <a:endParaRPr sz="1800">
              <a:latin typeface="Calibri"/>
              <a:ea typeface="Calibri"/>
              <a:cs typeface="Calibri"/>
              <a:sym typeface="Calibri"/>
            </a:endParaRPr>
          </a:p>
          <a:p>
            <a:pPr indent="-279399" lvl="0" marL="512763" marR="0" rtl="0" algn="l">
              <a:lnSpc>
                <a:spcPct val="107000"/>
              </a:lnSpc>
              <a:spcBef>
                <a:spcPts val="0"/>
              </a:spcBef>
              <a:spcAft>
                <a:spcPts val="0"/>
              </a:spcAft>
              <a:buClr>
                <a:schemeClr val="dk1"/>
              </a:buClr>
              <a:buSzPts val="1800"/>
              <a:buFont typeface="Calibri"/>
              <a:buAutoNum type="arabicPeriod"/>
            </a:pPr>
            <a:r>
              <a:rPr lang="en-US" sz="1800">
                <a:latin typeface="Times New Roman"/>
                <a:ea typeface="Times New Roman"/>
                <a:cs typeface="Times New Roman"/>
                <a:sym typeface="Times New Roman"/>
              </a:rPr>
              <a:t>Detecting outliers, and </a:t>
            </a:r>
            <a:endParaRPr sz="1800">
              <a:latin typeface="Calibri"/>
              <a:ea typeface="Calibri"/>
              <a:cs typeface="Calibri"/>
              <a:sym typeface="Calibri"/>
            </a:endParaRPr>
          </a:p>
          <a:p>
            <a:pPr indent="-279399" lvl="0" marL="512763" marR="0" rtl="0" algn="l">
              <a:lnSpc>
                <a:spcPct val="107000"/>
              </a:lnSpc>
              <a:spcBef>
                <a:spcPts val="0"/>
              </a:spcBef>
              <a:spcAft>
                <a:spcPts val="0"/>
              </a:spcAft>
              <a:buClr>
                <a:schemeClr val="dk1"/>
              </a:buClr>
              <a:buSzPts val="1800"/>
              <a:buFont typeface="Calibri"/>
              <a:buAutoNum type="arabicPeriod"/>
            </a:pPr>
            <a:r>
              <a:rPr lang="en-US" sz="1800">
                <a:latin typeface="Times New Roman"/>
                <a:ea typeface="Times New Roman"/>
                <a:cs typeface="Times New Roman"/>
                <a:sym typeface="Times New Roman"/>
              </a:rPr>
              <a:t>Calling features to a standard or common range.</a:t>
            </a:r>
            <a:endParaRPr sz="1800">
              <a:latin typeface="Calibri"/>
              <a:ea typeface="Calibri"/>
              <a:cs typeface="Calibri"/>
              <a:sym typeface="Calibri"/>
            </a:endParaRPr>
          </a:p>
          <a:p>
            <a:pPr indent="0" lvl="0" marL="0" marR="0" rtl="0" algn="l">
              <a:lnSpc>
                <a:spcPct val="107000"/>
              </a:lnSpc>
              <a:spcBef>
                <a:spcPts val="0"/>
              </a:spcBef>
              <a:spcAft>
                <a:spcPts val="0"/>
              </a:spcAft>
              <a:buNone/>
            </a:pPr>
            <a:br>
              <a:rPr b="1" lang="en-US" sz="1800">
                <a:latin typeface="Times New Roman"/>
                <a:ea typeface="Times New Roman"/>
                <a:cs typeface="Times New Roman"/>
                <a:sym typeface="Times New Roman"/>
              </a:rPr>
            </a:br>
            <a:r>
              <a:rPr b="1" lang="en-US" sz="1800">
                <a:latin typeface="Times New Roman"/>
                <a:ea typeface="Times New Roman"/>
                <a:cs typeface="Times New Roman"/>
                <a:sym typeface="Times New Roman"/>
              </a:rPr>
              <a:t> </a:t>
            </a:r>
            <a:endParaRPr sz="1800">
              <a:latin typeface="Calibri"/>
              <a:ea typeface="Calibri"/>
              <a:cs typeface="Calibri"/>
              <a:sym typeface="Calibri"/>
            </a:endParaRPr>
          </a:p>
          <a:p>
            <a:pPr indent="-203200" lvl="0" marL="342900" rtl="0" algn="just">
              <a:lnSpc>
                <a:spcPct val="100000"/>
              </a:lnSpc>
              <a:spcBef>
                <a:spcPts val="800"/>
              </a:spcBef>
              <a:spcAft>
                <a:spcPts val="0"/>
              </a:spcAft>
              <a:buClr>
                <a:schemeClr val="dk1"/>
              </a:buClr>
              <a:buSzPts val="22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3"/>
          <p:cNvSpPr txBox="1"/>
          <p:nvPr>
            <p:ph type="title"/>
          </p:nvPr>
        </p:nvSpPr>
        <p:spPr>
          <a:xfrm>
            <a:off x="838200" y="75616"/>
            <a:ext cx="10515600" cy="605421"/>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sz="4400">
                <a:latin typeface="Times New Roman"/>
                <a:ea typeface="Times New Roman"/>
                <a:cs typeface="Times New Roman"/>
                <a:sym typeface="Times New Roman"/>
              </a:rPr>
              <a:t>                </a:t>
            </a:r>
            <a:br>
              <a:rPr b="1" lang="en-US" sz="4400">
                <a:latin typeface="Times New Roman"/>
                <a:ea typeface="Times New Roman"/>
                <a:cs typeface="Times New Roman"/>
                <a:sym typeface="Times New Roman"/>
              </a:rPr>
            </a:br>
            <a:r>
              <a:rPr b="1" lang="en-US" sz="4400">
                <a:latin typeface="Times New Roman"/>
                <a:ea typeface="Times New Roman"/>
                <a:cs typeface="Times New Roman"/>
                <a:sym typeface="Times New Roman"/>
              </a:rPr>
              <a:t>                   Handling Missing Values</a:t>
            </a:r>
            <a:br>
              <a:rPr lang="en-US" sz="4400">
                <a:latin typeface="Calibri"/>
                <a:ea typeface="Calibri"/>
                <a:cs typeface="Calibri"/>
                <a:sym typeface="Calibri"/>
              </a:rPr>
            </a:br>
            <a:endParaRPr/>
          </a:p>
        </p:txBody>
      </p:sp>
      <p:sp>
        <p:nvSpPr>
          <p:cNvPr id="101" name="Google Shape;101;p3"/>
          <p:cNvSpPr txBox="1"/>
          <p:nvPr>
            <p:ph idx="1" type="body"/>
          </p:nvPr>
        </p:nvSpPr>
        <p:spPr>
          <a:xfrm>
            <a:off x="838200" y="681036"/>
            <a:ext cx="10515600" cy="6101347"/>
          </a:xfrm>
          <a:prstGeom prst="rect">
            <a:avLst/>
          </a:prstGeom>
          <a:noFill/>
          <a:ln>
            <a:noFill/>
          </a:ln>
        </p:spPr>
        <p:txBody>
          <a:bodyPr anchorCtr="0" anchor="t" bIns="45700" lIns="91425" spcFirstLastPara="1" rIns="91425" wrap="square" tIns="45700">
            <a:normAutofit fontScale="85000" lnSpcReduction="20000"/>
          </a:bodyPr>
          <a:lstStyle/>
          <a:p>
            <a:pPr indent="0" lvl="0" marL="0" marR="0" rtl="0" algn="l">
              <a:lnSpc>
                <a:spcPct val="107000"/>
              </a:lnSpc>
              <a:spcBef>
                <a:spcPts val="0"/>
              </a:spcBef>
              <a:spcAft>
                <a:spcPts val="0"/>
              </a:spcAft>
              <a:buClr>
                <a:schemeClr val="dk1"/>
              </a:buClr>
              <a:buSzPct val="100000"/>
              <a:buChar char="•"/>
            </a:pPr>
            <a:r>
              <a:rPr lang="en-US" sz="2400">
                <a:latin typeface="Times New Roman"/>
                <a:ea typeface="Times New Roman"/>
                <a:cs typeface="Times New Roman"/>
                <a:sym typeface="Times New Roman"/>
              </a:rPr>
              <a:t>Missing values can crash our data and ruin the model due to overlooking them.</a:t>
            </a:r>
            <a:endParaRPr sz="2400">
              <a:latin typeface="Calibri"/>
              <a:ea typeface="Calibri"/>
              <a:cs typeface="Calibri"/>
              <a:sym typeface="Calibri"/>
            </a:endParaRPr>
          </a:p>
          <a:p>
            <a:pPr indent="0" lvl="0" marL="0" marR="0" rtl="0" algn="l">
              <a:lnSpc>
                <a:spcPct val="107000"/>
              </a:lnSpc>
              <a:spcBef>
                <a:spcPts val="800"/>
              </a:spcBef>
              <a:spcAft>
                <a:spcPts val="0"/>
              </a:spcAft>
              <a:buClr>
                <a:schemeClr val="dk1"/>
              </a:buClr>
              <a:buSzPct val="100000"/>
              <a:buChar char="•"/>
            </a:pPr>
            <a:r>
              <a:rPr lang="en-US" sz="2400">
                <a:latin typeface="Times New Roman"/>
                <a:ea typeface="Times New Roman"/>
                <a:cs typeface="Times New Roman"/>
                <a:sym typeface="Times New Roman"/>
              </a:rPr>
              <a:t>There are two main approaches to handling missing values:</a:t>
            </a:r>
            <a:endParaRPr sz="2400">
              <a:latin typeface="Calibri"/>
              <a:ea typeface="Calibri"/>
              <a:cs typeface="Calibri"/>
              <a:sym typeface="Calibri"/>
            </a:endParaRPr>
          </a:p>
          <a:p>
            <a:pPr indent="-342900" lvl="0" marL="342900" marR="0" rtl="0" algn="l">
              <a:lnSpc>
                <a:spcPct val="107000"/>
              </a:lnSpc>
              <a:spcBef>
                <a:spcPts val="800"/>
              </a:spcBef>
              <a:spcAft>
                <a:spcPts val="0"/>
              </a:spcAft>
              <a:buClr>
                <a:schemeClr val="dk1"/>
              </a:buClr>
              <a:buSzPct val="49019"/>
              <a:buFont typeface="Noto Sans Symbols"/>
              <a:buChar char="∙"/>
            </a:pPr>
            <a:r>
              <a:rPr b="1" lang="en-US" sz="2400">
                <a:latin typeface="Times New Roman"/>
                <a:ea typeface="Times New Roman"/>
                <a:cs typeface="Times New Roman"/>
                <a:sym typeface="Times New Roman"/>
              </a:rPr>
              <a:t>Imputation:</a:t>
            </a:r>
            <a:r>
              <a:rPr lang="en-US" sz="2400">
                <a:latin typeface="Times New Roman"/>
                <a:ea typeface="Times New Roman"/>
                <a:cs typeface="Times New Roman"/>
                <a:sym typeface="Times New Roman"/>
              </a:rPr>
              <a:t> This is like filling in the blanks with estimates. We can use the mean, median, or mode of the nearest values, or we can use some logic to fill in the blanks.</a:t>
            </a:r>
            <a:endParaRPr/>
          </a:p>
          <a:p>
            <a:pPr indent="-279400" lvl="0" marL="342900" marR="0" rtl="0" algn="l">
              <a:lnSpc>
                <a:spcPct val="107000"/>
              </a:lnSpc>
              <a:spcBef>
                <a:spcPts val="800"/>
              </a:spcBef>
              <a:spcAft>
                <a:spcPts val="0"/>
              </a:spcAft>
              <a:buClr>
                <a:schemeClr val="dk1"/>
              </a:buClr>
              <a:buSzPct val="49019"/>
              <a:buFont typeface="Noto Sans Symbols"/>
              <a:buNone/>
            </a:pPr>
            <a:r>
              <a:t/>
            </a:r>
            <a:endParaRPr sz="2400">
              <a:latin typeface="Times New Roman"/>
              <a:ea typeface="Times New Roman"/>
              <a:cs typeface="Times New Roman"/>
              <a:sym typeface="Times New Roman"/>
            </a:endParaRPr>
          </a:p>
          <a:p>
            <a:pPr indent="-279400" lvl="0" marL="342900" marR="0" rtl="0" algn="l">
              <a:lnSpc>
                <a:spcPct val="107000"/>
              </a:lnSpc>
              <a:spcBef>
                <a:spcPts val="800"/>
              </a:spcBef>
              <a:spcAft>
                <a:spcPts val="0"/>
              </a:spcAft>
              <a:buClr>
                <a:schemeClr val="dk1"/>
              </a:buClr>
              <a:buSzPct val="49019"/>
              <a:buFont typeface="Noto Sans Symbols"/>
              <a:buNone/>
            </a:pPr>
            <a:r>
              <a:t/>
            </a:r>
            <a:endParaRPr sz="2400">
              <a:latin typeface="Times New Roman"/>
              <a:ea typeface="Times New Roman"/>
              <a:cs typeface="Times New Roman"/>
              <a:sym typeface="Times New Roman"/>
            </a:endParaRPr>
          </a:p>
          <a:p>
            <a:pPr indent="-279400" lvl="0" marL="342900" marR="0" rtl="0" algn="l">
              <a:lnSpc>
                <a:spcPct val="107000"/>
              </a:lnSpc>
              <a:spcBef>
                <a:spcPts val="800"/>
              </a:spcBef>
              <a:spcAft>
                <a:spcPts val="0"/>
              </a:spcAft>
              <a:buClr>
                <a:schemeClr val="dk1"/>
              </a:buClr>
              <a:buSzPct val="49019"/>
              <a:buFont typeface="Noto Sans Symbols"/>
              <a:buNone/>
            </a:pPr>
            <a:r>
              <a:t/>
            </a:r>
            <a:endParaRPr sz="2400">
              <a:latin typeface="Times New Roman"/>
              <a:ea typeface="Times New Roman"/>
              <a:cs typeface="Times New Roman"/>
              <a:sym typeface="Times New Roman"/>
            </a:endParaRPr>
          </a:p>
          <a:p>
            <a:pPr indent="-279400" lvl="0" marL="342900" marR="0" rtl="0" algn="l">
              <a:lnSpc>
                <a:spcPct val="107000"/>
              </a:lnSpc>
              <a:spcBef>
                <a:spcPts val="800"/>
              </a:spcBef>
              <a:spcAft>
                <a:spcPts val="0"/>
              </a:spcAft>
              <a:buClr>
                <a:schemeClr val="dk1"/>
              </a:buClr>
              <a:buSzPct val="49019"/>
              <a:buFont typeface="Noto Sans Symbols"/>
              <a:buNone/>
            </a:pPr>
            <a:r>
              <a:t/>
            </a:r>
            <a:endParaRPr sz="2400">
              <a:latin typeface="Times New Roman"/>
              <a:ea typeface="Times New Roman"/>
              <a:cs typeface="Times New Roman"/>
              <a:sym typeface="Times New Roman"/>
            </a:endParaRPr>
          </a:p>
          <a:p>
            <a:pPr indent="-279400" lvl="0" marL="342900" marR="0" rtl="0" algn="l">
              <a:lnSpc>
                <a:spcPct val="107000"/>
              </a:lnSpc>
              <a:spcBef>
                <a:spcPts val="800"/>
              </a:spcBef>
              <a:spcAft>
                <a:spcPts val="0"/>
              </a:spcAft>
              <a:buClr>
                <a:schemeClr val="dk1"/>
              </a:buClr>
              <a:buSzPct val="49019"/>
              <a:buFont typeface="Noto Sans Symbols"/>
              <a:buNone/>
            </a:pPr>
            <a:r>
              <a:t/>
            </a:r>
            <a:endParaRPr sz="2400">
              <a:latin typeface="Times New Roman"/>
              <a:ea typeface="Times New Roman"/>
              <a:cs typeface="Times New Roman"/>
              <a:sym typeface="Times New Roman"/>
            </a:endParaRPr>
          </a:p>
          <a:p>
            <a:pPr indent="-279400" lvl="0" marL="342900" marR="0" rtl="0" algn="l">
              <a:lnSpc>
                <a:spcPct val="107000"/>
              </a:lnSpc>
              <a:spcBef>
                <a:spcPts val="800"/>
              </a:spcBef>
              <a:spcAft>
                <a:spcPts val="0"/>
              </a:spcAft>
              <a:buClr>
                <a:schemeClr val="dk1"/>
              </a:buClr>
              <a:buSzPct val="49019"/>
              <a:buFont typeface="Noto Sans Symbols"/>
              <a:buNone/>
            </a:pPr>
            <a:r>
              <a:t/>
            </a:r>
            <a:endParaRPr sz="2400">
              <a:latin typeface="Times New Roman"/>
              <a:ea typeface="Times New Roman"/>
              <a:cs typeface="Times New Roman"/>
              <a:sym typeface="Times New Roman"/>
            </a:endParaRPr>
          </a:p>
          <a:p>
            <a:pPr indent="-279400" lvl="0" marL="342900" marR="0" rtl="0" algn="l">
              <a:lnSpc>
                <a:spcPct val="107000"/>
              </a:lnSpc>
              <a:spcBef>
                <a:spcPts val="800"/>
              </a:spcBef>
              <a:spcAft>
                <a:spcPts val="0"/>
              </a:spcAft>
              <a:buClr>
                <a:schemeClr val="dk1"/>
              </a:buClr>
              <a:buSzPct val="49019"/>
              <a:buFont typeface="Noto Sans Symbols"/>
              <a:buNone/>
            </a:pPr>
            <a:r>
              <a:t/>
            </a:r>
            <a:endParaRPr sz="2400">
              <a:latin typeface="Times New Roman"/>
              <a:ea typeface="Times New Roman"/>
              <a:cs typeface="Times New Roman"/>
              <a:sym typeface="Times New Roman"/>
            </a:endParaRPr>
          </a:p>
          <a:p>
            <a:pPr indent="-279400" lvl="0" marL="342900" marR="0" rtl="0" algn="l">
              <a:lnSpc>
                <a:spcPct val="107000"/>
              </a:lnSpc>
              <a:spcBef>
                <a:spcPts val="800"/>
              </a:spcBef>
              <a:spcAft>
                <a:spcPts val="0"/>
              </a:spcAft>
              <a:buClr>
                <a:schemeClr val="dk1"/>
              </a:buClr>
              <a:buSzPct val="49019"/>
              <a:buFont typeface="Noto Sans Symbols"/>
              <a:buNone/>
            </a:pPr>
            <a:r>
              <a:t/>
            </a:r>
            <a:endParaRPr sz="2400">
              <a:latin typeface="Times New Roman"/>
              <a:ea typeface="Times New Roman"/>
              <a:cs typeface="Times New Roman"/>
              <a:sym typeface="Times New Roman"/>
            </a:endParaRPr>
          </a:p>
          <a:p>
            <a:pPr indent="0" lvl="0" marL="0" marR="0" rtl="0" algn="l">
              <a:lnSpc>
                <a:spcPct val="107000"/>
              </a:lnSpc>
              <a:spcBef>
                <a:spcPts val="800"/>
              </a:spcBef>
              <a:spcAft>
                <a:spcPts val="0"/>
              </a:spcAft>
              <a:buClr>
                <a:schemeClr val="dk1"/>
              </a:buClr>
              <a:buSzPct val="100000"/>
              <a:buChar char="•"/>
            </a:pPr>
            <a:r>
              <a:rPr lang="en-US" sz="1800">
                <a:latin typeface="Times New Roman"/>
                <a:ea typeface="Times New Roman"/>
                <a:cs typeface="Times New Roman"/>
                <a:sym typeface="Times New Roman"/>
              </a:rPr>
              <a:t>Python Code:</a:t>
            </a:r>
            <a:endParaRPr sz="1800">
              <a:latin typeface="Calibri"/>
              <a:ea typeface="Calibri"/>
              <a:cs typeface="Calibri"/>
              <a:sym typeface="Calibri"/>
            </a:endParaRPr>
          </a:p>
          <a:p>
            <a:pPr indent="0" lvl="0" marL="0" marR="0" rtl="0" algn="l">
              <a:lnSpc>
                <a:spcPct val="107000"/>
              </a:lnSpc>
              <a:spcBef>
                <a:spcPts val="0"/>
              </a:spcBef>
              <a:spcAft>
                <a:spcPts val="0"/>
              </a:spcAft>
              <a:buClr>
                <a:schemeClr val="dk1"/>
              </a:buClr>
              <a:buSzPct val="100000"/>
              <a:buChar char="•"/>
            </a:pPr>
            <a:r>
              <a:rPr lang="en-US" sz="1800">
                <a:latin typeface="Times New Roman"/>
                <a:ea typeface="Times New Roman"/>
                <a:cs typeface="Times New Roman"/>
                <a:sym typeface="Times New Roman"/>
              </a:rPr>
              <a:t>#file: cse315_1.py</a:t>
            </a:r>
            <a:endParaRPr sz="1800">
              <a:latin typeface="Calibri"/>
              <a:ea typeface="Calibri"/>
              <a:cs typeface="Calibri"/>
              <a:sym typeface="Calibri"/>
            </a:endParaRPr>
          </a:p>
          <a:p>
            <a:pPr indent="0" lvl="0" marL="0" marR="0" rtl="0" algn="l">
              <a:lnSpc>
                <a:spcPct val="107000"/>
              </a:lnSpc>
              <a:spcBef>
                <a:spcPts val="0"/>
              </a:spcBef>
              <a:spcAft>
                <a:spcPts val="0"/>
              </a:spcAft>
              <a:buClr>
                <a:schemeClr val="dk1"/>
              </a:buClr>
              <a:buSzPct val="100000"/>
              <a:buChar char="•"/>
            </a:pPr>
            <a:r>
              <a:rPr lang="en-US" sz="1800">
                <a:latin typeface="Times New Roman"/>
                <a:ea typeface="Times New Roman"/>
                <a:cs typeface="Times New Roman"/>
                <a:sym typeface="Times New Roman"/>
              </a:rPr>
              <a:t>#data file impu.csv</a:t>
            </a:r>
            <a:endParaRPr sz="1800">
              <a:latin typeface="Calibri"/>
              <a:ea typeface="Calibri"/>
              <a:cs typeface="Calibri"/>
              <a:sym typeface="Calibri"/>
            </a:endParaRPr>
          </a:p>
          <a:p>
            <a:pPr indent="0" lvl="0" marL="0" marR="0" rtl="0" algn="l">
              <a:lnSpc>
                <a:spcPct val="107000"/>
              </a:lnSpc>
              <a:spcBef>
                <a:spcPts val="0"/>
              </a:spcBef>
              <a:spcAft>
                <a:spcPts val="0"/>
              </a:spcAft>
              <a:buClr>
                <a:schemeClr val="dk1"/>
              </a:buClr>
              <a:buSzPct val="100000"/>
              <a:buChar char="•"/>
            </a:pPr>
            <a:r>
              <a:rPr lang="en-US" sz="1800">
                <a:latin typeface="Times New Roman"/>
                <a:ea typeface="Times New Roman"/>
                <a:cs typeface="Times New Roman"/>
                <a:sym typeface="Times New Roman"/>
              </a:rPr>
              <a:t>import pandas as pd</a:t>
            </a:r>
            <a:endParaRPr sz="1800">
              <a:latin typeface="Calibri"/>
              <a:ea typeface="Calibri"/>
              <a:cs typeface="Calibri"/>
              <a:sym typeface="Calibri"/>
            </a:endParaRPr>
          </a:p>
          <a:p>
            <a:pPr indent="0" lvl="0" marL="0" marR="0" rtl="0" algn="l">
              <a:lnSpc>
                <a:spcPct val="107000"/>
              </a:lnSpc>
              <a:spcBef>
                <a:spcPts val="0"/>
              </a:spcBef>
              <a:spcAft>
                <a:spcPts val="0"/>
              </a:spcAft>
              <a:buClr>
                <a:schemeClr val="dk1"/>
              </a:buClr>
              <a:buSzPct val="100000"/>
              <a:buChar char="•"/>
            </a:pPr>
            <a:r>
              <a:rPr lang="en-US" sz="1800">
                <a:latin typeface="Times New Roman"/>
                <a:ea typeface="Times New Roman"/>
                <a:cs typeface="Times New Roman"/>
                <a:sym typeface="Times New Roman"/>
              </a:rPr>
              <a:t>data1 = pd.read_csv("C:/Users/HP/Desktop/ddd/impu.csv")</a:t>
            </a:r>
            <a:endParaRPr sz="1800">
              <a:latin typeface="Calibri"/>
              <a:ea typeface="Calibri"/>
              <a:cs typeface="Calibri"/>
              <a:sym typeface="Calibri"/>
            </a:endParaRPr>
          </a:p>
          <a:p>
            <a:pPr indent="0" lvl="0" marL="0" marR="0" rtl="0" algn="l">
              <a:lnSpc>
                <a:spcPct val="107000"/>
              </a:lnSpc>
              <a:spcBef>
                <a:spcPts val="0"/>
              </a:spcBef>
              <a:spcAft>
                <a:spcPts val="0"/>
              </a:spcAft>
              <a:buClr>
                <a:schemeClr val="dk1"/>
              </a:buClr>
              <a:buSzPct val="100000"/>
              <a:buChar char="•"/>
            </a:pPr>
            <a:r>
              <a:rPr lang="en-US" sz="1800">
                <a:latin typeface="Times New Roman"/>
                <a:ea typeface="Times New Roman"/>
                <a:cs typeface="Times New Roman"/>
                <a:sym typeface="Times New Roman"/>
              </a:rPr>
              <a:t>impudat=data1.fillna(0)</a:t>
            </a:r>
            <a:endParaRPr sz="1800">
              <a:latin typeface="Calibri"/>
              <a:ea typeface="Calibri"/>
              <a:cs typeface="Calibri"/>
              <a:sym typeface="Calibri"/>
            </a:endParaRPr>
          </a:p>
          <a:p>
            <a:pPr indent="0" lvl="0" marL="0" marR="0" rtl="0" algn="l">
              <a:lnSpc>
                <a:spcPct val="107000"/>
              </a:lnSpc>
              <a:spcBef>
                <a:spcPts val="0"/>
              </a:spcBef>
              <a:spcAft>
                <a:spcPts val="0"/>
              </a:spcAft>
              <a:buClr>
                <a:schemeClr val="dk1"/>
              </a:buClr>
              <a:buSzPct val="100000"/>
              <a:buChar char="•"/>
            </a:pPr>
            <a:r>
              <a:rPr lang="en-US" sz="1800">
                <a:latin typeface="Times New Roman"/>
                <a:ea typeface="Times New Roman"/>
                <a:cs typeface="Times New Roman"/>
                <a:sym typeface="Times New Roman"/>
              </a:rPr>
              <a:t>print("         Before imputation",data1,sep='\n')</a:t>
            </a:r>
            <a:endParaRPr sz="1800">
              <a:latin typeface="Calibri"/>
              <a:ea typeface="Calibri"/>
              <a:cs typeface="Calibri"/>
              <a:sym typeface="Calibri"/>
            </a:endParaRPr>
          </a:p>
          <a:p>
            <a:pPr indent="0" lvl="0" marL="0" marR="0" rtl="0" algn="l">
              <a:lnSpc>
                <a:spcPct val="107000"/>
              </a:lnSpc>
              <a:spcBef>
                <a:spcPts val="0"/>
              </a:spcBef>
              <a:spcAft>
                <a:spcPts val="0"/>
              </a:spcAft>
              <a:buClr>
                <a:schemeClr val="dk1"/>
              </a:buClr>
              <a:buSzPct val="100000"/>
              <a:buChar char="•"/>
            </a:pPr>
            <a:r>
              <a:rPr lang="en-US" sz="1800">
                <a:latin typeface="Times New Roman"/>
                <a:ea typeface="Times New Roman"/>
                <a:cs typeface="Times New Roman"/>
                <a:sym typeface="Times New Roman"/>
              </a:rPr>
              <a:t>print("         After imputation",impudat,sep='\n')</a:t>
            </a:r>
            <a:endParaRPr sz="2400"/>
          </a:p>
        </p:txBody>
      </p:sp>
      <p:pic>
        <p:nvPicPr>
          <p:cNvPr id="102" name="Google Shape;102;p3"/>
          <p:cNvPicPr preferRelativeResize="0"/>
          <p:nvPr/>
        </p:nvPicPr>
        <p:blipFill rotWithShape="1">
          <a:blip r:embed="rId3">
            <a:alphaModFix/>
          </a:blip>
          <a:srcRect b="0" l="0" r="0" t="0"/>
          <a:stretch/>
        </p:blipFill>
        <p:spPr>
          <a:xfrm>
            <a:off x="2429267" y="2104400"/>
            <a:ext cx="8699943" cy="278844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4"/>
          <p:cNvSpPr txBox="1"/>
          <p:nvPr>
            <p:ph type="title"/>
          </p:nvPr>
        </p:nvSpPr>
        <p:spPr>
          <a:xfrm>
            <a:off x="1981200" y="274638"/>
            <a:ext cx="8229600" cy="736015"/>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11111"/>
              <a:buFont typeface="Calibri"/>
              <a:buNone/>
            </a:pPr>
            <a:r>
              <a:rPr lang="en-US"/>
              <a:t>Deletion</a:t>
            </a:r>
            <a:endParaRPr/>
          </a:p>
        </p:txBody>
      </p:sp>
      <p:sp>
        <p:nvSpPr>
          <p:cNvPr id="108" name="Google Shape;108;p4"/>
          <p:cNvSpPr txBox="1"/>
          <p:nvPr>
            <p:ph idx="1" type="body"/>
          </p:nvPr>
        </p:nvSpPr>
        <p:spPr>
          <a:xfrm>
            <a:off x="1981200" y="1010653"/>
            <a:ext cx="8229600" cy="5572709"/>
          </a:xfrm>
          <a:prstGeom prst="rect">
            <a:avLst/>
          </a:prstGeom>
          <a:noFill/>
          <a:ln>
            <a:noFill/>
          </a:ln>
        </p:spPr>
        <p:txBody>
          <a:bodyPr anchorCtr="0" anchor="t" bIns="45700" lIns="91425" spcFirstLastPara="1" rIns="91425" wrap="square" tIns="45700">
            <a:noAutofit/>
          </a:bodyPr>
          <a:lstStyle/>
          <a:p>
            <a:pPr indent="-342900" lvl="0" marL="342900" marR="0" rtl="0" algn="l">
              <a:lnSpc>
                <a:spcPct val="107000"/>
              </a:lnSpc>
              <a:spcBef>
                <a:spcPts val="0"/>
              </a:spcBef>
              <a:spcAft>
                <a:spcPts val="0"/>
              </a:spcAft>
              <a:buClr>
                <a:schemeClr val="dk1"/>
              </a:buClr>
              <a:buSzPts val="1000"/>
              <a:buFont typeface="Noto Sans Symbols"/>
              <a:buChar char="∙"/>
            </a:pPr>
            <a:r>
              <a:rPr b="1" lang="en-US" sz="1800">
                <a:latin typeface="Times New Roman"/>
                <a:ea typeface="Times New Roman"/>
                <a:cs typeface="Times New Roman"/>
                <a:sym typeface="Times New Roman"/>
              </a:rPr>
              <a:t>Deletion:</a:t>
            </a:r>
            <a:r>
              <a:rPr lang="en-US" sz="1800">
                <a:latin typeface="Times New Roman"/>
                <a:ea typeface="Times New Roman"/>
                <a:cs typeface="Times New Roman"/>
                <a:sym typeface="Times New Roman"/>
              </a:rPr>
              <a:t> We can remove the rows or columns with missing values.</a:t>
            </a:r>
            <a:endParaRPr/>
          </a:p>
          <a:p>
            <a:pPr indent="-279400" lvl="0" marL="342900" marR="0" rtl="0" algn="l">
              <a:lnSpc>
                <a:spcPct val="107000"/>
              </a:lnSpc>
              <a:spcBef>
                <a:spcPts val="800"/>
              </a:spcBef>
              <a:spcAft>
                <a:spcPts val="0"/>
              </a:spcAft>
              <a:buClr>
                <a:schemeClr val="dk1"/>
              </a:buClr>
              <a:buSzPts val="1000"/>
              <a:buFont typeface="Noto Sans Symbols"/>
              <a:buNone/>
            </a:pPr>
            <a:r>
              <a:t/>
            </a:r>
            <a:endParaRPr sz="1800">
              <a:latin typeface="Calibri"/>
              <a:ea typeface="Calibri"/>
              <a:cs typeface="Calibri"/>
              <a:sym typeface="Calibri"/>
            </a:endParaRPr>
          </a:p>
          <a:p>
            <a:pPr indent="-279400" lvl="0" marL="342900" marR="0" rtl="0" algn="l">
              <a:lnSpc>
                <a:spcPct val="107000"/>
              </a:lnSpc>
              <a:spcBef>
                <a:spcPts val="800"/>
              </a:spcBef>
              <a:spcAft>
                <a:spcPts val="0"/>
              </a:spcAft>
              <a:buClr>
                <a:schemeClr val="dk1"/>
              </a:buClr>
              <a:buSzPts val="1000"/>
              <a:buFont typeface="Noto Sans Symbols"/>
              <a:buNone/>
            </a:pPr>
            <a:r>
              <a:t/>
            </a:r>
            <a:endParaRPr sz="1800">
              <a:latin typeface="Calibri"/>
              <a:ea typeface="Calibri"/>
              <a:cs typeface="Calibri"/>
              <a:sym typeface="Calibri"/>
            </a:endParaRPr>
          </a:p>
          <a:p>
            <a:pPr indent="-279400" lvl="0" marL="342900" marR="0" rtl="0" algn="l">
              <a:lnSpc>
                <a:spcPct val="107000"/>
              </a:lnSpc>
              <a:spcBef>
                <a:spcPts val="800"/>
              </a:spcBef>
              <a:spcAft>
                <a:spcPts val="0"/>
              </a:spcAft>
              <a:buClr>
                <a:schemeClr val="dk1"/>
              </a:buClr>
              <a:buSzPts val="1000"/>
              <a:buFont typeface="Noto Sans Symbols"/>
              <a:buNone/>
            </a:pPr>
            <a:r>
              <a:t/>
            </a:r>
            <a:endParaRPr sz="1800">
              <a:latin typeface="Calibri"/>
              <a:ea typeface="Calibri"/>
              <a:cs typeface="Calibri"/>
              <a:sym typeface="Calibri"/>
            </a:endParaRPr>
          </a:p>
          <a:p>
            <a:pPr indent="-279400" lvl="0" marL="342900" marR="0" rtl="0" algn="l">
              <a:lnSpc>
                <a:spcPct val="107000"/>
              </a:lnSpc>
              <a:spcBef>
                <a:spcPts val="800"/>
              </a:spcBef>
              <a:spcAft>
                <a:spcPts val="0"/>
              </a:spcAft>
              <a:buClr>
                <a:schemeClr val="dk1"/>
              </a:buClr>
              <a:buSzPts val="1000"/>
              <a:buFont typeface="Noto Sans Symbols"/>
              <a:buNone/>
            </a:pPr>
            <a:r>
              <a:t/>
            </a:r>
            <a:endParaRPr sz="1800">
              <a:latin typeface="Calibri"/>
              <a:ea typeface="Calibri"/>
              <a:cs typeface="Calibri"/>
              <a:sym typeface="Calibri"/>
            </a:endParaRPr>
          </a:p>
          <a:p>
            <a:pPr indent="-279400" lvl="0" marL="342900" marR="0" rtl="0" algn="l">
              <a:lnSpc>
                <a:spcPct val="107000"/>
              </a:lnSpc>
              <a:spcBef>
                <a:spcPts val="800"/>
              </a:spcBef>
              <a:spcAft>
                <a:spcPts val="0"/>
              </a:spcAft>
              <a:buClr>
                <a:schemeClr val="dk1"/>
              </a:buClr>
              <a:buSzPts val="1000"/>
              <a:buFont typeface="Noto Sans Symbols"/>
              <a:buNone/>
            </a:pPr>
            <a:r>
              <a:t/>
            </a:r>
            <a:endParaRPr sz="1800">
              <a:latin typeface="Calibri"/>
              <a:ea typeface="Calibri"/>
              <a:cs typeface="Calibri"/>
              <a:sym typeface="Calibri"/>
            </a:endParaRPr>
          </a:p>
          <a:p>
            <a:pPr indent="-279400" lvl="0" marL="342900" marR="0" rtl="0" algn="l">
              <a:lnSpc>
                <a:spcPct val="107000"/>
              </a:lnSpc>
              <a:spcBef>
                <a:spcPts val="800"/>
              </a:spcBef>
              <a:spcAft>
                <a:spcPts val="0"/>
              </a:spcAft>
              <a:buClr>
                <a:schemeClr val="dk1"/>
              </a:buClr>
              <a:buSzPts val="1000"/>
              <a:buFont typeface="Noto Sans Symbols"/>
              <a:buNone/>
            </a:pPr>
            <a:r>
              <a:t/>
            </a:r>
            <a:endParaRPr sz="1800">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800"/>
              <a:buChar char="•"/>
            </a:pPr>
            <a:r>
              <a:rPr lang="en-US" sz="1800">
                <a:latin typeface="Times New Roman"/>
                <a:ea typeface="Times New Roman"/>
                <a:cs typeface="Times New Roman"/>
                <a:sym typeface="Times New Roman"/>
              </a:rPr>
              <a:t>#file: cse315_del.py</a:t>
            </a:r>
            <a:endParaRPr sz="1800">
              <a:latin typeface="Calibri"/>
              <a:ea typeface="Calibri"/>
              <a:cs typeface="Calibri"/>
              <a:sym typeface="Calibri"/>
            </a:endParaRPr>
          </a:p>
          <a:p>
            <a:pPr indent="0" lvl="0" marL="0" marR="0" rtl="0" algn="l">
              <a:lnSpc>
                <a:spcPct val="107000"/>
              </a:lnSpc>
              <a:spcBef>
                <a:spcPts val="0"/>
              </a:spcBef>
              <a:spcAft>
                <a:spcPts val="0"/>
              </a:spcAft>
              <a:buClr>
                <a:schemeClr val="dk1"/>
              </a:buClr>
              <a:buSzPts val="1800"/>
              <a:buChar char="•"/>
            </a:pPr>
            <a:r>
              <a:rPr lang="en-US" sz="1800">
                <a:latin typeface="Times New Roman"/>
                <a:ea typeface="Times New Roman"/>
                <a:cs typeface="Times New Roman"/>
                <a:sym typeface="Times New Roman"/>
              </a:rPr>
              <a:t>#data file deletion.csv</a:t>
            </a:r>
            <a:endParaRPr sz="1800">
              <a:latin typeface="Calibri"/>
              <a:ea typeface="Calibri"/>
              <a:cs typeface="Calibri"/>
              <a:sym typeface="Calibri"/>
            </a:endParaRPr>
          </a:p>
          <a:p>
            <a:pPr indent="0" lvl="0" marL="0" marR="0" rtl="0" algn="l">
              <a:lnSpc>
                <a:spcPct val="107000"/>
              </a:lnSpc>
              <a:spcBef>
                <a:spcPts val="0"/>
              </a:spcBef>
              <a:spcAft>
                <a:spcPts val="0"/>
              </a:spcAft>
              <a:buClr>
                <a:schemeClr val="dk1"/>
              </a:buClr>
              <a:buSzPts val="1800"/>
              <a:buChar char="•"/>
            </a:pPr>
            <a:r>
              <a:rPr lang="en-US" sz="1800">
                <a:latin typeface="Times New Roman"/>
                <a:ea typeface="Times New Roman"/>
                <a:cs typeface="Times New Roman"/>
                <a:sym typeface="Times New Roman"/>
              </a:rPr>
              <a:t>import pandas as pd</a:t>
            </a:r>
            <a:endParaRPr sz="1800">
              <a:latin typeface="Calibri"/>
              <a:ea typeface="Calibri"/>
              <a:cs typeface="Calibri"/>
              <a:sym typeface="Calibri"/>
            </a:endParaRPr>
          </a:p>
          <a:p>
            <a:pPr indent="0" lvl="0" marL="0" marR="0" rtl="0" algn="l">
              <a:lnSpc>
                <a:spcPct val="107000"/>
              </a:lnSpc>
              <a:spcBef>
                <a:spcPts val="0"/>
              </a:spcBef>
              <a:spcAft>
                <a:spcPts val="0"/>
              </a:spcAft>
              <a:buClr>
                <a:schemeClr val="dk1"/>
              </a:buClr>
              <a:buSzPts val="1800"/>
              <a:buChar char="•"/>
            </a:pPr>
            <a:r>
              <a:rPr lang="en-US" sz="1800">
                <a:latin typeface="Times New Roman"/>
                <a:ea typeface="Times New Roman"/>
                <a:cs typeface="Times New Roman"/>
                <a:sym typeface="Times New Roman"/>
              </a:rPr>
              <a:t>dele = pd.read_csv("C:/Users/HP/Desktop/ddd/deletion.csv")</a:t>
            </a:r>
            <a:endParaRPr sz="1800">
              <a:latin typeface="Calibri"/>
              <a:ea typeface="Calibri"/>
              <a:cs typeface="Calibri"/>
              <a:sym typeface="Calibri"/>
            </a:endParaRPr>
          </a:p>
          <a:p>
            <a:pPr indent="0" lvl="0" marL="0" marR="0" rtl="0" algn="l">
              <a:lnSpc>
                <a:spcPct val="107000"/>
              </a:lnSpc>
              <a:spcBef>
                <a:spcPts val="0"/>
              </a:spcBef>
              <a:spcAft>
                <a:spcPts val="0"/>
              </a:spcAft>
              <a:buClr>
                <a:schemeClr val="dk1"/>
              </a:buClr>
              <a:buSzPts val="1800"/>
              <a:buChar char="•"/>
            </a:pPr>
            <a:r>
              <a:rPr lang="en-US" sz="1800">
                <a:latin typeface="Times New Roman"/>
                <a:ea typeface="Times New Roman"/>
                <a:cs typeface="Times New Roman"/>
                <a:sym typeface="Times New Roman"/>
              </a:rPr>
              <a:t>#deldat=dele.dropna(inplace=False)</a:t>
            </a:r>
            <a:endParaRPr sz="1800">
              <a:latin typeface="Calibri"/>
              <a:ea typeface="Calibri"/>
              <a:cs typeface="Calibri"/>
              <a:sym typeface="Calibri"/>
            </a:endParaRPr>
          </a:p>
          <a:p>
            <a:pPr indent="0" lvl="0" marL="0" marR="0" rtl="0" algn="l">
              <a:lnSpc>
                <a:spcPct val="107000"/>
              </a:lnSpc>
              <a:spcBef>
                <a:spcPts val="0"/>
              </a:spcBef>
              <a:spcAft>
                <a:spcPts val="0"/>
              </a:spcAft>
              <a:buClr>
                <a:schemeClr val="dk1"/>
              </a:buClr>
              <a:buSzPts val="1800"/>
              <a:buChar char="•"/>
            </a:pPr>
            <a:r>
              <a:rPr lang="en-US" sz="1800">
                <a:latin typeface="Times New Roman"/>
                <a:ea typeface="Times New Roman"/>
                <a:cs typeface="Times New Roman"/>
                <a:sym typeface="Times New Roman"/>
              </a:rPr>
              <a:t>deldat=dele.dropna(inplace=False)</a:t>
            </a:r>
            <a:endParaRPr sz="1800">
              <a:latin typeface="Calibri"/>
              <a:ea typeface="Calibri"/>
              <a:cs typeface="Calibri"/>
              <a:sym typeface="Calibri"/>
            </a:endParaRPr>
          </a:p>
          <a:p>
            <a:pPr indent="0" lvl="0" marL="0" marR="0" rtl="0" algn="l">
              <a:lnSpc>
                <a:spcPct val="107000"/>
              </a:lnSpc>
              <a:spcBef>
                <a:spcPts val="0"/>
              </a:spcBef>
              <a:spcAft>
                <a:spcPts val="0"/>
              </a:spcAft>
              <a:buClr>
                <a:schemeClr val="dk1"/>
              </a:buClr>
              <a:buSzPts val="1800"/>
              <a:buChar char="•"/>
            </a:pPr>
            <a:r>
              <a:rPr lang="en-US" sz="1800">
                <a:latin typeface="Times New Roman"/>
                <a:ea typeface="Times New Roman"/>
                <a:cs typeface="Times New Roman"/>
                <a:sym typeface="Times New Roman"/>
              </a:rPr>
              <a:t>print("         Before deletion",dele,sep='\n')</a:t>
            </a:r>
            <a:endParaRPr sz="1800">
              <a:latin typeface="Calibri"/>
              <a:ea typeface="Calibri"/>
              <a:cs typeface="Calibri"/>
              <a:sym typeface="Calibri"/>
            </a:endParaRPr>
          </a:p>
          <a:p>
            <a:pPr indent="0" lvl="0" marL="0" marR="0" rtl="0" algn="l">
              <a:lnSpc>
                <a:spcPct val="107000"/>
              </a:lnSpc>
              <a:spcBef>
                <a:spcPts val="0"/>
              </a:spcBef>
              <a:spcAft>
                <a:spcPts val="0"/>
              </a:spcAft>
              <a:buClr>
                <a:schemeClr val="dk1"/>
              </a:buClr>
              <a:buSzPts val="1800"/>
              <a:buChar char="•"/>
            </a:pPr>
            <a:r>
              <a:rPr lang="en-US" sz="1800">
                <a:latin typeface="Times New Roman"/>
                <a:ea typeface="Times New Roman"/>
                <a:cs typeface="Times New Roman"/>
                <a:sym typeface="Times New Roman"/>
              </a:rPr>
              <a:t>print("         After deletion",deldat,sep='\n')</a:t>
            </a:r>
            <a:endParaRPr sz="1800">
              <a:latin typeface="Calibri"/>
              <a:ea typeface="Calibri"/>
              <a:cs typeface="Calibri"/>
              <a:sym typeface="Calibri"/>
            </a:endParaRPr>
          </a:p>
          <a:p>
            <a:pPr indent="-279400" lvl="0" marL="342900" marR="0" rtl="0" algn="l">
              <a:lnSpc>
                <a:spcPct val="107000"/>
              </a:lnSpc>
              <a:spcBef>
                <a:spcPts val="0"/>
              </a:spcBef>
              <a:spcAft>
                <a:spcPts val="800"/>
              </a:spcAft>
              <a:buClr>
                <a:schemeClr val="dk1"/>
              </a:buClr>
              <a:buSzPts val="1000"/>
              <a:buFont typeface="Noto Sans Symbols"/>
              <a:buNone/>
            </a:pPr>
            <a:r>
              <a:t/>
            </a:r>
            <a:endParaRPr sz="1800">
              <a:latin typeface="Calibri"/>
              <a:ea typeface="Calibri"/>
              <a:cs typeface="Calibri"/>
              <a:sym typeface="Calibri"/>
            </a:endParaRPr>
          </a:p>
        </p:txBody>
      </p:sp>
      <p:graphicFrame>
        <p:nvGraphicFramePr>
          <p:cNvPr id="109" name="Google Shape;109;p4"/>
          <p:cNvGraphicFramePr/>
          <p:nvPr/>
        </p:nvGraphicFramePr>
        <p:xfrm>
          <a:off x="3561348" y="1551487"/>
          <a:ext cx="3000000" cy="3000000"/>
        </p:xfrm>
        <a:graphic>
          <a:graphicData uri="http://schemas.openxmlformats.org/drawingml/2006/table">
            <a:tbl>
              <a:tblPr bandRow="1" firstCol="1" firstRow="1">
                <a:noFill/>
                <a:tableStyleId>{D800DA60-C0CE-4EA3-9BE5-66FB3202CD5A}</a:tableStyleId>
              </a:tblPr>
              <a:tblGrid>
                <a:gridCol w="647550"/>
                <a:gridCol w="888500"/>
                <a:gridCol w="978875"/>
                <a:gridCol w="1521000"/>
              </a:tblGrid>
              <a:tr h="297175">
                <a:tc>
                  <a:txBody>
                    <a:bodyPr/>
                    <a:lstStyle/>
                    <a:p>
                      <a:pPr indent="0" lvl="0" marL="0" marR="0" rtl="0" algn="ctr">
                        <a:lnSpc>
                          <a:spcPct val="107000"/>
                        </a:lnSpc>
                        <a:spcBef>
                          <a:spcPts val="0"/>
                        </a:spcBef>
                        <a:spcAft>
                          <a:spcPts val="0"/>
                        </a:spcAft>
                        <a:buNone/>
                      </a:pPr>
                      <a:r>
                        <a:rPr lang="en-US" sz="1800" u="none" cap="none" strike="noStrike"/>
                        <a:t>User </a:t>
                      </a:r>
                      <a:endParaRPr sz="1100" u="none" cap="none" strike="noStrike">
                        <a:latin typeface="Calibri"/>
                        <a:ea typeface="Calibri"/>
                        <a:cs typeface="Calibri"/>
                        <a:sym typeface="Calibri"/>
                      </a:endParaRPr>
                    </a:p>
                  </a:txBody>
                  <a:tcPr marT="0" marB="0" marR="68575" marL="68575" anchor="b"/>
                </a:tc>
                <a:tc>
                  <a:txBody>
                    <a:bodyPr/>
                    <a:lstStyle/>
                    <a:p>
                      <a:pPr indent="0" lvl="0" marL="0" marR="0" rtl="0" algn="ctr">
                        <a:lnSpc>
                          <a:spcPct val="107000"/>
                        </a:lnSpc>
                        <a:spcBef>
                          <a:spcPts val="0"/>
                        </a:spcBef>
                        <a:spcAft>
                          <a:spcPts val="0"/>
                        </a:spcAft>
                        <a:buNone/>
                      </a:pPr>
                      <a:r>
                        <a:rPr lang="en-US" sz="1800" u="none" cap="none" strike="noStrike"/>
                        <a:t>Device</a:t>
                      </a:r>
                      <a:endParaRPr sz="1100" u="none" cap="none" strike="noStrike">
                        <a:latin typeface="Calibri"/>
                        <a:ea typeface="Calibri"/>
                        <a:cs typeface="Calibri"/>
                        <a:sym typeface="Calibri"/>
                      </a:endParaRPr>
                    </a:p>
                  </a:txBody>
                  <a:tcPr marT="0" marB="0" marR="68575" marL="68575" anchor="b"/>
                </a:tc>
                <a:tc>
                  <a:txBody>
                    <a:bodyPr/>
                    <a:lstStyle/>
                    <a:p>
                      <a:pPr indent="0" lvl="0" marL="0" marR="0" rtl="0" algn="ctr">
                        <a:lnSpc>
                          <a:spcPct val="107000"/>
                        </a:lnSpc>
                        <a:spcBef>
                          <a:spcPts val="0"/>
                        </a:spcBef>
                        <a:spcAft>
                          <a:spcPts val="0"/>
                        </a:spcAft>
                        <a:buNone/>
                      </a:pPr>
                      <a:r>
                        <a:rPr lang="en-US" sz="1800" u="none" cap="none" strike="noStrike"/>
                        <a:t>OS</a:t>
                      </a:r>
                      <a:endParaRPr sz="1100" u="none" cap="none" strike="noStrike">
                        <a:latin typeface="Calibri"/>
                        <a:ea typeface="Calibri"/>
                        <a:cs typeface="Calibri"/>
                        <a:sym typeface="Calibri"/>
                      </a:endParaRPr>
                    </a:p>
                  </a:txBody>
                  <a:tcPr marT="0" marB="0" marR="68575" marL="68575" anchor="b"/>
                </a:tc>
                <a:tc>
                  <a:txBody>
                    <a:bodyPr/>
                    <a:lstStyle/>
                    <a:p>
                      <a:pPr indent="0" lvl="0" marL="0" marR="0" rtl="0" algn="ctr">
                        <a:lnSpc>
                          <a:spcPct val="107000"/>
                        </a:lnSpc>
                        <a:spcBef>
                          <a:spcPts val="0"/>
                        </a:spcBef>
                        <a:spcAft>
                          <a:spcPts val="0"/>
                        </a:spcAft>
                        <a:buNone/>
                      </a:pPr>
                      <a:r>
                        <a:rPr lang="en-US" sz="1800" u="none" cap="none" strike="noStrike"/>
                        <a:t>Transactions</a:t>
                      </a:r>
                      <a:endParaRPr sz="1100" u="none" cap="none" strike="noStrike">
                        <a:latin typeface="Calibri"/>
                        <a:ea typeface="Calibri"/>
                        <a:cs typeface="Calibri"/>
                        <a:sym typeface="Calibri"/>
                      </a:endParaRPr>
                    </a:p>
                  </a:txBody>
                  <a:tcPr marT="0" marB="0" marR="68575" marL="68575" anchor="b"/>
                </a:tc>
              </a:tr>
              <a:tr h="297175">
                <a:tc>
                  <a:txBody>
                    <a:bodyPr/>
                    <a:lstStyle/>
                    <a:p>
                      <a:pPr indent="0" lvl="0" marL="0" marR="0" rtl="0" algn="ctr">
                        <a:lnSpc>
                          <a:spcPct val="107000"/>
                        </a:lnSpc>
                        <a:spcBef>
                          <a:spcPts val="0"/>
                        </a:spcBef>
                        <a:spcAft>
                          <a:spcPts val="0"/>
                        </a:spcAft>
                        <a:buNone/>
                      </a:pPr>
                      <a:r>
                        <a:rPr lang="en-US" sz="1800" u="none" cap="none" strike="noStrike"/>
                        <a:t>A</a:t>
                      </a:r>
                      <a:endParaRPr sz="1100" u="none" cap="none" strike="noStrike">
                        <a:latin typeface="Calibri"/>
                        <a:ea typeface="Calibri"/>
                        <a:cs typeface="Calibri"/>
                        <a:sym typeface="Calibri"/>
                      </a:endParaRPr>
                    </a:p>
                  </a:txBody>
                  <a:tcPr marT="0" marB="0" marR="68575" marL="68575" anchor="b"/>
                </a:tc>
                <a:tc>
                  <a:txBody>
                    <a:bodyPr/>
                    <a:lstStyle/>
                    <a:p>
                      <a:pPr indent="0" lvl="0" marL="0" marR="0" rtl="0" algn="ctr">
                        <a:lnSpc>
                          <a:spcPct val="107000"/>
                        </a:lnSpc>
                        <a:spcBef>
                          <a:spcPts val="0"/>
                        </a:spcBef>
                        <a:spcAft>
                          <a:spcPts val="0"/>
                        </a:spcAft>
                        <a:buNone/>
                      </a:pPr>
                      <a:r>
                        <a:rPr lang="en-US" sz="1800" u="none" cap="none" strike="noStrike"/>
                        <a:t>Mobile</a:t>
                      </a:r>
                      <a:endParaRPr sz="1100" u="none" cap="none" strike="noStrike">
                        <a:latin typeface="Calibri"/>
                        <a:ea typeface="Calibri"/>
                        <a:cs typeface="Calibri"/>
                        <a:sym typeface="Calibri"/>
                      </a:endParaRPr>
                    </a:p>
                  </a:txBody>
                  <a:tcPr marT="0" marB="0" marR="68575" marL="68575" anchor="b"/>
                </a:tc>
                <a:tc>
                  <a:txBody>
                    <a:bodyPr/>
                    <a:lstStyle/>
                    <a:p>
                      <a:pPr indent="0" lvl="0" marL="0" marR="0" rtl="0" algn="ctr">
                        <a:lnSpc>
                          <a:spcPct val="107000"/>
                        </a:lnSpc>
                        <a:spcBef>
                          <a:spcPts val="0"/>
                        </a:spcBef>
                        <a:spcAft>
                          <a:spcPts val="0"/>
                        </a:spcAft>
                        <a:buNone/>
                      </a:pPr>
                      <a:r>
                        <a:rPr lang="en-US" sz="1800" u="none" cap="none" strike="noStrike"/>
                        <a:t>NA</a:t>
                      </a:r>
                      <a:endParaRPr sz="1100" u="none" cap="none" strike="noStrike">
                        <a:latin typeface="Calibri"/>
                        <a:ea typeface="Calibri"/>
                        <a:cs typeface="Calibri"/>
                        <a:sym typeface="Calibri"/>
                      </a:endParaRPr>
                    </a:p>
                  </a:txBody>
                  <a:tcPr marT="0" marB="0" marR="68575" marL="68575" anchor="b"/>
                </a:tc>
                <a:tc>
                  <a:txBody>
                    <a:bodyPr/>
                    <a:lstStyle/>
                    <a:p>
                      <a:pPr indent="0" lvl="0" marL="0" marR="0" rtl="0" algn="ctr">
                        <a:lnSpc>
                          <a:spcPct val="107000"/>
                        </a:lnSpc>
                        <a:spcBef>
                          <a:spcPts val="0"/>
                        </a:spcBef>
                        <a:spcAft>
                          <a:spcPts val="0"/>
                        </a:spcAft>
                        <a:buNone/>
                      </a:pPr>
                      <a:r>
                        <a:rPr lang="en-US" sz="1800" u="none" cap="none" strike="noStrike"/>
                        <a:t>5</a:t>
                      </a:r>
                      <a:endParaRPr sz="1100" u="none" cap="none" strike="noStrike">
                        <a:latin typeface="Calibri"/>
                        <a:ea typeface="Calibri"/>
                        <a:cs typeface="Calibri"/>
                        <a:sym typeface="Calibri"/>
                      </a:endParaRPr>
                    </a:p>
                  </a:txBody>
                  <a:tcPr marT="0" marB="0" marR="68575" marL="68575" anchor="b"/>
                </a:tc>
              </a:tr>
              <a:tr h="297175">
                <a:tc>
                  <a:txBody>
                    <a:bodyPr/>
                    <a:lstStyle/>
                    <a:p>
                      <a:pPr indent="0" lvl="0" marL="0" marR="0" rtl="0" algn="ctr">
                        <a:lnSpc>
                          <a:spcPct val="107000"/>
                        </a:lnSpc>
                        <a:spcBef>
                          <a:spcPts val="0"/>
                        </a:spcBef>
                        <a:spcAft>
                          <a:spcPts val="0"/>
                        </a:spcAft>
                        <a:buNone/>
                      </a:pPr>
                      <a:r>
                        <a:rPr lang="en-US" sz="1800" u="none" cap="none" strike="noStrike"/>
                        <a:t>B</a:t>
                      </a:r>
                      <a:endParaRPr sz="1100" u="none" cap="none" strike="noStrike">
                        <a:latin typeface="Calibri"/>
                        <a:ea typeface="Calibri"/>
                        <a:cs typeface="Calibri"/>
                        <a:sym typeface="Calibri"/>
                      </a:endParaRPr>
                    </a:p>
                  </a:txBody>
                  <a:tcPr marT="0" marB="0" marR="68575" marL="68575" anchor="b"/>
                </a:tc>
                <a:tc>
                  <a:txBody>
                    <a:bodyPr/>
                    <a:lstStyle/>
                    <a:p>
                      <a:pPr indent="0" lvl="0" marL="0" marR="0" rtl="0" algn="ctr">
                        <a:lnSpc>
                          <a:spcPct val="107000"/>
                        </a:lnSpc>
                        <a:spcBef>
                          <a:spcPts val="0"/>
                        </a:spcBef>
                        <a:spcAft>
                          <a:spcPts val="0"/>
                        </a:spcAft>
                        <a:buNone/>
                      </a:pPr>
                      <a:r>
                        <a:rPr lang="en-US" sz="1800" u="none" cap="none" strike="noStrike"/>
                        <a:t>Mobile</a:t>
                      </a:r>
                      <a:endParaRPr sz="1100" u="none" cap="none" strike="noStrike">
                        <a:latin typeface="Calibri"/>
                        <a:ea typeface="Calibri"/>
                        <a:cs typeface="Calibri"/>
                        <a:sym typeface="Calibri"/>
                      </a:endParaRPr>
                    </a:p>
                  </a:txBody>
                  <a:tcPr marT="0" marB="0" marR="68575" marL="68575" anchor="b"/>
                </a:tc>
                <a:tc>
                  <a:txBody>
                    <a:bodyPr/>
                    <a:lstStyle/>
                    <a:p>
                      <a:pPr indent="0" lvl="0" marL="0" marR="0" rtl="0" algn="ctr">
                        <a:lnSpc>
                          <a:spcPct val="107000"/>
                        </a:lnSpc>
                        <a:spcBef>
                          <a:spcPts val="0"/>
                        </a:spcBef>
                        <a:spcAft>
                          <a:spcPts val="0"/>
                        </a:spcAft>
                        <a:buNone/>
                      </a:pPr>
                      <a:r>
                        <a:rPr lang="en-US" sz="1800" u="none" cap="none" strike="noStrike"/>
                        <a:t>Android</a:t>
                      </a:r>
                      <a:endParaRPr sz="1100" u="none" cap="none" strike="noStrike">
                        <a:latin typeface="Calibri"/>
                        <a:ea typeface="Calibri"/>
                        <a:cs typeface="Calibri"/>
                        <a:sym typeface="Calibri"/>
                      </a:endParaRPr>
                    </a:p>
                  </a:txBody>
                  <a:tcPr marT="0" marB="0" marR="68575" marL="68575" anchor="b"/>
                </a:tc>
                <a:tc>
                  <a:txBody>
                    <a:bodyPr/>
                    <a:lstStyle/>
                    <a:p>
                      <a:pPr indent="0" lvl="0" marL="0" marR="0" rtl="0" algn="ctr">
                        <a:lnSpc>
                          <a:spcPct val="107000"/>
                        </a:lnSpc>
                        <a:spcBef>
                          <a:spcPts val="0"/>
                        </a:spcBef>
                        <a:spcAft>
                          <a:spcPts val="0"/>
                        </a:spcAft>
                        <a:buNone/>
                      </a:pPr>
                      <a:r>
                        <a:rPr lang="en-US" sz="1800" u="none" cap="none" strike="noStrike"/>
                        <a:t>3</a:t>
                      </a:r>
                      <a:endParaRPr sz="1100" u="none" cap="none" strike="noStrike">
                        <a:latin typeface="Calibri"/>
                        <a:ea typeface="Calibri"/>
                        <a:cs typeface="Calibri"/>
                        <a:sym typeface="Calibri"/>
                      </a:endParaRPr>
                    </a:p>
                  </a:txBody>
                  <a:tcPr marT="0" marB="0" marR="68575" marL="68575" anchor="b"/>
                </a:tc>
              </a:tr>
              <a:tr h="297175">
                <a:tc>
                  <a:txBody>
                    <a:bodyPr/>
                    <a:lstStyle/>
                    <a:p>
                      <a:pPr indent="0" lvl="0" marL="0" marR="0" rtl="0" algn="ctr">
                        <a:lnSpc>
                          <a:spcPct val="107000"/>
                        </a:lnSpc>
                        <a:spcBef>
                          <a:spcPts val="0"/>
                        </a:spcBef>
                        <a:spcAft>
                          <a:spcPts val="0"/>
                        </a:spcAft>
                        <a:buNone/>
                      </a:pPr>
                      <a:r>
                        <a:rPr lang="en-US" sz="1800" u="none" cap="none" strike="noStrike"/>
                        <a:t>C</a:t>
                      </a:r>
                      <a:endParaRPr sz="1100" u="none" cap="none" strike="noStrike">
                        <a:latin typeface="Calibri"/>
                        <a:ea typeface="Calibri"/>
                        <a:cs typeface="Calibri"/>
                        <a:sym typeface="Calibri"/>
                      </a:endParaRPr>
                    </a:p>
                  </a:txBody>
                  <a:tcPr marT="0" marB="0" marR="68575" marL="68575" anchor="b"/>
                </a:tc>
                <a:tc>
                  <a:txBody>
                    <a:bodyPr/>
                    <a:lstStyle/>
                    <a:p>
                      <a:pPr indent="0" lvl="0" marL="0" marR="0" rtl="0" algn="ctr">
                        <a:lnSpc>
                          <a:spcPct val="107000"/>
                        </a:lnSpc>
                        <a:spcBef>
                          <a:spcPts val="0"/>
                        </a:spcBef>
                        <a:spcAft>
                          <a:spcPts val="0"/>
                        </a:spcAft>
                        <a:buNone/>
                      </a:pPr>
                      <a:r>
                        <a:rPr lang="en-US" sz="1800" u="none" cap="none" strike="noStrike"/>
                        <a:t>NA</a:t>
                      </a:r>
                      <a:endParaRPr sz="1100" u="none" cap="none" strike="noStrike">
                        <a:latin typeface="Calibri"/>
                        <a:ea typeface="Calibri"/>
                        <a:cs typeface="Calibri"/>
                        <a:sym typeface="Calibri"/>
                      </a:endParaRPr>
                    </a:p>
                  </a:txBody>
                  <a:tcPr marT="0" marB="0" marR="68575" marL="68575" anchor="b"/>
                </a:tc>
                <a:tc>
                  <a:txBody>
                    <a:bodyPr/>
                    <a:lstStyle/>
                    <a:p>
                      <a:pPr indent="0" lvl="0" marL="0" marR="0" rtl="0" algn="ctr">
                        <a:lnSpc>
                          <a:spcPct val="107000"/>
                        </a:lnSpc>
                        <a:spcBef>
                          <a:spcPts val="0"/>
                        </a:spcBef>
                        <a:spcAft>
                          <a:spcPts val="0"/>
                        </a:spcAft>
                        <a:buNone/>
                      </a:pPr>
                      <a:r>
                        <a:rPr lang="en-US" sz="1800" u="none" cap="none" strike="noStrike"/>
                        <a:t>IOS</a:t>
                      </a:r>
                      <a:endParaRPr sz="1100" u="none" cap="none" strike="noStrike">
                        <a:latin typeface="Calibri"/>
                        <a:ea typeface="Calibri"/>
                        <a:cs typeface="Calibri"/>
                        <a:sym typeface="Calibri"/>
                      </a:endParaRPr>
                    </a:p>
                  </a:txBody>
                  <a:tcPr marT="0" marB="0" marR="68575" marL="68575" anchor="b"/>
                </a:tc>
                <a:tc>
                  <a:txBody>
                    <a:bodyPr/>
                    <a:lstStyle/>
                    <a:p>
                      <a:pPr indent="0" lvl="0" marL="0" marR="0" rtl="0" algn="ctr">
                        <a:lnSpc>
                          <a:spcPct val="107000"/>
                        </a:lnSpc>
                        <a:spcBef>
                          <a:spcPts val="0"/>
                        </a:spcBef>
                        <a:spcAft>
                          <a:spcPts val="0"/>
                        </a:spcAft>
                        <a:buNone/>
                      </a:pPr>
                      <a:r>
                        <a:rPr lang="en-US" sz="1800" u="none" cap="none" strike="noStrike"/>
                        <a:t>2</a:t>
                      </a:r>
                      <a:endParaRPr sz="1100" u="none" cap="none" strike="noStrike">
                        <a:latin typeface="Calibri"/>
                        <a:ea typeface="Calibri"/>
                        <a:cs typeface="Calibri"/>
                        <a:sym typeface="Calibri"/>
                      </a:endParaRPr>
                    </a:p>
                  </a:txBody>
                  <a:tcPr marT="0" marB="0" marR="68575" marL="68575" anchor="b"/>
                </a:tc>
              </a:tr>
              <a:tr h="297175">
                <a:tc>
                  <a:txBody>
                    <a:bodyPr/>
                    <a:lstStyle/>
                    <a:p>
                      <a:pPr indent="0" lvl="0" marL="0" marR="0" rtl="0" algn="ctr">
                        <a:lnSpc>
                          <a:spcPct val="107000"/>
                        </a:lnSpc>
                        <a:spcBef>
                          <a:spcPts val="0"/>
                        </a:spcBef>
                        <a:spcAft>
                          <a:spcPts val="0"/>
                        </a:spcAft>
                        <a:buNone/>
                      </a:pPr>
                      <a:r>
                        <a:rPr lang="en-US" sz="1800" u="none" cap="none" strike="noStrike"/>
                        <a:t>D</a:t>
                      </a:r>
                      <a:endParaRPr sz="1100" u="none" cap="none" strike="noStrike">
                        <a:latin typeface="Calibri"/>
                        <a:ea typeface="Calibri"/>
                        <a:cs typeface="Calibri"/>
                        <a:sym typeface="Calibri"/>
                      </a:endParaRPr>
                    </a:p>
                  </a:txBody>
                  <a:tcPr marT="0" marB="0" marR="68575" marL="68575" anchor="b"/>
                </a:tc>
                <a:tc>
                  <a:txBody>
                    <a:bodyPr/>
                    <a:lstStyle/>
                    <a:p>
                      <a:pPr indent="0" lvl="0" marL="0" marR="0" rtl="0" algn="ctr">
                        <a:lnSpc>
                          <a:spcPct val="107000"/>
                        </a:lnSpc>
                        <a:spcBef>
                          <a:spcPts val="0"/>
                        </a:spcBef>
                        <a:spcAft>
                          <a:spcPts val="0"/>
                        </a:spcAft>
                        <a:buNone/>
                      </a:pPr>
                      <a:r>
                        <a:rPr lang="en-US" sz="1800" u="none" cap="none" strike="noStrike"/>
                        <a:t>Tablet</a:t>
                      </a:r>
                      <a:endParaRPr sz="1100" u="none" cap="none" strike="noStrike">
                        <a:latin typeface="Calibri"/>
                        <a:ea typeface="Calibri"/>
                        <a:cs typeface="Calibri"/>
                        <a:sym typeface="Calibri"/>
                      </a:endParaRPr>
                    </a:p>
                  </a:txBody>
                  <a:tcPr marT="0" marB="0" marR="68575" marL="68575" anchor="b"/>
                </a:tc>
                <a:tc>
                  <a:txBody>
                    <a:bodyPr/>
                    <a:lstStyle/>
                    <a:p>
                      <a:pPr indent="0" lvl="0" marL="0" marR="0" rtl="0" algn="ctr">
                        <a:lnSpc>
                          <a:spcPct val="107000"/>
                        </a:lnSpc>
                        <a:spcBef>
                          <a:spcPts val="0"/>
                        </a:spcBef>
                        <a:spcAft>
                          <a:spcPts val="0"/>
                        </a:spcAft>
                        <a:buNone/>
                      </a:pPr>
                      <a:r>
                        <a:rPr lang="en-US" sz="1800" u="none" cap="none" strike="noStrike"/>
                        <a:t>Android</a:t>
                      </a:r>
                      <a:endParaRPr sz="1100" u="none" cap="none" strike="noStrike">
                        <a:latin typeface="Calibri"/>
                        <a:ea typeface="Calibri"/>
                        <a:cs typeface="Calibri"/>
                        <a:sym typeface="Calibri"/>
                      </a:endParaRPr>
                    </a:p>
                  </a:txBody>
                  <a:tcPr marT="0" marB="0" marR="68575" marL="68575" anchor="b"/>
                </a:tc>
                <a:tc>
                  <a:txBody>
                    <a:bodyPr/>
                    <a:lstStyle/>
                    <a:p>
                      <a:pPr indent="0" lvl="0" marL="0" marR="0" rtl="0" algn="ctr">
                        <a:lnSpc>
                          <a:spcPct val="107000"/>
                        </a:lnSpc>
                        <a:spcBef>
                          <a:spcPts val="0"/>
                        </a:spcBef>
                        <a:spcAft>
                          <a:spcPts val="0"/>
                        </a:spcAft>
                        <a:buNone/>
                      </a:pPr>
                      <a:r>
                        <a:rPr lang="en-US" sz="1800" u="none" cap="none" strike="noStrike"/>
                        <a:t>1</a:t>
                      </a:r>
                      <a:endParaRPr sz="1100" u="none" cap="none" strike="noStrike">
                        <a:latin typeface="Calibri"/>
                        <a:ea typeface="Calibri"/>
                        <a:cs typeface="Calibri"/>
                        <a:sym typeface="Calibri"/>
                      </a:endParaRPr>
                    </a:p>
                  </a:txBody>
                  <a:tcPr marT="0" marB="0" marR="68575" marL="68575" anchor="b"/>
                </a:tc>
              </a:tr>
              <a:tr h="297175">
                <a:tc>
                  <a:txBody>
                    <a:bodyPr/>
                    <a:lstStyle/>
                    <a:p>
                      <a:pPr indent="0" lvl="0" marL="0" marR="0" rtl="0" algn="ctr">
                        <a:lnSpc>
                          <a:spcPct val="107000"/>
                        </a:lnSpc>
                        <a:spcBef>
                          <a:spcPts val="0"/>
                        </a:spcBef>
                        <a:spcAft>
                          <a:spcPts val="0"/>
                        </a:spcAft>
                        <a:buNone/>
                      </a:pPr>
                      <a:r>
                        <a:rPr lang="en-US" sz="1800" u="none" cap="none" strike="noStrike"/>
                        <a:t>E</a:t>
                      </a:r>
                      <a:endParaRPr sz="1100" u="none" cap="none" strike="noStrike">
                        <a:latin typeface="Calibri"/>
                        <a:ea typeface="Calibri"/>
                        <a:cs typeface="Calibri"/>
                        <a:sym typeface="Calibri"/>
                      </a:endParaRPr>
                    </a:p>
                  </a:txBody>
                  <a:tcPr marT="0" marB="0" marR="68575" marL="68575" anchor="b"/>
                </a:tc>
                <a:tc>
                  <a:txBody>
                    <a:bodyPr/>
                    <a:lstStyle/>
                    <a:p>
                      <a:pPr indent="0" lvl="0" marL="0" marR="0" rtl="0" algn="ctr">
                        <a:lnSpc>
                          <a:spcPct val="107000"/>
                        </a:lnSpc>
                        <a:spcBef>
                          <a:spcPts val="0"/>
                        </a:spcBef>
                        <a:spcAft>
                          <a:spcPts val="0"/>
                        </a:spcAft>
                        <a:buNone/>
                      </a:pPr>
                      <a:r>
                        <a:rPr lang="en-US" sz="1800" u="none" cap="none" strike="noStrike"/>
                        <a:t>Mobile</a:t>
                      </a:r>
                      <a:endParaRPr sz="1100" u="none" cap="none" strike="noStrike">
                        <a:latin typeface="Calibri"/>
                        <a:ea typeface="Calibri"/>
                        <a:cs typeface="Calibri"/>
                        <a:sym typeface="Calibri"/>
                      </a:endParaRPr>
                    </a:p>
                  </a:txBody>
                  <a:tcPr marT="0" marB="0" marR="68575" marL="68575" anchor="b"/>
                </a:tc>
                <a:tc>
                  <a:txBody>
                    <a:bodyPr/>
                    <a:lstStyle/>
                    <a:p>
                      <a:pPr indent="0" lvl="0" marL="0" marR="0" rtl="0" algn="ctr">
                        <a:lnSpc>
                          <a:spcPct val="107000"/>
                        </a:lnSpc>
                        <a:spcBef>
                          <a:spcPts val="0"/>
                        </a:spcBef>
                        <a:spcAft>
                          <a:spcPts val="0"/>
                        </a:spcAft>
                        <a:buNone/>
                      </a:pPr>
                      <a:r>
                        <a:rPr lang="en-US" sz="1800" u="none" cap="none" strike="noStrike"/>
                        <a:t>IOS</a:t>
                      </a:r>
                      <a:endParaRPr sz="1100" u="none" cap="none" strike="noStrike">
                        <a:latin typeface="Calibri"/>
                        <a:ea typeface="Calibri"/>
                        <a:cs typeface="Calibri"/>
                        <a:sym typeface="Calibri"/>
                      </a:endParaRPr>
                    </a:p>
                  </a:txBody>
                  <a:tcPr marT="0" marB="0" marR="68575" marL="68575" anchor="b"/>
                </a:tc>
                <a:tc>
                  <a:txBody>
                    <a:bodyPr/>
                    <a:lstStyle/>
                    <a:p>
                      <a:pPr indent="0" lvl="0" marL="0" marR="0" rtl="0" algn="ctr">
                        <a:lnSpc>
                          <a:spcPct val="107000"/>
                        </a:lnSpc>
                        <a:spcBef>
                          <a:spcPts val="0"/>
                        </a:spcBef>
                        <a:spcAft>
                          <a:spcPts val="0"/>
                        </a:spcAft>
                        <a:buNone/>
                      </a:pPr>
                      <a:r>
                        <a:rPr lang="en-US" sz="1800" u="none" cap="none" strike="noStrike"/>
                        <a:t>4</a:t>
                      </a:r>
                      <a:endParaRPr sz="1100" u="none" cap="none" strike="noStrike">
                        <a:latin typeface="Calibri"/>
                        <a:ea typeface="Calibri"/>
                        <a:cs typeface="Calibri"/>
                        <a:sym typeface="Calibri"/>
                      </a:endParaRPr>
                    </a:p>
                  </a:txBody>
                  <a:tcPr marT="0" marB="0" marR="68575" marL="68575" anchor="b"/>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5"/>
          <p:cNvSpPr txBox="1"/>
          <p:nvPr>
            <p:ph type="title"/>
          </p:nvPr>
        </p:nvSpPr>
        <p:spPr>
          <a:xfrm>
            <a:off x="1403684" y="66090"/>
            <a:ext cx="8807116" cy="100071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11111"/>
              <a:buFont typeface="Calibri"/>
              <a:buNone/>
            </a:pPr>
            <a:r>
              <a:rPr b="1" lang="en-US"/>
              <a:t>Encoding: Handling Categorical Variable</a:t>
            </a:r>
            <a:endParaRPr b="1"/>
          </a:p>
        </p:txBody>
      </p:sp>
      <p:sp>
        <p:nvSpPr>
          <p:cNvPr id="115" name="Google Shape;115;p5"/>
          <p:cNvSpPr txBox="1"/>
          <p:nvPr>
            <p:ph idx="1" type="body"/>
          </p:nvPr>
        </p:nvSpPr>
        <p:spPr>
          <a:xfrm>
            <a:off x="1917032" y="1066800"/>
            <a:ext cx="8229600" cy="3296653"/>
          </a:xfrm>
          <a:prstGeom prst="rect">
            <a:avLst/>
          </a:prstGeom>
          <a:noFill/>
          <a:ln>
            <a:noFill/>
          </a:ln>
        </p:spPr>
        <p:txBody>
          <a:bodyPr anchorCtr="0" anchor="t" bIns="45700" lIns="91425" spcFirstLastPara="1" rIns="91425" wrap="square" tIns="45700">
            <a:noAutofit/>
          </a:bodyPr>
          <a:lstStyle/>
          <a:p>
            <a:pPr indent="0" lvl="0" marL="0" marR="0" rtl="0" algn="just">
              <a:lnSpc>
                <a:spcPct val="107000"/>
              </a:lnSpc>
              <a:spcBef>
                <a:spcPts val="0"/>
              </a:spcBef>
              <a:spcAft>
                <a:spcPts val="0"/>
              </a:spcAft>
              <a:buClr>
                <a:schemeClr val="dk1"/>
              </a:buClr>
              <a:buSzPts val="2400"/>
              <a:buNone/>
            </a:pPr>
            <a:r>
              <a:rPr lang="en-US" sz="2400">
                <a:latin typeface="Times New Roman"/>
                <a:ea typeface="Times New Roman"/>
                <a:cs typeface="Times New Roman"/>
                <a:sym typeface="Times New Roman"/>
              </a:rPr>
              <a:t>Data can be divided into numerical (quantitative) and categorical (qualitative). Categorical data can be divided into nominal and ordinal data. Depending on the data type, there are different ways to convert categorical data to numerical data. This process is called </a:t>
            </a:r>
            <a:r>
              <a:rPr b="1" lang="en-US" sz="2400">
                <a:latin typeface="Times New Roman"/>
                <a:ea typeface="Times New Roman"/>
                <a:cs typeface="Times New Roman"/>
                <a:sym typeface="Times New Roman"/>
              </a:rPr>
              <a:t>encoding</a:t>
            </a:r>
            <a:r>
              <a:rPr lang="en-US" sz="2400">
                <a:latin typeface="Times New Roman"/>
                <a:ea typeface="Times New Roman"/>
                <a:cs typeface="Times New Roman"/>
                <a:sym typeface="Times New Roman"/>
              </a:rPr>
              <a:t>.</a:t>
            </a:r>
            <a:endParaRPr/>
          </a:p>
          <a:p>
            <a:pPr indent="0" lvl="0" marL="0" marR="0" rtl="0" algn="just">
              <a:lnSpc>
                <a:spcPct val="107000"/>
              </a:lnSpc>
              <a:spcBef>
                <a:spcPts val="0"/>
              </a:spcBef>
              <a:spcAft>
                <a:spcPts val="0"/>
              </a:spcAft>
              <a:buClr>
                <a:schemeClr val="dk1"/>
              </a:buClr>
              <a:buSzPts val="2400"/>
              <a:buNone/>
            </a:pPr>
            <a:r>
              <a:rPr b="1" i="1" lang="en-US" sz="2400">
                <a:latin typeface="Times New Roman"/>
                <a:ea typeface="Times New Roman"/>
                <a:cs typeface="Times New Roman"/>
                <a:sym typeface="Times New Roman"/>
              </a:rPr>
              <a:t>Encoding refers to the process of converting categorical data into a numerical format.</a:t>
            </a:r>
            <a:endParaRPr sz="2400">
              <a:latin typeface="Calibri"/>
              <a:ea typeface="Calibri"/>
              <a:cs typeface="Calibri"/>
              <a:sym typeface="Calibri"/>
            </a:endParaRPr>
          </a:p>
          <a:p>
            <a:pPr indent="-228600" lvl="0" marL="228600" marR="0" rtl="0" algn="l">
              <a:lnSpc>
                <a:spcPct val="107000"/>
              </a:lnSpc>
              <a:spcBef>
                <a:spcPts val="800"/>
              </a:spcBef>
              <a:spcAft>
                <a:spcPts val="0"/>
              </a:spcAft>
              <a:buClr>
                <a:schemeClr val="dk1"/>
              </a:buClr>
              <a:buSzPts val="1800"/>
              <a:buChar char="•"/>
            </a:pPr>
            <a:r>
              <a:rPr lang="en-US" sz="1800">
                <a:latin typeface="Times New Roman"/>
                <a:ea typeface="Times New Roman"/>
                <a:cs typeface="Times New Roman"/>
                <a:sym typeface="Times New Roman"/>
              </a:rPr>
              <a:t> </a:t>
            </a:r>
            <a:endParaRPr sz="1800">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800"/>
              <a:buNone/>
            </a:pPr>
            <a:r>
              <a:t/>
            </a:r>
            <a:endParaRPr sz="18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6"/>
          <p:cNvSpPr txBox="1"/>
          <p:nvPr>
            <p:ph type="title"/>
          </p:nvPr>
        </p:nvSpPr>
        <p:spPr>
          <a:xfrm>
            <a:off x="838200" y="365126"/>
            <a:ext cx="10515600" cy="862096"/>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sz="4400">
                <a:latin typeface="Calibri"/>
                <a:ea typeface="Calibri"/>
                <a:cs typeface="Calibri"/>
                <a:sym typeface="Calibri"/>
              </a:rPr>
              <a:t>                       One-hot encoding</a:t>
            </a:r>
            <a:endParaRPr/>
          </a:p>
        </p:txBody>
      </p:sp>
      <p:sp>
        <p:nvSpPr>
          <p:cNvPr id="121" name="Google Shape;121;p6"/>
          <p:cNvSpPr txBox="1"/>
          <p:nvPr>
            <p:ph idx="1" type="body"/>
          </p:nvPr>
        </p:nvSpPr>
        <p:spPr>
          <a:xfrm>
            <a:off x="838200" y="1371600"/>
            <a:ext cx="10515600" cy="4805363"/>
          </a:xfrm>
          <a:prstGeom prst="rect">
            <a:avLst/>
          </a:prstGeom>
          <a:noFill/>
          <a:ln>
            <a:noFill/>
          </a:ln>
        </p:spPr>
        <p:txBody>
          <a:bodyPr anchorCtr="0" anchor="t" bIns="45700" lIns="91425" spcFirstLastPara="1" rIns="91425" wrap="square" tIns="45700">
            <a:normAutofit fontScale="77500" lnSpcReduction="20000"/>
          </a:bodyPr>
          <a:lstStyle/>
          <a:p>
            <a:pPr indent="0" lvl="0" marL="0" marR="0" rtl="0" algn="l">
              <a:lnSpc>
                <a:spcPct val="107000"/>
              </a:lnSpc>
              <a:spcBef>
                <a:spcPts val="0"/>
              </a:spcBef>
              <a:spcAft>
                <a:spcPts val="0"/>
              </a:spcAft>
              <a:buClr>
                <a:schemeClr val="dk1"/>
              </a:buClr>
              <a:buSzPct val="100000"/>
              <a:buChar char="•"/>
            </a:pPr>
            <a:r>
              <a:rPr lang="en-US" sz="3200">
                <a:latin typeface="Calibri"/>
                <a:ea typeface="Calibri"/>
                <a:cs typeface="Calibri"/>
                <a:sym typeface="Calibri"/>
              </a:rPr>
              <a:t>By far the most common way to represent categorical variables is using the one-hot encoding or one-out-of-N encoding, also known as dummy variables.</a:t>
            </a:r>
            <a:endParaRPr/>
          </a:p>
          <a:p>
            <a:pPr indent="-342900" lvl="0" marL="342900" marR="0" rtl="0" algn="l">
              <a:lnSpc>
                <a:spcPct val="107000"/>
              </a:lnSpc>
              <a:spcBef>
                <a:spcPts val="800"/>
              </a:spcBef>
              <a:spcAft>
                <a:spcPts val="0"/>
              </a:spcAft>
              <a:buClr>
                <a:schemeClr val="dk1"/>
              </a:buClr>
              <a:buSzPct val="46082"/>
              <a:buFont typeface="Noto Sans Symbols"/>
              <a:buChar char="∙"/>
            </a:pPr>
            <a:r>
              <a:rPr b="1" lang="en-US" sz="2800">
                <a:latin typeface="Times New Roman"/>
                <a:ea typeface="Times New Roman"/>
                <a:cs typeface="Times New Roman"/>
                <a:sym typeface="Times New Roman"/>
              </a:rPr>
              <a:t> </a:t>
            </a:r>
            <a:r>
              <a:rPr lang="en-US" sz="2800">
                <a:latin typeface="Times New Roman"/>
                <a:ea typeface="Times New Roman"/>
                <a:cs typeface="Times New Roman"/>
                <a:sym typeface="Times New Roman"/>
              </a:rPr>
              <a:t>One Hot Encoder is a popular encoder through which categorical variables can be converted into separate columns and their presence can be expressed in each column by Boolean True/False or 0/1.  </a:t>
            </a:r>
            <a:endParaRPr sz="2800">
              <a:latin typeface="Calibri"/>
              <a:ea typeface="Calibri"/>
              <a:cs typeface="Calibri"/>
              <a:sym typeface="Calibri"/>
            </a:endParaRPr>
          </a:p>
          <a:p>
            <a:pPr indent="-342900" lvl="0" marL="342900" marR="0" rtl="0" algn="l">
              <a:lnSpc>
                <a:spcPct val="107000"/>
              </a:lnSpc>
              <a:spcBef>
                <a:spcPts val="800"/>
              </a:spcBef>
              <a:spcAft>
                <a:spcPts val="0"/>
              </a:spcAft>
              <a:buClr>
                <a:schemeClr val="dk1"/>
              </a:buClr>
              <a:buSzPct val="46082"/>
              <a:buFont typeface="Noto Sans Symbols"/>
              <a:buChar char="∙"/>
            </a:pPr>
            <a:r>
              <a:rPr lang="en-US" sz="2800">
                <a:latin typeface="Times New Roman"/>
                <a:ea typeface="Times New Roman"/>
                <a:cs typeface="Times New Roman"/>
                <a:sym typeface="Times New Roman"/>
              </a:rPr>
              <a:t>This is encoded by the OneHotEncoder function, but we will see its application in the following example by its dummy variable using the get_dummies function. </a:t>
            </a:r>
            <a:endParaRPr sz="2800">
              <a:latin typeface="Calibri"/>
              <a:ea typeface="Calibri"/>
              <a:cs typeface="Calibri"/>
              <a:sym typeface="Calibri"/>
            </a:endParaRPr>
          </a:p>
          <a:p>
            <a:pPr indent="-342900" lvl="0" marL="342900" marR="0" rtl="0" algn="l">
              <a:lnSpc>
                <a:spcPct val="107000"/>
              </a:lnSpc>
              <a:spcBef>
                <a:spcPts val="800"/>
              </a:spcBef>
              <a:spcAft>
                <a:spcPts val="0"/>
              </a:spcAft>
              <a:buClr>
                <a:srgbClr val="FF0000"/>
              </a:buClr>
              <a:buSzPct val="46082"/>
              <a:buFont typeface="Noto Sans Symbols"/>
              <a:buChar char="∙"/>
            </a:pPr>
            <a:r>
              <a:rPr i="1" lang="en-US" sz="2800">
                <a:solidFill>
                  <a:srgbClr val="FF0000"/>
                </a:solidFill>
                <a:latin typeface="Times New Roman"/>
                <a:ea typeface="Times New Roman"/>
                <a:cs typeface="Times New Roman"/>
                <a:sym typeface="Times New Roman"/>
              </a:rPr>
              <a:t>For example, we created two separate columns for OWN_OCCUPIED columns 1 and 2 and expressed the value of the columns by 0/1.</a:t>
            </a:r>
            <a:endParaRPr i="1" sz="2800">
              <a:solidFill>
                <a:srgbClr val="FF0000"/>
              </a:solidFill>
              <a:latin typeface="Calibri"/>
              <a:ea typeface="Calibri"/>
              <a:cs typeface="Calibri"/>
              <a:sym typeface="Calibri"/>
            </a:endParaRPr>
          </a:p>
          <a:p>
            <a:pPr indent="-228600" lvl="0" marL="457200" marR="0" rtl="0" algn="l">
              <a:lnSpc>
                <a:spcPct val="107000"/>
              </a:lnSpc>
              <a:spcBef>
                <a:spcPts val="800"/>
              </a:spcBef>
              <a:spcAft>
                <a:spcPts val="0"/>
              </a:spcAft>
              <a:buClr>
                <a:srgbClr val="FF0000"/>
              </a:buClr>
              <a:buSzPct val="100000"/>
              <a:buChar char="•"/>
            </a:pPr>
            <a:r>
              <a:rPr i="1" lang="en-US" sz="2800">
                <a:solidFill>
                  <a:srgbClr val="FF0000"/>
                </a:solidFill>
                <a:latin typeface="Times New Roman"/>
                <a:ea typeface="Times New Roman"/>
                <a:cs typeface="Times New Roman"/>
                <a:sym typeface="Times New Roman"/>
              </a:rPr>
              <a:t>#One Hot Encoding for nominal data</a:t>
            </a:r>
            <a:endParaRPr i="1" sz="2800">
              <a:solidFill>
                <a:srgbClr val="FF0000"/>
              </a:solidFill>
              <a:latin typeface="Calibri"/>
              <a:ea typeface="Calibri"/>
              <a:cs typeface="Calibri"/>
              <a:sym typeface="Calibri"/>
            </a:endParaRPr>
          </a:p>
          <a:p>
            <a:pPr indent="-228600" lvl="0" marL="457200" marR="0" rtl="0" algn="l">
              <a:lnSpc>
                <a:spcPct val="107000"/>
              </a:lnSpc>
              <a:spcBef>
                <a:spcPts val="0"/>
              </a:spcBef>
              <a:spcAft>
                <a:spcPts val="0"/>
              </a:spcAft>
              <a:buClr>
                <a:srgbClr val="FF0000"/>
              </a:buClr>
              <a:buSzPct val="100000"/>
              <a:buChar char="•"/>
            </a:pPr>
            <a:r>
              <a:rPr i="1" lang="en-US" sz="2800">
                <a:solidFill>
                  <a:srgbClr val="FF0000"/>
                </a:solidFill>
                <a:latin typeface="Times New Roman"/>
                <a:ea typeface="Times New Roman"/>
                <a:cs typeface="Times New Roman"/>
                <a:sym typeface="Times New Roman"/>
              </a:rPr>
              <a:t>Import pandas as pd</a:t>
            </a:r>
            <a:endParaRPr i="1" sz="2800">
              <a:solidFill>
                <a:srgbClr val="FF0000"/>
              </a:solidFill>
              <a:latin typeface="Calibri"/>
              <a:ea typeface="Calibri"/>
              <a:cs typeface="Calibri"/>
              <a:sym typeface="Calibri"/>
            </a:endParaRPr>
          </a:p>
          <a:p>
            <a:pPr indent="-228600" lvl="0" marL="457200" marR="0" rtl="0" algn="l">
              <a:lnSpc>
                <a:spcPct val="107000"/>
              </a:lnSpc>
              <a:spcBef>
                <a:spcPts val="0"/>
              </a:spcBef>
              <a:spcAft>
                <a:spcPts val="0"/>
              </a:spcAft>
              <a:buClr>
                <a:srgbClr val="FF0000"/>
              </a:buClr>
              <a:buSzPct val="100000"/>
              <a:buChar char="•"/>
            </a:pPr>
            <a:r>
              <a:rPr i="1" lang="en-US" sz="2800">
                <a:solidFill>
                  <a:srgbClr val="FF0000"/>
                </a:solidFill>
                <a:latin typeface="Times New Roman"/>
                <a:ea typeface="Times New Roman"/>
                <a:cs typeface="Times New Roman"/>
                <a:sym typeface="Times New Roman"/>
              </a:rPr>
              <a:t>df=……..</a:t>
            </a:r>
            <a:endParaRPr i="1" sz="2800">
              <a:solidFill>
                <a:srgbClr val="FF0000"/>
              </a:solidFill>
              <a:latin typeface="Calibri"/>
              <a:ea typeface="Calibri"/>
              <a:cs typeface="Calibri"/>
              <a:sym typeface="Calibri"/>
            </a:endParaRPr>
          </a:p>
          <a:p>
            <a:pPr indent="-228600" lvl="0" marL="457200" marR="0" rtl="0" algn="l">
              <a:lnSpc>
                <a:spcPct val="107000"/>
              </a:lnSpc>
              <a:spcBef>
                <a:spcPts val="0"/>
              </a:spcBef>
              <a:spcAft>
                <a:spcPts val="0"/>
              </a:spcAft>
              <a:buClr>
                <a:srgbClr val="FF0000"/>
              </a:buClr>
              <a:buSzPct val="100000"/>
              <a:buChar char="•"/>
            </a:pPr>
            <a:r>
              <a:rPr i="1" lang="en-US" sz="2800">
                <a:solidFill>
                  <a:srgbClr val="FF0000"/>
                </a:solidFill>
                <a:latin typeface="Times New Roman"/>
                <a:ea typeface="Times New Roman"/>
                <a:cs typeface="Times New Roman"/>
                <a:sym typeface="Times New Roman"/>
              </a:rPr>
              <a:t>df1 = pd.get_dummies(df, columns=['OWN_OCCUPIED'])</a:t>
            </a:r>
            <a:endParaRPr i="1" sz="2800">
              <a:solidFill>
                <a:srgbClr val="FF0000"/>
              </a:solidFill>
              <a:latin typeface="Calibri"/>
              <a:ea typeface="Calibri"/>
              <a:cs typeface="Calibri"/>
              <a:sym typeface="Calibri"/>
            </a:endParaRPr>
          </a:p>
          <a:p>
            <a:pPr indent="-228600" lvl="0" marL="457200" marR="0" rtl="0" algn="l">
              <a:lnSpc>
                <a:spcPct val="107000"/>
              </a:lnSpc>
              <a:spcBef>
                <a:spcPts val="0"/>
              </a:spcBef>
              <a:spcAft>
                <a:spcPts val="0"/>
              </a:spcAft>
              <a:buClr>
                <a:srgbClr val="FF0000"/>
              </a:buClr>
              <a:buSzPct val="100000"/>
              <a:buChar char="•"/>
            </a:pPr>
            <a:r>
              <a:rPr i="1" lang="en-US" sz="2800">
                <a:solidFill>
                  <a:srgbClr val="FF0000"/>
                </a:solidFill>
                <a:latin typeface="Times New Roman"/>
                <a:ea typeface="Times New Roman"/>
                <a:cs typeface="Times New Roman"/>
                <a:sym typeface="Times New Roman"/>
              </a:rPr>
              <a:t>df1</a:t>
            </a:r>
            <a:endParaRPr i="1" sz="2800">
              <a:solidFill>
                <a:srgbClr val="FF0000"/>
              </a:solidFill>
              <a:latin typeface="Calibri"/>
              <a:ea typeface="Calibri"/>
              <a:cs typeface="Calibri"/>
              <a:sym typeface="Calibri"/>
            </a:endParaRPr>
          </a:p>
          <a:p>
            <a:pPr indent="-90804" lvl="0" marL="228600" rtl="0" algn="l">
              <a:lnSpc>
                <a:spcPct val="90000"/>
              </a:lnSpc>
              <a:spcBef>
                <a:spcPts val="1000"/>
              </a:spcBef>
              <a:spcAft>
                <a:spcPts val="0"/>
              </a:spcAft>
              <a:buClr>
                <a:schemeClr val="dk1"/>
              </a:buClr>
              <a:buSzPct val="100000"/>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7"/>
          <p:cNvSpPr txBox="1"/>
          <p:nvPr>
            <p:ph type="title"/>
          </p:nvPr>
        </p:nvSpPr>
        <p:spPr>
          <a:xfrm>
            <a:off x="838200" y="63612"/>
            <a:ext cx="10515600" cy="71771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           Example  of one-hot coding</a:t>
            </a:r>
            <a:endParaRPr/>
          </a:p>
        </p:txBody>
      </p:sp>
      <p:sp>
        <p:nvSpPr>
          <p:cNvPr id="127" name="Google Shape;127;p7"/>
          <p:cNvSpPr txBox="1"/>
          <p:nvPr>
            <p:ph idx="1" type="body"/>
          </p:nvPr>
        </p:nvSpPr>
        <p:spPr>
          <a:xfrm>
            <a:off x="621631" y="952541"/>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Example 1</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228600" lvl="0" marL="228600" rtl="0" algn="l">
              <a:lnSpc>
                <a:spcPct val="90000"/>
              </a:lnSpc>
              <a:spcBef>
                <a:spcPts val="1000"/>
              </a:spcBef>
              <a:spcAft>
                <a:spcPts val="0"/>
              </a:spcAft>
              <a:buClr>
                <a:schemeClr val="dk1"/>
              </a:buClr>
              <a:buSzPts val="1800"/>
              <a:buChar char="•"/>
            </a:pPr>
            <a:r>
              <a:rPr lang="en-US" sz="1800">
                <a:latin typeface="Times New Roman"/>
                <a:ea typeface="Times New Roman"/>
                <a:cs typeface="Times New Roman"/>
                <a:sym typeface="Times New Roman"/>
              </a:rPr>
              <a:t>Example 2: Consider the data where fruits, their corresponding categorical values, and prices are given.</a:t>
            </a:r>
            <a:endParaRPr/>
          </a:p>
          <a:p>
            <a:pPr indent="0" lvl="0" marL="0" rtl="0" algn="l">
              <a:lnSpc>
                <a:spcPct val="90000"/>
              </a:lnSpc>
              <a:spcBef>
                <a:spcPts val="1000"/>
              </a:spcBef>
              <a:spcAft>
                <a:spcPts val="0"/>
              </a:spcAft>
              <a:buClr>
                <a:schemeClr val="dk1"/>
              </a:buClr>
              <a:buSzPts val="1800"/>
              <a:buNone/>
            </a:pPr>
            <a:r>
              <a:t/>
            </a:r>
            <a:endParaRPr sz="1800">
              <a:latin typeface="Calibri"/>
              <a:ea typeface="Calibri"/>
              <a:cs typeface="Calibri"/>
              <a:sym typeface="Calibri"/>
            </a:endParaRPr>
          </a:p>
          <a:p>
            <a:pPr indent="-228600" lvl="0" marL="228600" rtl="0" algn="l">
              <a:lnSpc>
                <a:spcPct val="90000"/>
              </a:lnSpc>
              <a:spcBef>
                <a:spcPts val="1000"/>
              </a:spcBef>
              <a:spcAft>
                <a:spcPts val="0"/>
              </a:spcAft>
              <a:buClr>
                <a:schemeClr val="dk1"/>
              </a:buClr>
              <a:buSzPts val="2800"/>
              <a:buChar char="•"/>
            </a:pPr>
            <a:r>
              <a:rPr lang="en-US"/>
              <a:t>                                                    🡺</a:t>
            </a:r>
            <a:endParaRPr/>
          </a:p>
        </p:txBody>
      </p:sp>
      <p:pic>
        <p:nvPicPr>
          <p:cNvPr id="128" name="Google Shape;128;p7"/>
          <p:cNvPicPr preferRelativeResize="0"/>
          <p:nvPr/>
        </p:nvPicPr>
        <p:blipFill rotWithShape="1">
          <a:blip r:embed="rId3">
            <a:alphaModFix/>
          </a:blip>
          <a:srcRect b="0" l="0" r="0" t="0"/>
          <a:stretch/>
        </p:blipFill>
        <p:spPr>
          <a:xfrm>
            <a:off x="2701991" y="952541"/>
            <a:ext cx="5768240" cy="1973179"/>
          </a:xfrm>
          <a:prstGeom prst="rect">
            <a:avLst/>
          </a:prstGeom>
          <a:noFill/>
          <a:ln>
            <a:noFill/>
          </a:ln>
        </p:spPr>
      </p:pic>
      <p:graphicFrame>
        <p:nvGraphicFramePr>
          <p:cNvPr id="129" name="Google Shape;129;p7"/>
          <p:cNvGraphicFramePr/>
          <p:nvPr/>
        </p:nvGraphicFramePr>
        <p:xfrm>
          <a:off x="1054769" y="3368843"/>
          <a:ext cx="3000000" cy="3000000"/>
        </p:xfrm>
        <a:graphic>
          <a:graphicData uri="http://schemas.openxmlformats.org/drawingml/2006/table">
            <a:tbl>
              <a:tblPr bandRow="1" firstCol="1" firstRow="1">
                <a:noFill/>
                <a:tableStyleId>{D800DA60-C0CE-4EA3-9BE5-66FB3202CD5A}</a:tableStyleId>
              </a:tblPr>
              <a:tblGrid>
                <a:gridCol w="891425"/>
                <a:gridCol w="2268375"/>
                <a:gridCol w="967050"/>
              </a:tblGrid>
              <a:tr h="244475">
                <a:tc>
                  <a:txBody>
                    <a:bodyPr/>
                    <a:lstStyle/>
                    <a:p>
                      <a:pPr indent="0" lvl="0" marL="0" marR="0" rtl="0" algn="ctr">
                        <a:lnSpc>
                          <a:spcPct val="107000"/>
                        </a:lnSpc>
                        <a:spcBef>
                          <a:spcPts val="0"/>
                        </a:spcBef>
                        <a:spcAft>
                          <a:spcPts val="0"/>
                        </a:spcAft>
                        <a:buNone/>
                      </a:pPr>
                      <a:r>
                        <a:rPr lang="en-US" sz="1600" u="none" cap="none" strike="noStrike"/>
                        <a:t>Fruit</a:t>
                      </a:r>
                      <a:endParaRPr sz="1600" u="none" cap="none" strike="noStrike">
                        <a:latin typeface="Calibri"/>
                        <a:ea typeface="Calibri"/>
                        <a:cs typeface="Calibri"/>
                        <a:sym typeface="Calibri"/>
                      </a:endParaRPr>
                    </a:p>
                  </a:txBody>
                  <a:tcPr marT="9525" marB="9525" marR="9525" marL="9525" anchor="ctr"/>
                </a:tc>
                <a:tc>
                  <a:txBody>
                    <a:bodyPr/>
                    <a:lstStyle/>
                    <a:p>
                      <a:pPr indent="0" lvl="0" marL="0" marR="0" rtl="0" algn="ctr">
                        <a:lnSpc>
                          <a:spcPct val="107000"/>
                        </a:lnSpc>
                        <a:spcBef>
                          <a:spcPts val="0"/>
                        </a:spcBef>
                        <a:spcAft>
                          <a:spcPts val="0"/>
                        </a:spcAft>
                        <a:buNone/>
                      </a:pPr>
                      <a:r>
                        <a:rPr lang="en-US" sz="1600" u="none" cap="none" strike="noStrike"/>
                        <a:t>Categorical value of fruit</a:t>
                      </a:r>
                      <a:endParaRPr sz="1600" u="none" cap="none" strike="noStrike">
                        <a:latin typeface="Calibri"/>
                        <a:ea typeface="Calibri"/>
                        <a:cs typeface="Calibri"/>
                        <a:sym typeface="Calibri"/>
                      </a:endParaRPr>
                    </a:p>
                  </a:txBody>
                  <a:tcPr marT="9525" marB="9525" marR="9525" marL="9525" anchor="ctr"/>
                </a:tc>
                <a:tc>
                  <a:txBody>
                    <a:bodyPr/>
                    <a:lstStyle/>
                    <a:p>
                      <a:pPr indent="0" lvl="0" marL="0" marR="0" rtl="0" algn="ctr">
                        <a:lnSpc>
                          <a:spcPct val="107000"/>
                        </a:lnSpc>
                        <a:spcBef>
                          <a:spcPts val="0"/>
                        </a:spcBef>
                        <a:spcAft>
                          <a:spcPts val="0"/>
                        </a:spcAft>
                        <a:buNone/>
                      </a:pPr>
                      <a:r>
                        <a:rPr lang="en-US" sz="1600" u="none" cap="none" strike="noStrike"/>
                        <a:t>Price</a:t>
                      </a:r>
                      <a:endParaRPr sz="1600" u="none" cap="none" strike="noStrike">
                        <a:latin typeface="Calibri"/>
                        <a:ea typeface="Calibri"/>
                        <a:cs typeface="Calibri"/>
                        <a:sym typeface="Calibri"/>
                      </a:endParaRPr>
                    </a:p>
                  </a:txBody>
                  <a:tcPr marT="9525" marB="9525" marR="9525" marL="9525" anchor="ctr"/>
                </a:tc>
              </a:tr>
              <a:tr h="244475">
                <a:tc>
                  <a:txBody>
                    <a:bodyPr/>
                    <a:lstStyle/>
                    <a:p>
                      <a:pPr indent="0" lvl="0" marL="0" marR="0" rtl="0" algn="ctr">
                        <a:lnSpc>
                          <a:spcPct val="107000"/>
                        </a:lnSpc>
                        <a:spcBef>
                          <a:spcPts val="0"/>
                        </a:spcBef>
                        <a:spcAft>
                          <a:spcPts val="0"/>
                        </a:spcAft>
                        <a:buNone/>
                      </a:pPr>
                      <a:r>
                        <a:rPr lang="en-US" sz="1600" u="none" cap="none" strike="noStrike"/>
                        <a:t>apple</a:t>
                      </a:r>
                      <a:endParaRPr sz="1600" u="none" cap="none" strike="noStrike">
                        <a:latin typeface="Calibri"/>
                        <a:ea typeface="Calibri"/>
                        <a:cs typeface="Calibri"/>
                        <a:sym typeface="Calibri"/>
                      </a:endParaRPr>
                    </a:p>
                  </a:txBody>
                  <a:tcPr marT="9525" marB="9525" marR="9525" marL="9525" anchor="ctr"/>
                </a:tc>
                <a:tc>
                  <a:txBody>
                    <a:bodyPr/>
                    <a:lstStyle/>
                    <a:p>
                      <a:pPr indent="0" lvl="0" marL="0" marR="0" rtl="0" algn="ctr">
                        <a:lnSpc>
                          <a:spcPct val="107000"/>
                        </a:lnSpc>
                        <a:spcBef>
                          <a:spcPts val="0"/>
                        </a:spcBef>
                        <a:spcAft>
                          <a:spcPts val="0"/>
                        </a:spcAft>
                        <a:buNone/>
                      </a:pPr>
                      <a:r>
                        <a:rPr lang="en-US" sz="1600" u="none" cap="none" strike="noStrike"/>
                        <a:t>1</a:t>
                      </a:r>
                      <a:endParaRPr sz="1600" u="none" cap="none" strike="noStrike">
                        <a:latin typeface="Calibri"/>
                        <a:ea typeface="Calibri"/>
                        <a:cs typeface="Calibri"/>
                        <a:sym typeface="Calibri"/>
                      </a:endParaRPr>
                    </a:p>
                  </a:txBody>
                  <a:tcPr marT="9525" marB="9525" marR="9525" marL="9525" anchor="ctr"/>
                </a:tc>
                <a:tc>
                  <a:txBody>
                    <a:bodyPr/>
                    <a:lstStyle/>
                    <a:p>
                      <a:pPr indent="0" lvl="0" marL="0" marR="0" rtl="0" algn="ctr">
                        <a:lnSpc>
                          <a:spcPct val="107000"/>
                        </a:lnSpc>
                        <a:spcBef>
                          <a:spcPts val="0"/>
                        </a:spcBef>
                        <a:spcAft>
                          <a:spcPts val="0"/>
                        </a:spcAft>
                        <a:buNone/>
                      </a:pPr>
                      <a:r>
                        <a:rPr lang="en-US" sz="1600" u="none" cap="none" strike="noStrike"/>
                        <a:t>5</a:t>
                      </a:r>
                      <a:endParaRPr sz="1600" u="none" cap="none" strike="noStrike">
                        <a:latin typeface="Calibri"/>
                        <a:ea typeface="Calibri"/>
                        <a:cs typeface="Calibri"/>
                        <a:sym typeface="Calibri"/>
                      </a:endParaRPr>
                    </a:p>
                  </a:txBody>
                  <a:tcPr marT="9525" marB="9525" marR="9525" marL="9525" anchor="ctr"/>
                </a:tc>
              </a:tr>
              <a:tr h="244475">
                <a:tc>
                  <a:txBody>
                    <a:bodyPr/>
                    <a:lstStyle/>
                    <a:p>
                      <a:pPr indent="0" lvl="0" marL="0" marR="0" rtl="0" algn="ctr">
                        <a:lnSpc>
                          <a:spcPct val="107000"/>
                        </a:lnSpc>
                        <a:spcBef>
                          <a:spcPts val="0"/>
                        </a:spcBef>
                        <a:spcAft>
                          <a:spcPts val="0"/>
                        </a:spcAft>
                        <a:buNone/>
                      </a:pPr>
                      <a:r>
                        <a:rPr lang="en-US" sz="1600" u="none" cap="none" strike="noStrike"/>
                        <a:t>mango</a:t>
                      </a:r>
                      <a:endParaRPr sz="1600" u="none" cap="none" strike="noStrike">
                        <a:latin typeface="Calibri"/>
                        <a:ea typeface="Calibri"/>
                        <a:cs typeface="Calibri"/>
                        <a:sym typeface="Calibri"/>
                      </a:endParaRPr>
                    </a:p>
                  </a:txBody>
                  <a:tcPr marT="9525" marB="9525" marR="9525" marL="9525" anchor="ctr"/>
                </a:tc>
                <a:tc>
                  <a:txBody>
                    <a:bodyPr/>
                    <a:lstStyle/>
                    <a:p>
                      <a:pPr indent="0" lvl="0" marL="0" marR="0" rtl="0" algn="ctr">
                        <a:lnSpc>
                          <a:spcPct val="107000"/>
                        </a:lnSpc>
                        <a:spcBef>
                          <a:spcPts val="0"/>
                        </a:spcBef>
                        <a:spcAft>
                          <a:spcPts val="0"/>
                        </a:spcAft>
                        <a:buNone/>
                      </a:pPr>
                      <a:r>
                        <a:rPr lang="en-US" sz="1600" u="none" cap="none" strike="noStrike"/>
                        <a:t>2</a:t>
                      </a:r>
                      <a:endParaRPr sz="1600" u="none" cap="none" strike="noStrike">
                        <a:latin typeface="Calibri"/>
                        <a:ea typeface="Calibri"/>
                        <a:cs typeface="Calibri"/>
                        <a:sym typeface="Calibri"/>
                      </a:endParaRPr>
                    </a:p>
                  </a:txBody>
                  <a:tcPr marT="9525" marB="9525" marR="9525" marL="9525" anchor="ctr"/>
                </a:tc>
                <a:tc>
                  <a:txBody>
                    <a:bodyPr/>
                    <a:lstStyle/>
                    <a:p>
                      <a:pPr indent="0" lvl="0" marL="0" marR="0" rtl="0" algn="ctr">
                        <a:lnSpc>
                          <a:spcPct val="107000"/>
                        </a:lnSpc>
                        <a:spcBef>
                          <a:spcPts val="0"/>
                        </a:spcBef>
                        <a:spcAft>
                          <a:spcPts val="0"/>
                        </a:spcAft>
                        <a:buNone/>
                      </a:pPr>
                      <a:r>
                        <a:rPr lang="en-US" sz="1600" u="none" cap="none" strike="noStrike"/>
                        <a:t>10</a:t>
                      </a:r>
                      <a:endParaRPr sz="1600" u="none" cap="none" strike="noStrike">
                        <a:latin typeface="Calibri"/>
                        <a:ea typeface="Calibri"/>
                        <a:cs typeface="Calibri"/>
                        <a:sym typeface="Calibri"/>
                      </a:endParaRPr>
                    </a:p>
                  </a:txBody>
                  <a:tcPr marT="9525" marB="9525" marR="9525" marL="9525" anchor="ctr"/>
                </a:tc>
              </a:tr>
              <a:tr h="244475">
                <a:tc>
                  <a:txBody>
                    <a:bodyPr/>
                    <a:lstStyle/>
                    <a:p>
                      <a:pPr indent="0" lvl="0" marL="0" marR="0" rtl="0" algn="ctr">
                        <a:lnSpc>
                          <a:spcPct val="107000"/>
                        </a:lnSpc>
                        <a:spcBef>
                          <a:spcPts val="0"/>
                        </a:spcBef>
                        <a:spcAft>
                          <a:spcPts val="0"/>
                        </a:spcAft>
                        <a:buNone/>
                      </a:pPr>
                      <a:r>
                        <a:rPr lang="en-US" sz="1600" u="none" cap="none" strike="noStrike"/>
                        <a:t>apple</a:t>
                      </a:r>
                      <a:endParaRPr sz="1600" u="none" cap="none" strike="noStrike">
                        <a:latin typeface="Calibri"/>
                        <a:ea typeface="Calibri"/>
                        <a:cs typeface="Calibri"/>
                        <a:sym typeface="Calibri"/>
                      </a:endParaRPr>
                    </a:p>
                  </a:txBody>
                  <a:tcPr marT="9525" marB="9525" marR="9525" marL="9525" anchor="ctr"/>
                </a:tc>
                <a:tc>
                  <a:txBody>
                    <a:bodyPr/>
                    <a:lstStyle/>
                    <a:p>
                      <a:pPr indent="0" lvl="0" marL="0" marR="0" rtl="0" algn="ctr">
                        <a:lnSpc>
                          <a:spcPct val="107000"/>
                        </a:lnSpc>
                        <a:spcBef>
                          <a:spcPts val="0"/>
                        </a:spcBef>
                        <a:spcAft>
                          <a:spcPts val="0"/>
                        </a:spcAft>
                        <a:buNone/>
                      </a:pPr>
                      <a:r>
                        <a:rPr lang="en-US" sz="1600" u="none" cap="none" strike="noStrike"/>
                        <a:t>1</a:t>
                      </a:r>
                      <a:endParaRPr sz="1600" u="none" cap="none" strike="noStrike">
                        <a:latin typeface="Calibri"/>
                        <a:ea typeface="Calibri"/>
                        <a:cs typeface="Calibri"/>
                        <a:sym typeface="Calibri"/>
                      </a:endParaRPr>
                    </a:p>
                  </a:txBody>
                  <a:tcPr marT="9525" marB="9525" marR="9525" marL="9525" anchor="ctr"/>
                </a:tc>
                <a:tc>
                  <a:txBody>
                    <a:bodyPr/>
                    <a:lstStyle/>
                    <a:p>
                      <a:pPr indent="0" lvl="0" marL="0" marR="0" rtl="0" algn="ctr">
                        <a:lnSpc>
                          <a:spcPct val="107000"/>
                        </a:lnSpc>
                        <a:spcBef>
                          <a:spcPts val="0"/>
                        </a:spcBef>
                        <a:spcAft>
                          <a:spcPts val="0"/>
                        </a:spcAft>
                        <a:buNone/>
                      </a:pPr>
                      <a:r>
                        <a:rPr lang="en-US" sz="1600" u="none" cap="none" strike="noStrike"/>
                        <a:t>15</a:t>
                      </a:r>
                      <a:endParaRPr sz="1600" u="none" cap="none" strike="noStrike">
                        <a:latin typeface="Calibri"/>
                        <a:ea typeface="Calibri"/>
                        <a:cs typeface="Calibri"/>
                        <a:sym typeface="Calibri"/>
                      </a:endParaRPr>
                    </a:p>
                  </a:txBody>
                  <a:tcPr marT="9525" marB="9525" marR="9525" marL="9525" anchor="ctr"/>
                </a:tc>
              </a:tr>
              <a:tr h="244475">
                <a:tc>
                  <a:txBody>
                    <a:bodyPr/>
                    <a:lstStyle/>
                    <a:p>
                      <a:pPr indent="0" lvl="0" marL="0" marR="0" rtl="0" algn="ctr">
                        <a:lnSpc>
                          <a:spcPct val="107000"/>
                        </a:lnSpc>
                        <a:spcBef>
                          <a:spcPts val="0"/>
                        </a:spcBef>
                        <a:spcAft>
                          <a:spcPts val="0"/>
                        </a:spcAft>
                        <a:buNone/>
                      </a:pPr>
                      <a:r>
                        <a:rPr lang="en-US" sz="1600" u="none" cap="none" strike="noStrike"/>
                        <a:t>orange</a:t>
                      </a:r>
                      <a:endParaRPr sz="1600" u="none" cap="none" strike="noStrike">
                        <a:latin typeface="Calibri"/>
                        <a:ea typeface="Calibri"/>
                        <a:cs typeface="Calibri"/>
                        <a:sym typeface="Calibri"/>
                      </a:endParaRPr>
                    </a:p>
                  </a:txBody>
                  <a:tcPr marT="9525" marB="9525" marR="9525" marL="9525" anchor="ctr"/>
                </a:tc>
                <a:tc>
                  <a:txBody>
                    <a:bodyPr/>
                    <a:lstStyle/>
                    <a:p>
                      <a:pPr indent="0" lvl="0" marL="0" marR="0" rtl="0" algn="ctr">
                        <a:lnSpc>
                          <a:spcPct val="107000"/>
                        </a:lnSpc>
                        <a:spcBef>
                          <a:spcPts val="0"/>
                        </a:spcBef>
                        <a:spcAft>
                          <a:spcPts val="0"/>
                        </a:spcAft>
                        <a:buNone/>
                      </a:pPr>
                      <a:r>
                        <a:rPr lang="en-US" sz="1600" u="none" cap="none" strike="noStrike"/>
                        <a:t>3</a:t>
                      </a:r>
                      <a:endParaRPr sz="1600" u="none" cap="none" strike="noStrike">
                        <a:latin typeface="Calibri"/>
                        <a:ea typeface="Calibri"/>
                        <a:cs typeface="Calibri"/>
                        <a:sym typeface="Calibri"/>
                      </a:endParaRPr>
                    </a:p>
                  </a:txBody>
                  <a:tcPr marT="9525" marB="9525" marR="9525" marL="9525" anchor="ctr"/>
                </a:tc>
                <a:tc>
                  <a:txBody>
                    <a:bodyPr/>
                    <a:lstStyle/>
                    <a:p>
                      <a:pPr indent="0" lvl="0" marL="0" marR="0" rtl="0" algn="ctr">
                        <a:lnSpc>
                          <a:spcPct val="107000"/>
                        </a:lnSpc>
                        <a:spcBef>
                          <a:spcPts val="0"/>
                        </a:spcBef>
                        <a:spcAft>
                          <a:spcPts val="0"/>
                        </a:spcAft>
                        <a:buNone/>
                      </a:pPr>
                      <a:r>
                        <a:rPr lang="en-US" sz="1600" u="none" cap="none" strike="noStrike"/>
                        <a:t>20</a:t>
                      </a:r>
                      <a:endParaRPr sz="1600" u="none" cap="none" strike="noStrike">
                        <a:latin typeface="Calibri"/>
                        <a:ea typeface="Calibri"/>
                        <a:cs typeface="Calibri"/>
                        <a:sym typeface="Calibri"/>
                      </a:endParaRPr>
                    </a:p>
                  </a:txBody>
                  <a:tcPr marT="9525" marB="9525" marR="9525" marL="9525" anchor="ctr"/>
                </a:tc>
              </a:tr>
            </a:tbl>
          </a:graphicData>
        </a:graphic>
      </p:graphicFrame>
      <p:graphicFrame>
        <p:nvGraphicFramePr>
          <p:cNvPr id="130" name="Google Shape;130;p7"/>
          <p:cNvGraphicFramePr/>
          <p:nvPr/>
        </p:nvGraphicFramePr>
        <p:xfrm>
          <a:off x="5614738" y="3368843"/>
          <a:ext cx="3000000" cy="3000000"/>
        </p:xfrm>
        <a:graphic>
          <a:graphicData uri="http://schemas.openxmlformats.org/drawingml/2006/table">
            <a:tbl>
              <a:tblPr bandRow="1" firstCol="1" firstRow="1">
                <a:noFill/>
                <a:tableStyleId>{D800DA60-C0CE-4EA3-9BE5-66FB3202CD5A}</a:tableStyleId>
              </a:tblPr>
              <a:tblGrid>
                <a:gridCol w="900550"/>
                <a:gridCol w="1016025"/>
                <a:gridCol w="918550"/>
                <a:gridCol w="612375"/>
              </a:tblGrid>
              <a:tr h="244475">
                <a:tc>
                  <a:txBody>
                    <a:bodyPr/>
                    <a:lstStyle/>
                    <a:p>
                      <a:pPr indent="0" lvl="0" marL="0" marR="0" rtl="0" algn="ctr">
                        <a:lnSpc>
                          <a:spcPct val="107000"/>
                        </a:lnSpc>
                        <a:spcBef>
                          <a:spcPts val="0"/>
                        </a:spcBef>
                        <a:spcAft>
                          <a:spcPts val="0"/>
                        </a:spcAft>
                        <a:buNone/>
                      </a:pPr>
                      <a:r>
                        <a:rPr lang="en-US" sz="1600" u="none" cap="none" strike="noStrike"/>
                        <a:t>apple</a:t>
                      </a:r>
                      <a:endParaRPr sz="1600" u="none" cap="none" strike="noStrike">
                        <a:latin typeface="Calibri"/>
                        <a:ea typeface="Calibri"/>
                        <a:cs typeface="Calibri"/>
                        <a:sym typeface="Calibri"/>
                      </a:endParaRPr>
                    </a:p>
                  </a:txBody>
                  <a:tcPr marT="9525" marB="9525" marR="9525" marL="9525" anchor="ctr"/>
                </a:tc>
                <a:tc>
                  <a:txBody>
                    <a:bodyPr/>
                    <a:lstStyle/>
                    <a:p>
                      <a:pPr indent="0" lvl="0" marL="0" marR="0" rtl="0" algn="ctr">
                        <a:lnSpc>
                          <a:spcPct val="107000"/>
                        </a:lnSpc>
                        <a:spcBef>
                          <a:spcPts val="0"/>
                        </a:spcBef>
                        <a:spcAft>
                          <a:spcPts val="0"/>
                        </a:spcAft>
                        <a:buNone/>
                      </a:pPr>
                      <a:r>
                        <a:rPr lang="en-US" sz="1600" u="none" cap="none" strike="noStrike"/>
                        <a:t>mango</a:t>
                      </a:r>
                      <a:endParaRPr sz="1600" u="none" cap="none" strike="noStrike">
                        <a:latin typeface="Calibri"/>
                        <a:ea typeface="Calibri"/>
                        <a:cs typeface="Calibri"/>
                        <a:sym typeface="Calibri"/>
                      </a:endParaRPr>
                    </a:p>
                  </a:txBody>
                  <a:tcPr marT="9525" marB="9525" marR="9525" marL="9525" anchor="ctr"/>
                </a:tc>
                <a:tc>
                  <a:txBody>
                    <a:bodyPr/>
                    <a:lstStyle/>
                    <a:p>
                      <a:pPr indent="0" lvl="0" marL="0" marR="0" rtl="0" algn="ctr">
                        <a:lnSpc>
                          <a:spcPct val="107000"/>
                        </a:lnSpc>
                        <a:spcBef>
                          <a:spcPts val="0"/>
                        </a:spcBef>
                        <a:spcAft>
                          <a:spcPts val="0"/>
                        </a:spcAft>
                        <a:buNone/>
                      </a:pPr>
                      <a:r>
                        <a:rPr lang="en-US" sz="1600" u="none" cap="none" strike="noStrike"/>
                        <a:t>orange</a:t>
                      </a:r>
                      <a:endParaRPr sz="1600" u="none" cap="none" strike="noStrike">
                        <a:latin typeface="Calibri"/>
                        <a:ea typeface="Calibri"/>
                        <a:cs typeface="Calibri"/>
                        <a:sym typeface="Calibri"/>
                      </a:endParaRPr>
                    </a:p>
                  </a:txBody>
                  <a:tcPr marT="9525" marB="9525" marR="9525" marL="9525" anchor="ctr"/>
                </a:tc>
                <a:tc>
                  <a:txBody>
                    <a:bodyPr/>
                    <a:lstStyle/>
                    <a:p>
                      <a:pPr indent="0" lvl="0" marL="0" marR="0" rtl="0" algn="ctr">
                        <a:lnSpc>
                          <a:spcPct val="107000"/>
                        </a:lnSpc>
                        <a:spcBef>
                          <a:spcPts val="0"/>
                        </a:spcBef>
                        <a:spcAft>
                          <a:spcPts val="0"/>
                        </a:spcAft>
                        <a:buNone/>
                      </a:pPr>
                      <a:r>
                        <a:rPr lang="en-US" sz="1600" u="none" cap="none" strike="noStrike"/>
                        <a:t>price</a:t>
                      </a:r>
                      <a:endParaRPr sz="1600" u="none" cap="none" strike="noStrike">
                        <a:latin typeface="Calibri"/>
                        <a:ea typeface="Calibri"/>
                        <a:cs typeface="Calibri"/>
                        <a:sym typeface="Calibri"/>
                      </a:endParaRPr>
                    </a:p>
                  </a:txBody>
                  <a:tcPr marT="9525" marB="9525" marR="9525" marL="9525" anchor="ctr"/>
                </a:tc>
              </a:tr>
              <a:tr h="244475">
                <a:tc>
                  <a:txBody>
                    <a:bodyPr/>
                    <a:lstStyle/>
                    <a:p>
                      <a:pPr indent="0" lvl="0" marL="0" marR="0" rtl="0" algn="ctr">
                        <a:lnSpc>
                          <a:spcPct val="107000"/>
                        </a:lnSpc>
                        <a:spcBef>
                          <a:spcPts val="0"/>
                        </a:spcBef>
                        <a:spcAft>
                          <a:spcPts val="0"/>
                        </a:spcAft>
                        <a:buNone/>
                      </a:pPr>
                      <a:r>
                        <a:rPr lang="en-US" sz="1600" u="none" cap="none" strike="noStrike"/>
                        <a:t>1</a:t>
                      </a:r>
                      <a:endParaRPr sz="1600" u="none" cap="none" strike="noStrike">
                        <a:latin typeface="Calibri"/>
                        <a:ea typeface="Calibri"/>
                        <a:cs typeface="Calibri"/>
                        <a:sym typeface="Calibri"/>
                      </a:endParaRPr>
                    </a:p>
                  </a:txBody>
                  <a:tcPr marT="9525" marB="9525" marR="9525" marL="9525" anchor="ctr"/>
                </a:tc>
                <a:tc>
                  <a:txBody>
                    <a:bodyPr/>
                    <a:lstStyle/>
                    <a:p>
                      <a:pPr indent="0" lvl="0" marL="0" marR="0" rtl="0" algn="ctr">
                        <a:lnSpc>
                          <a:spcPct val="107000"/>
                        </a:lnSpc>
                        <a:spcBef>
                          <a:spcPts val="0"/>
                        </a:spcBef>
                        <a:spcAft>
                          <a:spcPts val="0"/>
                        </a:spcAft>
                        <a:buNone/>
                      </a:pPr>
                      <a:r>
                        <a:rPr lang="en-US" sz="1600" u="none" cap="none" strike="noStrike"/>
                        <a:t>0</a:t>
                      </a:r>
                      <a:endParaRPr sz="1600" u="none" cap="none" strike="noStrike">
                        <a:latin typeface="Calibri"/>
                        <a:ea typeface="Calibri"/>
                        <a:cs typeface="Calibri"/>
                        <a:sym typeface="Calibri"/>
                      </a:endParaRPr>
                    </a:p>
                  </a:txBody>
                  <a:tcPr marT="9525" marB="9525" marR="9525" marL="9525" anchor="ctr"/>
                </a:tc>
                <a:tc>
                  <a:txBody>
                    <a:bodyPr/>
                    <a:lstStyle/>
                    <a:p>
                      <a:pPr indent="0" lvl="0" marL="0" marR="0" rtl="0" algn="ctr">
                        <a:lnSpc>
                          <a:spcPct val="107000"/>
                        </a:lnSpc>
                        <a:spcBef>
                          <a:spcPts val="0"/>
                        </a:spcBef>
                        <a:spcAft>
                          <a:spcPts val="0"/>
                        </a:spcAft>
                        <a:buNone/>
                      </a:pPr>
                      <a:r>
                        <a:rPr lang="en-US" sz="1600" u="none" cap="none" strike="noStrike"/>
                        <a:t>0</a:t>
                      </a:r>
                      <a:endParaRPr sz="1600" u="none" cap="none" strike="noStrike">
                        <a:latin typeface="Calibri"/>
                        <a:ea typeface="Calibri"/>
                        <a:cs typeface="Calibri"/>
                        <a:sym typeface="Calibri"/>
                      </a:endParaRPr>
                    </a:p>
                  </a:txBody>
                  <a:tcPr marT="9525" marB="9525" marR="9525" marL="9525" anchor="ctr"/>
                </a:tc>
                <a:tc>
                  <a:txBody>
                    <a:bodyPr/>
                    <a:lstStyle/>
                    <a:p>
                      <a:pPr indent="0" lvl="0" marL="0" marR="0" rtl="0" algn="ctr">
                        <a:lnSpc>
                          <a:spcPct val="107000"/>
                        </a:lnSpc>
                        <a:spcBef>
                          <a:spcPts val="0"/>
                        </a:spcBef>
                        <a:spcAft>
                          <a:spcPts val="0"/>
                        </a:spcAft>
                        <a:buNone/>
                      </a:pPr>
                      <a:r>
                        <a:rPr lang="en-US" sz="1600" u="none" cap="none" strike="noStrike"/>
                        <a:t>5</a:t>
                      </a:r>
                      <a:endParaRPr sz="1600" u="none" cap="none" strike="noStrike">
                        <a:latin typeface="Calibri"/>
                        <a:ea typeface="Calibri"/>
                        <a:cs typeface="Calibri"/>
                        <a:sym typeface="Calibri"/>
                      </a:endParaRPr>
                    </a:p>
                  </a:txBody>
                  <a:tcPr marT="9525" marB="9525" marR="9525" marL="9525" anchor="ctr"/>
                </a:tc>
              </a:tr>
              <a:tr h="244475">
                <a:tc>
                  <a:txBody>
                    <a:bodyPr/>
                    <a:lstStyle/>
                    <a:p>
                      <a:pPr indent="0" lvl="0" marL="0" marR="0" rtl="0" algn="ctr">
                        <a:lnSpc>
                          <a:spcPct val="107000"/>
                        </a:lnSpc>
                        <a:spcBef>
                          <a:spcPts val="0"/>
                        </a:spcBef>
                        <a:spcAft>
                          <a:spcPts val="0"/>
                        </a:spcAft>
                        <a:buNone/>
                      </a:pPr>
                      <a:r>
                        <a:rPr lang="en-US" sz="1600" u="none" cap="none" strike="noStrike"/>
                        <a:t>0</a:t>
                      </a:r>
                      <a:endParaRPr sz="1600" u="none" cap="none" strike="noStrike">
                        <a:latin typeface="Calibri"/>
                        <a:ea typeface="Calibri"/>
                        <a:cs typeface="Calibri"/>
                        <a:sym typeface="Calibri"/>
                      </a:endParaRPr>
                    </a:p>
                  </a:txBody>
                  <a:tcPr marT="9525" marB="9525" marR="9525" marL="9525" anchor="ctr"/>
                </a:tc>
                <a:tc>
                  <a:txBody>
                    <a:bodyPr/>
                    <a:lstStyle/>
                    <a:p>
                      <a:pPr indent="0" lvl="0" marL="0" marR="0" rtl="0" algn="ctr">
                        <a:lnSpc>
                          <a:spcPct val="107000"/>
                        </a:lnSpc>
                        <a:spcBef>
                          <a:spcPts val="0"/>
                        </a:spcBef>
                        <a:spcAft>
                          <a:spcPts val="0"/>
                        </a:spcAft>
                        <a:buNone/>
                      </a:pPr>
                      <a:r>
                        <a:rPr lang="en-US" sz="1600" u="none" cap="none" strike="noStrike"/>
                        <a:t>1</a:t>
                      </a:r>
                      <a:endParaRPr sz="1600" u="none" cap="none" strike="noStrike">
                        <a:latin typeface="Calibri"/>
                        <a:ea typeface="Calibri"/>
                        <a:cs typeface="Calibri"/>
                        <a:sym typeface="Calibri"/>
                      </a:endParaRPr>
                    </a:p>
                  </a:txBody>
                  <a:tcPr marT="9525" marB="9525" marR="9525" marL="9525" anchor="ctr"/>
                </a:tc>
                <a:tc>
                  <a:txBody>
                    <a:bodyPr/>
                    <a:lstStyle/>
                    <a:p>
                      <a:pPr indent="0" lvl="0" marL="0" marR="0" rtl="0" algn="ctr">
                        <a:lnSpc>
                          <a:spcPct val="107000"/>
                        </a:lnSpc>
                        <a:spcBef>
                          <a:spcPts val="0"/>
                        </a:spcBef>
                        <a:spcAft>
                          <a:spcPts val="0"/>
                        </a:spcAft>
                        <a:buNone/>
                      </a:pPr>
                      <a:r>
                        <a:rPr lang="en-US" sz="1600" u="none" cap="none" strike="noStrike"/>
                        <a:t>0</a:t>
                      </a:r>
                      <a:endParaRPr sz="1600" u="none" cap="none" strike="noStrike">
                        <a:latin typeface="Calibri"/>
                        <a:ea typeface="Calibri"/>
                        <a:cs typeface="Calibri"/>
                        <a:sym typeface="Calibri"/>
                      </a:endParaRPr>
                    </a:p>
                  </a:txBody>
                  <a:tcPr marT="9525" marB="9525" marR="9525" marL="9525" anchor="ctr"/>
                </a:tc>
                <a:tc>
                  <a:txBody>
                    <a:bodyPr/>
                    <a:lstStyle/>
                    <a:p>
                      <a:pPr indent="0" lvl="0" marL="0" marR="0" rtl="0" algn="ctr">
                        <a:lnSpc>
                          <a:spcPct val="107000"/>
                        </a:lnSpc>
                        <a:spcBef>
                          <a:spcPts val="0"/>
                        </a:spcBef>
                        <a:spcAft>
                          <a:spcPts val="0"/>
                        </a:spcAft>
                        <a:buNone/>
                      </a:pPr>
                      <a:r>
                        <a:rPr lang="en-US" sz="1600" u="none" cap="none" strike="noStrike"/>
                        <a:t>10</a:t>
                      </a:r>
                      <a:endParaRPr sz="1600" u="none" cap="none" strike="noStrike">
                        <a:latin typeface="Calibri"/>
                        <a:ea typeface="Calibri"/>
                        <a:cs typeface="Calibri"/>
                        <a:sym typeface="Calibri"/>
                      </a:endParaRPr>
                    </a:p>
                  </a:txBody>
                  <a:tcPr marT="9525" marB="9525" marR="9525" marL="9525" anchor="ctr"/>
                </a:tc>
              </a:tr>
              <a:tr h="244475">
                <a:tc>
                  <a:txBody>
                    <a:bodyPr/>
                    <a:lstStyle/>
                    <a:p>
                      <a:pPr indent="0" lvl="0" marL="0" marR="0" rtl="0" algn="ctr">
                        <a:lnSpc>
                          <a:spcPct val="107000"/>
                        </a:lnSpc>
                        <a:spcBef>
                          <a:spcPts val="0"/>
                        </a:spcBef>
                        <a:spcAft>
                          <a:spcPts val="0"/>
                        </a:spcAft>
                        <a:buNone/>
                      </a:pPr>
                      <a:r>
                        <a:rPr lang="en-US" sz="1600" u="none" cap="none" strike="noStrike"/>
                        <a:t>1</a:t>
                      </a:r>
                      <a:endParaRPr sz="1600" u="none" cap="none" strike="noStrike">
                        <a:latin typeface="Calibri"/>
                        <a:ea typeface="Calibri"/>
                        <a:cs typeface="Calibri"/>
                        <a:sym typeface="Calibri"/>
                      </a:endParaRPr>
                    </a:p>
                  </a:txBody>
                  <a:tcPr marT="9525" marB="9525" marR="9525" marL="9525" anchor="ctr"/>
                </a:tc>
                <a:tc>
                  <a:txBody>
                    <a:bodyPr/>
                    <a:lstStyle/>
                    <a:p>
                      <a:pPr indent="0" lvl="0" marL="0" marR="0" rtl="0" algn="ctr">
                        <a:lnSpc>
                          <a:spcPct val="107000"/>
                        </a:lnSpc>
                        <a:spcBef>
                          <a:spcPts val="0"/>
                        </a:spcBef>
                        <a:spcAft>
                          <a:spcPts val="0"/>
                        </a:spcAft>
                        <a:buNone/>
                      </a:pPr>
                      <a:r>
                        <a:rPr lang="en-US" sz="1600" u="none" cap="none" strike="noStrike"/>
                        <a:t>0</a:t>
                      </a:r>
                      <a:endParaRPr sz="1600" u="none" cap="none" strike="noStrike">
                        <a:latin typeface="Calibri"/>
                        <a:ea typeface="Calibri"/>
                        <a:cs typeface="Calibri"/>
                        <a:sym typeface="Calibri"/>
                      </a:endParaRPr>
                    </a:p>
                  </a:txBody>
                  <a:tcPr marT="9525" marB="9525" marR="9525" marL="9525" anchor="ctr"/>
                </a:tc>
                <a:tc>
                  <a:txBody>
                    <a:bodyPr/>
                    <a:lstStyle/>
                    <a:p>
                      <a:pPr indent="0" lvl="0" marL="0" marR="0" rtl="0" algn="ctr">
                        <a:lnSpc>
                          <a:spcPct val="107000"/>
                        </a:lnSpc>
                        <a:spcBef>
                          <a:spcPts val="0"/>
                        </a:spcBef>
                        <a:spcAft>
                          <a:spcPts val="0"/>
                        </a:spcAft>
                        <a:buNone/>
                      </a:pPr>
                      <a:r>
                        <a:rPr lang="en-US" sz="1600" u="none" cap="none" strike="noStrike"/>
                        <a:t>0</a:t>
                      </a:r>
                      <a:endParaRPr sz="1600" u="none" cap="none" strike="noStrike">
                        <a:latin typeface="Calibri"/>
                        <a:ea typeface="Calibri"/>
                        <a:cs typeface="Calibri"/>
                        <a:sym typeface="Calibri"/>
                      </a:endParaRPr>
                    </a:p>
                  </a:txBody>
                  <a:tcPr marT="9525" marB="9525" marR="9525" marL="9525" anchor="ctr"/>
                </a:tc>
                <a:tc>
                  <a:txBody>
                    <a:bodyPr/>
                    <a:lstStyle/>
                    <a:p>
                      <a:pPr indent="0" lvl="0" marL="0" marR="0" rtl="0" algn="ctr">
                        <a:lnSpc>
                          <a:spcPct val="107000"/>
                        </a:lnSpc>
                        <a:spcBef>
                          <a:spcPts val="0"/>
                        </a:spcBef>
                        <a:spcAft>
                          <a:spcPts val="0"/>
                        </a:spcAft>
                        <a:buNone/>
                      </a:pPr>
                      <a:r>
                        <a:rPr lang="en-US" sz="1600" u="none" cap="none" strike="noStrike"/>
                        <a:t>15</a:t>
                      </a:r>
                      <a:endParaRPr sz="1600" u="none" cap="none" strike="noStrike">
                        <a:latin typeface="Calibri"/>
                        <a:ea typeface="Calibri"/>
                        <a:cs typeface="Calibri"/>
                        <a:sym typeface="Calibri"/>
                      </a:endParaRPr>
                    </a:p>
                  </a:txBody>
                  <a:tcPr marT="9525" marB="9525" marR="9525" marL="9525" anchor="ctr"/>
                </a:tc>
              </a:tr>
              <a:tr h="244475">
                <a:tc>
                  <a:txBody>
                    <a:bodyPr/>
                    <a:lstStyle/>
                    <a:p>
                      <a:pPr indent="0" lvl="0" marL="0" marR="0" rtl="0" algn="ctr">
                        <a:lnSpc>
                          <a:spcPct val="107000"/>
                        </a:lnSpc>
                        <a:spcBef>
                          <a:spcPts val="0"/>
                        </a:spcBef>
                        <a:spcAft>
                          <a:spcPts val="0"/>
                        </a:spcAft>
                        <a:buNone/>
                      </a:pPr>
                      <a:r>
                        <a:rPr lang="en-US" sz="1600" u="none" cap="none" strike="noStrike"/>
                        <a:t>0</a:t>
                      </a:r>
                      <a:endParaRPr sz="1600" u="none" cap="none" strike="noStrike">
                        <a:latin typeface="Calibri"/>
                        <a:ea typeface="Calibri"/>
                        <a:cs typeface="Calibri"/>
                        <a:sym typeface="Calibri"/>
                      </a:endParaRPr>
                    </a:p>
                  </a:txBody>
                  <a:tcPr marT="9525" marB="9525" marR="9525" marL="9525" anchor="ctr"/>
                </a:tc>
                <a:tc>
                  <a:txBody>
                    <a:bodyPr/>
                    <a:lstStyle/>
                    <a:p>
                      <a:pPr indent="0" lvl="0" marL="0" marR="0" rtl="0" algn="ctr">
                        <a:lnSpc>
                          <a:spcPct val="107000"/>
                        </a:lnSpc>
                        <a:spcBef>
                          <a:spcPts val="0"/>
                        </a:spcBef>
                        <a:spcAft>
                          <a:spcPts val="0"/>
                        </a:spcAft>
                        <a:buNone/>
                      </a:pPr>
                      <a:r>
                        <a:rPr lang="en-US" sz="1600" u="none" cap="none" strike="noStrike"/>
                        <a:t>0</a:t>
                      </a:r>
                      <a:endParaRPr sz="1600" u="none" cap="none" strike="noStrike">
                        <a:latin typeface="Calibri"/>
                        <a:ea typeface="Calibri"/>
                        <a:cs typeface="Calibri"/>
                        <a:sym typeface="Calibri"/>
                      </a:endParaRPr>
                    </a:p>
                  </a:txBody>
                  <a:tcPr marT="9525" marB="9525" marR="9525" marL="9525" anchor="ctr"/>
                </a:tc>
                <a:tc>
                  <a:txBody>
                    <a:bodyPr/>
                    <a:lstStyle/>
                    <a:p>
                      <a:pPr indent="0" lvl="0" marL="0" marR="0" rtl="0" algn="ctr">
                        <a:lnSpc>
                          <a:spcPct val="107000"/>
                        </a:lnSpc>
                        <a:spcBef>
                          <a:spcPts val="0"/>
                        </a:spcBef>
                        <a:spcAft>
                          <a:spcPts val="0"/>
                        </a:spcAft>
                        <a:buNone/>
                      </a:pPr>
                      <a:r>
                        <a:rPr lang="en-US" sz="1600" u="none" cap="none" strike="noStrike"/>
                        <a:t>1</a:t>
                      </a:r>
                      <a:endParaRPr sz="1600" u="none" cap="none" strike="noStrike">
                        <a:latin typeface="Calibri"/>
                        <a:ea typeface="Calibri"/>
                        <a:cs typeface="Calibri"/>
                        <a:sym typeface="Calibri"/>
                      </a:endParaRPr>
                    </a:p>
                  </a:txBody>
                  <a:tcPr marT="9525" marB="9525" marR="9525" marL="9525" anchor="ctr"/>
                </a:tc>
                <a:tc>
                  <a:txBody>
                    <a:bodyPr/>
                    <a:lstStyle/>
                    <a:p>
                      <a:pPr indent="0" lvl="0" marL="0" marR="0" rtl="0" algn="ctr">
                        <a:lnSpc>
                          <a:spcPct val="107000"/>
                        </a:lnSpc>
                        <a:spcBef>
                          <a:spcPts val="0"/>
                        </a:spcBef>
                        <a:spcAft>
                          <a:spcPts val="0"/>
                        </a:spcAft>
                        <a:buNone/>
                      </a:pPr>
                      <a:r>
                        <a:rPr lang="en-US" sz="1600" u="none" cap="none" strike="noStrike"/>
                        <a:t>20</a:t>
                      </a:r>
                      <a:endParaRPr sz="1600" u="none" cap="none" strike="noStrike">
                        <a:latin typeface="Calibri"/>
                        <a:ea typeface="Calibri"/>
                        <a:cs typeface="Calibri"/>
                        <a:sym typeface="Calibri"/>
                      </a:endParaRPr>
                    </a:p>
                  </a:txBody>
                  <a:tcPr marT="9525" marB="9525" marR="9525" marL="9525" anchor="ct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8"/>
          <p:cNvSpPr txBox="1"/>
          <p:nvPr>
            <p:ph type="title"/>
          </p:nvPr>
        </p:nvSpPr>
        <p:spPr>
          <a:xfrm>
            <a:off x="573506" y="499143"/>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Times New Roman"/>
              <a:buNone/>
            </a:pPr>
            <a:r>
              <a:rPr b="1" lang="en-US" sz="2800">
                <a:latin typeface="Times New Roman"/>
                <a:ea typeface="Times New Roman"/>
                <a:cs typeface="Times New Roman"/>
                <a:sym typeface="Times New Roman"/>
              </a:rPr>
              <a:t>                                   Ordinal Encoding</a:t>
            </a:r>
            <a:endParaRPr sz="2800"/>
          </a:p>
        </p:txBody>
      </p:sp>
      <p:pic>
        <p:nvPicPr>
          <p:cNvPr id="136" name="Google Shape;136;p8"/>
          <p:cNvPicPr preferRelativeResize="0"/>
          <p:nvPr>
            <p:ph idx="1" type="body"/>
          </p:nvPr>
        </p:nvPicPr>
        <p:blipFill rotWithShape="1">
          <a:blip r:embed="rId3">
            <a:alphaModFix/>
          </a:blip>
          <a:srcRect b="0" l="0" r="0" t="0"/>
          <a:stretch/>
        </p:blipFill>
        <p:spPr>
          <a:xfrm>
            <a:off x="3264964" y="2521326"/>
            <a:ext cx="5534131" cy="3558632"/>
          </a:xfrm>
          <a:prstGeom prst="rect">
            <a:avLst/>
          </a:prstGeom>
          <a:noFill/>
          <a:ln>
            <a:noFill/>
          </a:ln>
        </p:spPr>
      </p:pic>
      <p:sp>
        <p:nvSpPr>
          <p:cNvPr id="137" name="Google Shape;137;p8"/>
          <p:cNvSpPr txBox="1"/>
          <p:nvPr/>
        </p:nvSpPr>
        <p:spPr>
          <a:xfrm>
            <a:off x="1447801" y="1443226"/>
            <a:ext cx="10515600" cy="1325563"/>
          </a:xfrm>
          <a:prstGeom prst="rect">
            <a:avLst/>
          </a:prstGeom>
          <a:noFill/>
          <a:ln>
            <a:noFill/>
          </a:ln>
        </p:spPr>
        <p:txBody>
          <a:bodyPr anchorCtr="0" anchor="ctr" bIns="45700" lIns="91425" spcFirstLastPara="1" rIns="91425" wrap="square" tIns="45700">
            <a:normAutofit/>
          </a:bodyPr>
          <a:lstStyle/>
          <a:p>
            <a:pPr indent="0" lvl="0" marL="0" marR="0" rtl="0" algn="l">
              <a:lnSpc>
                <a:spcPct val="107000"/>
              </a:lnSpc>
              <a:spcBef>
                <a:spcPts val="0"/>
              </a:spcBef>
              <a:spcAft>
                <a:spcPts val="0"/>
              </a:spcAft>
              <a:buClr>
                <a:schemeClr val="dk1"/>
              </a:buClr>
              <a:buSzPts val="1800"/>
              <a:buFont typeface="Times New Roman"/>
              <a:buNone/>
            </a:pPr>
            <a:r>
              <a:rPr b="1" i="0" lang="en-US" sz="1800" u="none" cap="none" strike="noStrike">
                <a:solidFill>
                  <a:schemeClr val="dk1"/>
                </a:solidFill>
                <a:latin typeface="Times New Roman"/>
                <a:ea typeface="Times New Roman"/>
                <a:cs typeface="Times New Roman"/>
                <a:sym typeface="Times New Roman"/>
              </a:rPr>
              <a:t> </a:t>
            </a:r>
            <a:r>
              <a:rPr b="1" i="0" lang="en-US" sz="2800" u="none" cap="none" strike="noStrike">
                <a:solidFill>
                  <a:schemeClr val="dk1"/>
                </a:solidFill>
                <a:latin typeface="Times New Roman"/>
                <a:ea typeface="Times New Roman"/>
                <a:cs typeface="Times New Roman"/>
                <a:sym typeface="Times New Roman"/>
              </a:rPr>
              <a:t>Ordinal data can be converted to ordinal encoding</a:t>
            </a:r>
            <a:r>
              <a:rPr b="0" i="0" lang="en-US" sz="2800" u="none" cap="none" strike="noStrike">
                <a:solidFill>
                  <a:schemeClr val="dk1"/>
                </a:solidFill>
                <a:latin typeface="Times New Roman"/>
                <a:ea typeface="Times New Roman"/>
                <a:cs typeface="Times New Roman"/>
                <a:sym typeface="Times New Roman"/>
              </a:rPr>
              <a:t>.</a:t>
            </a:r>
            <a:endParaRPr b="0" i="0" sz="2800" u="none" cap="none" strike="noStrike">
              <a:solidFill>
                <a:schemeClr val="dk1"/>
              </a:solidFill>
              <a:latin typeface="Calibri"/>
              <a:ea typeface="Calibri"/>
              <a:cs typeface="Calibri"/>
              <a:sym typeface="Calibri"/>
            </a:endParaRPr>
          </a:p>
          <a:p>
            <a:pPr indent="0" lvl="0" marL="0" marR="0" rtl="0" algn="l">
              <a:lnSpc>
                <a:spcPct val="107000"/>
              </a:lnSpc>
              <a:spcBef>
                <a:spcPts val="0"/>
              </a:spcBef>
              <a:spcAft>
                <a:spcPts val="0"/>
              </a:spcAft>
              <a:buClr>
                <a:schemeClr val="dk1"/>
              </a:buClr>
              <a:buSzPts val="1800"/>
              <a:buFont typeface="Times New Roman"/>
              <a:buNone/>
            </a:pPr>
            <a:r>
              <a:rPr b="0" i="0" lang="en-US" sz="1800" u="none" cap="none" strike="noStrike">
                <a:solidFill>
                  <a:schemeClr val="dk1"/>
                </a:solidFill>
                <a:latin typeface="Times New Roman"/>
                <a:ea typeface="Times New Roman"/>
                <a:cs typeface="Times New Roman"/>
                <a:sym typeface="Times New Roman"/>
              </a:rPr>
              <a:t> </a:t>
            </a:r>
            <a:endParaRPr b="0" i="0" sz="1800" u="none" cap="none" strike="noStrike">
              <a:solidFill>
                <a:schemeClr val="dk1"/>
              </a:solidFill>
              <a:latin typeface="Calibri"/>
              <a:ea typeface="Calibri"/>
              <a:cs typeface="Calibri"/>
              <a:sym typeface="Calibri"/>
            </a:endParaRPr>
          </a:p>
          <a:p>
            <a:pPr indent="0" lvl="0" marL="0" marR="0" rtl="0" algn="l">
              <a:lnSpc>
                <a:spcPct val="90000"/>
              </a:lnSpc>
              <a:spcBef>
                <a:spcPts val="0"/>
              </a:spcBef>
              <a:spcAft>
                <a:spcPts val="0"/>
              </a:spcAft>
              <a:buClr>
                <a:schemeClr val="dk1"/>
              </a:buClr>
              <a:buSzPts val="2000"/>
              <a:buFont typeface="Calibri"/>
              <a:buNone/>
            </a:pPr>
            <a:r>
              <a:rPr b="0" i="0" lang="en-US" sz="2000" u="none" cap="none" strike="noStrike">
                <a:solidFill>
                  <a:schemeClr val="dk1"/>
                </a:solidFill>
                <a:latin typeface="Calibri"/>
                <a:ea typeface="Calibri"/>
                <a:cs typeface="Calibri"/>
                <a:sym typeface="Calibri"/>
              </a:rPr>
              <a:t>Example:</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9"/>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Data Transformation</a:t>
            </a:r>
            <a:endParaRPr/>
          </a:p>
        </p:txBody>
      </p:sp>
      <p:sp>
        <p:nvSpPr>
          <p:cNvPr id="143" name="Google Shape;143;p9"/>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Autofit/>
          </a:bodyPr>
          <a:lstStyle/>
          <a:p>
            <a:pPr indent="-342900" lvl="0" marL="342900" rtl="0" algn="just">
              <a:lnSpc>
                <a:spcPct val="100000"/>
              </a:lnSpc>
              <a:spcBef>
                <a:spcPts val="0"/>
              </a:spcBef>
              <a:spcAft>
                <a:spcPts val="0"/>
              </a:spcAft>
              <a:buClr>
                <a:schemeClr val="dk1"/>
              </a:buClr>
              <a:buSzPts val="2200"/>
              <a:buChar char="•"/>
            </a:pPr>
            <a:r>
              <a:rPr lang="en-US" sz="2200"/>
              <a:t>Data transformation is an important issue for machine learning. </a:t>
            </a:r>
            <a:endParaRPr sz="2200"/>
          </a:p>
          <a:p>
            <a:pPr indent="-342900" lvl="0" marL="342900" rtl="0" algn="just">
              <a:lnSpc>
                <a:spcPct val="100000"/>
              </a:lnSpc>
              <a:spcBef>
                <a:spcPts val="440"/>
              </a:spcBef>
              <a:spcAft>
                <a:spcPts val="0"/>
              </a:spcAft>
              <a:buClr>
                <a:schemeClr val="dk1"/>
              </a:buClr>
              <a:buSzPts val="2200"/>
              <a:buChar char="•"/>
            </a:pPr>
            <a:r>
              <a:rPr lang="en-US" sz="2200"/>
              <a:t>Suppose you have a dataset that contains some people's age and income data. The age range of human beings is usually from 0 to 100, in fact it is seen that those who earn may be between 25 and 60 years of age. </a:t>
            </a:r>
            <a:endParaRPr sz="2200"/>
          </a:p>
          <a:p>
            <a:pPr indent="-342900" lvl="0" marL="342900" rtl="0" algn="just">
              <a:lnSpc>
                <a:spcPct val="100000"/>
              </a:lnSpc>
              <a:spcBef>
                <a:spcPts val="440"/>
              </a:spcBef>
              <a:spcAft>
                <a:spcPts val="0"/>
              </a:spcAft>
              <a:buClr>
                <a:schemeClr val="dk1"/>
              </a:buClr>
              <a:buSzPts val="2200"/>
              <a:buChar char="•"/>
            </a:pPr>
            <a:r>
              <a:rPr lang="en-US" sz="2200"/>
              <a:t>On the other hand, the amount of income can be from a few thousand to a few lakhs. So it is clear to us that there is a big difference between the age range and the income range. Sometimes such differences can cause the model to be biased. </a:t>
            </a:r>
            <a:endParaRPr sz="2200"/>
          </a:p>
          <a:p>
            <a:pPr indent="-342900" lvl="0" marL="342900" rtl="0" algn="just">
              <a:lnSpc>
                <a:spcPct val="100000"/>
              </a:lnSpc>
              <a:spcBef>
                <a:spcPts val="440"/>
              </a:spcBef>
              <a:spcAft>
                <a:spcPts val="0"/>
              </a:spcAft>
              <a:buClr>
                <a:schemeClr val="dk1"/>
              </a:buClr>
              <a:buSzPts val="2200"/>
              <a:buChar char="•"/>
            </a:pPr>
            <a:r>
              <a:rPr lang="en-US" sz="2200"/>
              <a:t>Also, scaling the data increases the performance of the model, in many cases it takes less time to run the model. </a:t>
            </a:r>
            <a:endParaRPr sz="2200"/>
          </a:p>
          <a:p>
            <a:pPr indent="-342900" lvl="0" marL="342900" rtl="0" algn="just">
              <a:lnSpc>
                <a:spcPct val="100000"/>
              </a:lnSpc>
              <a:spcBef>
                <a:spcPts val="440"/>
              </a:spcBef>
              <a:spcAft>
                <a:spcPts val="0"/>
              </a:spcAft>
              <a:buClr>
                <a:schemeClr val="dk1"/>
              </a:buClr>
              <a:buSzPts val="2200"/>
              <a:buChar char="•"/>
            </a:pPr>
            <a:r>
              <a:rPr lang="en-US" sz="2200"/>
              <a:t>Many people also call data transformation as feature engineering.</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10"/>
          <p:cNvSpPr txBox="1"/>
          <p:nvPr>
            <p:ph type="title"/>
          </p:nvPr>
        </p:nvSpPr>
        <p:spPr>
          <a:xfrm>
            <a:off x="1809475" y="328288"/>
            <a:ext cx="8229600" cy="6318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100000"/>
              </a:lnSpc>
              <a:spcBef>
                <a:spcPts val="0"/>
              </a:spcBef>
              <a:spcAft>
                <a:spcPts val="0"/>
              </a:spcAft>
              <a:buClr>
                <a:schemeClr val="dk1"/>
              </a:buClr>
              <a:buSzPct val="111111"/>
              <a:buFont typeface="Calibri"/>
              <a:buNone/>
            </a:pPr>
            <a:r>
              <a:rPr lang="en-US"/>
              <a:t>Label Encoding</a:t>
            </a:r>
            <a:endParaRPr/>
          </a:p>
        </p:txBody>
      </p:sp>
      <p:sp>
        <p:nvSpPr>
          <p:cNvPr id="149" name="Google Shape;149;p10"/>
          <p:cNvSpPr txBox="1"/>
          <p:nvPr>
            <p:ph idx="1" type="body"/>
          </p:nvPr>
        </p:nvSpPr>
        <p:spPr>
          <a:xfrm>
            <a:off x="1981200" y="1166018"/>
            <a:ext cx="6641432" cy="4793624"/>
          </a:xfrm>
          <a:prstGeom prst="rect">
            <a:avLst/>
          </a:prstGeom>
          <a:noFill/>
          <a:ln>
            <a:noFill/>
          </a:ln>
        </p:spPr>
        <p:txBody>
          <a:bodyPr anchorCtr="0" anchor="t" bIns="45700" lIns="91425" spcFirstLastPara="1" rIns="91425" wrap="square" tIns="45700">
            <a:normAutofit fontScale="62500" lnSpcReduction="20000"/>
          </a:bodyPr>
          <a:lstStyle/>
          <a:p>
            <a:pPr indent="0" lvl="0" marL="0" rtl="0" algn="just">
              <a:lnSpc>
                <a:spcPct val="100000"/>
              </a:lnSpc>
              <a:spcBef>
                <a:spcPts val="0"/>
              </a:spcBef>
              <a:spcAft>
                <a:spcPts val="0"/>
              </a:spcAft>
              <a:buClr>
                <a:schemeClr val="dk1"/>
              </a:buClr>
              <a:buSzPct val="100000"/>
              <a:buNone/>
            </a:pPr>
            <a:r>
              <a:rPr lang="en-US" sz="2900"/>
              <a:t>One-hot and Ordinal encoders </a:t>
            </a:r>
            <a:r>
              <a:rPr lang="en-US" sz="2900">
                <a:latin typeface="Times New Roman"/>
                <a:ea typeface="Times New Roman"/>
                <a:cs typeface="Times New Roman"/>
                <a:sym typeface="Times New Roman"/>
              </a:rPr>
              <a:t>can be used for explanatory/independent variables (x). For prediction/target variables (y), we use label encoding, specially designed for output or target variables.</a:t>
            </a:r>
            <a:endParaRPr sz="2900">
              <a:latin typeface="Calibri"/>
              <a:ea typeface="Calibri"/>
              <a:cs typeface="Calibri"/>
              <a:sym typeface="Calibri"/>
            </a:endParaRPr>
          </a:p>
          <a:p>
            <a:pPr indent="0" lvl="0" marL="0" rtl="0" algn="just">
              <a:lnSpc>
                <a:spcPct val="100000"/>
              </a:lnSpc>
              <a:spcBef>
                <a:spcPts val="0"/>
              </a:spcBef>
              <a:spcAft>
                <a:spcPts val="0"/>
              </a:spcAft>
              <a:buClr>
                <a:schemeClr val="dk1"/>
              </a:buClr>
              <a:buSzPct val="100000"/>
              <a:buNone/>
            </a:pPr>
            <a:r>
              <a:t/>
            </a:r>
            <a:endParaRPr/>
          </a:p>
          <a:p>
            <a:pPr indent="0" lvl="0" marL="0" rtl="0" algn="just">
              <a:lnSpc>
                <a:spcPct val="100000"/>
              </a:lnSpc>
              <a:spcBef>
                <a:spcPts val="0"/>
              </a:spcBef>
              <a:spcAft>
                <a:spcPts val="0"/>
              </a:spcAft>
              <a:buClr>
                <a:schemeClr val="dk1"/>
              </a:buClr>
              <a:buSzPct val="100000"/>
              <a:buNone/>
            </a:pPr>
            <a:r>
              <a:t/>
            </a:r>
            <a:endParaRPr/>
          </a:p>
          <a:p>
            <a:pPr indent="0" lvl="0" marL="0" rtl="0" algn="just">
              <a:lnSpc>
                <a:spcPct val="100000"/>
              </a:lnSpc>
              <a:spcBef>
                <a:spcPts val="0"/>
              </a:spcBef>
              <a:spcAft>
                <a:spcPts val="0"/>
              </a:spcAft>
              <a:buClr>
                <a:schemeClr val="dk1"/>
              </a:buClr>
              <a:buSzPct val="100000"/>
              <a:buNone/>
            </a:pPr>
            <a:r>
              <a:rPr lang="en-US"/>
              <a:t>Label encoding is a method of processing categorical data. In this method we can express all the unique values ​​of categorical variables with different numbers. </a:t>
            </a:r>
            <a:endParaRPr/>
          </a:p>
          <a:p>
            <a:pPr indent="-342900" lvl="0" marL="342900" rtl="0" algn="just">
              <a:lnSpc>
                <a:spcPct val="100000"/>
              </a:lnSpc>
              <a:spcBef>
                <a:spcPts val="400"/>
              </a:spcBef>
              <a:spcAft>
                <a:spcPts val="0"/>
              </a:spcAft>
              <a:buClr>
                <a:schemeClr val="dk1"/>
              </a:buClr>
              <a:buSzPct val="100000"/>
              <a:buChar char="•"/>
            </a:pPr>
            <a:r>
              <a:rPr lang="en-US"/>
              <a:t>Suppose you have a dataset where male or female is written as human gender. We can express the males by 1 and the females by 2 by encoding the label. </a:t>
            </a:r>
            <a:endParaRPr/>
          </a:p>
          <a:p>
            <a:pPr indent="-342900" lvl="0" marL="342900" rtl="0" algn="just">
              <a:lnSpc>
                <a:spcPct val="100000"/>
              </a:lnSpc>
              <a:spcBef>
                <a:spcPts val="400"/>
              </a:spcBef>
              <a:spcAft>
                <a:spcPts val="0"/>
              </a:spcAft>
              <a:buClr>
                <a:schemeClr val="dk1"/>
              </a:buClr>
              <a:buSzPct val="100000"/>
              <a:buChar char="•"/>
            </a:pPr>
            <a:r>
              <a:rPr lang="en-US"/>
              <a:t>It is also called dummy variable. The code below shows that the ST_NAME variable is a categorical variable, with different road names. </a:t>
            </a:r>
            <a:endParaRPr/>
          </a:p>
          <a:p>
            <a:pPr indent="-342900" lvl="0" marL="342900" rtl="0" algn="just">
              <a:lnSpc>
                <a:spcPct val="100000"/>
              </a:lnSpc>
              <a:spcBef>
                <a:spcPts val="400"/>
              </a:spcBef>
              <a:spcAft>
                <a:spcPts val="0"/>
              </a:spcAft>
              <a:buClr>
                <a:schemeClr val="dk1"/>
              </a:buClr>
              <a:buSzPct val="100000"/>
              <a:buChar char="•"/>
            </a:pPr>
            <a:r>
              <a:rPr lang="en-US"/>
              <a:t>Through label encoding we have expressed the name of each unique road by a different number. Then when the dataset is shown again, we see that all the roads (unique) are expressed by different numbers.</a:t>
            </a:r>
            <a:endParaRPr/>
          </a:p>
        </p:txBody>
      </p:sp>
      <p:sp>
        <p:nvSpPr>
          <p:cNvPr id="150" name="Google Shape;150;p10"/>
          <p:cNvSpPr/>
          <p:nvPr/>
        </p:nvSpPr>
        <p:spPr>
          <a:xfrm>
            <a:off x="8803105" y="1715182"/>
            <a:ext cx="2514600" cy="2246769"/>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400" u="none" cap="none" strike="noStrike">
                <a:solidFill>
                  <a:schemeClr val="dk1"/>
                </a:solidFill>
                <a:latin typeface="Calibri"/>
                <a:ea typeface="Calibri"/>
                <a:cs typeface="Calibri"/>
                <a:sym typeface="Calibri"/>
              </a:rPr>
              <a:t>from sklearn.preprocessing </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400" u="none" cap="none" strike="noStrike">
                <a:solidFill>
                  <a:schemeClr val="dk1"/>
                </a:solidFill>
                <a:latin typeface="Calibri"/>
                <a:ea typeface="Calibri"/>
                <a:cs typeface="Calibri"/>
                <a:sym typeface="Calibri"/>
              </a:rPr>
              <a:t>import LabelEncoder </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400" u="none" cap="none" strike="noStrike">
                <a:solidFill>
                  <a:schemeClr val="dk1"/>
                </a:solidFill>
                <a:latin typeface="Calibri"/>
                <a:ea typeface="Calibri"/>
                <a:cs typeface="Calibri"/>
                <a:sym typeface="Calibri"/>
              </a:rPr>
              <a:t>le = LabelEncoder() </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400" u="none" cap="none" strike="noStrike">
                <a:solidFill>
                  <a:schemeClr val="dk1"/>
                </a:solidFill>
                <a:latin typeface="Calibri"/>
                <a:ea typeface="Calibri"/>
                <a:cs typeface="Calibri"/>
                <a:sym typeface="Calibri"/>
              </a:rPr>
              <a:t>df['ST_NAME']= le.fit_transform(df['ST_NAME']) </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None/>
            </a:pPr>
            <a:r>
              <a:rPr b="0" i="0" lang="en-US" sz="1400" u="none" cap="none" strike="noStrike">
                <a:solidFill>
                  <a:schemeClr val="dk1"/>
                </a:solidFill>
                <a:latin typeface="Calibri"/>
                <a:ea typeface="Calibri"/>
                <a:cs typeface="Calibri"/>
                <a:sym typeface="Calibri"/>
              </a:rPr>
              <a:t>df</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           Example of label encoding</a:t>
            </a:r>
            <a:endParaRPr/>
          </a:p>
        </p:txBody>
      </p:sp>
      <p:pic>
        <p:nvPicPr>
          <p:cNvPr id="156" name="Google Shape;156;p11"/>
          <p:cNvPicPr preferRelativeResize="0"/>
          <p:nvPr>
            <p:ph idx="1" type="body"/>
          </p:nvPr>
        </p:nvPicPr>
        <p:blipFill rotWithShape="1">
          <a:blip r:embed="rId3">
            <a:alphaModFix/>
          </a:blip>
          <a:srcRect b="0" l="0" r="0" t="0"/>
          <a:stretch/>
        </p:blipFill>
        <p:spPr>
          <a:xfrm>
            <a:off x="2384738" y="2339990"/>
            <a:ext cx="7422523" cy="332260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12"/>
          <p:cNvSpPr txBox="1"/>
          <p:nvPr>
            <p:ph type="title"/>
          </p:nvPr>
        </p:nvSpPr>
        <p:spPr>
          <a:xfrm>
            <a:off x="838200" y="156578"/>
            <a:ext cx="10515600" cy="637506"/>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br>
              <a:rPr b="1" i="1" lang="en-US" sz="4400">
                <a:latin typeface="Times New Roman"/>
                <a:ea typeface="Times New Roman"/>
                <a:cs typeface="Times New Roman"/>
                <a:sym typeface="Times New Roman"/>
              </a:rPr>
            </a:br>
            <a:r>
              <a:rPr b="1" i="1" lang="en-US" sz="4400">
                <a:latin typeface="Times New Roman"/>
                <a:ea typeface="Times New Roman"/>
                <a:cs typeface="Times New Roman"/>
                <a:sym typeface="Times New Roman"/>
              </a:rPr>
              <a:t>               Handling Outliers</a:t>
            </a:r>
            <a:br>
              <a:rPr lang="en-US" sz="4000">
                <a:latin typeface="Calibri"/>
                <a:ea typeface="Calibri"/>
                <a:cs typeface="Calibri"/>
                <a:sym typeface="Calibri"/>
              </a:rPr>
            </a:br>
            <a:endParaRPr/>
          </a:p>
        </p:txBody>
      </p:sp>
      <p:sp>
        <p:nvSpPr>
          <p:cNvPr id="162" name="Google Shape;162;p12"/>
          <p:cNvSpPr txBox="1"/>
          <p:nvPr>
            <p:ph idx="1" type="body"/>
          </p:nvPr>
        </p:nvSpPr>
        <p:spPr>
          <a:xfrm>
            <a:off x="838200" y="930442"/>
            <a:ext cx="10515600" cy="5562432"/>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b="1" i="1" lang="en-US" sz="2800">
                <a:latin typeface="Times New Roman"/>
                <a:ea typeface="Times New Roman"/>
                <a:cs typeface="Times New Roman"/>
                <a:sym typeface="Times New Roman"/>
              </a:rPr>
              <a:t>Outliers are data points significantly different from the rest of the data set. They can affect the accuracy of our model.</a:t>
            </a:r>
            <a:endParaRPr/>
          </a:p>
          <a:p>
            <a:pPr indent="-90804" lvl="0" marL="228600" rtl="0" algn="l">
              <a:lnSpc>
                <a:spcPct val="90000"/>
              </a:lnSpc>
              <a:spcBef>
                <a:spcPts val="1000"/>
              </a:spcBef>
              <a:spcAft>
                <a:spcPts val="0"/>
              </a:spcAft>
              <a:buClr>
                <a:schemeClr val="dk1"/>
              </a:buClr>
              <a:buSzPct val="100000"/>
              <a:buNone/>
            </a:pPr>
            <a:r>
              <a:t/>
            </a:r>
            <a:endParaRPr/>
          </a:p>
          <a:p>
            <a:pPr indent="-90804" lvl="0" marL="228600" rtl="0" algn="l">
              <a:lnSpc>
                <a:spcPct val="90000"/>
              </a:lnSpc>
              <a:spcBef>
                <a:spcPts val="1000"/>
              </a:spcBef>
              <a:spcAft>
                <a:spcPts val="0"/>
              </a:spcAft>
              <a:buClr>
                <a:schemeClr val="dk1"/>
              </a:buClr>
              <a:buSzPct val="100000"/>
              <a:buNone/>
            </a:pPr>
            <a:r>
              <a:t/>
            </a:r>
            <a:endParaRPr/>
          </a:p>
          <a:p>
            <a:pPr indent="-90804" lvl="0" marL="228600" rtl="0" algn="l">
              <a:lnSpc>
                <a:spcPct val="90000"/>
              </a:lnSpc>
              <a:spcBef>
                <a:spcPts val="1000"/>
              </a:spcBef>
              <a:spcAft>
                <a:spcPts val="0"/>
              </a:spcAft>
              <a:buClr>
                <a:schemeClr val="dk1"/>
              </a:buClr>
              <a:buSzPct val="100000"/>
              <a:buNone/>
            </a:pPr>
            <a:r>
              <a:t/>
            </a:r>
            <a:endParaRPr/>
          </a:p>
          <a:p>
            <a:pPr indent="-90804" lvl="0" marL="228600" rtl="0" algn="l">
              <a:lnSpc>
                <a:spcPct val="90000"/>
              </a:lnSpc>
              <a:spcBef>
                <a:spcPts val="1000"/>
              </a:spcBef>
              <a:spcAft>
                <a:spcPts val="0"/>
              </a:spcAft>
              <a:buClr>
                <a:schemeClr val="dk1"/>
              </a:buClr>
              <a:buSzPct val="100000"/>
              <a:buNone/>
            </a:pPr>
            <a:r>
              <a:t/>
            </a:r>
            <a:endParaRPr/>
          </a:p>
          <a:p>
            <a:pPr indent="-90804" lvl="0" marL="228600" rtl="0" algn="l">
              <a:lnSpc>
                <a:spcPct val="90000"/>
              </a:lnSpc>
              <a:spcBef>
                <a:spcPts val="1000"/>
              </a:spcBef>
              <a:spcAft>
                <a:spcPts val="0"/>
              </a:spcAft>
              <a:buClr>
                <a:schemeClr val="dk1"/>
              </a:buClr>
              <a:buSzPct val="100000"/>
              <a:buNone/>
            </a:pPr>
            <a:r>
              <a:t/>
            </a:r>
            <a:endParaRPr/>
          </a:p>
          <a:p>
            <a:pPr indent="0" lvl="0" marL="0" marR="0" rtl="0" algn="l">
              <a:lnSpc>
                <a:spcPct val="107000"/>
              </a:lnSpc>
              <a:spcBef>
                <a:spcPts val="0"/>
              </a:spcBef>
              <a:spcAft>
                <a:spcPts val="0"/>
              </a:spcAft>
              <a:buClr>
                <a:schemeClr val="dk1"/>
              </a:buClr>
              <a:buSzPct val="100000"/>
              <a:buNone/>
            </a:pPr>
            <a:r>
              <a:rPr i="1" lang="en-US">
                <a:latin typeface="Times New Roman"/>
                <a:ea typeface="Times New Roman"/>
                <a:cs typeface="Times New Roman"/>
                <a:sym typeface="Times New Roman"/>
              </a:rPr>
              <a:t>There are two main ways to treat outliers:</a:t>
            </a:r>
            <a:endParaRPr>
              <a:latin typeface="Calibri"/>
              <a:ea typeface="Calibri"/>
              <a:cs typeface="Calibri"/>
              <a:sym typeface="Calibri"/>
            </a:endParaRPr>
          </a:p>
          <a:p>
            <a:pPr indent="-342900" lvl="0" marL="342900" marR="0" rtl="0" algn="l">
              <a:lnSpc>
                <a:spcPct val="107000"/>
              </a:lnSpc>
              <a:spcBef>
                <a:spcPts val="800"/>
              </a:spcBef>
              <a:spcAft>
                <a:spcPts val="0"/>
              </a:spcAft>
              <a:buClr>
                <a:schemeClr val="dk1"/>
              </a:buClr>
              <a:buSzPct val="46082"/>
              <a:buFont typeface="Noto Sans Symbols"/>
              <a:buChar char="∙"/>
            </a:pPr>
            <a:r>
              <a:rPr b="1" lang="en-US">
                <a:latin typeface="Times New Roman"/>
                <a:ea typeface="Times New Roman"/>
                <a:cs typeface="Times New Roman"/>
                <a:sym typeface="Times New Roman"/>
              </a:rPr>
              <a:t>Trimming:</a:t>
            </a:r>
            <a:r>
              <a:rPr lang="en-US">
                <a:latin typeface="Times New Roman"/>
                <a:ea typeface="Times New Roman"/>
                <a:cs typeface="Times New Roman"/>
                <a:sym typeface="Times New Roman"/>
              </a:rPr>
              <a:t> We can remove the outliers from the data set.</a:t>
            </a:r>
            <a:endParaRPr>
              <a:latin typeface="Calibri"/>
              <a:ea typeface="Calibri"/>
              <a:cs typeface="Calibri"/>
              <a:sym typeface="Calibri"/>
            </a:endParaRPr>
          </a:p>
          <a:p>
            <a:pPr indent="-342900" lvl="0" marL="342900" marR="0" rtl="0" algn="l">
              <a:lnSpc>
                <a:spcPct val="107000"/>
              </a:lnSpc>
              <a:spcBef>
                <a:spcPts val="800"/>
              </a:spcBef>
              <a:spcAft>
                <a:spcPts val="0"/>
              </a:spcAft>
              <a:buClr>
                <a:schemeClr val="dk1"/>
              </a:buClr>
              <a:buSzPct val="46082"/>
              <a:buFont typeface="Noto Sans Symbols"/>
              <a:buChar char="∙"/>
            </a:pPr>
            <a:r>
              <a:rPr b="1" lang="en-US">
                <a:latin typeface="Times New Roman"/>
                <a:ea typeface="Times New Roman"/>
                <a:cs typeface="Times New Roman"/>
                <a:sym typeface="Times New Roman"/>
              </a:rPr>
              <a:t>Capping</a:t>
            </a:r>
            <a:r>
              <a:rPr lang="en-US">
                <a:latin typeface="Times New Roman"/>
                <a:ea typeface="Times New Roman"/>
                <a:cs typeface="Times New Roman"/>
                <a:sym typeface="Times New Roman"/>
              </a:rPr>
              <a:t>: We can replace the outliers with values within the range of the rest of the data.</a:t>
            </a:r>
            <a:endParaRPr>
              <a:latin typeface="Calibri"/>
              <a:ea typeface="Calibri"/>
              <a:cs typeface="Calibri"/>
              <a:sym typeface="Calibri"/>
            </a:endParaRPr>
          </a:p>
          <a:p>
            <a:pPr indent="0" lvl="0" marL="0" marR="0" rtl="0" algn="l">
              <a:lnSpc>
                <a:spcPct val="107000"/>
              </a:lnSpc>
              <a:spcBef>
                <a:spcPts val="800"/>
              </a:spcBef>
              <a:spcAft>
                <a:spcPts val="0"/>
              </a:spcAft>
              <a:buClr>
                <a:schemeClr val="dk1"/>
              </a:buClr>
              <a:buSzPct val="100000"/>
              <a:buNone/>
            </a:pPr>
            <a:r>
              <a:rPr lang="en-US">
                <a:latin typeface="Times New Roman"/>
                <a:ea typeface="Times New Roman"/>
                <a:cs typeface="Times New Roman"/>
                <a:sym typeface="Times New Roman"/>
              </a:rPr>
              <a:t>If the outliers are a small number, e can trim them. But if the outliers are significant, we might cap them.</a:t>
            </a:r>
            <a:endParaRPr>
              <a:latin typeface="Calibri"/>
              <a:ea typeface="Calibri"/>
              <a:cs typeface="Calibri"/>
              <a:sym typeface="Calibri"/>
            </a:endParaRPr>
          </a:p>
          <a:p>
            <a:pPr indent="0" lvl="0" marL="0" marR="0" rtl="0" algn="l">
              <a:lnSpc>
                <a:spcPct val="107000"/>
              </a:lnSpc>
              <a:spcBef>
                <a:spcPts val="800"/>
              </a:spcBef>
              <a:spcAft>
                <a:spcPts val="0"/>
              </a:spcAft>
              <a:buClr>
                <a:schemeClr val="dk1"/>
              </a:buClr>
              <a:buSzPct val="100000"/>
              <a:buNone/>
            </a:pPr>
            <a:r>
              <a:rPr lang="en-US">
                <a:latin typeface="Times New Roman"/>
                <a:ea typeface="Times New Roman"/>
                <a:cs typeface="Times New Roman"/>
                <a:sym typeface="Times New Roman"/>
              </a:rPr>
              <a:t>Several methods can be used to detect and remove outliers, including </a:t>
            </a:r>
            <a:r>
              <a:rPr i="1" lang="en-US">
                <a:latin typeface="Times New Roman"/>
                <a:ea typeface="Times New Roman"/>
                <a:cs typeface="Times New Roman"/>
                <a:sym typeface="Times New Roman"/>
              </a:rPr>
              <a:t>z-score, IQR, percentile, </a:t>
            </a:r>
            <a:r>
              <a:rPr lang="en-US">
                <a:latin typeface="Times New Roman"/>
                <a:ea typeface="Times New Roman"/>
                <a:cs typeface="Times New Roman"/>
                <a:sym typeface="Times New Roman"/>
              </a:rPr>
              <a:t>and</a:t>
            </a:r>
            <a:r>
              <a:rPr i="1" lang="en-US">
                <a:latin typeface="Times New Roman"/>
                <a:ea typeface="Times New Roman"/>
                <a:cs typeface="Times New Roman"/>
                <a:sym typeface="Times New Roman"/>
              </a:rPr>
              <a:t> Winsorization.</a:t>
            </a:r>
            <a:endParaRPr>
              <a:latin typeface="Calibri"/>
              <a:ea typeface="Calibri"/>
              <a:cs typeface="Calibri"/>
              <a:sym typeface="Calibri"/>
            </a:endParaRPr>
          </a:p>
          <a:p>
            <a:pPr indent="0" lvl="0" marL="0" rtl="0" algn="l">
              <a:lnSpc>
                <a:spcPct val="90000"/>
              </a:lnSpc>
              <a:spcBef>
                <a:spcPts val="1800"/>
              </a:spcBef>
              <a:spcAft>
                <a:spcPts val="0"/>
              </a:spcAft>
              <a:buClr>
                <a:schemeClr val="dk1"/>
              </a:buClr>
              <a:buSzPct val="100000"/>
              <a:buNone/>
            </a:pPr>
            <a:r>
              <a:t/>
            </a:r>
            <a:endParaRPr/>
          </a:p>
        </p:txBody>
      </p:sp>
      <p:pic>
        <p:nvPicPr>
          <p:cNvPr id="163" name="Google Shape;163;p12"/>
          <p:cNvPicPr preferRelativeResize="0"/>
          <p:nvPr/>
        </p:nvPicPr>
        <p:blipFill rotWithShape="1">
          <a:blip r:embed="rId3">
            <a:alphaModFix/>
          </a:blip>
          <a:srcRect b="0" l="0" r="0" t="0"/>
          <a:stretch/>
        </p:blipFill>
        <p:spPr>
          <a:xfrm>
            <a:off x="6448926" y="1295232"/>
            <a:ext cx="4578985" cy="22828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14"/>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Mapping Function</a:t>
            </a:r>
            <a:endParaRPr/>
          </a:p>
        </p:txBody>
      </p:sp>
      <p:sp>
        <p:nvSpPr>
          <p:cNvPr id="169" name="Google Shape;169;p14"/>
          <p:cNvSpPr txBox="1"/>
          <p:nvPr>
            <p:ph idx="1" type="body"/>
          </p:nvPr>
        </p:nvSpPr>
        <p:spPr>
          <a:xfrm>
            <a:off x="1981200" y="1600201"/>
            <a:ext cx="8229600" cy="2362200"/>
          </a:xfrm>
          <a:prstGeom prst="rect">
            <a:avLst/>
          </a:prstGeom>
          <a:noFill/>
          <a:ln>
            <a:noFill/>
          </a:ln>
        </p:spPr>
        <p:txBody>
          <a:bodyPr anchorCtr="0" anchor="t" bIns="45700" lIns="91425" spcFirstLastPara="1" rIns="91425" wrap="square" tIns="45700">
            <a:normAutofit/>
          </a:bodyPr>
          <a:lstStyle/>
          <a:p>
            <a:pPr indent="-342900" lvl="0" marL="342900" rtl="0" algn="just">
              <a:lnSpc>
                <a:spcPct val="100000"/>
              </a:lnSpc>
              <a:spcBef>
                <a:spcPts val="0"/>
              </a:spcBef>
              <a:spcAft>
                <a:spcPts val="0"/>
              </a:spcAft>
              <a:buClr>
                <a:schemeClr val="dk1"/>
              </a:buClr>
              <a:buSzPts val="2800"/>
              <a:buChar char="•"/>
            </a:pPr>
            <a:r>
              <a:rPr lang="en-US"/>
              <a:t>We can also convert data from numerical to categorical or categorical to numerical through the mapping function. In the following example we have mapped Y to 1 and N to 2 of the OWN_OCCUPIED column.</a:t>
            </a:r>
            <a:endParaRPr/>
          </a:p>
        </p:txBody>
      </p:sp>
      <p:sp>
        <p:nvSpPr>
          <p:cNvPr id="170" name="Google Shape;170;p14"/>
          <p:cNvSpPr/>
          <p:nvPr/>
        </p:nvSpPr>
        <p:spPr>
          <a:xfrm>
            <a:off x="3842656" y="4038600"/>
            <a:ext cx="4920343" cy="1477328"/>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#use of mapping function</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mapping = {'Y' :1 , 'N' : 2 }</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df['OWN_OCCUPIED'] = df['OWN_OCCUPIED'].map(mapping)</a:t>
            </a:r>
            <a:endParaRPr b="0" i="0" sz="1400" u="none" cap="none" strike="noStrike">
              <a:solidFill>
                <a:srgbClr val="000000"/>
              </a:solidFill>
              <a:latin typeface="Arial"/>
              <a:ea typeface="Arial"/>
              <a:cs typeface="Arial"/>
              <a:sym typeface="Arial"/>
            </a:endParaRPr>
          </a:p>
          <a:p>
            <a:pPr indent="0" lvl="0" marL="0" marR="0" rtl="0" algn="l">
              <a:spcBef>
                <a:spcPts val="0"/>
              </a:spcBef>
              <a:spcAft>
                <a:spcPts val="0"/>
              </a:spcAft>
              <a:buNone/>
            </a:pPr>
            <a:r>
              <a:rPr b="0" i="0" lang="en-US" sz="1800" u="none" cap="none" strike="noStrike">
                <a:solidFill>
                  <a:schemeClr val="dk1"/>
                </a:solidFill>
                <a:latin typeface="Calibri"/>
                <a:ea typeface="Calibri"/>
                <a:cs typeface="Calibri"/>
                <a:sym typeface="Calibri"/>
              </a:rPr>
              <a:t>df</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                         Feature scaling</a:t>
            </a:r>
            <a:endParaRPr/>
          </a:p>
        </p:txBody>
      </p:sp>
      <p:sp>
        <p:nvSpPr>
          <p:cNvPr id="176" name="Google Shape;176;p1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marR="0" rtl="0" algn="l">
              <a:lnSpc>
                <a:spcPct val="107000"/>
              </a:lnSpc>
              <a:spcBef>
                <a:spcPts val="0"/>
              </a:spcBef>
              <a:spcAft>
                <a:spcPts val="0"/>
              </a:spcAft>
              <a:buClr>
                <a:schemeClr val="dk1"/>
              </a:buClr>
              <a:buSzPts val="2800"/>
              <a:buNone/>
            </a:pPr>
            <a:r>
              <a:rPr b="1" lang="en-US">
                <a:latin typeface="Times New Roman"/>
                <a:ea typeface="Times New Roman"/>
                <a:cs typeface="Times New Roman"/>
                <a:sym typeface="Times New Roman"/>
              </a:rPr>
              <a:t>Feature scaling is a process of transforming the features in a dataset to have a common scale. </a:t>
            </a:r>
            <a:r>
              <a:rPr lang="en-US">
                <a:latin typeface="Times New Roman"/>
                <a:ea typeface="Times New Roman"/>
                <a:cs typeface="Times New Roman"/>
                <a:sym typeface="Times New Roman"/>
              </a:rPr>
              <a:t>This helps to prevent certain features from dominating the model.</a:t>
            </a:r>
            <a:endParaRPr>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2800"/>
              <a:buChar char="•"/>
            </a:pPr>
            <a:r>
              <a:rPr i="1" lang="en-US">
                <a:latin typeface="Times New Roman"/>
                <a:ea typeface="Times New Roman"/>
                <a:cs typeface="Times New Roman"/>
                <a:sym typeface="Times New Roman"/>
              </a:rPr>
              <a:t>There are two main types of feature scaling:</a:t>
            </a:r>
            <a:endParaRPr>
              <a:latin typeface="Calibri"/>
              <a:ea typeface="Calibri"/>
              <a:cs typeface="Calibri"/>
              <a:sym typeface="Calibri"/>
            </a:endParaRPr>
          </a:p>
          <a:p>
            <a:pPr indent="-571500" lvl="0" marL="1196975" marR="0" rtl="0" algn="l">
              <a:lnSpc>
                <a:spcPct val="107000"/>
              </a:lnSpc>
              <a:spcBef>
                <a:spcPts val="800"/>
              </a:spcBef>
              <a:spcAft>
                <a:spcPts val="0"/>
              </a:spcAft>
              <a:buClr>
                <a:schemeClr val="dk1"/>
              </a:buClr>
              <a:buSzPts val="2800"/>
              <a:buFont typeface="Calibri"/>
              <a:buAutoNum type="romanLcPeriod"/>
            </a:pPr>
            <a:r>
              <a:rPr i="1" lang="en-US">
                <a:latin typeface="Times New Roman"/>
                <a:ea typeface="Times New Roman"/>
                <a:cs typeface="Times New Roman"/>
                <a:sym typeface="Times New Roman"/>
              </a:rPr>
              <a:t>Standardization</a:t>
            </a:r>
            <a:endParaRPr>
              <a:latin typeface="Calibri"/>
              <a:ea typeface="Calibri"/>
              <a:cs typeface="Calibri"/>
              <a:sym typeface="Calibri"/>
            </a:endParaRPr>
          </a:p>
          <a:p>
            <a:pPr indent="-571500" lvl="0" marL="1196975" marR="0" rtl="0" algn="l">
              <a:lnSpc>
                <a:spcPct val="107000"/>
              </a:lnSpc>
              <a:spcBef>
                <a:spcPts val="0"/>
              </a:spcBef>
              <a:spcAft>
                <a:spcPts val="0"/>
              </a:spcAft>
              <a:buClr>
                <a:schemeClr val="dk1"/>
              </a:buClr>
              <a:buSzPts val="2800"/>
              <a:buFont typeface="Calibri"/>
              <a:buAutoNum type="romanLcPeriod"/>
            </a:pPr>
            <a:r>
              <a:rPr i="1" lang="en-US">
                <a:latin typeface="Times New Roman"/>
                <a:ea typeface="Times New Roman"/>
                <a:cs typeface="Times New Roman"/>
                <a:sym typeface="Times New Roman"/>
              </a:rPr>
              <a:t>Normalization</a:t>
            </a:r>
            <a:endParaRPr>
              <a:latin typeface="Calibri"/>
              <a:ea typeface="Calibri"/>
              <a:cs typeface="Calibri"/>
              <a:sym typeface="Calibri"/>
            </a:endParaRPr>
          </a:p>
          <a:p>
            <a:pPr indent="-50800" lvl="0" marL="228600" rtl="0" algn="l">
              <a:lnSpc>
                <a:spcPct val="90000"/>
              </a:lnSpc>
              <a:spcBef>
                <a:spcPts val="1800"/>
              </a:spcBef>
              <a:spcAft>
                <a:spcPts val="0"/>
              </a:spcAft>
              <a:buClr>
                <a:schemeClr val="dk1"/>
              </a:buClr>
              <a:buSzPts val="2800"/>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6"/>
          <p:cNvSpPr txBox="1"/>
          <p:nvPr>
            <p:ph type="title"/>
          </p:nvPr>
        </p:nvSpPr>
        <p:spPr>
          <a:xfrm>
            <a:off x="838200" y="0"/>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                  </a:t>
            </a:r>
            <a:r>
              <a:rPr lang="en-US"/>
              <a:t>Feature Scaling</a:t>
            </a:r>
            <a:endParaRPr/>
          </a:p>
        </p:txBody>
      </p:sp>
      <p:pic>
        <p:nvPicPr>
          <p:cNvPr id="182" name="Google Shape;182;p16"/>
          <p:cNvPicPr preferRelativeResize="0"/>
          <p:nvPr>
            <p:ph idx="1" type="body"/>
          </p:nvPr>
        </p:nvPicPr>
        <p:blipFill rotWithShape="1">
          <a:blip r:embed="rId3">
            <a:alphaModFix/>
          </a:blip>
          <a:srcRect b="0" l="0" r="0" t="0"/>
          <a:stretch/>
        </p:blipFill>
        <p:spPr>
          <a:xfrm>
            <a:off x="1372190" y="1136211"/>
            <a:ext cx="9447619" cy="3784872"/>
          </a:xfrm>
          <a:prstGeom prst="rect">
            <a:avLst/>
          </a:prstGeom>
          <a:noFill/>
          <a:ln>
            <a:noFill/>
          </a:ln>
        </p:spPr>
      </p:pic>
      <p:sp>
        <p:nvSpPr>
          <p:cNvPr id="183" name="Google Shape;183;p16"/>
          <p:cNvSpPr txBox="1"/>
          <p:nvPr/>
        </p:nvSpPr>
        <p:spPr>
          <a:xfrm>
            <a:off x="1576137" y="5101389"/>
            <a:ext cx="8321842" cy="1602457"/>
          </a:xfrm>
          <a:prstGeom prst="rect">
            <a:avLst/>
          </a:prstGeom>
          <a:noFill/>
          <a:ln>
            <a:noFill/>
          </a:ln>
        </p:spPr>
        <p:txBody>
          <a:bodyPr anchorCtr="0" anchor="ctr" bIns="45700" lIns="91425" spcFirstLastPara="1" rIns="91425" wrap="square" tIns="45700">
            <a:noAutofit/>
          </a:bodyPr>
          <a:lstStyle/>
          <a:p>
            <a:pPr indent="0" lvl="0" marL="0" marR="0" rtl="0" algn="l">
              <a:lnSpc>
                <a:spcPct val="107000"/>
              </a:lnSpc>
              <a:spcBef>
                <a:spcPts val="0"/>
              </a:spcBef>
              <a:spcAft>
                <a:spcPts val="0"/>
              </a:spcAft>
              <a:buClr>
                <a:srgbClr val="000000"/>
              </a:buClr>
              <a:buSzPts val="2400"/>
              <a:buFont typeface="Times New Roman"/>
              <a:buNone/>
            </a:pPr>
            <a:r>
              <a:rPr b="0" i="0" lang="en-US" sz="2400" u="none" cap="none" strike="noStrike">
                <a:solidFill>
                  <a:srgbClr val="000000"/>
                </a:solidFill>
                <a:latin typeface="Times New Roman"/>
                <a:ea typeface="Times New Roman"/>
                <a:cs typeface="Times New Roman"/>
                <a:sym typeface="Times New Roman"/>
              </a:rPr>
              <a:t>Feature scaling is an essential step in the machine-learning process. By scaling the features, we can help improve your model's performance and ensure that all features are given a fair chance.</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17"/>
          <p:cNvSpPr txBox="1"/>
          <p:nvPr>
            <p:ph type="title"/>
          </p:nvPr>
        </p:nvSpPr>
        <p:spPr>
          <a:xfrm>
            <a:off x="838200" y="0"/>
            <a:ext cx="10515600" cy="45720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br>
              <a:rPr lang="en-US"/>
            </a:br>
            <a:r>
              <a:rPr lang="en-US"/>
              <a:t>Standardization</a:t>
            </a:r>
            <a:br>
              <a:rPr lang="en-US"/>
            </a:br>
            <a:endParaRPr/>
          </a:p>
        </p:txBody>
      </p:sp>
      <p:sp>
        <p:nvSpPr>
          <p:cNvPr id="189" name="Google Shape;189;p17"/>
          <p:cNvSpPr txBox="1"/>
          <p:nvPr>
            <p:ph idx="1" type="body"/>
          </p:nvPr>
        </p:nvSpPr>
        <p:spPr>
          <a:xfrm>
            <a:off x="838200" y="2510589"/>
            <a:ext cx="10515600" cy="4007776"/>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None/>
            </a:pPr>
            <a:r>
              <a:rPr lang="en-US" sz="2400"/>
              <a:t>A value is standardized as follows:</a:t>
            </a:r>
            <a:endParaRPr/>
          </a:p>
          <a:p>
            <a:pPr indent="0" lvl="0" marL="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chemeClr val="dk1"/>
              </a:buClr>
              <a:buSzPts val="2400"/>
              <a:buNone/>
            </a:pPr>
            <a:r>
              <a:t/>
            </a:r>
            <a:endParaRPr sz="2400"/>
          </a:p>
          <a:p>
            <a:pPr indent="0" lvl="0" marL="0" rtl="0" algn="l">
              <a:lnSpc>
                <a:spcPct val="90000"/>
              </a:lnSpc>
              <a:spcBef>
                <a:spcPts val="1000"/>
              </a:spcBef>
              <a:spcAft>
                <a:spcPts val="0"/>
              </a:spcAft>
              <a:buClr>
                <a:schemeClr val="dk1"/>
              </a:buClr>
              <a:buSzPts val="2400"/>
              <a:buNone/>
            </a:pPr>
            <a:r>
              <a:rPr lang="en-US" sz="2400"/>
              <a:t>We can guesstimate a mean of 10.0 and a standard deviation of about 5.0. Using these values, we can standardize the first value of 20.7 as follows:</a:t>
            </a:r>
            <a:endParaRPr/>
          </a:p>
          <a:p>
            <a:pPr indent="0" lvl="7" marL="3200400" rtl="0" algn="just">
              <a:lnSpc>
                <a:spcPct val="90000"/>
              </a:lnSpc>
              <a:spcBef>
                <a:spcPts val="500"/>
              </a:spcBef>
              <a:spcAft>
                <a:spcPts val="0"/>
              </a:spcAft>
              <a:buClr>
                <a:schemeClr val="dk1"/>
              </a:buClr>
              <a:buSzPts val="2400"/>
              <a:buNone/>
            </a:pPr>
            <a:r>
              <a:rPr lang="en-US" sz="2400"/>
              <a:t>y = (x – mean) / standard_deviation</a:t>
            </a:r>
            <a:endParaRPr sz="2400"/>
          </a:p>
          <a:p>
            <a:pPr indent="0" lvl="7" marL="3200400" rtl="0" algn="just">
              <a:lnSpc>
                <a:spcPct val="90000"/>
              </a:lnSpc>
              <a:spcBef>
                <a:spcPts val="500"/>
              </a:spcBef>
              <a:spcAft>
                <a:spcPts val="0"/>
              </a:spcAft>
              <a:buClr>
                <a:schemeClr val="dk1"/>
              </a:buClr>
              <a:buSzPts val="2400"/>
              <a:buNone/>
            </a:pPr>
            <a:r>
              <a:rPr lang="en-US" sz="2400"/>
              <a:t>y = (20.7 – 10) / 5= (10.7) / 5= 2.14</a:t>
            </a:r>
            <a:endParaRPr/>
          </a:p>
          <a:p>
            <a:pPr indent="0" lvl="0" marL="0" rtl="0" algn="l">
              <a:lnSpc>
                <a:spcPct val="90000"/>
              </a:lnSpc>
              <a:spcBef>
                <a:spcPts val="1000"/>
              </a:spcBef>
              <a:spcAft>
                <a:spcPts val="0"/>
              </a:spcAft>
              <a:buClr>
                <a:schemeClr val="dk1"/>
              </a:buClr>
              <a:buSzPts val="2400"/>
              <a:buNone/>
            </a:pPr>
            <a:r>
              <a:rPr lang="en-US" sz="2400"/>
              <a:t>The mean and standard deviation estimates of a dataset can be more robust to new data than the minimum and maximum.</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190" name="Google Shape;190;p17"/>
          <p:cNvPicPr preferRelativeResize="0"/>
          <p:nvPr/>
        </p:nvPicPr>
        <p:blipFill rotWithShape="1">
          <a:blip r:embed="rId3">
            <a:alphaModFix/>
          </a:blip>
          <a:srcRect b="0" l="0" r="0" t="0"/>
          <a:stretch/>
        </p:blipFill>
        <p:spPr>
          <a:xfrm>
            <a:off x="1146545" y="2510589"/>
            <a:ext cx="9313775" cy="1346966"/>
          </a:xfrm>
          <a:prstGeom prst="rect">
            <a:avLst/>
          </a:prstGeom>
          <a:noFill/>
          <a:ln>
            <a:noFill/>
          </a:ln>
        </p:spPr>
      </p:pic>
      <p:sp>
        <p:nvSpPr>
          <p:cNvPr id="191" name="Google Shape;191;p17"/>
          <p:cNvSpPr txBox="1"/>
          <p:nvPr/>
        </p:nvSpPr>
        <p:spPr>
          <a:xfrm>
            <a:off x="838200" y="625642"/>
            <a:ext cx="10515600" cy="1564105"/>
          </a:xfrm>
          <a:prstGeom prst="rect">
            <a:avLst/>
          </a:prstGeom>
          <a:noFill/>
          <a:ln>
            <a:noFill/>
          </a:ln>
        </p:spPr>
        <p:txBody>
          <a:bodyPr anchorCtr="0" anchor="ctr" bIns="45700" lIns="91425" spcFirstLastPara="1" rIns="91425" wrap="square" tIns="45700">
            <a:noAutofit/>
          </a:bodyPr>
          <a:lstStyle/>
          <a:p>
            <a:pPr indent="0" lvl="0" marL="0" marR="0" rtl="0" algn="just">
              <a:lnSpc>
                <a:spcPct val="90000"/>
              </a:lnSpc>
              <a:spcBef>
                <a:spcPts val="0"/>
              </a:spcBef>
              <a:spcAft>
                <a:spcPts val="0"/>
              </a:spcAft>
              <a:buClr>
                <a:schemeClr val="dk1"/>
              </a:buClr>
              <a:buSzPts val="2400"/>
              <a:buFont typeface="Calibri"/>
              <a:buNone/>
            </a:pPr>
            <a:br>
              <a:rPr b="0" i="0" lang="en-US" sz="2400" u="none" cap="none" strike="noStrike">
                <a:solidFill>
                  <a:schemeClr val="dk1"/>
                </a:solidFill>
                <a:latin typeface="Calibri"/>
                <a:ea typeface="Calibri"/>
                <a:cs typeface="Calibri"/>
                <a:sym typeface="Calibri"/>
              </a:rPr>
            </a:br>
            <a:r>
              <a:rPr b="1" i="0" lang="en-US" sz="2400" u="none" cap="none" strike="noStrike">
                <a:solidFill>
                  <a:schemeClr val="dk1"/>
                </a:solidFill>
                <a:latin typeface="Times New Roman"/>
                <a:ea typeface="Times New Roman"/>
                <a:cs typeface="Times New Roman"/>
                <a:sym typeface="Times New Roman"/>
              </a:rPr>
              <a:t>Standardization</a:t>
            </a:r>
            <a:r>
              <a:rPr b="0" i="1" lang="en-US" sz="2400" u="none" cap="none" strike="noStrike">
                <a:solidFill>
                  <a:schemeClr val="dk1"/>
                </a:solidFill>
                <a:latin typeface="Times New Roman"/>
                <a:ea typeface="Times New Roman"/>
                <a:cs typeface="Times New Roman"/>
                <a:sym typeface="Times New Roman"/>
              </a:rPr>
              <a:t>:</a:t>
            </a:r>
            <a:r>
              <a:rPr b="0" i="0" lang="en-US" sz="2400" u="none" cap="none" strike="noStrike">
                <a:solidFill>
                  <a:schemeClr val="dk1"/>
                </a:solidFill>
                <a:latin typeface="Times New Roman"/>
                <a:ea typeface="Times New Roman"/>
                <a:cs typeface="Times New Roman"/>
                <a:sym typeface="Times New Roman"/>
              </a:rPr>
              <a:t> Standardization subtracts each feature's mean and divides it by the standard deviation. This ensures that each feature has a mean of 0 and a standard deviation 1. Standardization is often used for data that follows Gaussian distribution, such as linear regression.</a:t>
            </a:r>
            <a:endParaRPr/>
          </a:p>
          <a:p>
            <a:pPr indent="0" lvl="0" marL="0" marR="0" rtl="0" algn="just">
              <a:lnSpc>
                <a:spcPct val="90000"/>
              </a:lnSpc>
              <a:spcBef>
                <a:spcPts val="0"/>
              </a:spcBef>
              <a:spcAft>
                <a:spcPts val="0"/>
              </a:spcAft>
              <a:buClr>
                <a:schemeClr val="dk1"/>
              </a:buClr>
              <a:buSzPts val="2400"/>
              <a:buFont typeface="Calibri"/>
              <a:buNone/>
            </a:pPr>
            <a:r>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8"/>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Normalization</a:t>
            </a:r>
            <a:endParaRPr b="1">
              <a:latin typeface="Times New Roman"/>
              <a:ea typeface="Times New Roman"/>
              <a:cs typeface="Times New Roman"/>
              <a:sym typeface="Times New Roman"/>
            </a:endParaRPr>
          </a:p>
        </p:txBody>
      </p:sp>
      <p:sp>
        <p:nvSpPr>
          <p:cNvPr id="197" name="Google Shape;197;p18"/>
          <p:cNvSpPr txBox="1"/>
          <p:nvPr>
            <p:ph idx="1" type="body"/>
          </p:nvPr>
        </p:nvSpPr>
        <p:spPr>
          <a:xfrm>
            <a:off x="757645" y="1909012"/>
            <a:ext cx="10724605" cy="2807368"/>
          </a:xfrm>
          <a:prstGeom prst="rect">
            <a:avLst/>
          </a:prstGeom>
          <a:noFill/>
          <a:ln>
            <a:noFill/>
          </a:ln>
        </p:spPr>
        <p:txBody>
          <a:bodyPr anchorCtr="0" anchor="t" bIns="45700" lIns="91425" spcFirstLastPara="1" rIns="91425" wrap="square" tIns="45700">
            <a:normAutofit/>
          </a:bodyPr>
          <a:lstStyle/>
          <a:p>
            <a:pPr indent="-342900" lvl="0" marL="342900" rtl="0" algn="just">
              <a:lnSpc>
                <a:spcPct val="90000"/>
              </a:lnSpc>
              <a:spcBef>
                <a:spcPts val="0"/>
              </a:spcBef>
              <a:spcAft>
                <a:spcPts val="0"/>
              </a:spcAft>
              <a:buClr>
                <a:schemeClr val="dk1"/>
              </a:buClr>
              <a:buSzPts val="3200"/>
              <a:buChar char="•"/>
            </a:pPr>
            <a:r>
              <a:rPr lang="en-US">
                <a:latin typeface="Times New Roman"/>
                <a:ea typeface="Times New Roman"/>
                <a:cs typeface="Times New Roman"/>
                <a:sym typeface="Times New Roman"/>
              </a:rPr>
              <a:t>The </a:t>
            </a:r>
            <a:r>
              <a:rPr b="1" lang="en-US">
                <a:latin typeface="Times New Roman"/>
                <a:ea typeface="Times New Roman"/>
                <a:cs typeface="Times New Roman"/>
                <a:sym typeface="Times New Roman"/>
              </a:rPr>
              <a:t>data normalization</a:t>
            </a:r>
            <a:r>
              <a:rPr lang="en-US">
                <a:latin typeface="Times New Roman"/>
                <a:ea typeface="Times New Roman"/>
                <a:cs typeface="Times New Roman"/>
                <a:sym typeface="Times New Roman"/>
              </a:rPr>
              <a:t> (also referred to as </a:t>
            </a:r>
            <a:r>
              <a:rPr b="1" lang="en-US">
                <a:latin typeface="Times New Roman"/>
                <a:ea typeface="Times New Roman"/>
                <a:cs typeface="Times New Roman"/>
                <a:sym typeface="Times New Roman"/>
              </a:rPr>
              <a:t>data</a:t>
            </a:r>
            <a:r>
              <a:rPr lang="en-US">
                <a:latin typeface="Times New Roman"/>
                <a:ea typeface="Times New Roman"/>
                <a:cs typeface="Times New Roman"/>
                <a:sym typeface="Times New Roman"/>
              </a:rPr>
              <a:t> pre-processing) is a basic element of </a:t>
            </a:r>
            <a:r>
              <a:rPr b="1" lang="en-US">
                <a:latin typeface="Times New Roman"/>
                <a:ea typeface="Times New Roman"/>
                <a:cs typeface="Times New Roman"/>
                <a:sym typeface="Times New Roman"/>
              </a:rPr>
              <a:t>data mining</a:t>
            </a:r>
            <a:r>
              <a:rPr lang="en-US">
                <a:latin typeface="Times New Roman"/>
                <a:ea typeface="Times New Roman"/>
                <a:cs typeface="Times New Roman"/>
                <a:sym typeface="Times New Roman"/>
              </a:rPr>
              <a:t>. It means transforming the </a:t>
            </a:r>
            <a:r>
              <a:rPr b="1" lang="en-US">
                <a:latin typeface="Times New Roman"/>
                <a:ea typeface="Times New Roman"/>
                <a:cs typeface="Times New Roman"/>
                <a:sym typeface="Times New Roman"/>
              </a:rPr>
              <a:t>data</a:t>
            </a:r>
            <a:r>
              <a:rPr lang="en-US">
                <a:latin typeface="Times New Roman"/>
                <a:ea typeface="Times New Roman"/>
                <a:cs typeface="Times New Roman"/>
                <a:sym typeface="Times New Roman"/>
              </a:rPr>
              <a:t>, namely converting the source </a:t>
            </a:r>
            <a:r>
              <a:rPr b="1" lang="en-US">
                <a:latin typeface="Times New Roman"/>
                <a:ea typeface="Times New Roman"/>
                <a:cs typeface="Times New Roman"/>
                <a:sym typeface="Times New Roman"/>
              </a:rPr>
              <a:t>data</a:t>
            </a:r>
            <a:r>
              <a:rPr lang="en-US">
                <a:latin typeface="Times New Roman"/>
                <a:ea typeface="Times New Roman"/>
                <a:cs typeface="Times New Roman"/>
                <a:sym typeface="Times New Roman"/>
              </a:rPr>
              <a:t> in to another format that allows processing </a:t>
            </a:r>
            <a:r>
              <a:rPr b="1" lang="en-US">
                <a:latin typeface="Times New Roman"/>
                <a:ea typeface="Times New Roman"/>
                <a:cs typeface="Times New Roman"/>
                <a:sym typeface="Times New Roman"/>
              </a:rPr>
              <a:t>data</a:t>
            </a:r>
            <a:r>
              <a:rPr lang="en-US">
                <a:latin typeface="Times New Roman"/>
                <a:ea typeface="Times New Roman"/>
                <a:cs typeface="Times New Roman"/>
                <a:sym typeface="Times New Roman"/>
              </a:rPr>
              <a:t> effectively. The main purpose of </a:t>
            </a:r>
            <a:r>
              <a:rPr b="1" lang="en-US">
                <a:latin typeface="Times New Roman"/>
                <a:ea typeface="Times New Roman"/>
                <a:cs typeface="Times New Roman"/>
                <a:sym typeface="Times New Roman"/>
              </a:rPr>
              <a:t>data normalization</a:t>
            </a:r>
            <a:r>
              <a:rPr lang="en-US">
                <a:latin typeface="Times New Roman"/>
                <a:ea typeface="Times New Roman"/>
                <a:cs typeface="Times New Roman"/>
                <a:sym typeface="Times New Roman"/>
              </a:rPr>
              <a:t> is to minimize or even exclude duplicated </a:t>
            </a:r>
            <a:r>
              <a:rPr b="1" lang="en-US">
                <a:latin typeface="Times New Roman"/>
                <a:ea typeface="Times New Roman"/>
                <a:cs typeface="Times New Roman"/>
                <a:sym typeface="Times New Roman"/>
              </a:rPr>
              <a:t>data</a:t>
            </a:r>
            <a:r>
              <a:rPr lang="en-US">
                <a:latin typeface="Times New Roman"/>
                <a:ea typeface="Times New Roman"/>
                <a:cs typeface="Times New Roman"/>
                <a:sym typeface="Times New Roman"/>
              </a:rPr>
              <a:t>.</a:t>
            </a:r>
            <a:endParaRPr>
              <a:latin typeface="Times New Roman"/>
              <a:ea typeface="Times New Roman"/>
              <a:cs typeface="Times New Roman"/>
              <a:sym typeface="Times New Roman"/>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19"/>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4400"/>
              <a:buFont typeface="Calibri"/>
              <a:buNone/>
            </a:pPr>
            <a:r>
              <a:rPr lang="en-US"/>
              <a:t>Normalization Technique</a:t>
            </a:r>
            <a:endParaRPr/>
          </a:p>
        </p:txBody>
      </p:sp>
      <p:sp>
        <p:nvSpPr>
          <p:cNvPr id="203" name="Google Shape;203;p19"/>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640"/>
              </a:spcBef>
              <a:spcAft>
                <a:spcPts val="0"/>
              </a:spcAft>
              <a:buClr>
                <a:schemeClr val="dk1"/>
              </a:buClr>
              <a:buSzPts val="3200"/>
              <a:buChar char="•"/>
            </a:pPr>
            <a:r>
              <a:rPr lang="en-US"/>
              <a:t>Min-Max Normalization</a:t>
            </a:r>
            <a:endParaRPr/>
          </a:p>
          <a:p>
            <a:pPr indent="-342900" lvl="0" marL="342900" rtl="0" algn="l">
              <a:lnSpc>
                <a:spcPct val="100000"/>
              </a:lnSpc>
              <a:spcBef>
                <a:spcPts val="640"/>
              </a:spcBef>
              <a:spcAft>
                <a:spcPts val="0"/>
              </a:spcAft>
              <a:buClr>
                <a:schemeClr val="dk1"/>
              </a:buClr>
              <a:buSzPts val="3200"/>
              <a:buChar char="•"/>
            </a:pPr>
            <a:r>
              <a:rPr lang="en-US"/>
              <a:t>Robust Scaling Normalization</a:t>
            </a:r>
            <a:endParaRPr/>
          </a:p>
          <a:p>
            <a:pPr indent="-342900" lvl="0" marL="342900" rtl="0" algn="l">
              <a:lnSpc>
                <a:spcPct val="100000"/>
              </a:lnSpc>
              <a:spcBef>
                <a:spcPts val="640"/>
              </a:spcBef>
              <a:spcAft>
                <a:spcPts val="0"/>
              </a:spcAft>
              <a:buClr>
                <a:schemeClr val="dk1"/>
              </a:buClr>
              <a:buSzPts val="3200"/>
              <a:buChar char="•"/>
            </a:pPr>
            <a:r>
              <a:rPr lang="en-US"/>
              <a:t>Z-score Normalization</a:t>
            </a:r>
            <a:endParaRPr/>
          </a:p>
          <a:p>
            <a:pPr indent="-342900" lvl="0" marL="342900" rtl="0" algn="l">
              <a:lnSpc>
                <a:spcPct val="100000"/>
              </a:lnSpc>
              <a:spcBef>
                <a:spcPts val="640"/>
              </a:spcBef>
              <a:spcAft>
                <a:spcPts val="0"/>
              </a:spcAft>
              <a:buClr>
                <a:schemeClr val="dk1"/>
              </a:buClr>
              <a:buSzPts val="3200"/>
              <a:buChar char="•"/>
            </a:pPr>
            <a:r>
              <a:rPr lang="en-US"/>
              <a:t>Decimal Scale Normalization</a:t>
            </a:r>
            <a:endParaRPr/>
          </a:p>
          <a:p>
            <a:pPr indent="-342900" lvl="0" marL="342900" rtl="0" algn="l">
              <a:lnSpc>
                <a:spcPct val="100000"/>
              </a:lnSpc>
              <a:spcBef>
                <a:spcPts val="640"/>
              </a:spcBef>
              <a:spcAft>
                <a:spcPts val="0"/>
              </a:spcAft>
              <a:buClr>
                <a:schemeClr val="dk1"/>
              </a:buClr>
              <a:buSzPts val="3200"/>
              <a:buChar char="•"/>
            </a:pPr>
            <a:r>
              <a:rPr lang="en-US"/>
              <a:t>Log Scale Normalization</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20"/>
          <p:cNvSpPr txBox="1"/>
          <p:nvPr>
            <p:ph type="title"/>
          </p:nvPr>
        </p:nvSpPr>
        <p:spPr>
          <a:xfrm>
            <a:off x="1981200" y="274638"/>
            <a:ext cx="8229600" cy="79419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Min-Max Normalization </a:t>
            </a:r>
            <a:endParaRPr b="1">
              <a:latin typeface="Times New Roman"/>
              <a:ea typeface="Times New Roman"/>
              <a:cs typeface="Times New Roman"/>
              <a:sym typeface="Times New Roman"/>
            </a:endParaRPr>
          </a:p>
        </p:txBody>
      </p:sp>
      <p:graphicFrame>
        <p:nvGraphicFramePr>
          <p:cNvPr id="209" name="Google Shape;209;p20"/>
          <p:cNvGraphicFramePr/>
          <p:nvPr/>
        </p:nvGraphicFramePr>
        <p:xfrm>
          <a:off x="9039727" y="974975"/>
          <a:ext cx="3000000" cy="3000000"/>
        </p:xfrm>
        <a:graphic>
          <a:graphicData uri="http://schemas.openxmlformats.org/drawingml/2006/table">
            <a:tbl>
              <a:tblPr>
                <a:noFill/>
                <a:tableStyleId>{1755E7DA-98E4-4EC1-B8E4-D68808E3F0D1}</a:tableStyleId>
              </a:tblPr>
              <a:tblGrid>
                <a:gridCol w="930450"/>
              </a:tblGrid>
              <a:tr h="370850">
                <a:tc>
                  <a:txBody>
                    <a:bodyPr/>
                    <a:lstStyle/>
                    <a:p>
                      <a:pPr indent="0" lvl="0" marL="0" marR="0" rtl="0" algn="l">
                        <a:spcBef>
                          <a:spcPts val="0"/>
                        </a:spcBef>
                        <a:spcAft>
                          <a:spcPts val="0"/>
                        </a:spcAft>
                        <a:buClr>
                          <a:schemeClr val="dk1"/>
                        </a:buClr>
                        <a:buSzPts val="1800"/>
                        <a:buFont typeface="Calibri"/>
                        <a:buNone/>
                      </a:pPr>
                      <a:r>
                        <a:rPr lang="en-US" sz="1800" u="none" cap="none" strike="noStrike"/>
                        <a:t>Salary</a:t>
                      </a:r>
                      <a:endParaRPr sz="1800" u="none" cap="none" strike="noStrike"/>
                    </a:p>
                  </a:txBody>
                  <a:tcPr marT="45725" marB="45725" marR="91450" marL="91450"/>
                </a:tc>
              </a:tr>
              <a:tr h="370850">
                <a:tc>
                  <a:txBody>
                    <a:bodyPr/>
                    <a:lstStyle/>
                    <a:p>
                      <a:pPr indent="0" lvl="0" marL="0" marR="0" rtl="0" algn="l">
                        <a:spcBef>
                          <a:spcPts val="0"/>
                        </a:spcBef>
                        <a:spcAft>
                          <a:spcPts val="0"/>
                        </a:spcAft>
                        <a:buClr>
                          <a:schemeClr val="dk1"/>
                        </a:buClr>
                        <a:buSzPts val="1800"/>
                        <a:buFont typeface="Calibri"/>
                        <a:buNone/>
                      </a:pPr>
                      <a:r>
                        <a:rPr lang="en-US" sz="1800" u="none" cap="none" strike="noStrike"/>
                        <a:t>64000</a:t>
                      </a:r>
                      <a:endParaRPr sz="1800" u="none" cap="none" strike="noStrike"/>
                    </a:p>
                  </a:txBody>
                  <a:tcPr marT="45725" marB="45725" marR="91450" marL="91450"/>
                </a:tc>
              </a:tr>
              <a:tr h="370850">
                <a:tc>
                  <a:txBody>
                    <a:bodyPr/>
                    <a:lstStyle/>
                    <a:p>
                      <a:pPr indent="0" lvl="0" marL="0" marR="0" rtl="0" algn="l">
                        <a:spcBef>
                          <a:spcPts val="0"/>
                        </a:spcBef>
                        <a:spcAft>
                          <a:spcPts val="0"/>
                        </a:spcAft>
                        <a:buClr>
                          <a:schemeClr val="dk1"/>
                        </a:buClr>
                        <a:buSzPts val="1800"/>
                        <a:buFont typeface="Calibri"/>
                        <a:buNone/>
                      </a:pPr>
                      <a:r>
                        <a:rPr lang="en-US" sz="1800" u="none" cap="none" strike="noStrike"/>
                        <a:t>55000</a:t>
                      </a:r>
                      <a:endParaRPr sz="1800" u="none" cap="none" strike="noStrike"/>
                    </a:p>
                  </a:txBody>
                  <a:tcPr marT="45725" marB="45725" marR="91450" marL="91450"/>
                </a:tc>
              </a:tr>
              <a:tr h="370850">
                <a:tc>
                  <a:txBody>
                    <a:bodyPr/>
                    <a:lstStyle/>
                    <a:p>
                      <a:pPr indent="0" lvl="0" marL="0" marR="0" rtl="0" algn="l">
                        <a:spcBef>
                          <a:spcPts val="0"/>
                        </a:spcBef>
                        <a:spcAft>
                          <a:spcPts val="0"/>
                        </a:spcAft>
                        <a:buClr>
                          <a:srgbClr val="7030A0"/>
                        </a:buClr>
                        <a:buSzPts val="1800"/>
                        <a:buFont typeface="Calibri"/>
                        <a:buNone/>
                      </a:pPr>
                      <a:r>
                        <a:rPr lang="en-US" sz="1800" u="none" cap="none" strike="noStrike">
                          <a:solidFill>
                            <a:srgbClr val="7030A0"/>
                          </a:solidFill>
                        </a:rPr>
                        <a:t>19000</a:t>
                      </a:r>
                      <a:endParaRPr sz="1800" u="none" cap="none" strike="noStrike">
                        <a:solidFill>
                          <a:srgbClr val="7030A0"/>
                        </a:solidFill>
                      </a:endParaRPr>
                    </a:p>
                  </a:txBody>
                  <a:tcPr marT="45725" marB="45725" marR="91450" marL="91450"/>
                </a:tc>
              </a:tr>
              <a:tr h="370850">
                <a:tc>
                  <a:txBody>
                    <a:bodyPr/>
                    <a:lstStyle/>
                    <a:p>
                      <a:pPr indent="0" lvl="0" marL="0" marR="0" rtl="0" algn="l">
                        <a:spcBef>
                          <a:spcPts val="0"/>
                        </a:spcBef>
                        <a:spcAft>
                          <a:spcPts val="0"/>
                        </a:spcAft>
                        <a:buClr>
                          <a:srgbClr val="FF0000"/>
                        </a:buClr>
                        <a:buSzPts val="1800"/>
                        <a:buFont typeface="Calibri"/>
                        <a:buNone/>
                      </a:pPr>
                      <a:r>
                        <a:rPr lang="en-US" sz="1800" u="none" cap="none" strike="noStrike">
                          <a:solidFill>
                            <a:srgbClr val="FF0000"/>
                          </a:solidFill>
                        </a:rPr>
                        <a:t>100000</a:t>
                      </a:r>
                      <a:endParaRPr sz="1800" u="none" cap="none" strike="noStrike">
                        <a:solidFill>
                          <a:srgbClr val="FF0000"/>
                        </a:solidFill>
                      </a:endParaRPr>
                    </a:p>
                  </a:txBody>
                  <a:tcPr marT="45725" marB="45725" marR="91450" marL="91450"/>
                </a:tc>
              </a:tr>
              <a:tr h="370850">
                <a:tc>
                  <a:txBody>
                    <a:bodyPr/>
                    <a:lstStyle/>
                    <a:p>
                      <a:pPr indent="0" lvl="0" marL="0" marR="0" rtl="0" algn="l">
                        <a:spcBef>
                          <a:spcPts val="0"/>
                        </a:spcBef>
                        <a:spcAft>
                          <a:spcPts val="0"/>
                        </a:spcAft>
                        <a:buClr>
                          <a:schemeClr val="dk1"/>
                        </a:buClr>
                        <a:buSzPts val="1800"/>
                        <a:buFont typeface="Calibri"/>
                        <a:buNone/>
                      </a:pPr>
                      <a:r>
                        <a:rPr lang="en-US" sz="1800" u="none" cap="none" strike="noStrike"/>
                        <a:t>75000</a:t>
                      </a:r>
                      <a:endParaRPr sz="1800" u="none" cap="none" strike="noStrike"/>
                    </a:p>
                  </a:txBody>
                  <a:tcPr marT="45725" marB="45725" marR="91450" marL="91450"/>
                </a:tc>
              </a:tr>
            </a:tbl>
          </a:graphicData>
        </a:graphic>
      </p:graphicFrame>
      <p:sp>
        <p:nvSpPr>
          <p:cNvPr id="210" name="Google Shape;210;p20"/>
          <p:cNvSpPr/>
          <p:nvPr/>
        </p:nvSpPr>
        <p:spPr>
          <a:xfrm>
            <a:off x="1034029" y="3784918"/>
            <a:ext cx="10123942" cy="2277547"/>
          </a:xfrm>
          <a:prstGeom prst="rect">
            <a:avLst/>
          </a:prstGeom>
          <a:noFill/>
          <a:ln>
            <a:noFill/>
          </a:ln>
        </p:spPr>
        <p:txBody>
          <a:bodyPr anchorCtr="0" anchor="t"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b="1" i="0" lang="en-US" sz="2400" u="none" cap="none" strike="noStrike">
                <a:solidFill>
                  <a:schemeClr val="dk1"/>
                </a:solidFill>
                <a:latin typeface="Times New Roman"/>
                <a:ea typeface="Times New Roman"/>
                <a:cs typeface="Times New Roman"/>
                <a:sym typeface="Times New Roman"/>
              </a:rPr>
              <a:t>Apply min max normalization for the salary value of 64000 and 55000</a:t>
            </a:r>
            <a:endParaRPr/>
          </a:p>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a:p>
            <a:pPr indent="0" lvl="3" marL="1371600" marR="0" rtl="0" algn="l">
              <a:spcBef>
                <a:spcPts val="0"/>
              </a:spcBef>
              <a:spcAft>
                <a:spcPts val="0"/>
              </a:spcAft>
              <a:buNone/>
            </a:pPr>
            <a:r>
              <a:rPr b="0" i="0" lang="en-US" sz="2000" u="none" cap="none" strike="noStrike">
                <a:solidFill>
                  <a:schemeClr val="dk1"/>
                </a:solidFill>
                <a:latin typeface="Times New Roman"/>
                <a:ea typeface="Times New Roman"/>
                <a:cs typeface="Times New Roman"/>
                <a:sym typeface="Times New Roman"/>
              </a:rPr>
              <a:t>Max distance for salary = 100000    Min distance for salary = 19000</a:t>
            </a:r>
            <a:endParaRPr/>
          </a:p>
          <a:p>
            <a:pPr indent="0" lvl="3" marL="1371600" marR="0" rtl="0" algn="l">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3" marL="1371600" marR="0" rtl="0" algn="l">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3" marL="1371600" marR="0" rtl="0" algn="l">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a:p>
            <a:pPr indent="0" lvl="3" marL="1371600" marR="0" rtl="0" algn="l">
              <a:spcBef>
                <a:spcPts val="0"/>
              </a:spcBef>
              <a:spcAft>
                <a:spcPts val="0"/>
              </a:spcAft>
              <a:buNone/>
            </a:pPr>
            <a:r>
              <a:t/>
            </a:r>
            <a:endParaRPr b="0" i="0" sz="2000" u="none" cap="none" strike="noStrike">
              <a:solidFill>
                <a:schemeClr val="dk1"/>
              </a:solidFill>
              <a:latin typeface="Times New Roman"/>
              <a:ea typeface="Times New Roman"/>
              <a:cs typeface="Times New Roman"/>
              <a:sym typeface="Times New Roman"/>
            </a:endParaRPr>
          </a:p>
        </p:txBody>
      </p:sp>
      <p:sp>
        <p:nvSpPr>
          <p:cNvPr id="211" name="Google Shape;211;p20"/>
          <p:cNvSpPr txBox="1"/>
          <p:nvPr/>
        </p:nvSpPr>
        <p:spPr>
          <a:xfrm>
            <a:off x="1467853" y="1068830"/>
            <a:ext cx="7170821" cy="2716088"/>
          </a:xfrm>
          <a:prstGeom prst="rect">
            <a:avLst/>
          </a:prstGeom>
          <a:noFill/>
          <a:ln>
            <a:noFill/>
          </a:ln>
        </p:spPr>
        <p:txBody>
          <a:bodyPr anchorCtr="0" anchor="ctr" bIns="45700" lIns="91425" spcFirstLastPara="1" rIns="91425" wrap="square" tIns="45700">
            <a:normAutofit/>
          </a:bodyPr>
          <a:lstStyle/>
          <a:p>
            <a:pPr indent="0" lvl="0" marL="0" marR="0" rtl="0" algn="just">
              <a:lnSpc>
                <a:spcPct val="90000"/>
              </a:lnSpc>
              <a:spcBef>
                <a:spcPts val="0"/>
              </a:spcBef>
              <a:spcAft>
                <a:spcPts val="0"/>
              </a:spcAft>
              <a:buClr>
                <a:schemeClr val="dk1"/>
              </a:buClr>
              <a:buSzPts val="4400"/>
              <a:buFont typeface="Times New Roman"/>
              <a:buNone/>
            </a:pPr>
            <a:r>
              <a:rPr b="0" lang="en-US" sz="2000" u="none">
                <a:solidFill>
                  <a:schemeClr val="dk1"/>
                </a:solidFill>
                <a:latin typeface="Times New Roman"/>
                <a:ea typeface="Times New Roman"/>
                <a:cs typeface="Times New Roman"/>
                <a:sym typeface="Times New Roman"/>
              </a:rPr>
              <a:t>Min-max scaling is very often simply called ‘normalization.’ It transforms features to a specified range, typically between 0 and 1. The formula for min-max scaling is:</a:t>
            </a:r>
            <a:endParaRPr b="0" sz="2000" u="none">
              <a:solidFill>
                <a:schemeClr val="dk1"/>
              </a:solidFill>
              <a:latin typeface="Calibri"/>
              <a:ea typeface="Calibri"/>
              <a:cs typeface="Calibri"/>
              <a:sym typeface="Calibri"/>
            </a:endParaRPr>
          </a:p>
          <a:p>
            <a:pPr indent="0" lvl="0" marL="0" marR="0" rtl="0" algn="ctr">
              <a:lnSpc>
                <a:spcPct val="90000"/>
              </a:lnSpc>
              <a:spcBef>
                <a:spcPts val="0"/>
              </a:spcBef>
              <a:spcAft>
                <a:spcPts val="0"/>
              </a:spcAft>
              <a:buClr>
                <a:schemeClr val="dk1"/>
              </a:buClr>
              <a:buSzPts val="4400"/>
              <a:buFont typeface="Times New Roman"/>
              <a:buNone/>
            </a:pPr>
            <a:r>
              <a:rPr b="0" lang="en-US" sz="2000" u="none">
                <a:solidFill>
                  <a:schemeClr val="dk1"/>
                </a:solidFill>
                <a:latin typeface="Times New Roman"/>
                <a:ea typeface="Times New Roman"/>
                <a:cs typeface="Times New Roman"/>
                <a:sym typeface="Times New Roman"/>
              </a:rPr>
              <a:t>X</a:t>
            </a:r>
            <a:r>
              <a:rPr b="0" baseline="-25000" lang="en-US" sz="2000" u="none">
                <a:solidFill>
                  <a:schemeClr val="dk1"/>
                </a:solidFill>
                <a:latin typeface="Times New Roman"/>
                <a:ea typeface="Times New Roman"/>
                <a:cs typeface="Times New Roman"/>
                <a:sym typeface="Times New Roman"/>
              </a:rPr>
              <a:t>normalized</a:t>
            </a:r>
            <a:r>
              <a:rPr b="0" lang="en-US" sz="2000" u="none">
                <a:solidFill>
                  <a:schemeClr val="dk1"/>
                </a:solidFill>
                <a:latin typeface="Times New Roman"/>
                <a:ea typeface="Times New Roman"/>
                <a:cs typeface="Times New Roman"/>
                <a:sym typeface="Times New Roman"/>
              </a:rPr>
              <a:t> =(X – X</a:t>
            </a:r>
            <a:r>
              <a:rPr b="0" baseline="-25000" lang="en-US" sz="2000" u="none">
                <a:solidFill>
                  <a:schemeClr val="dk1"/>
                </a:solidFill>
                <a:latin typeface="Times New Roman"/>
                <a:ea typeface="Times New Roman"/>
                <a:cs typeface="Times New Roman"/>
                <a:sym typeface="Times New Roman"/>
              </a:rPr>
              <a:t>min</a:t>
            </a:r>
            <a:r>
              <a:rPr b="0" lang="en-US" sz="2000" u="none">
                <a:solidFill>
                  <a:schemeClr val="dk1"/>
                </a:solidFill>
                <a:latin typeface="Times New Roman"/>
                <a:ea typeface="Times New Roman"/>
                <a:cs typeface="Times New Roman"/>
                <a:sym typeface="Times New Roman"/>
              </a:rPr>
              <a:t> ) / (X</a:t>
            </a:r>
            <a:r>
              <a:rPr b="0" baseline="-25000" lang="en-US" sz="2000" u="none">
                <a:solidFill>
                  <a:schemeClr val="dk1"/>
                </a:solidFill>
                <a:latin typeface="Times New Roman"/>
                <a:ea typeface="Times New Roman"/>
                <a:cs typeface="Times New Roman"/>
                <a:sym typeface="Times New Roman"/>
              </a:rPr>
              <a:t>max </a:t>
            </a:r>
            <a:r>
              <a:rPr b="0" lang="en-US" sz="2000" u="none">
                <a:solidFill>
                  <a:schemeClr val="dk1"/>
                </a:solidFill>
                <a:latin typeface="Times New Roman"/>
                <a:ea typeface="Times New Roman"/>
                <a:cs typeface="Times New Roman"/>
                <a:sym typeface="Times New Roman"/>
              </a:rPr>
              <a:t>– X</a:t>
            </a:r>
            <a:r>
              <a:rPr b="0" baseline="-25000" lang="en-US" sz="2000" u="none">
                <a:solidFill>
                  <a:schemeClr val="dk1"/>
                </a:solidFill>
                <a:latin typeface="Times New Roman"/>
                <a:ea typeface="Times New Roman"/>
                <a:cs typeface="Times New Roman"/>
                <a:sym typeface="Times New Roman"/>
              </a:rPr>
              <a:t>min </a:t>
            </a:r>
            <a:r>
              <a:rPr b="0" lang="en-US" sz="2000" u="none">
                <a:solidFill>
                  <a:schemeClr val="dk1"/>
                </a:solidFill>
                <a:latin typeface="Times New Roman"/>
                <a:ea typeface="Times New Roman"/>
                <a:cs typeface="Times New Roman"/>
                <a:sym typeface="Times New Roman"/>
              </a:rPr>
              <a:t>),</a:t>
            </a:r>
            <a:endParaRPr b="0" sz="2000" u="none">
              <a:solidFill>
                <a:schemeClr val="dk1"/>
              </a:solidFill>
              <a:latin typeface="Calibri"/>
              <a:ea typeface="Calibri"/>
              <a:cs typeface="Calibri"/>
              <a:sym typeface="Calibri"/>
            </a:endParaRPr>
          </a:p>
          <a:p>
            <a:pPr indent="0" lvl="0" marL="0" marR="0" rtl="0" algn="just">
              <a:lnSpc>
                <a:spcPct val="90000"/>
              </a:lnSpc>
              <a:spcBef>
                <a:spcPts val="0"/>
              </a:spcBef>
              <a:spcAft>
                <a:spcPts val="0"/>
              </a:spcAft>
              <a:buClr>
                <a:schemeClr val="dk1"/>
              </a:buClr>
              <a:buSzPts val="4400"/>
              <a:buFont typeface="Calibri"/>
              <a:buNone/>
            </a:pPr>
            <a:r>
              <a:t/>
            </a:r>
            <a:endParaRPr b="0" sz="2000" u="none">
              <a:solidFill>
                <a:schemeClr val="dk1"/>
              </a:solidFill>
              <a:latin typeface="Times New Roman"/>
              <a:ea typeface="Times New Roman"/>
              <a:cs typeface="Times New Roman"/>
              <a:sym typeface="Times New Roman"/>
            </a:endParaRPr>
          </a:p>
          <a:p>
            <a:pPr indent="0" lvl="0" marL="0" marR="0" rtl="0" algn="just">
              <a:lnSpc>
                <a:spcPct val="90000"/>
              </a:lnSpc>
              <a:spcBef>
                <a:spcPts val="0"/>
              </a:spcBef>
              <a:spcAft>
                <a:spcPts val="0"/>
              </a:spcAft>
              <a:buClr>
                <a:schemeClr val="dk1"/>
              </a:buClr>
              <a:buSzPts val="4400"/>
              <a:buFont typeface="Times New Roman"/>
              <a:buNone/>
            </a:pPr>
            <a:r>
              <a:rPr b="0" lang="en-US" sz="2000" u="none">
                <a:solidFill>
                  <a:schemeClr val="dk1"/>
                </a:solidFill>
                <a:latin typeface="Times New Roman"/>
                <a:ea typeface="Times New Roman"/>
                <a:cs typeface="Times New Roman"/>
                <a:sym typeface="Times New Roman"/>
              </a:rPr>
              <a:t>where X is a random feature value that is to be normalized. X</a:t>
            </a:r>
            <a:r>
              <a:rPr b="0" baseline="-25000" lang="en-US" sz="2000" u="none">
                <a:solidFill>
                  <a:schemeClr val="dk1"/>
                </a:solidFill>
                <a:latin typeface="Times New Roman"/>
                <a:ea typeface="Times New Roman"/>
                <a:cs typeface="Times New Roman"/>
                <a:sym typeface="Times New Roman"/>
              </a:rPr>
              <a:t>min</a:t>
            </a:r>
            <a:r>
              <a:rPr b="0" lang="en-US" sz="2000" u="none">
                <a:solidFill>
                  <a:schemeClr val="dk1"/>
                </a:solidFill>
                <a:latin typeface="Times New Roman"/>
                <a:ea typeface="Times New Roman"/>
                <a:cs typeface="Times New Roman"/>
                <a:sym typeface="Times New Roman"/>
              </a:rPr>
              <a:t> is the minimum feature value in the dataset, and X</a:t>
            </a:r>
            <a:r>
              <a:rPr b="0" baseline="-25000" lang="en-US" sz="2000" u="none">
                <a:solidFill>
                  <a:schemeClr val="dk1"/>
                </a:solidFill>
                <a:latin typeface="Times New Roman"/>
                <a:ea typeface="Times New Roman"/>
                <a:cs typeface="Times New Roman"/>
                <a:sym typeface="Times New Roman"/>
              </a:rPr>
              <a:t>max</a:t>
            </a:r>
            <a:r>
              <a:rPr b="0" lang="en-US" sz="2000" u="none">
                <a:solidFill>
                  <a:schemeClr val="dk1"/>
                </a:solidFill>
                <a:latin typeface="Times New Roman"/>
                <a:ea typeface="Times New Roman"/>
                <a:cs typeface="Times New Roman"/>
                <a:sym typeface="Times New Roman"/>
              </a:rPr>
              <a:t> is the maximum feature value.</a:t>
            </a:r>
            <a:endParaRPr b="0" sz="2000" u="none">
              <a:solidFill>
                <a:schemeClr val="dk1"/>
              </a:solidFill>
              <a:latin typeface="Calibri"/>
              <a:ea typeface="Calibri"/>
              <a:cs typeface="Calibri"/>
              <a:sym typeface="Calibri"/>
            </a:endParaRPr>
          </a:p>
          <a:p>
            <a:pPr indent="0" lvl="0" marL="0" marR="0" rtl="0" algn="ctr">
              <a:lnSpc>
                <a:spcPct val="90000"/>
              </a:lnSpc>
              <a:spcBef>
                <a:spcPts val="0"/>
              </a:spcBef>
              <a:spcAft>
                <a:spcPts val="0"/>
              </a:spcAft>
              <a:buClr>
                <a:schemeClr val="dk1"/>
              </a:buClr>
              <a:buSzPts val="4400"/>
              <a:buFont typeface="Calibri"/>
              <a:buNone/>
            </a:pPr>
            <a:r>
              <a:t/>
            </a:r>
            <a:endParaRPr b="0" sz="1800" u="none">
              <a:solidFill>
                <a:schemeClr val="dk1"/>
              </a:solidFill>
              <a:latin typeface="Times New Roman"/>
              <a:ea typeface="Times New Roman"/>
              <a:cs typeface="Times New Roman"/>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1"/>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Min-Max Normalization </a:t>
            </a:r>
            <a:endParaRPr b="1">
              <a:latin typeface="Times New Roman"/>
              <a:ea typeface="Times New Roman"/>
              <a:cs typeface="Times New Roman"/>
              <a:sym typeface="Times New Roman"/>
            </a:endParaRPr>
          </a:p>
        </p:txBody>
      </p:sp>
      <p:sp>
        <p:nvSpPr>
          <p:cNvPr id="217" name="Google Shape;217;p21"/>
          <p:cNvSpPr/>
          <p:nvPr/>
        </p:nvSpPr>
        <p:spPr>
          <a:xfrm>
            <a:off x="2135203" y="1417638"/>
            <a:ext cx="7654834" cy="2377959"/>
          </a:xfrm>
          <a:prstGeom prst="rect">
            <a:avLst/>
          </a:prstGeom>
          <a:blipFill rotWithShape="1">
            <a:blip r:embed="rId3">
              <a:alphaModFix/>
            </a:blip>
            <a:stretch>
              <a:fillRect b="0" l="-1193" r="0" t="-1537"/>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sp>
        <p:nvSpPr>
          <p:cNvPr id="218" name="Google Shape;218;p21"/>
          <p:cNvSpPr txBox="1"/>
          <p:nvPr/>
        </p:nvSpPr>
        <p:spPr>
          <a:xfrm>
            <a:off x="1692442" y="3697705"/>
            <a:ext cx="8229600" cy="2885657"/>
          </a:xfrm>
          <a:prstGeom prst="rect">
            <a:avLst/>
          </a:prstGeom>
          <a:noFill/>
          <a:ln>
            <a:noFill/>
          </a:ln>
        </p:spPr>
        <p:txBody>
          <a:bodyPr anchorCtr="0" anchor="ctr" bIns="45700" lIns="91425" spcFirstLastPara="1" rIns="91425" wrap="square" tIns="45700">
            <a:noAutofit/>
          </a:bodyPr>
          <a:lstStyle/>
          <a:p>
            <a:pPr indent="0" lvl="0" marL="0" marR="0" rtl="0" algn="l">
              <a:lnSpc>
                <a:spcPct val="107000"/>
              </a:lnSpc>
              <a:spcBef>
                <a:spcPts val="0"/>
              </a:spcBef>
              <a:spcAft>
                <a:spcPts val="0"/>
              </a:spcAft>
              <a:buClr>
                <a:schemeClr val="dk1"/>
              </a:buClr>
              <a:buSzPts val="2000"/>
              <a:buFont typeface="Times New Roman"/>
              <a:buNone/>
            </a:pPr>
            <a:r>
              <a:rPr lang="en-US" sz="2000">
                <a:solidFill>
                  <a:schemeClr val="dk1"/>
                </a:solidFill>
                <a:latin typeface="Times New Roman"/>
                <a:ea typeface="Times New Roman"/>
                <a:cs typeface="Times New Roman"/>
                <a:sym typeface="Times New Roman"/>
              </a:rPr>
              <a:t>Min-max scaling is a good choice when:</a:t>
            </a:r>
            <a:endParaRPr sz="2000">
              <a:solidFill>
                <a:schemeClr val="dk1"/>
              </a:solidFill>
              <a:latin typeface="Calibri"/>
              <a:ea typeface="Calibri"/>
              <a:cs typeface="Calibri"/>
              <a:sym typeface="Calibri"/>
            </a:endParaRPr>
          </a:p>
          <a:p>
            <a:pPr indent="-342900" lvl="0" marL="342900" marR="0" rtl="0" algn="l">
              <a:lnSpc>
                <a:spcPct val="107000"/>
              </a:lnSpc>
              <a:spcBef>
                <a:spcPts val="800"/>
              </a:spcBef>
              <a:spcAft>
                <a:spcPts val="0"/>
              </a:spcAft>
              <a:buClr>
                <a:schemeClr val="dk1"/>
              </a:buClr>
              <a:buSzPts val="1000"/>
              <a:buFont typeface="Noto Sans Symbols"/>
              <a:buChar char="∙"/>
            </a:pPr>
            <a:r>
              <a:rPr lang="en-US" sz="2000">
                <a:solidFill>
                  <a:schemeClr val="dk1"/>
                </a:solidFill>
                <a:latin typeface="Times New Roman"/>
                <a:ea typeface="Times New Roman"/>
                <a:cs typeface="Times New Roman"/>
                <a:sym typeface="Times New Roman"/>
              </a:rPr>
              <a:t>The approximate upper and lower bounds of the dataset are known, and the dataset has few or no outliers</a:t>
            </a:r>
            <a:endParaRPr sz="2000">
              <a:solidFill>
                <a:schemeClr val="dk1"/>
              </a:solidFill>
              <a:latin typeface="Calibri"/>
              <a:ea typeface="Calibri"/>
              <a:cs typeface="Calibri"/>
              <a:sym typeface="Calibri"/>
            </a:endParaRPr>
          </a:p>
          <a:p>
            <a:pPr indent="-342900" lvl="0" marL="342900" marR="0" rtl="0" algn="l">
              <a:lnSpc>
                <a:spcPct val="107000"/>
              </a:lnSpc>
              <a:spcBef>
                <a:spcPts val="800"/>
              </a:spcBef>
              <a:spcAft>
                <a:spcPts val="0"/>
              </a:spcAft>
              <a:buClr>
                <a:schemeClr val="dk1"/>
              </a:buClr>
              <a:buSzPts val="1000"/>
              <a:buFont typeface="Noto Sans Symbols"/>
              <a:buChar char="∙"/>
            </a:pPr>
            <a:r>
              <a:rPr lang="en-US" sz="2000">
                <a:solidFill>
                  <a:schemeClr val="dk1"/>
                </a:solidFill>
                <a:latin typeface="Times New Roman"/>
                <a:ea typeface="Times New Roman"/>
                <a:cs typeface="Times New Roman"/>
                <a:sym typeface="Times New Roman"/>
              </a:rPr>
              <a:t>When the data distribution is unknown or non-Gaussian, and the data is approximately uniformly distributed across the range</a:t>
            </a:r>
            <a:endParaRPr sz="2000">
              <a:solidFill>
                <a:schemeClr val="dk1"/>
              </a:solidFill>
              <a:latin typeface="Calibri"/>
              <a:ea typeface="Calibri"/>
              <a:cs typeface="Calibri"/>
              <a:sym typeface="Calibri"/>
            </a:endParaRPr>
          </a:p>
          <a:p>
            <a:pPr indent="-342900" lvl="0" marL="342900" marR="0" rtl="0" algn="l">
              <a:lnSpc>
                <a:spcPct val="107000"/>
              </a:lnSpc>
              <a:spcBef>
                <a:spcPts val="800"/>
              </a:spcBef>
              <a:spcAft>
                <a:spcPts val="800"/>
              </a:spcAft>
              <a:buClr>
                <a:schemeClr val="dk1"/>
              </a:buClr>
              <a:buSzPts val="1000"/>
              <a:buFont typeface="Noto Sans Symbols"/>
              <a:buChar char="∙"/>
            </a:pPr>
            <a:r>
              <a:rPr lang="en-US" sz="2000">
                <a:solidFill>
                  <a:schemeClr val="dk1"/>
                </a:solidFill>
                <a:latin typeface="Times New Roman"/>
                <a:ea typeface="Times New Roman"/>
                <a:cs typeface="Times New Roman"/>
                <a:sym typeface="Times New Roman"/>
              </a:rPr>
              <a:t>When maintaining the distribution’s original shape is essential</a:t>
            </a:r>
            <a:endParaRPr sz="2000">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22"/>
          <p:cNvSpPr txBox="1"/>
          <p:nvPr>
            <p:ph type="title"/>
          </p:nvPr>
        </p:nvSpPr>
        <p:spPr>
          <a:xfrm>
            <a:off x="838200" y="128338"/>
            <a:ext cx="10515600" cy="807033"/>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br>
              <a:rPr lang="en-US"/>
            </a:br>
            <a:r>
              <a:rPr lang="en-US"/>
              <a:t>Robust Scaling Normalization</a:t>
            </a:r>
            <a:br>
              <a:rPr lang="en-US"/>
            </a:br>
            <a:endParaRPr/>
          </a:p>
        </p:txBody>
      </p:sp>
      <p:sp>
        <p:nvSpPr>
          <p:cNvPr id="224" name="Google Shape;224;p22"/>
          <p:cNvSpPr txBox="1"/>
          <p:nvPr>
            <p:ph idx="1" type="body"/>
          </p:nvPr>
        </p:nvSpPr>
        <p:spPr>
          <a:xfrm>
            <a:off x="838200" y="1203158"/>
            <a:ext cx="10515600" cy="4973805"/>
          </a:xfrm>
          <a:prstGeom prst="rect">
            <a:avLst/>
          </a:prstGeom>
          <a:noFill/>
          <a:ln>
            <a:noFill/>
          </a:ln>
        </p:spPr>
        <p:txBody>
          <a:bodyPr anchorCtr="0" anchor="t" bIns="45700" lIns="91425" spcFirstLastPara="1" rIns="91425" wrap="square" tIns="45700">
            <a:normAutofit fontScale="85000" lnSpcReduction="10000"/>
          </a:bodyPr>
          <a:lstStyle/>
          <a:p>
            <a:pPr indent="0" lvl="0" marL="0" rtl="0" algn="l">
              <a:lnSpc>
                <a:spcPct val="90000"/>
              </a:lnSpc>
              <a:spcBef>
                <a:spcPts val="0"/>
              </a:spcBef>
              <a:spcAft>
                <a:spcPts val="0"/>
              </a:spcAft>
              <a:buClr>
                <a:schemeClr val="dk1"/>
              </a:buClr>
              <a:buSzPct val="100000"/>
              <a:buNone/>
            </a:pPr>
            <a:r>
              <a:rPr lang="en-US"/>
              <a:t>Both standard and robust scalers transform inputs to comparable scales. The difference lies in how they scale raw input values. Robust scaling answers a simple question. </a:t>
            </a:r>
            <a:r>
              <a:rPr b="1" lang="en-US"/>
              <a:t>How far is each data point from the input’s median?</a:t>
            </a:r>
            <a:r>
              <a:rPr lang="en-US"/>
              <a:t> More precisely, it measures this distance in terms of the IQR using the below formula:</a:t>
            </a:r>
            <a:endParaRPr/>
          </a:p>
          <a:p>
            <a:pPr indent="-77470" lvl="0" marL="228600" rtl="0" algn="l">
              <a:lnSpc>
                <a:spcPct val="90000"/>
              </a:lnSpc>
              <a:spcBef>
                <a:spcPts val="1000"/>
              </a:spcBef>
              <a:spcAft>
                <a:spcPts val="0"/>
              </a:spcAft>
              <a:buClr>
                <a:schemeClr val="dk1"/>
              </a:buClr>
              <a:buSzPct val="100000"/>
              <a:buNone/>
            </a:pPr>
            <a:r>
              <a:t/>
            </a:r>
            <a:endParaRPr/>
          </a:p>
          <a:p>
            <a:pPr indent="-77470" lvl="0" marL="228600" rtl="0" algn="l">
              <a:lnSpc>
                <a:spcPct val="90000"/>
              </a:lnSpc>
              <a:spcBef>
                <a:spcPts val="1000"/>
              </a:spcBef>
              <a:spcAft>
                <a:spcPts val="0"/>
              </a:spcAft>
              <a:buClr>
                <a:schemeClr val="dk1"/>
              </a:buClr>
              <a:buSzPct val="100000"/>
              <a:buNone/>
            </a:pPr>
            <a:r>
              <a:t/>
            </a:r>
            <a:endParaRPr/>
          </a:p>
          <a:p>
            <a:pPr indent="-77470" lvl="0" marL="22860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rPr lang="en-US"/>
              <a:t>The scaled values will have their median and IQR set to 0 and 1, respectively. The fact that robust scaling uses median and IQR makes it resistant to outliers.</a:t>
            </a:r>
            <a:r>
              <a:rPr lang="en-US">
                <a:latin typeface="Times New Roman"/>
                <a:ea typeface="Times New Roman"/>
                <a:cs typeface="Times New Roman"/>
                <a:sym typeface="Times New Roman"/>
              </a:rPr>
              <a:t> Since robust scaling is resilient to the influence of outliers, this makes it suitable for datasets with skewed or anomalous values or with outliers.</a:t>
            </a:r>
            <a:endParaRPr/>
          </a:p>
          <a:p>
            <a:pPr indent="0" lvl="0" marL="0" rtl="0" algn="l">
              <a:lnSpc>
                <a:spcPct val="90000"/>
              </a:lnSpc>
              <a:spcBef>
                <a:spcPts val="1000"/>
              </a:spcBef>
              <a:spcAft>
                <a:spcPts val="0"/>
              </a:spcAft>
              <a:buClr>
                <a:schemeClr val="dk1"/>
              </a:buClr>
              <a:buSzPct val="100000"/>
              <a:buNone/>
            </a:pPr>
            <a:r>
              <a:rPr lang="en-US">
                <a:latin typeface="Times New Roman"/>
                <a:ea typeface="Times New Roman"/>
                <a:cs typeface="Times New Roman"/>
                <a:sym typeface="Times New Roman"/>
              </a:rPr>
              <a:t>Example: Original value =30, Input’s median= 25, IQR = 20</a:t>
            </a:r>
            <a:endParaRPr/>
          </a:p>
          <a:p>
            <a:pPr indent="0" lvl="0" marL="0" rtl="0" algn="l">
              <a:lnSpc>
                <a:spcPct val="90000"/>
              </a:lnSpc>
              <a:spcBef>
                <a:spcPts val="1000"/>
              </a:spcBef>
              <a:spcAft>
                <a:spcPts val="0"/>
              </a:spcAft>
              <a:buClr>
                <a:schemeClr val="dk1"/>
              </a:buClr>
              <a:buSzPct val="100000"/>
              <a:buNone/>
            </a:pPr>
            <a:r>
              <a:rPr lang="en-US">
                <a:latin typeface="Times New Roman"/>
                <a:ea typeface="Times New Roman"/>
                <a:cs typeface="Times New Roman"/>
                <a:sym typeface="Times New Roman"/>
              </a:rPr>
              <a:t>Robust scaled value = (30-28)/20=0.10</a:t>
            </a:r>
            <a:endParaRPr>
              <a:latin typeface="Calibri"/>
              <a:ea typeface="Calibri"/>
              <a:cs typeface="Calibri"/>
              <a:sym typeface="Calibri"/>
            </a:endParaRPr>
          </a:p>
          <a:p>
            <a:pPr indent="0" lvl="0" marL="0" rtl="0" algn="l">
              <a:lnSpc>
                <a:spcPct val="90000"/>
              </a:lnSpc>
              <a:spcBef>
                <a:spcPts val="1000"/>
              </a:spcBef>
              <a:spcAft>
                <a:spcPts val="0"/>
              </a:spcAft>
              <a:buClr>
                <a:schemeClr val="dk1"/>
              </a:buClr>
              <a:buSzPct val="100000"/>
              <a:buNone/>
            </a:pPr>
            <a:r>
              <a:t/>
            </a:r>
            <a:endParaRPr/>
          </a:p>
          <a:p>
            <a:pPr indent="0" lvl="0" marL="0" rtl="0" algn="l">
              <a:lnSpc>
                <a:spcPct val="90000"/>
              </a:lnSpc>
              <a:spcBef>
                <a:spcPts val="1000"/>
              </a:spcBef>
              <a:spcAft>
                <a:spcPts val="0"/>
              </a:spcAft>
              <a:buClr>
                <a:schemeClr val="dk1"/>
              </a:buClr>
              <a:buSzPct val="100000"/>
              <a:buNone/>
            </a:pPr>
            <a:r>
              <a:t/>
            </a:r>
            <a:endParaRPr/>
          </a:p>
          <a:p>
            <a:pPr indent="-77470" lvl="0" marL="228600" rtl="0" algn="l">
              <a:lnSpc>
                <a:spcPct val="90000"/>
              </a:lnSpc>
              <a:spcBef>
                <a:spcPts val="1000"/>
              </a:spcBef>
              <a:spcAft>
                <a:spcPts val="0"/>
              </a:spcAft>
              <a:buClr>
                <a:schemeClr val="dk1"/>
              </a:buClr>
              <a:buSzPct val="100000"/>
              <a:buNone/>
            </a:pPr>
            <a:r>
              <a:t/>
            </a:r>
            <a:endParaRPr/>
          </a:p>
        </p:txBody>
      </p:sp>
      <p:pic>
        <p:nvPicPr>
          <p:cNvPr id="225" name="Google Shape;225;p22"/>
          <p:cNvPicPr preferRelativeResize="0"/>
          <p:nvPr/>
        </p:nvPicPr>
        <p:blipFill rotWithShape="1">
          <a:blip r:embed="rId3">
            <a:alphaModFix/>
          </a:blip>
          <a:srcRect b="0" l="0" r="0" t="0"/>
          <a:stretch/>
        </p:blipFill>
        <p:spPr>
          <a:xfrm>
            <a:off x="3018631" y="3052011"/>
            <a:ext cx="6154738" cy="8763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3"/>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Z-Score Normalization </a:t>
            </a:r>
            <a:endParaRPr b="1">
              <a:latin typeface="Times New Roman"/>
              <a:ea typeface="Times New Roman"/>
              <a:cs typeface="Times New Roman"/>
              <a:sym typeface="Times New Roman"/>
            </a:endParaRPr>
          </a:p>
        </p:txBody>
      </p:sp>
      <p:sp>
        <p:nvSpPr>
          <p:cNvPr id="231" name="Google Shape;231;p23"/>
          <p:cNvSpPr/>
          <p:nvPr/>
        </p:nvSpPr>
        <p:spPr>
          <a:xfrm>
            <a:off x="1246140" y="1417638"/>
            <a:ext cx="9630407" cy="4616585"/>
          </a:xfrm>
          <a:prstGeom prst="rect">
            <a:avLst/>
          </a:prstGeom>
          <a:blipFill rotWithShape="1">
            <a:blip r:embed="rId3">
              <a:alphaModFix/>
            </a:blip>
            <a:stretch>
              <a:fillRect b="0" l="-822" r="0" t="-1056"/>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800">
                <a:latin typeface="Calibri"/>
                <a:ea typeface="Calibri"/>
                <a:cs typeface="Calibri"/>
                <a:sym typeface="Calibri"/>
              </a:rPr>
              <a:t> </a:t>
            </a:r>
            <a:endParaRPr/>
          </a:p>
        </p:txBody>
      </p:sp>
      <p:pic>
        <p:nvPicPr>
          <p:cNvPr id="232" name="Google Shape;232;p23"/>
          <p:cNvPicPr preferRelativeResize="0"/>
          <p:nvPr/>
        </p:nvPicPr>
        <p:blipFill rotWithShape="1">
          <a:blip r:embed="rId4">
            <a:alphaModFix/>
          </a:blip>
          <a:srcRect b="0" l="0" r="0" t="0"/>
          <a:stretch/>
        </p:blipFill>
        <p:spPr>
          <a:xfrm>
            <a:off x="1622124" y="2099093"/>
            <a:ext cx="8878438" cy="923089"/>
          </a:xfrm>
          <a:prstGeom prst="rect">
            <a:avLst/>
          </a:prstGeom>
          <a:noFill/>
          <a:ln>
            <a:noFill/>
          </a:ln>
        </p:spPr>
      </p:pic>
      <p:pic>
        <p:nvPicPr>
          <p:cNvPr id="233" name="Google Shape;233;p23"/>
          <p:cNvPicPr preferRelativeResize="0"/>
          <p:nvPr/>
        </p:nvPicPr>
        <p:blipFill rotWithShape="1">
          <a:blip r:embed="rId5">
            <a:alphaModFix/>
          </a:blip>
          <a:srcRect b="0" l="0" r="0" t="0"/>
          <a:stretch/>
        </p:blipFill>
        <p:spPr>
          <a:xfrm>
            <a:off x="3687763" y="3771900"/>
            <a:ext cx="139700" cy="2286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Z-Score Normalization </a:t>
            </a:r>
            <a:endParaRPr b="1"/>
          </a:p>
        </p:txBody>
      </p:sp>
      <p:sp>
        <p:nvSpPr>
          <p:cNvPr id="239" name="Google Shape;239;p24"/>
          <p:cNvSpPr txBox="1"/>
          <p:nvPr>
            <p:ph idx="1" type="body"/>
          </p:nvPr>
        </p:nvSpPr>
        <p:spPr>
          <a:xfrm>
            <a:off x="838200" y="1825625"/>
            <a:ext cx="10515600" cy="4351338"/>
          </a:xfrm>
          <a:prstGeom prst="rect">
            <a:avLst/>
          </a:prstGeom>
          <a:blipFill rotWithShape="1">
            <a:blip r:embed="rId3">
              <a:alphaModFix/>
            </a:blip>
            <a:stretch>
              <a:fillRect b="0" l="-927" r="0" t="-1540"/>
            </a:stretch>
          </a:blip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SzPts val="2800"/>
              <a:buChar char="•"/>
            </a:pPr>
            <a:r>
              <a:rPr lang="en-US"/>
              <a:t> </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Decimal Scale Normalization</a:t>
            </a:r>
            <a:endParaRPr/>
          </a:p>
        </p:txBody>
      </p:sp>
      <p:sp>
        <p:nvSpPr>
          <p:cNvPr id="245" name="Google Shape;245;p25"/>
          <p:cNvSpPr txBox="1"/>
          <p:nvPr>
            <p:ph idx="1" type="body"/>
          </p:nvPr>
        </p:nvSpPr>
        <p:spPr>
          <a:xfrm>
            <a:off x="838200" y="1604211"/>
            <a:ext cx="10515600" cy="4572752"/>
          </a:xfrm>
          <a:prstGeom prst="rect">
            <a:avLst/>
          </a:prstGeom>
          <a:noFill/>
          <a:ln>
            <a:noFill/>
          </a:ln>
        </p:spPr>
        <p:txBody>
          <a:bodyPr anchorCtr="0" anchor="t" bIns="45700" lIns="91425" spcFirstLastPara="1" rIns="91425" wrap="square" tIns="45700">
            <a:normAutofit fontScale="55000" lnSpcReduction="20000"/>
          </a:bodyPr>
          <a:lstStyle/>
          <a:p>
            <a:pPr indent="-571500" lvl="0" marL="684213" marR="0" rtl="0" algn="l">
              <a:lnSpc>
                <a:spcPct val="107000"/>
              </a:lnSpc>
              <a:spcBef>
                <a:spcPts val="0"/>
              </a:spcBef>
              <a:spcAft>
                <a:spcPts val="0"/>
              </a:spcAft>
              <a:buClr>
                <a:schemeClr val="dk1"/>
              </a:buClr>
              <a:buSzPct val="100000"/>
              <a:buFont typeface="Noto Sans Symbols"/>
              <a:buChar char="⮚"/>
            </a:pPr>
            <a:r>
              <a:rPr lang="en-US" sz="4400">
                <a:latin typeface="Times New Roman"/>
                <a:ea typeface="Times New Roman"/>
                <a:cs typeface="Times New Roman"/>
                <a:sym typeface="Times New Roman"/>
              </a:rPr>
              <a:t>Decimal scaling normalization aims to scale the feature values by a power of 10, ensuring that the largest absolute value in each feature becomes less than 1. It is useful when the range of values in a dataset is known, but the range varies across features. The formula for decimal scaling normalization is:</a:t>
            </a:r>
            <a:endParaRPr sz="4400">
              <a:latin typeface="Calibri"/>
              <a:ea typeface="Calibri"/>
              <a:cs typeface="Calibri"/>
              <a:sym typeface="Calibri"/>
            </a:endParaRPr>
          </a:p>
          <a:p>
            <a:pPr indent="0" lvl="0" marL="112713" marR="0" rtl="0" algn="l">
              <a:lnSpc>
                <a:spcPct val="107000"/>
              </a:lnSpc>
              <a:spcBef>
                <a:spcPts val="800"/>
              </a:spcBef>
              <a:spcAft>
                <a:spcPts val="0"/>
              </a:spcAft>
              <a:buClr>
                <a:schemeClr val="dk1"/>
              </a:buClr>
              <a:buSzPct val="100000"/>
              <a:buNone/>
            </a:pPr>
            <a:r>
              <a:rPr lang="en-US" sz="4400">
                <a:latin typeface="Times New Roman"/>
                <a:ea typeface="Times New Roman"/>
                <a:cs typeface="Times New Roman"/>
                <a:sym typeface="Times New Roman"/>
              </a:rPr>
              <a:t>				X</a:t>
            </a:r>
            <a:r>
              <a:rPr baseline="-25000" lang="en-US" sz="4400">
                <a:latin typeface="Times New Roman"/>
                <a:ea typeface="Times New Roman"/>
                <a:cs typeface="Times New Roman"/>
                <a:sym typeface="Times New Roman"/>
              </a:rPr>
              <a:t>decimal</a:t>
            </a:r>
            <a:r>
              <a:rPr lang="en-US" sz="4400">
                <a:latin typeface="Times New Roman"/>
                <a:ea typeface="Times New Roman"/>
                <a:cs typeface="Times New Roman"/>
                <a:sym typeface="Times New Roman"/>
              </a:rPr>
              <a:t> = X / 10</a:t>
            </a:r>
            <a:r>
              <a:rPr baseline="30000" lang="en-US" sz="4400">
                <a:latin typeface="Times New Roman"/>
                <a:ea typeface="Times New Roman"/>
                <a:cs typeface="Times New Roman"/>
                <a:sym typeface="Times New Roman"/>
              </a:rPr>
              <a:t>d</a:t>
            </a:r>
            <a:endParaRPr sz="4400">
              <a:latin typeface="Calibri"/>
              <a:ea typeface="Calibri"/>
              <a:cs typeface="Calibri"/>
              <a:sym typeface="Calibri"/>
            </a:endParaRPr>
          </a:p>
          <a:p>
            <a:pPr indent="-571500" lvl="0" marL="684213" marR="0" rtl="0" algn="l">
              <a:lnSpc>
                <a:spcPct val="107000"/>
              </a:lnSpc>
              <a:spcBef>
                <a:spcPts val="800"/>
              </a:spcBef>
              <a:spcAft>
                <a:spcPts val="0"/>
              </a:spcAft>
              <a:buClr>
                <a:schemeClr val="dk1"/>
              </a:buClr>
              <a:buSzPct val="100000"/>
              <a:buFont typeface="Noto Sans Symbols"/>
              <a:buChar char="⮚"/>
            </a:pPr>
            <a:r>
              <a:rPr lang="en-US" sz="4400">
                <a:latin typeface="Times New Roman"/>
                <a:ea typeface="Times New Roman"/>
                <a:cs typeface="Times New Roman"/>
                <a:sym typeface="Times New Roman"/>
              </a:rPr>
              <a:t>X is the original feature value, and d is the smallest integer such that the largest absolute value in the feature becomes less than 1.</a:t>
            </a:r>
            <a:endParaRPr sz="4400">
              <a:latin typeface="Calibri"/>
              <a:ea typeface="Calibri"/>
              <a:cs typeface="Calibri"/>
              <a:sym typeface="Calibri"/>
            </a:endParaRPr>
          </a:p>
          <a:p>
            <a:pPr indent="-571500" lvl="0" marL="684213" marR="0" rtl="0" algn="l">
              <a:lnSpc>
                <a:spcPct val="107000"/>
              </a:lnSpc>
              <a:spcBef>
                <a:spcPts val="800"/>
              </a:spcBef>
              <a:spcAft>
                <a:spcPts val="0"/>
              </a:spcAft>
              <a:buClr>
                <a:schemeClr val="dk1"/>
              </a:buClr>
              <a:buSzPct val="100000"/>
              <a:buFont typeface="Noto Sans Symbols"/>
              <a:buChar char="⮚"/>
            </a:pPr>
            <a:r>
              <a:rPr lang="en-US" sz="4400">
                <a:latin typeface="Times New Roman"/>
                <a:ea typeface="Times New Roman"/>
                <a:cs typeface="Times New Roman"/>
                <a:sym typeface="Times New Roman"/>
              </a:rPr>
              <a:t>For example, if the largest absolute value in a feature is 350, then d would be 3, and the feature would be scaled by 10</a:t>
            </a:r>
            <a:r>
              <a:rPr baseline="30000" lang="en-US" sz="4400">
                <a:latin typeface="Times New Roman"/>
                <a:ea typeface="Times New Roman"/>
                <a:cs typeface="Times New Roman"/>
                <a:sym typeface="Times New Roman"/>
              </a:rPr>
              <a:t>3</a:t>
            </a:r>
            <a:r>
              <a:rPr lang="en-US" sz="4400">
                <a:latin typeface="Times New Roman"/>
                <a:ea typeface="Times New Roman"/>
                <a:cs typeface="Times New Roman"/>
                <a:sym typeface="Times New Roman"/>
              </a:rPr>
              <a:t>.</a:t>
            </a:r>
            <a:endParaRPr sz="4400">
              <a:latin typeface="Calibri"/>
              <a:ea typeface="Calibri"/>
              <a:cs typeface="Calibri"/>
              <a:sym typeface="Calibri"/>
            </a:endParaRPr>
          </a:p>
          <a:p>
            <a:pPr indent="-571500" lvl="0" marL="684213" marR="0" rtl="0" algn="l">
              <a:lnSpc>
                <a:spcPct val="107000"/>
              </a:lnSpc>
              <a:spcBef>
                <a:spcPts val="800"/>
              </a:spcBef>
              <a:spcAft>
                <a:spcPts val="0"/>
              </a:spcAft>
              <a:buClr>
                <a:schemeClr val="dk1"/>
              </a:buClr>
              <a:buSzPct val="100000"/>
              <a:buFont typeface="Noto Sans Symbols"/>
              <a:buChar char="⮚"/>
            </a:pPr>
            <a:r>
              <a:rPr lang="en-US" sz="4400">
                <a:latin typeface="Times New Roman"/>
                <a:ea typeface="Times New Roman"/>
                <a:cs typeface="Times New Roman"/>
                <a:sym typeface="Times New Roman"/>
              </a:rPr>
              <a:t>Decimal scaling normalization is advantageous when dealing with datasets where the absolute magnitude of values matters more than their specific scale.</a:t>
            </a:r>
            <a:r>
              <a:rPr lang="en-US" sz="2400">
                <a:latin typeface="Times New Roman"/>
                <a:ea typeface="Times New Roman"/>
                <a:cs typeface="Times New Roman"/>
                <a:sym typeface="Times New Roman"/>
              </a:rPr>
              <a:t> </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6"/>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lang="en-US">
                <a:latin typeface="Times New Roman"/>
                <a:ea typeface="Times New Roman"/>
                <a:cs typeface="Times New Roman"/>
                <a:sym typeface="Times New Roman"/>
              </a:rPr>
              <a:t>Decimal Scale Normalization</a:t>
            </a:r>
            <a:endParaRPr b="1">
              <a:latin typeface="Times New Roman"/>
              <a:ea typeface="Times New Roman"/>
              <a:cs typeface="Times New Roman"/>
              <a:sym typeface="Times New Roman"/>
            </a:endParaRPr>
          </a:p>
        </p:txBody>
      </p:sp>
      <p:graphicFrame>
        <p:nvGraphicFramePr>
          <p:cNvPr id="251" name="Google Shape;251;p26"/>
          <p:cNvGraphicFramePr/>
          <p:nvPr/>
        </p:nvGraphicFramePr>
        <p:xfrm>
          <a:off x="2438400" y="1676400"/>
          <a:ext cx="3000000" cy="3000000"/>
        </p:xfrm>
        <a:graphic>
          <a:graphicData uri="http://schemas.openxmlformats.org/drawingml/2006/table">
            <a:tbl>
              <a:tblPr>
                <a:noFill/>
                <a:tableStyleId>{1755E7DA-98E4-4EC1-B8E4-D68808E3F0D1}</a:tableStyleId>
              </a:tblPr>
              <a:tblGrid>
                <a:gridCol w="775150"/>
                <a:gridCol w="1358450"/>
                <a:gridCol w="1676400"/>
              </a:tblGrid>
              <a:tr h="370850">
                <a:tc>
                  <a:txBody>
                    <a:bodyPr/>
                    <a:lstStyle/>
                    <a:p>
                      <a:pPr indent="0" lvl="0" marL="0" marR="0" rtl="0" algn="l">
                        <a:spcBef>
                          <a:spcPts val="0"/>
                        </a:spcBef>
                        <a:spcAft>
                          <a:spcPts val="0"/>
                        </a:spcAft>
                        <a:buClr>
                          <a:schemeClr val="dk1"/>
                        </a:buClr>
                        <a:buSzPts val="1800"/>
                        <a:buFont typeface="Calibri"/>
                        <a:buNone/>
                      </a:pPr>
                      <a:r>
                        <a:rPr lang="en-US" sz="1800" u="none" cap="none" strike="noStrike"/>
                        <a:t>CGPA</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sz="1800" u="none" cap="none" strike="noStrike"/>
                        <a:t>Formula</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sz="1800" u="none" cap="none" strike="noStrike"/>
                        <a:t>After Decimal Normalization</a:t>
                      </a:r>
                      <a:endParaRPr sz="1800" u="none" cap="none" strike="noStrike"/>
                    </a:p>
                  </a:txBody>
                  <a:tcPr marT="45725" marB="45725" marR="91450" marL="91450"/>
                </a:tc>
              </a:tr>
              <a:tr h="370850">
                <a:tc>
                  <a:txBody>
                    <a:bodyPr/>
                    <a:lstStyle/>
                    <a:p>
                      <a:pPr indent="0" lvl="0" marL="0" marR="0" rtl="0" algn="l">
                        <a:spcBef>
                          <a:spcPts val="0"/>
                        </a:spcBef>
                        <a:spcAft>
                          <a:spcPts val="0"/>
                        </a:spcAft>
                        <a:buClr>
                          <a:schemeClr val="dk1"/>
                        </a:buClr>
                        <a:buSzPts val="1800"/>
                        <a:buFont typeface="Calibri"/>
                        <a:buNone/>
                      </a:pPr>
                      <a:r>
                        <a:rPr lang="en-US" sz="1800" u="none" cap="none" strike="noStrike"/>
                        <a:t>2</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sz="1800" u="none" cap="none" strike="noStrike"/>
                        <a:t>2/10</a:t>
                      </a:r>
                      <a:endParaRPr sz="1800" u="none" cap="none" strike="noStrike"/>
                    </a:p>
                  </a:txBody>
                  <a:tcPr marT="45725" marB="45725" marR="91450" marL="91450"/>
                </a:tc>
                <a:tc>
                  <a:txBody>
                    <a:bodyPr/>
                    <a:lstStyle/>
                    <a:p>
                      <a:pPr indent="0" lvl="0" marL="0" marR="0" rtl="0" algn="ctr">
                        <a:spcBef>
                          <a:spcPts val="0"/>
                        </a:spcBef>
                        <a:spcAft>
                          <a:spcPts val="0"/>
                        </a:spcAft>
                        <a:buClr>
                          <a:schemeClr val="dk1"/>
                        </a:buClr>
                        <a:buSzPts val="1800"/>
                        <a:buFont typeface="Calibri"/>
                        <a:buNone/>
                      </a:pPr>
                      <a:r>
                        <a:rPr lang="en-US" sz="1800" u="none" cap="none" strike="noStrike"/>
                        <a:t>0.2</a:t>
                      </a:r>
                      <a:endParaRPr sz="1800" u="none" cap="none" strike="noStrike"/>
                    </a:p>
                  </a:txBody>
                  <a:tcPr marT="45725" marB="45725" marR="91450" marL="91450"/>
                </a:tc>
              </a:tr>
              <a:tr h="370850">
                <a:tc>
                  <a:txBody>
                    <a:bodyPr/>
                    <a:lstStyle/>
                    <a:p>
                      <a:pPr indent="0" lvl="0" marL="0" marR="0" rtl="0" algn="l">
                        <a:spcBef>
                          <a:spcPts val="0"/>
                        </a:spcBef>
                        <a:spcAft>
                          <a:spcPts val="0"/>
                        </a:spcAft>
                        <a:buClr>
                          <a:schemeClr val="dk1"/>
                        </a:buClr>
                        <a:buSzPts val="1800"/>
                        <a:buFont typeface="Calibri"/>
                        <a:buNone/>
                      </a:pPr>
                      <a:r>
                        <a:rPr lang="en-US" sz="1800" u="none" cap="none" strike="noStrike"/>
                        <a:t>3</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sz="1800" u="none" cap="none" strike="noStrike"/>
                        <a:t>3/10</a:t>
                      </a:r>
                      <a:endParaRPr sz="1800" u="none" cap="none" strike="noStrike"/>
                    </a:p>
                  </a:txBody>
                  <a:tcPr marT="45725" marB="45725" marR="91450" marL="91450"/>
                </a:tc>
                <a:tc>
                  <a:txBody>
                    <a:bodyPr/>
                    <a:lstStyle/>
                    <a:p>
                      <a:pPr indent="0" lvl="0" marL="0" marR="0" rtl="0" algn="ctr">
                        <a:spcBef>
                          <a:spcPts val="0"/>
                        </a:spcBef>
                        <a:spcAft>
                          <a:spcPts val="0"/>
                        </a:spcAft>
                        <a:buClr>
                          <a:schemeClr val="dk1"/>
                        </a:buClr>
                        <a:buSzPts val="1800"/>
                        <a:buFont typeface="Calibri"/>
                        <a:buNone/>
                      </a:pPr>
                      <a:r>
                        <a:rPr lang="en-US" sz="1800" u="none" cap="none" strike="noStrike"/>
                        <a:t>0.3</a:t>
                      </a:r>
                      <a:endParaRPr sz="1800" u="none" cap="none" strike="noStrike"/>
                    </a:p>
                  </a:txBody>
                  <a:tcPr marT="45725" marB="45725" marR="91450" marL="91450"/>
                </a:tc>
              </a:tr>
            </a:tbl>
          </a:graphicData>
        </a:graphic>
      </p:graphicFrame>
      <p:graphicFrame>
        <p:nvGraphicFramePr>
          <p:cNvPr id="252" name="Google Shape;252;p26"/>
          <p:cNvGraphicFramePr/>
          <p:nvPr/>
        </p:nvGraphicFramePr>
        <p:xfrm>
          <a:off x="6501063" y="1676400"/>
          <a:ext cx="3000000" cy="3000000"/>
        </p:xfrm>
        <a:graphic>
          <a:graphicData uri="http://schemas.openxmlformats.org/drawingml/2006/table">
            <a:tbl>
              <a:tblPr>
                <a:noFill/>
                <a:tableStyleId>{1755E7DA-98E4-4EC1-B8E4-D68808E3F0D1}</a:tableStyleId>
              </a:tblPr>
              <a:tblGrid>
                <a:gridCol w="914400"/>
                <a:gridCol w="1347225"/>
                <a:gridCol w="1776975"/>
              </a:tblGrid>
              <a:tr h="370850">
                <a:tc>
                  <a:txBody>
                    <a:bodyPr/>
                    <a:lstStyle/>
                    <a:p>
                      <a:pPr indent="0" lvl="0" marL="0" marR="0" rtl="0" algn="l">
                        <a:spcBef>
                          <a:spcPts val="0"/>
                        </a:spcBef>
                        <a:spcAft>
                          <a:spcPts val="0"/>
                        </a:spcAft>
                        <a:buClr>
                          <a:schemeClr val="dk1"/>
                        </a:buClr>
                        <a:buSzPts val="1800"/>
                        <a:buFont typeface="Calibri"/>
                        <a:buNone/>
                      </a:pPr>
                      <a:r>
                        <a:rPr lang="en-US" sz="1800" u="none" cap="none" strike="noStrike"/>
                        <a:t>Money</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sz="1800" u="none" cap="none" strike="noStrike"/>
                        <a:t>Formula</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sz="1800" u="none" cap="none" strike="noStrike"/>
                        <a:t>After Decimal Normalization</a:t>
                      </a:r>
                      <a:endParaRPr sz="1800" u="none" cap="none" strike="noStrike"/>
                    </a:p>
                  </a:txBody>
                  <a:tcPr marT="45725" marB="45725" marR="91450" marL="91450"/>
                </a:tc>
              </a:tr>
              <a:tr h="370850">
                <a:tc>
                  <a:txBody>
                    <a:bodyPr/>
                    <a:lstStyle/>
                    <a:p>
                      <a:pPr indent="0" lvl="0" marL="0" marR="0" rtl="0" algn="l">
                        <a:spcBef>
                          <a:spcPts val="0"/>
                        </a:spcBef>
                        <a:spcAft>
                          <a:spcPts val="0"/>
                        </a:spcAft>
                        <a:buClr>
                          <a:schemeClr val="dk1"/>
                        </a:buClr>
                        <a:buSzPts val="1800"/>
                        <a:buFont typeface="Calibri"/>
                        <a:buNone/>
                      </a:pPr>
                      <a:r>
                        <a:rPr lang="en-US" sz="1800" u="none" cap="none" strike="noStrike"/>
                        <a:t>500</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sz="1800" u="none" cap="none" strike="noStrike"/>
                        <a:t>500/1000</a:t>
                      </a:r>
                      <a:endParaRPr sz="1800" u="none" cap="none" strike="noStrike"/>
                    </a:p>
                  </a:txBody>
                  <a:tcPr marT="45725" marB="45725" marR="91450" marL="91450"/>
                </a:tc>
                <a:tc>
                  <a:txBody>
                    <a:bodyPr/>
                    <a:lstStyle/>
                    <a:p>
                      <a:pPr indent="0" lvl="0" marL="0" marR="0" rtl="0" algn="ctr">
                        <a:spcBef>
                          <a:spcPts val="0"/>
                        </a:spcBef>
                        <a:spcAft>
                          <a:spcPts val="0"/>
                        </a:spcAft>
                        <a:buClr>
                          <a:schemeClr val="dk1"/>
                        </a:buClr>
                        <a:buSzPts val="1800"/>
                        <a:buFont typeface="Calibri"/>
                        <a:buNone/>
                      </a:pPr>
                      <a:r>
                        <a:rPr lang="en-US" sz="1800" u="none" cap="none" strike="noStrike"/>
                        <a:t>0.5</a:t>
                      </a:r>
                      <a:endParaRPr sz="1800" u="none" cap="none" strike="noStrike"/>
                    </a:p>
                  </a:txBody>
                  <a:tcPr marT="45725" marB="45725" marR="91450" marL="91450"/>
                </a:tc>
              </a:tr>
              <a:tr h="370850">
                <a:tc>
                  <a:txBody>
                    <a:bodyPr/>
                    <a:lstStyle/>
                    <a:p>
                      <a:pPr indent="0" lvl="0" marL="0" marR="0" rtl="0" algn="l">
                        <a:spcBef>
                          <a:spcPts val="0"/>
                        </a:spcBef>
                        <a:spcAft>
                          <a:spcPts val="0"/>
                        </a:spcAft>
                        <a:buClr>
                          <a:schemeClr val="dk1"/>
                        </a:buClr>
                        <a:buSzPts val="1800"/>
                        <a:buFont typeface="Calibri"/>
                        <a:buNone/>
                      </a:pPr>
                      <a:r>
                        <a:rPr lang="en-US" sz="1800" u="none" cap="none" strike="noStrike"/>
                        <a:t>320</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sz="1800" u="none" cap="none" strike="noStrike"/>
                        <a:t>320/1000</a:t>
                      </a:r>
                      <a:endParaRPr sz="1800" u="none" cap="none" strike="noStrike"/>
                    </a:p>
                  </a:txBody>
                  <a:tcPr marT="45725" marB="45725" marR="91450" marL="91450"/>
                </a:tc>
                <a:tc>
                  <a:txBody>
                    <a:bodyPr/>
                    <a:lstStyle/>
                    <a:p>
                      <a:pPr indent="0" lvl="0" marL="0" marR="0" rtl="0" algn="ctr">
                        <a:spcBef>
                          <a:spcPts val="0"/>
                        </a:spcBef>
                        <a:spcAft>
                          <a:spcPts val="0"/>
                        </a:spcAft>
                        <a:buClr>
                          <a:schemeClr val="dk1"/>
                        </a:buClr>
                        <a:buSzPts val="1800"/>
                        <a:buFont typeface="Calibri"/>
                        <a:buNone/>
                      </a:pPr>
                      <a:r>
                        <a:rPr lang="en-US" sz="1800" u="none" cap="none" strike="noStrike"/>
                        <a:t>0.32</a:t>
                      </a:r>
                      <a:endParaRPr sz="1800" u="none" cap="none" strike="noStrike"/>
                    </a:p>
                  </a:txBody>
                  <a:tcPr marT="45725" marB="45725" marR="91450" marL="91450"/>
                </a:tc>
              </a:tr>
            </a:tbl>
          </a:graphicData>
        </a:graphic>
      </p:graphicFrame>
      <p:graphicFrame>
        <p:nvGraphicFramePr>
          <p:cNvPr id="253" name="Google Shape;253;p26"/>
          <p:cNvGraphicFramePr/>
          <p:nvPr/>
        </p:nvGraphicFramePr>
        <p:xfrm>
          <a:off x="4467727" y="3643429"/>
          <a:ext cx="3000000" cy="3000000"/>
        </p:xfrm>
        <a:graphic>
          <a:graphicData uri="http://schemas.openxmlformats.org/drawingml/2006/table">
            <a:tbl>
              <a:tblPr>
                <a:noFill/>
                <a:tableStyleId>{1755E7DA-98E4-4EC1-B8E4-D68808E3F0D1}</a:tableStyleId>
              </a:tblPr>
              <a:tblGrid>
                <a:gridCol w="914400"/>
                <a:gridCol w="1676400"/>
                <a:gridCol w="1676400"/>
              </a:tblGrid>
              <a:tr h="370850">
                <a:tc>
                  <a:txBody>
                    <a:bodyPr/>
                    <a:lstStyle/>
                    <a:p>
                      <a:pPr indent="0" lvl="0" marL="0" marR="0" rtl="0" algn="l">
                        <a:spcBef>
                          <a:spcPts val="0"/>
                        </a:spcBef>
                        <a:spcAft>
                          <a:spcPts val="0"/>
                        </a:spcAft>
                        <a:buClr>
                          <a:schemeClr val="dk1"/>
                        </a:buClr>
                        <a:buSzPts val="1800"/>
                        <a:buFont typeface="Calibri"/>
                        <a:buNone/>
                      </a:pPr>
                      <a:r>
                        <a:rPr lang="en-US" sz="1800" u="none" cap="none" strike="noStrike"/>
                        <a:t>Salary</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sz="1800" u="none" cap="none" strike="noStrike"/>
                        <a:t>Formula</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sz="1800" u="none" cap="none" strike="noStrike"/>
                        <a:t>After Decimal Normalization</a:t>
                      </a:r>
                      <a:endParaRPr sz="1800" u="none" cap="none" strike="noStrike"/>
                    </a:p>
                  </a:txBody>
                  <a:tcPr marT="45725" marB="45725" marR="91450" marL="91450"/>
                </a:tc>
              </a:tr>
              <a:tr h="370850">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32000</a:t>
                      </a:r>
                      <a:endParaRPr sz="1800" u="none" cap="none" strike="noStrike"/>
                    </a:p>
                  </a:txBody>
                  <a:tcPr marT="45725" marB="45725" marR="91450" marL="91450"/>
                </a:tc>
                <a:tc>
                  <a:txBody>
                    <a:bodyPr/>
                    <a:lstStyle/>
                    <a:p>
                      <a:pPr indent="0" lvl="0" marL="0" marR="0" rtl="0" algn="l">
                        <a:lnSpc>
                          <a:spcPct val="100000"/>
                        </a:lnSpc>
                        <a:spcBef>
                          <a:spcPts val="0"/>
                        </a:spcBef>
                        <a:spcAft>
                          <a:spcPts val="0"/>
                        </a:spcAft>
                        <a:buClr>
                          <a:schemeClr val="dk1"/>
                        </a:buClr>
                        <a:buSzPts val="1800"/>
                        <a:buFont typeface="Calibri"/>
                        <a:buNone/>
                      </a:pPr>
                      <a:r>
                        <a:rPr lang="en-US" sz="1800" u="none" cap="none" strike="noStrike"/>
                        <a:t>32000/100000</a:t>
                      </a:r>
                      <a:endParaRPr sz="1800" u="none" cap="none" strike="noStrike"/>
                    </a:p>
                  </a:txBody>
                  <a:tcPr marT="45725" marB="45725" marR="91450" marL="91450"/>
                </a:tc>
                <a:tc>
                  <a:txBody>
                    <a:bodyPr/>
                    <a:lstStyle/>
                    <a:p>
                      <a:pPr indent="0" lvl="0" marL="0" marR="0" rtl="0" algn="ctr">
                        <a:spcBef>
                          <a:spcPts val="0"/>
                        </a:spcBef>
                        <a:spcAft>
                          <a:spcPts val="0"/>
                        </a:spcAft>
                        <a:buClr>
                          <a:schemeClr val="dk1"/>
                        </a:buClr>
                        <a:buSzPts val="1800"/>
                        <a:buFont typeface="Calibri"/>
                        <a:buNone/>
                      </a:pPr>
                      <a:r>
                        <a:rPr lang="en-US" sz="1800" u="none" cap="none" strike="noStrike"/>
                        <a:t>0.32</a:t>
                      </a:r>
                      <a:endParaRPr sz="1800" u="none" cap="none" strike="noStrike"/>
                    </a:p>
                  </a:txBody>
                  <a:tcPr marT="45725" marB="45725" marR="91450" marL="91450"/>
                </a:tc>
              </a:tr>
              <a:tr h="370850">
                <a:tc>
                  <a:txBody>
                    <a:bodyPr/>
                    <a:lstStyle/>
                    <a:p>
                      <a:pPr indent="0" lvl="0" marL="0" marR="0" rtl="0" algn="l">
                        <a:spcBef>
                          <a:spcPts val="0"/>
                        </a:spcBef>
                        <a:spcAft>
                          <a:spcPts val="0"/>
                        </a:spcAft>
                        <a:buClr>
                          <a:schemeClr val="dk1"/>
                        </a:buClr>
                        <a:buSzPts val="1800"/>
                        <a:buFont typeface="Calibri"/>
                        <a:buNone/>
                      </a:pPr>
                      <a:r>
                        <a:rPr lang="en-US" sz="1800" u="none" cap="none" strike="noStrike"/>
                        <a:t>28000</a:t>
                      </a:r>
                      <a:endParaRPr sz="1800" u="none" cap="none" strike="noStrike"/>
                    </a:p>
                  </a:txBody>
                  <a:tcPr marT="45725" marB="45725" marR="91450" marL="91450"/>
                </a:tc>
                <a:tc>
                  <a:txBody>
                    <a:bodyPr/>
                    <a:lstStyle/>
                    <a:p>
                      <a:pPr indent="0" lvl="0" marL="0" marR="0" rtl="0" algn="l">
                        <a:spcBef>
                          <a:spcPts val="0"/>
                        </a:spcBef>
                        <a:spcAft>
                          <a:spcPts val="0"/>
                        </a:spcAft>
                        <a:buClr>
                          <a:schemeClr val="dk1"/>
                        </a:buClr>
                        <a:buSzPts val="1800"/>
                        <a:buFont typeface="Calibri"/>
                        <a:buNone/>
                      </a:pPr>
                      <a:r>
                        <a:rPr lang="en-US" sz="1800" u="none" cap="none" strike="noStrike"/>
                        <a:t>28000/100000</a:t>
                      </a:r>
                      <a:endParaRPr sz="1800" u="none" cap="none" strike="noStrike"/>
                    </a:p>
                  </a:txBody>
                  <a:tcPr marT="45725" marB="45725" marR="91450" marL="91450"/>
                </a:tc>
                <a:tc>
                  <a:txBody>
                    <a:bodyPr/>
                    <a:lstStyle/>
                    <a:p>
                      <a:pPr indent="0" lvl="0" marL="0" marR="0" rtl="0" algn="ctr">
                        <a:spcBef>
                          <a:spcPts val="0"/>
                        </a:spcBef>
                        <a:spcAft>
                          <a:spcPts val="0"/>
                        </a:spcAft>
                        <a:buClr>
                          <a:schemeClr val="dk1"/>
                        </a:buClr>
                        <a:buSzPts val="1800"/>
                        <a:buFont typeface="Calibri"/>
                        <a:buNone/>
                      </a:pPr>
                      <a:r>
                        <a:rPr lang="en-US" sz="1800" u="none" cap="none" strike="noStrike"/>
                        <a:t>0.28</a:t>
                      </a:r>
                      <a:endParaRPr sz="1800" u="none" cap="none" strike="noStrike"/>
                    </a:p>
                  </a:txBody>
                  <a:tcPr marT="45725" marB="45725" marR="91450" marL="91450"/>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27"/>
          <p:cNvSpPr txBox="1"/>
          <p:nvPr>
            <p:ph type="title"/>
          </p:nvPr>
        </p:nvSpPr>
        <p:spPr>
          <a:xfrm>
            <a:off x="838200" y="397209"/>
            <a:ext cx="9324474" cy="757823"/>
          </a:xfrm>
          <a:prstGeom prst="rect">
            <a:avLst/>
          </a:prstGeom>
          <a:noFill/>
          <a:ln>
            <a:noFill/>
          </a:ln>
        </p:spPr>
        <p:txBody>
          <a:bodyPr anchorCtr="0" anchor="ctr" bIns="45700" lIns="91425" spcFirstLastPara="1" rIns="91425" wrap="square" tIns="45700">
            <a:normAutofit/>
          </a:bodyPr>
          <a:lstStyle/>
          <a:p>
            <a:pPr indent="0" lvl="0" marL="0" rtl="0" algn="just">
              <a:lnSpc>
                <a:spcPct val="90000"/>
              </a:lnSpc>
              <a:spcBef>
                <a:spcPts val="0"/>
              </a:spcBef>
              <a:spcAft>
                <a:spcPts val="0"/>
              </a:spcAft>
              <a:buClr>
                <a:schemeClr val="dk1"/>
              </a:buClr>
              <a:buSzPts val="4400"/>
              <a:buFont typeface="Times New Roman"/>
              <a:buNone/>
            </a:pPr>
            <a:r>
              <a:rPr b="1" lang="en-US" sz="4400">
                <a:latin typeface="Times New Roman"/>
                <a:ea typeface="Times New Roman"/>
                <a:cs typeface="Times New Roman"/>
                <a:sym typeface="Times New Roman"/>
              </a:rPr>
              <a:t>            Log scaling normalization</a:t>
            </a:r>
            <a:endParaRPr/>
          </a:p>
        </p:txBody>
      </p:sp>
      <p:sp>
        <p:nvSpPr>
          <p:cNvPr id="259" name="Google Shape;259;p27"/>
          <p:cNvSpPr txBox="1"/>
          <p:nvPr>
            <p:ph idx="1" type="body"/>
          </p:nvPr>
        </p:nvSpPr>
        <p:spPr>
          <a:xfrm>
            <a:off x="838200" y="1259305"/>
            <a:ext cx="10515600" cy="4917658"/>
          </a:xfrm>
          <a:prstGeom prst="rect">
            <a:avLst/>
          </a:prstGeom>
          <a:noFill/>
          <a:ln>
            <a:noFill/>
          </a:ln>
        </p:spPr>
        <p:txBody>
          <a:bodyPr anchorCtr="0" anchor="t" bIns="45700" lIns="91425" spcFirstLastPara="1" rIns="91425" wrap="square" tIns="45700">
            <a:normAutofit lnSpcReduction="10000"/>
          </a:bodyPr>
          <a:lstStyle/>
          <a:p>
            <a:pPr indent="0" lvl="0" marL="0" marR="0" rtl="0" algn="just">
              <a:lnSpc>
                <a:spcPct val="107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Log scaling normalization converts data into a logarithmic scale by taking the log of each data point. </a:t>
            </a:r>
            <a:endParaRPr/>
          </a:p>
          <a:p>
            <a:pPr indent="0" lvl="0" marL="0" marR="0" rtl="0" algn="just">
              <a:lnSpc>
                <a:spcPct val="107000"/>
              </a:lnSpc>
              <a:spcBef>
                <a:spcPts val="800"/>
              </a:spcBef>
              <a:spcAft>
                <a:spcPts val="0"/>
              </a:spcAft>
              <a:buClr>
                <a:schemeClr val="dk1"/>
              </a:buClr>
              <a:buSzPts val="2400"/>
              <a:buChar char="•"/>
            </a:pPr>
            <a:r>
              <a:rPr lang="en-US" sz="2400">
                <a:latin typeface="Times New Roman"/>
                <a:ea typeface="Times New Roman"/>
                <a:cs typeface="Times New Roman"/>
                <a:sym typeface="Times New Roman"/>
              </a:rPr>
              <a:t>It is particularly useful when dealing with several orders of magnitude data. The formula for log scaling normalization is:</a:t>
            </a:r>
            <a:endParaRPr sz="2400">
              <a:latin typeface="Calibri"/>
              <a:ea typeface="Calibri"/>
              <a:cs typeface="Calibri"/>
              <a:sym typeface="Calibri"/>
            </a:endParaRPr>
          </a:p>
          <a:p>
            <a:pPr indent="-457200" lvl="0" marL="1828800" marR="0" rtl="0" algn="just">
              <a:lnSpc>
                <a:spcPct val="107000"/>
              </a:lnSpc>
              <a:spcBef>
                <a:spcPts val="800"/>
              </a:spcBef>
              <a:spcAft>
                <a:spcPts val="0"/>
              </a:spcAft>
              <a:buClr>
                <a:schemeClr val="dk1"/>
              </a:buClr>
              <a:buSzPts val="2400"/>
              <a:buChar char="•"/>
            </a:pPr>
            <a:r>
              <a:rPr lang="en-US" sz="2400">
                <a:latin typeface="Times New Roman"/>
                <a:ea typeface="Times New Roman"/>
                <a:cs typeface="Times New Roman"/>
                <a:sym typeface="Times New Roman"/>
              </a:rPr>
              <a:t>X</a:t>
            </a:r>
            <a:r>
              <a:rPr baseline="-25000" lang="en-US" sz="2400">
                <a:latin typeface="Times New Roman"/>
                <a:ea typeface="Times New Roman"/>
                <a:cs typeface="Times New Roman"/>
                <a:sym typeface="Times New Roman"/>
              </a:rPr>
              <a:t>log</a:t>
            </a:r>
            <a:r>
              <a:rPr lang="en-US" sz="2400">
                <a:latin typeface="Times New Roman"/>
                <a:ea typeface="Times New Roman"/>
                <a:cs typeface="Times New Roman"/>
                <a:sym typeface="Times New Roman"/>
              </a:rPr>
              <a:t> = log(X)</a:t>
            </a:r>
            <a:endParaRPr sz="2400">
              <a:latin typeface="Calibri"/>
              <a:ea typeface="Calibri"/>
              <a:cs typeface="Calibri"/>
              <a:sym typeface="Calibri"/>
            </a:endParaRPr>
          </a:p>
          <a:p>
            <a:pPr indent="0" lvl="0" marL="0" marR="0" rtl="0" algn="just">
              <a:lnSpc>
                <a:spcPct val="107000"/>
              </a:lnSpc>
              <a:spcBef>
                <a:spcPts val="800"/>
              </a:spcBef>
              <a:spcAft>
                <a:spcPts val="0"/>
              </a:spcAft>
              <a:buClr>
                <a:schemeClr val="dk1"/>
              </a:buClr>
              <a:buSzPts val="2400"/>
              <a:buChar char="•"/>
            </a:pPr>
            <a:r>
              <a:rPr lang="en-US" sz="2400">
                <a:latin typeface="Times New Roman"/>
                <a:ea typeface="Times New Roman"/>
                <a:cs typeface="Times New Roman"/>
                <a:sym typeface="Times New Roman"/>
              </a:rPr>
              <a:t>This normalization comes in handy with data that follows an exponential growth or decay pattern. It compresses the scale of the dataset, making it easier for models to capture patterns and relationships in the data. </a:t>
            </a:r>
            <a:endParaRPr/>
          </a:p>
          <a:p>
            <a:pPr indent="0" lvl="0" marL="0" marR="0" rtl="0" algn="just">
              <a:lnSpc>
                <a:spcPct val="107000"/>
              </a:lnSpc>
              <a:spcBef>
                <a:spcPts val="800"/>
              </a:spcBef>
              <a:spcAft>
                <a:spcPts val="0"/>
              </a:spcAft>
              <a:buClr>
                <a:schemeClr val="dk1"/>
              </a:buClr>
              <a:buSzPts val="2400"/>
              <a:buChar char="•"/>
            </a:pPr>
            <a:r>
              <a:rPr lang="en-US" sz="2400">
                <a:latin typeface="Times New Roman"/>
                <a:ea typeface="Times New Roman"/>
                <a:cs typeface="Times New Roman"/>
                <a:sym typeface="Times New Roman"/>
              </a:rPr>
              <a:t>Population size over the years is a good example of a dataset where some features exhibit exponential growth. Log scaling normalization can make these features more amenable to modelling.</a:t>
            </a:r>
            <a:endParaRPr/>
          </a:p>
          <a:p>
            <a:pPr indent="0" lvl="0" marL="0" marR="0" rtl="0" algn="just">
              <a:lnSpc>
                <a:spcPct val="107000"/>
              </a:lnSpc>
              <a:spcBef>
                <a:spcPts val="800"/>
              </a:spcBef>
              <a:spcAft>
                <a:spcPts val="0"/>
              </a:spcAft>
              <a:buClr>
                <a:schemeClr val="dk1"/>
              </a:buClr>
              <a:buSzPts val="2400"/>
              <a:buChar char="•"/>
            </a:pPr>
            <a:r>
              <a:rPr lang="en-US" sz="2400">
                <a:latin typeface="Times New Roman"/>
                <a:ea typeface="Times New Roman"/>
                <a:cs typeface="Times New Roman"/>
                <a:sym typeface="Times New Roman"/>
              </a:rPr>
              <a:t>Example: X =200, X</a:t>
            </a:r>
            <a:r>
              <a:rPr baseline="-25000" lang="en-US" sz="2400">
                <a:latin typeface="Times New Roman"/>
                <a:ea typeface="Times New Roman"/>
                <a:cs typeface="Times New Roman"/>
                <a:sym typeface="Times New Roman"/>
              </a:rPr>
              <a:t>log</a:t>
            </a:r>
            <a:r>
              <a:rPr lang="en-US" sz="2400">
                <a:latin typeface="Times New Roman"/>
                <a:ea typeface="Times New Roman"/>
                <a:cs typeface="Times New Roman"/>
                <a:sym typeface="Times New Roman"/>
              </a:rPr>
              <a:t> =2.30103</a:t>
            </a:r>
            <a:endParaRPr sz="24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28"/>
          <p:cNvSpPr txBox="1"/>
          <p:nvPr>
            <p:ph type="title"/>
          </p:nvPr>
        </p:nvSpPr>
        <p:spPr>
          <a:xfrm>
            <a:off x="838200" y="108346"/>
            <a:ext cx="10515600" cy="50917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Calibri"/>
              <a:buNone/>
            </a:pPr>
            <a:r>
              <a:rPr lang="en-US" sz="2800">
                <a:latin typeface="Calibri"/>
                <a:ea typeface="Calibri"/>
                <a:cs typeface="Calibri"/>
                <a:sym typeface="Calibri"/>
              </a:rPr>
              <a:t>C</a:t>
            </a:r>
            <a:r>
              <a:rPr b="0" i="0" lang="en-US" sz="2800" u="none" cap="none" strike="noStrike">
                <a:solidFill>
                  <a:schemeClr val="dk1"/>
                </a:solidFill>
                <a:latin typeface="Calibri"/>
                <a:ea typeface="Calibri"/>
                <a:cs typeface="Calibri"/>
                <a:sym typeface="Calibri"/>
              </a:rPr>
              <a:t>omparison of normalization (min-max scaling) and standardization</a:t>
            </a:r>
            <a:endParaRPr sz="2800"/>
          </a:p>
        </p:txBody>
      </p:sp>
      <p:graphicFrame>
        <p:nvGraphicFramePr>
          <p:cNvPr id="265" name="Google Shape;265;p28"/>
          <p:cNvGraphicFramePr/>
          <p:nvPr/>
        </p:nvGraphicFramePr>
        <p:xfrm>
          <a:off x="537410" y="617516"/>
          <a:ext cx="3000000" cy="3000000"/>
        </p:xfrm>
        <a:graphic>
          <a:graphicData uri="http://schemas.openxmlformats.org/drawingml/2006/table">
            <a:tbl>
              <a:tblPr bandRow="1" firstCol="1" firstRow="1">
                <a:noFill/>
                <a:tableStyleId>{D800DA60-C0CE-4EA3-9BE5-66FB3202CD5A}</a:tableStyleId>
              </a:tblPr>
              <a:tblGrid>
                <a:gridCol w="5498425"/>
                <a:gridCol w="5498425"/>
              </a:tblGrid>
              <a:tr h="431650">
                <a:tc>
                  <a:txBody>
                    <a:bodyPr/>
                    <a:lstStyle/>
                    <a:p>
                      <a:pPr indent="0" lvl="0" marL="0" marR="0" rtl="0" algn="ctr">
                        <a:lnSpc>
                          <a:spcPct val="107000"/>
                        </a:lnSpc>
                        <a:spcBef>
                          <a:spcPts val="0"/>
                        </a:spcBef>
                        <a:spcAft>
                          <a:spcPts val="0"/>
                        </a:spcAft>
                        <a:buNone/>
                      </a:pPr>
                      <a:r>
                        <a:rPr lang="en-US" sz="1600" u="none" cap="none" strike="noStrike"/>
                        <a:t>Normalization</a:t>
                      </a:r>
                      <a:endParaRPr sz="1600" u="none" cap="none" strike="noStrike">
                        <a:latin typeface="Calibri"/>
                        <a:ea typeface="Calibri"/>
                        <a:cs typeface="Calibri"/>
                        <a:sym typeface="Calibri"/>
                      </a:endParaRPr>
                    </a:p>
                  </a:txBody>
                  <a:tcPr marT="9525" marB="9525" marR="9525" marL="9525" anchor="ctr"/>
                </a:tc>
                <a:tc>
                  <a:txBody>
                    <a:bodyPr/>
                    <a:lstStyle/>
                    <a:p>
                      <a:pPr indent="0" lvl="0" marL="0" marR="0" rtl="0" algn="ctr">
                        <a:lnSpc>
                          <a:spcPct val="107000"/>
                        </a:lnSpc>
                        <a:spcBef>
                          <a:spcPts val="0"/>
                        </a:spcBef>
                        <a:spcAft>
                          <a:spcPts val="0"/>
                        </a:spcAft>
                        <a:buNone/>
                      </a:pPr>
                      <a:r>
                        <a:rPr lang="en-US" sz="1600" u="none" cap="none" strike="noStrike"/>
                        <a:t>Standardization</a:t>
                      </a:r>
                      <a:endParaRPr sz="1600" u="none" cap="none" strike="noStrike">
                        <a:latin typeface="Calibri"/>
                        <a:ea typeface="Calibri"/>
                        <a:cs typeface="Calibri"/>
                        <a:sym typeface="Calibri"/>
                      </a:endParaRPr>
                    </a:p>
                  </a:txBody>
                  <a:tcPr marT="9525" marB="9525" marR="9525" marL="9525" anchor="ctr"/>
                </a:tc>
              </a:tr>
              <a:tr h="841525">
                <a:tc>
                  <a:txBody>
                    <a:bodyPr/>
                    <a:lstStyle/>
                    <a:p>
                      <a:pPr indent="0" lvl="0" marL="0" marR="0" rtl="0" algn="l">
                        <a:lnSpc>
                          <a:spcPct val="107000"/>
                        </a:lnSpc>
                        <a:spcBef>
                          <a:spcPts val="0"/>
                        </a:spcBef>
                        <a:spcAft>
                          <a:spcPts val="0"/>
                        </a:spcAft>
                        <a:buNone/>
                      </a:pPr>
                      <a:r>
                        <a:rPr lang="en-US" sz="1800" u="none" cap="none" strike="noStrike"/>
                        <a:t>The objective is to bring the values of a feature within a specific range, often between 0 and 1</a:t>
                      </a:r>
                      <a:endParaRPr sz="1800" u="none" cap="none" strike="noStrike">
                        <a:latin typeface="Calibri"/>
                        <a:ea typeface="Calibri"/>
                        <a:cs typeface="Calibri"/>
                        <a:sym typeface="Calibri"/>
                      </a:endParaRPr>
                    </a:p>
                  </a:txBody>
                  <a:tcPr marT="9525" marB="9525" marR="9525" marL="9525" anchor="ctr"/>
                </a:tc>
                <a:tc>
                  <a:txBody>
                    <a:bodyPr/>
                    <a:lstStyle/>
                    <a:p>
                      <a:pPr indent="0" lvl="0" marL="0" marR="0" rtl="0" algn="l">
                        <a:lnSpc>
                          <a:spcPct val="107000"/>
                        </a:lnSpc>
                        <a:spcBef>
                          <a:spcPts val="0"/>
                        </a:spcBef>
                        <a:spcAft>
                          <a:spcPts val="0"/>
                        </a:spcAft>
                        <a:buNone/>
                      </a:pPr>
                      <a:r>
                        <a:rPr lang="en-US" sz="1800" u="none" cap="none" strike="noStrike"/>
                        <a:t>The objective is to transform the values of a feature to have a mean of 0 and a standard deviation of 1</a:t>
                      </a:r>
                      <a:endParaRPr sz="1800" u="none" cap="none" strike="noStrike">
                        <a:latin typeface="Calibri"/>
                        <a:ea typeface="Calibri"/>
                        <a:cs typeface="Calibri"/>
                        <a:sym typeface="Calibri"/>
                      </a:endParaRPr>
                    </a:p>
                  </a:txBody>
                  <a:tcPr marT="9525" marB="9525" marR="9525" marL="9525" anchor="ctr"/>
                </a:tc>
              </a:tr>
              <a:tr h="602950">
                <a:tc>
                  <a:txBody>
                    <a:bodyPr/>
                    <a:lstStyle/>
                    <a:p>
                      <a:pPr indent="0" lvl="0" marL="0" marR="0" rtl="0" algn="l">
                        <a:lnSpc>
                          <a:spcPct val="107000"/>
                        </a:lnSpc>
                        <a:spcBef>
                          <a:spcPts val="0"/>
                        </a:spcBef>
                        <a:spcAft>
                          <a:spcPts val="0"/>
                        </a:spcAft>
                        <a:buNone/>
                      </a:pPr>
                      <a:r>
                        <a:rPr lang="en-US" sz="1800" u="none" cap="none" strike="noStrike"/>
                        <a:t>Sensitive to outliers and the range of the data</a:t>
                      </a:r>
                      <a:endParaRPr sz="1800" u="none" cap="none" strike="noStrike">
                        <a:latin typeface="Calibri"/>
                        <a:ea typeface="Calibri"/>
                        <a:cs typeface="Calibri"/>
                        <a:sym typeface="Calibri"/>
                      </a:endParaRPr>
                    </a:p>
                  </a:txBody>
                  <a:tcPr marT="9525" marB="9525" marR="9525" marL="9525" anchor="ctr"/>
                </a:tc>
                <a:tc>
                  <a:txBody>
                    <a:bodyPr/>
                    <a:lstStyle/>
                    <a:p>
                      <a:pPr indent="0" lvl="0" marL="0" marR="0" rtl="0" algn="l">
                        <a:lnSpc>
                          <a:spcPct val="107000"/>
                        </a:lnSpc>
                        <a:spcBef>
                          <a:spcPts val="0"/>
                        </a:spcBef>
                        <a:spcAft>
                          <a:spcPts val="0"/>
                        </a:spcAft>
                        <a:buNone/>
                      </a:pPr>
                      <a:r>
                        <a:rPr lang="en-US" sz="1800" u="none" cap="none" strike="noStrike"/>
                        <a:t>Less sensitive to outliers due to the use of the mean and standard deviation</a:t>
                      </a:r>
                      <a:endParaRPr sz="1800" u="none" cap="none" strike="noStrike">
                        <a:latin typeface="Calibri"/>
                        <a:ea typeface="Calibri"/>
                        <a:cs typeface="Calibri"/>
                        <a:sym typeface="Calibri"/>
                      </a:endParaRPr>
                    </a:p>
                  </a:txBody>
                  <a:tcPr marT="9525" marB="9525" marR="9525" marL="9525" anchor="ctr"/>
                </a:tc>
              </a:tr>
              <a:tr h="602950">
                <a:tc>
                  <a:txBody>
                    <a:bodyPr/>
                    <a:lstStyle/>
                    <a:p>
                      <a:pPr indent="0" lvl="0" marL="0" marR="0" rtl="0" algn="l">
                        <a:lnSpc>
                          <a:spcPct val="107000"/>
                        </a:lnSpc>
                        <a:spcBef>
                          <a:spcPts val="0"/>
                        </a:spcBef>
                        <a:spcAft>
                          <a:spcPts val="0"/>
                        </a:spcAft>
                        <a:buNone/>
                      </a:pPr>
                      <a:r>
                        <a:rPr lang="en-US" sz="1800" u="none" cap="none" strike="noStrike"/>
                        <a:t>Useful when maintaining the original range is essential</a:t>
                      </a:r>
                      <a:endParaRPr sz="1800" u="none" cap="none" strike="noStrike">
                        <a:latin typeface="Calibri"/>
                        <a:ea typeface="Calibri"/>
                        <a:cs typeface="Calibri"/>
                        <a:sym typeface="Calibri"/>
                      </a:endParaRPr>
                    </a:p>
                  </a:txBody>
                  <a:tcPr marT="9525" marB="9525" marR="9525" marL="9525" anchor="ctr"/>
                </a:tc>
                <a:tc>
                  <a:txBody>
                    <a:bodyPr/>
                    <a:lstStyle/>
                    <a:p>
                      <a:pPr indent="0" lvl="0" marL="0" marR="0" rtl="0" algn="l">
                        <a:lnSpc>
                          <a:spcPct val="107000"/>
                        </a:lnSpc>
                        <a:spcBef>
                          <a:spcPts val="0"/>
                        </a:spcBef>
                        <a:spcAft>
                          <a:spcPts val="0"/>
                        </a:spcAft>
                        <a:buNone/>
                      </a:pPr>
                      <a:r>
                        <a:rPr lang="en-US" sz="1800" u="none" cap="none" strike="noStrike"/>
                        <a:t>Effective when algorithms assume a standard normal distribution</a:t>
                      </a:r>
                      <a:endParaRPr sz="1800" u="none" cap="none" strike="noStrike">
                        <a:latin typeface="Calibri"/>
                        <a:ea typeface="Calibri"/>
                        <a:cs typeface="Calibri"/>
                        <a:sym typeface="Calibri"/>
                      </a:endParaRPr>
                    </a:p>
                  </a:txBody>
                  <a:tcPr marT="9525" marB="9525" marR="9525" marL="9525" anchor="ctr"/>
                </a:tc>
              </a:tr>
              <a:tr h="431650">
                <a:tc>
                  <a:txBody>
                    <a:bodyPr/>
                    <a:lstStyle/>
                    <a:p>
                      <a:pPr indent="0" lvl="0" marL="0" marR="0" rtl="0" algn="l">
                        <a:lnSpc>
                          <a:spcPct val="107000"/>
                        </a:lnSpc>
                        <a:spcBef>
                          <a:spcPts val="0"/>
                        </a:spcBef>
                        <a:spcAft>
                          <a:spcPts val="0"/>
                        </a:spcAft>
                        <a:buNone/>
                      </a:pPr>
                      <a:r>
                        <a:rPr lang="en-US" sz="1800" u="none" cap="none" strike="noStrike"/>
                        <a:t>No assumption about the distribution of data is made</a:t>
                      </a:r>
                      <a:endParaRPr sz="1800" u="none" cap="none" strike="noStrike">
                        <a:latin typeface="Calibri"/>
                        <a:ea typeface="Calibri"/>
                        <a:cs typeface="Calibri"/>
                        <a:sym typeface="Calibri"/>
                      </a:endParaRPr>
                    </a:p>
                  </a:txBody>
                  <a:tcPr marT="9525" marB="9525" marR="9525" marL="9525" anchor="ctr"/>
                </a:tc>
                <a:tc>
                  <a:txBody>
                    <a:bodyPr/>
                    <a:lstStyle/>
                    <a:p>
                      <a:pPr indent="0" lvl="0" marL="0" marR="0" rtl="0" algn="l">
                        <a:lnSpc>
                          <a:spcPct val="107000"/>
                        </a:lnSpc>
                        <a:spcBef>
                          <a:spcPts val="0"/>
                        </a:spcBef>
                        <a:spcAft>
                          <a:spcPts val="0"/>
                        </a:spcAft>
                        <a:buNone/>
                      </a:pPr>
                      <a:r>
                        <a:rPr lang="en-US" sz="1800" u="none" cap="none" strike="noStrike"/>
                        <a:t>Assumes a normal distribution or close approximation</a:t>
                      </a:r>
                      <a:endParaRPr sz="1800" u="none" cap="none" strike="noStrike">
                        <a:latin typeface="Calibri"/>
                        <a:ea typeface="Calibri"/>
                        <a:cs typeface="Calibri"/>
                        <a:sym typeface="Calibri"/>
                      </a:endParaRPr>
                    </a:p>
                  </a:txBody>
                  <a:tcPr marT="9525" marB="9525" marR="9525" marL="9525" anchor="ctr"/>
                </a:tc>
              </a:tr>
              <a:tr h="901375">
                <a:tc>
                  <a:txBody>
                    <a:bodyPr/>
                    <a:lstStyle/>
                    <a:p>
                      <a:pPr indent="0" lvl="0" marL="0" marR="0" rtl="0" algn="l">
                        <a:lnSpc>
                          <a:spcPct val="107000"/>
                        </a:lnSpc>
                        <a:spcBef>
                          <a:spcPts val="0"/>
                        </a:spcBef>
                        <a:spcAft>
                          <a:spcPts val="0"/>
                        </a:spcAft>
                        <a:buNone/>
                      </a:pPr>
                      <a:r>
                        <a:rPr lang="en-US" sz="1800" u="none" cap="none" strike="noStrike"/>
                        <a:t>Suitable for algorithms where the absolute values and their relations are important (e.g., k-nearest neighbors, neural networks)</a:t>
                      </a:r>
                      <a:endParaRPr sz="1800" u="none" cap="none" strike="noStrike">
                        <a:latin typeface="Calibri"/>
                        <a:ea typeface="Calibri"/>
                        <a:cs typeface="Calibri"/>
                        <a:sym typeface="Calibri"/>
                      </a:endParaRPr>
                    </a:p>
                  </a:txBody>
                  <a:tcPr marT="9525" marB="9525" marR="9525" marL="9525" anchor="ctr"/>
                </a:tc>
                <a:tc>
                  <a:txBody>
                    <a:bodyPr/>
                    <a:lstStyle/>
                    <a:p>
                      <a:pPr indent="0" lvl="0" marL="0" marR="0" rtl="0" algn="l">
                        <a:lnSpc>
                          <a:spcPct val="107000"/>
                        </a:lnSpc>
                        <a:spcBef>
                          <a:spcPts val="0"/>
                        </a:spcBef>
                        <a:spcAft>
                          <a:spcPts val="0"/>
                        </a:spcAft>
                        <a:buNone/>
                      </a:pPr>
                      <a:r>
                        <a:rPr lang="en-US" sz="1800" u="none" cap="none" strike="noStrike"/>
                        <a:t>It is particularly useful for algorithms that assume normally distributed data, such as linear regression and support vector machines.</a:t>
                      </a:r>
                      <a:endParaRPr sz="1800" u="none" cap="none" strike="noStrike">
                        <a:latin typeface="Calibri"/>
                        <a:ea typeface="Calibri"/>
                        <a:cs typeface="Calibri"/>
                        <a:sym typeface="Calibri"/>
                      </a:endParaRPr>
                    </a:p>
                  </a:txBody>
                  <a:tcPr marT="9525" marB="9525" marR="9525" marL="9525" anchor="ctr"/>
                </a:tc>
              </a:tr>
              <a:tr h="841525">
                <a:tc>
                  <a:txBody>
                    <a:bodyPr/>
                    <a:lstStyle/>
                    <a:p>
                      <a:pPr indent="0" lvl="0" marL="0" marR="0" rtl="0" algn="l">
                        <a:lnSpc>
                          <a:spcPct val="107000"/>
                        </a:lnSpc>
                        <a:spcBef>
                          <a:spcPts val="0"/>
                        </a:spcBef>
                        <a:spcAft>
                          <a:spcPts val="0"/>
                        </a:spcAft>
                        <a:buNone/>
                      </a:pPr>
                      <a:r>
                        <a:rPr lang="en-US" sz="1800" u="none" cap="none" strike="noStrike"/>
                        <a:t>Maintains the interpretability of the original values within the specified range</a:t>
                      </a:r>
                      <a:endParaRPr sz="1800" u="none" cap="none" strike="noStrike">
                        <a:latin typeface="Calibri"/>
                        <a:ea typeface="Calibri"/>
                        <a:cs typeface="Calibri"/>
                        <a:sym typeface="Calibri"/>
                      </a:endParaRPr>
                    </a:p>
                  </a:txBody>
                  <a:tcPr marT="9525" marB="9525" marR="9525" marL="9525" anchor="ctr"/>
                </a:tc>
                <a:tc>
                  <a:txBody>
                    <a:bodyPr/>
                    <a:lstStyle/>
                    <a:p>
                      <a:pPr indent="0" lvl="0" marL="0" marR="0" rtl="0" algn="l">
                        <a:lnSpc>
                          <a:spcPct val="107000"/>
                        </a:lnSpc>
                        <a:spcBef>
                          <a:spcPts val="0"/>
                        </a:spcBef>
                        <a:spcAft>
                          <a:spcPts val="0"/>
                        </a:spcAft>
                        <a:buNone/>
                      </a:pPr>
                      <a:r>
                        <a:rPr lang="en-US" sz="1800" u="none" cap="none" strike="noStrike"/>
                        <a:t>Alters the original values, making interpretation more challenging due to the shift in scale and units</a:t>
                      </a:r>
                      <a:endParaRPr sz="1800" u="none" cap="none" strike="noStrike">
                        <a:latin typeface="Calibri"/>
                        <a:ea typeface="Calibri"/>
                        <a:cs typeface="Calibri"/>
                        <a:sym typeface="Calibri"/>
                      </a:endParaRPr>
                    </a:p>
                  </a:txBody>
                  <a:tcPr marT="9525" marB="9525" marR="9525" marL="9525" anchor="ctr"/>
                </a:tc>
              </a:tr>
              <a:tr h="841525">
                <a:tc>
                  <a:txBody>
                    <a:bodyPr/>
                    <a:lstStyle/>
                    <a:p>
                      <a:pPr indent="0" lvl="0" marL="0" marR="0" rtl="0" algn="l">
                        <a:lnSpc>
                          <a:spcPct val="107000"/>
                        </a:lnSpc>
                        <a:spcBef>
                          <a:spcPts val="0"/>
                        </a:spcBef>
                        <a:spcAft>
                          <a:spcPts val="0"/>
                        </a:spcAft>
                        <a:buNone/>
                      </a:pPr>
                      <a:r>
                        <a:rPr lang="en-US" sz="1800" u="none" cap="none" strike="noStrike"/>
                        <a:t>This can lead to faster convergence, especially in algorithms that rely on gradient descent</a:t>
                      </a:r>
                      <a:endParaRPr sz="1800" u="none" cap="none" strike="noStrike">
                        <a:latin typeface="Calibri"/>
                        <a:ea typeface="Calibri"/>
                        <a:cs typeface="Calibri"/>
                        <a:sym typeface="Calibri"/>
                      </a:endParaRPr>
                    </a:p>
                  </a:txBody>
                  <a:tcPr marT="9525" marB="9525" marR="9525" marL="9525" anchor="ctr"/>
                </a:tc>
                <a:tc>
                  <a:txBody>
                    <a:bodyPr/>
                    <a:lstStyle/>
                    <a:p>
                      <a:pPr indent="0" lvl="0" marL="0" marR="0" rtl="0" algn="l">
                        <a:lnSpc>
                          <a:spcPct val="107000"/>
                        </a:lnSpc>
                        <a:spcBef>
                          <a:spcPts val="0"/>
                        </a:spcBef>
                        <a:spcAft>
                          <a:spcPts val="0"/>
                        </a:spcAft>
                        <a:buNone/>
                      </a:pPr>
                      <a:r>
                        <a:rPr lang="en-US" sz="1800" u="none" cap="none" strike="noStrike"/>
                        <a:t>It also contributes to faster convergence, particularly in algorithms sensitive to the scale of input features.</a:t>
                      </a:r>
                      <a:endParaRPr sz="1800" u="none" cap="none" strike="noStrike">
                        <a:latin typeface="Calibri"/>
                        <a:ea typeface="Calibri"/>
                        <a:cs typeface="Calibri"/>
                        <a:sym typeface="Calibri"/>
                      </a:endParaRPr>
                    </a:p>
                  </a:txBody>
                  <a:tcPr marT="9525" marB="9525" marR="9525" marL="9525" anchor="ctr"/>
                </a:tc>
              </a:tr>
              <a:tr h="841525">
                <a:tc>
                  <a:txBody>
                    <a:bodyPr/>
                    <a:lstStyle/>
                    <a:p>
                      <a:pPr indent="0" lvl="0" marL="0" marR="0" rtl="0" algn="l">
                        <a:lnSpc>
                          <a:spcPct val="107000"/>
                        </a:lnSpc>
                        <a:spcBef>
                          <a:spcPts val="0"/>
                        </a:spcBef>
                        <a:spcAft>
                          <a:spcPts val="0"/>
                        </a:spcAft>
                        <a:buNone/>
                      </a:pPr>
                      <a:r>
                        <a:rPr lang="en-US" sz="1800" u="none" cap="none" strike="noStrike"/>
                        <a:t>Use cases: Image processing, neural networks, algorithms sensitive to feature scales</a:t>
                      </a:r>
                      <a:endParaRPr sz="1800" u="none" cap="none" strike="noStrike">
                        <a:latin typeface="Calibri"/>
                        <a:ea typeface="Calibri"/>
                        <a:cs typeface="Calibri"/>
                        <a:sym typeface="Calibri"/>
                      </a:endParaRPr>
                    </a:p>
                  </a:txBody>
                  <a:tcPr marT="9525" marB="9525" marR="9525" marL="9525" anchor="ctr"/>
                </a:tc>
                <a:tc>
                  <a:txBody>
                    <a:bodyPr/>
                    <a:lstStyle/>
                    <a:p>
                      <a:pPr indent="0" lvl="0" marL="0" marR="0" rtl="0" algn="l">
                        <a:lnSpc>
                          <a:spcPct val="107000"/>
                        </a:lnSpc>
                        <a:spcBef>
                          <a:spcPts val="0"/>
                        </a:spcBef>
                        <a:spcAft>
                          <a:spcPts val="0"/>
                        </a:spcAft>
                        <a:buNone/>
                      </a:pPr>
                      <a:r>
                        <a:rPr lang="en-US" sz="1800" u="none" cap="none" strike="noStrike"/>
                        <a:t>Use cases: Linear regression, support vector machines, algorithms assuming a normal distribution</a:t>
                      </a:r>
                      <a:endParaRPr sz="1800" u="none" cap="none" strike="noStrike">
                        <a:latin typeface="Calibri"/>
                        <a:ea typeface="Calibri"/>
                        <a:cs typeface="Calibri"/>
                        <a:sym typeface="Calibri"/>
                      </a:endParaRPr>
                    </a:p>
                  </a:txBody>
                  <a:tcPr marT="9525" marB="9525" marR="9525" marL="9525" anchor="ctr"/>
                </a:tc>
              </a:tr>
            </a:tbl>
          </a:graphicData>
        </a:graphic>
      </p:graphicFrame>
      <p:sp>
        <p:nvSpPr>
          <p:cNvPr id="266" name="Google Shape;266;p28"/>
          <p:cNvSpPr/>
          <p:nvPr/>
        </p:nvSpPr>
        <p:spPr>
          <a:xfrm>
            <a:off x="2847474" y="88126"/>
            <a:ext cx="223138" cy="276999"/>
          </a:xfrm>
          <a:prstGeom prst="rect">
            <a:avLst/>
          </a:prstGeom>
          <a:noFill/>
          <a:ln>
            <a:noFill/>
          </a:ln>
        </p:spPr>
        <p:txBody>
          <a:bodyPr anchorCtr="0" anchor="ctr" bIns="45700" lIns="91425" spcFirstLastPara="1" rIns="91425" wrap="square" tIns="45700">
            <a:spAutoFit/>
          </a:bodyPr>
          <a:lstStyle/>
          <a:p>
            <a:pPr indent="0" lvl="0" marL="0" marR="0" rtl="0" algn="l">
              <a:lnSpc>
                <a:spcPct val="100000"/>
              </a:lnSpc>
              <a:spcBef>
                <a:spcPts val="0"/>
              </a:spcBef>
              <a:spcAft>
                <a:spcPts val="0"/>
              </a:spcAft>
              <a:buClr>
                <a:schemeClr val="dk1"/>
              </a:buClr>
              <a:buSzPts val="1200"/>
              <a:buFont typeface="Calibri"/>
              <a:buNone/>
            </a:pPr>
            <a:r>
              <a:rPr b="0" i="0" lang="en-US" sz="1200" u="none" cap="none" strike="noStrike">
                <a:solidFill>
                  <a:schemeClr val="dk1"/>
                </a:solidFill>
                <a:latin typeface="Calibri"/>
                <a:ea typeface="Calibri"/>
                <a:cs typeface="Calibri"/>
                <a:sym typeface="Calibri"/>
              </a:rPr>
              <a:t>.</a:t>
            </a:r>
            <a:endParaRPr b="0" i="0" sz="1800" u="none" cap="none" strike="noStrike">
              <a:solidFill>
                <a:schemeClr val="dk1"/>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29"/>
          <p:cNvSpPr txBox="1"/>
          <p:nvPr>
            <p:ph type="title"/>
          </p:nvPr>
        </p:nvSpPr>
        <p:spPr>
          <a:xfrm>
            <a:off x="1981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600"/>
              <a:buFont typeface="Calibri"/>
              <a:buNone/>
            </a:pPr>
            <a:r>
              <a:rPr lang="en-US" sz="3600"/>
              <a:t>Which procedure is appropriate for when?</a:t>
            </a:r>
            <a:endParaRPr sz="3600"/>
          </a:p>
        </p:txBody>
      </p:sp>
      <p:sp>
        <p:nvSpPr>
          <p:cNvPr id="272" name="Google Shape;272;p29"/>
          <p:cNvSpPr txBox="1"/>
          <p:nvPr>
            <p:ph idx="1" type="body"/>
          </p:nvPr>
        </p:nvSpPr>
        <p:spPr>
          <a:xfrm>
            <a:off x="1981200" y="1600201"/>
            <a:ext cx="8229600" cy="4525963"/>
          </a:xfrm>
          <a:prstGeom prst="rect">
            <a:avLst/>
          </a:prstGeom>
          <a:noFill/>
          <a:ln>
            <a:noFill/>
          </a:ln>
        </p:spPr>
        <p:txBody>
          <a:bodyPr anchorCtr="0" anchor="t" bIns="45700" lIns="91425" spcFirstLastPara="1" rIns="91425" wrap="square" tIns="45700">
            <a:normAutofit/>
          </a:bodyPr>
          <a:lstStyle/>
          <a:p>
            <a:pPr indent="-342900" lvl="0" marL="342900" rtl="0" algn="l">
              <a:lnSpc>
                <a:spcPct val="100000"/>
              </a:lnSpc>
              <a:spcBef>
                <a:spcPts val="0"/>
              </a:spcBef>
              <a:spcAft>
                <a:spcPts val="0"/>
              </a:spcAft>
              <a:buClr>
                <a:schemeClr val="dk1"/>
              </a:buClr>
              <a:buSzPts val="2000"/>
              <a:buChar char="•"/>
            </a:pPr>
            <a:r>
              <a:rPr lang="en-US" sz="2000"/>
              <a:t>It is difficult to say when to use any kind of transformation. Depending on the type of problem.</a:t>
            </a:r>
            <a:endParaRPr/>
          </a:p>
          <a:p>
            <a:pPr indent="-342900" lvl="0" marL="342900" rtl="0" algn="l">
              <a:lnSpc>
                <a:spcPct val="100000"/>
              </a:lnSpc>
              <a:spcBef>
                <a:spcPts val="400"/>
              </a:spcBef>
              <a:spcAft>
                <a:spcPts val="0"/>
              </a:spcAft>
              <a:buClr>
                <a:schemeClr val="dk1"/>
              </a:buClr>
              <a:buSzPts val="2000"/>
              <a:buChar char="•"/>
            </a:pPr>
            <a:r>
              <a:rPr lang="en-US" sz="2000"/>
              <a:t>Data scaling is very important in case of distance based algorithms like SVM, KNN, clustering etc. </a:t>
            </a:r>
            <a:endParaRPr sz="2000"/>
          </a:p>
          <a:p>
            <a:pPr indent="-342900" lvl="0" marL="342900" rtl="0" algn="l">
              <a:lnSpc>
                <a:spcPct val="100000"/>
              </a:lnSpc>
              <a:spcBef>
                <a:spcPts val="400"/>
              </a:spcBef>
              <a:spcAft>
                <a:spcPts val="0"/>
              </a:spcAft>
              <a:buClr>
                <a:schemeClr val="dk1"/>
              </a:buClr>
              <a:buSzPts val="2000"/>
              <a:buChar char="•"/>
            </a:pPr>
            <a:r>
              <a:rPr lang="en-US" sz="2000"/>
              <a:t>On the other hand, non-distance based algorithm is not very important in case of naive-bayes, various tree based algorithms.</a:t>
            </a:r>
            <a:endParaRPr/>
          </a:p>
          <a:p>
            <a:pPr indent="-342900" lvl="0" marL="342900" rtl="0" algn="l">
              <a:lnSpc>
                <a:spcPct val="100000"/>
              </a:lnSpc>
              <a:spcBef>
                <a:spcPts val="400"/>
              </a:spcBef>
              <a:spcAft>
                <a:spcPts val="0"/>
              </a:spcAft>
              <a:buClr>
                <a:schemeClr val="dk1"/>
              </a:buClr>
              <a:buSzPts val="2000"/>
              <a:buChar char="•"/>
            </a:pPr>
            <a:r>
              <a:rPr lang="en-US" sz="2000"/>
              <a:t>The normalization brings the data on a scale from 0 to 1 Standardization, </a:t>
            </a:r>
            <a:endParaRPr sz="2000"/>
          </a:p>
          <a:p>
            <a:pPr indent="-342900" lvl="0" marL="342900" rtl="0" algn="l">
              <a:lnSpc>
                <a:spcPct val="100000"/>
              </a:lnSpc>
              <a:spcBef>
                <a:spcPts val="400"/>
              </a:spcBef>
              <a:spcAft>
                <a:spcPts val="0"/>
              </a:spcAft>
              <a:buClr>
                <a:schemeClr val="dk1"/>
              </a:buClr>
              <a:buSzPts val="2000"/>
              <a:buChar char="•"/>
            </a:pPr>
            <a:r>
              <a:rPr lang="en-US" sz="2000"/>
              <a:t>on the other hand, brings data within Min 0 and Standard Deviation 1.</a:t>
            </a:r>
            <a:endParaRPr/>
          </a:p>
          <a:p>
            <a:pPr indent="-342900" lvl="0" marL="342900" rtl="0" algn="l">
              <a:lnSpc>
                <a:spcPct val="100000"/>
              </a:lnSpc>
              <a:spcBef>
                <a:spcPts val="400"/>
              </a:spcBef>
              <a:spcAft>
                <a:spcPts val="0"/>
              </a:spcAft>
              <a:buClr>
                <a:schemeClr val="dk1"/>
              </a:buClr>
              <a:buSzPts val="2000"/>
              <a:buChar char="•"/>
            </a:pPr>
            <a:r>
              <a:rPr lang="en-US" sz="2000"/>
              <a:t>Normalization can be used if there is a large difference in the range of values ​​of the dataset feature.</a:t>
            </a:r>
            <a:endParaRPr/>
          </a:p>
          <a:p>
            <a:pPr indent="-342900" lvl="0" marL="342900" rtl="0" algn="l">
              <a:lnSpc>
                <a:spcPct val="100000"/>
              </a:lnSpc>
              <a:spcBef>
                <a:spcPts val="400"/>
              </a:spcBef>
              <a:spcAft>
                <a:spcPts val="0"/>
              </a:spcAft>
              <a:buClr>
                <a:schemeClr val="dk1"/>
              </a:buClr>
              <a:buSzPts val="2000"/>
              <a:buChar char="•"/>
            </a:pPr>
            <a:r>
              <a:rPr lang="en-US" sz="2000"/>
              <a:t>Standardization works well if there is an outlier in the data.</a:t>
            </a:r>
            <a:endParaRPr/>
          </a:p>
          <a:p>
            <a:pPr indent="-342900" lvl="0" marL="342900" rtl="0" algn="l">
              <a:lnSpc>
                <a:spcPct val="100000"/>
              </a:lnSpc>
              <a:spcBef>
                <a:spcPts val="400"/>
              </a:spcBef>
              <a:spcAft>
                <a:spcPts val="0"/>
              </a:spcAft>
              <a:buClr>
                <a:schemeClr val="dk1"/>
              </a:buClr>
              <a:buSzPts val="2000"/>
              <a:buChar char="•"/>
            </a:pPr>
            <a:r>
              <a:rPr lang="en-US" sz="2000"/>
              <a:t>However, in most cases, standardization works well overall.</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30"/>
          <p:cNvSpPr txBox="1"/>
          <p:nvPr>
            <p:ph type="title"/>
          </p:nvPr>
        </p:nvSpPr>
        <p:spPr>
          <a:xfrm>
            <a:off x="838200" y="365125"/>
            <a:ext cx="10515600" cy="54927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Times New Roman"/>
              <a:buNone/>
            </a:pPr>
            <a:r>
              <a:rPr b="1" lang="en-US" sz="4400">
                <a:latin typeface="Times New Roman"/>
                <a:ea typeface="Times New Roman"/>
                <a:cs typeface="Times New Roman"/>
                <a:sym typeface="Times New Roman"/>
              </a:rPr>
              <a:t>		</a:t>
            </a:r>
            <a:br>
              <a:rPr b="1" lang="en-US" sz="4400">
                <a:latin typeface="Times New Roman"/>
                <a:ea typeface="Times New Roman"/>
                <a:cs typeface="Times New Roman"/>
                <a:sym typeface="Times New Roman"/>
              </a:rPr>
            </a:br>
            <a:r>
              <a:rPr b="1" lang="en-US" sz="4400">
                <a:latin typeface="Times New Roman"/>
                <a:ea typeface="Times New Roman"/>
                <a:cs typeface="Times New Roman"/>
                <a:sym typeface="Times New Roman"/>
              </a:rPr>
              <a:t>		Feature Construction</a:t>
            </a:r>
            <a:br>
              <a:rPr lang="en-US" sz="4400">
                <a:latin typeface="Calibri"/>
                <a:ea typeface="Calibri"/>
                <a:cs typeface="Calibri"/>
                <a:sym typeface="Calibri"/>
              </a:rPr>
            </a:br>
            <a:endParaRPr/>
          </a:p>
        </p:txBody>
      </p:sp>
      <p:sp>
        <p:nvSpPr>
          <p:cNvPr id="278" name="Google Shape;278;p30"/>
          <p:cNvSpPr txBox="1"/>
          <p:nvPr>
            <p:ph idx="1" type="body"/>
          </p:nvPr>
        </p:nvSpPr>
        <p:spPr>
          <a:xfrm>
            <a:off x="838200" y="1179095"/>
            <a:ext cx="10515600" cy="4997868"/>
          </a:xfrm>
          <a:prstGeom prst="rect">
            <a:avLst/>
          </a:prstGeom>
          <a:noFill/>
          <a:ln>
            <a:noFill/>
          </a:ln>
        </p:spPr>
        <p:txBody>
          <a:bodyPr anchorCtr="0" anchor="t" bIns="45700" lIns="91425" spcFirstLastPara="1" rIns="91425" wrap="square" tIns="45700">
            <a:normAutofit/>
          </a:bodyPr>
          <a:lstStyle/>
          <a:p>
            <a:pPr indent="0" lvl="0" marL="0" marR="0" rtl="0" algn="l">
              <a:lnSpc>
                <a:spcPct val="107000"/>
              </a:lnSpc>
              <a:spcBef>
                <a:spcPts val="0"/>
              </a:spcBef>
              <a:spcAft>
                <a:spcPts val="0"/>
              </a:spcAft>
              <a:buClr>
                <a:schemeClr val="dk1"/>
              </a:buClr>
              <a:buSzPts val="1800"/>
              <a:buNone/>
            </a:pPr>
            <a:r>
              <a:rPr b="1" lang="en-US" sz="1800">
                <a:latin typeface="Times New Roman"/>
                <a:ea typeface="Times New Roman"/>
                <a:cs typeface="Times New Roman"/>
                <a:sym typeface="Times New Roman"/>
              </a:rPr>
              <a:t>The process of developing new features from existing features or upon our domain knowledge is known as feature construction.</a:t>
            </a:r>
            <a:endParaRPr sz="1800">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800"/>
              <a:buChar char="•"/>
            </a:pPr>
            <a:r>
              <a:rPr lang="en-US" sz="1800">
                <a:latin typeface="Times New Roman"/>
                <a:ea typeface="Times New Roman"/>
                <a:cs typeface="Times New Roman"/>
                <a:sym typeface="Times New Roman"/>
              </a:rPr>
              <a:t>Making the features more informative and relevant to the task helps machine learning models perform better.</a:t>
            </a:r>
            <a:endParaRPr/>
          </a:p>
          <a:p>
            <a:pPr indent="0" lvl="0" marL="0" marR="0" rtl="0" algn="l">
              <a:lnSpc>
                <a:spcPct val="107000"/>
              </a:lnSpc>
              <a:spcBef>
                <a:spcPts val="800"/>
              </a:spcBef>
              <a:spcAft>
                <a:spcPts val="0"/>
              </a:spcAft>
              <a:buClr>
                <a:schemeClr val="dk1"/>
              </a:buClr>
              <a:buSzPts val="1800"/>
              <a:buNone/>
            </a:pPr>
            <a:r>
              <a:t/>
            </a:r>
            <a:endParaRPr sz="1800">
              <a:latin typeface="Calibri"/>
              <a:ea typeface="Calibri"/>
              <a:cs typeface="Calibri"/>
              <a:sym typeface="Calibri"/>
            </a:endParaRPr>
          </a:p>
          <a:p>
            <a:pPr indent="-50800" lvl="0" marL="228600" rtl="0" algn="l">
              <a:lnSpc>
                <a:spcPct val="90000"/>
              </a:lnSpc>
              <a:spcBef>
                <a:spcPts val="1800"/>
              </a:spcBef>
              <a:spcAft>
                <a:spcPts val="0"/>
              </a:spcAft>
              <a:buClr>
                <a:schemeClr val="dk1"/>
              </a:buClr>
              <a:buSzPts val="2800"/>
              <a:buNone/>
            </a:pPr>
            <a:r>
              <a:t/>
            </a:r>
            <a:endParaRPr/>
          </a:p>
        </p:txBody>
      </p:sp>
      <p:pic>
        <p:nvPicPr>
          <p:cNvPr id="279" name="Google Shape;279;p30"/>
          <p:cNvPicPr preferRelativeResize="0"/>
          <p:nvPr/>
        </p:nvPicPr>
        <p:blipFill rotWithShape="1">
          <a:blip r:embed="rId3">
            <a:alphaModFix/>
          </a:blip>
          <a:srcRect b="0" l="0" r="0" t="0"/>
          <a:stretch/>
        </p:blipFill>
        <p:spPr>
          <a:xfrm>
            <a:off x="3037572" y="2460859"/>
            <a:ext cx="4785360" cy="283464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3" name="Shape 283"/>
        <p:cNvGrpSpPr/>
        <p:nvPr/>
      </p:nvGrpSpPr>
      <p:grpSpPr>
        <a:xfrm>
          <a:off x="0" y="0"/>
          <a:ext cx="0" cy="0"/>
          <a:chOff x="0" y="0"/>
          <a:chExt cx="0" cy="0"/>
        </a:xfrm>
      </p:grpSpPr>
      <p:sp>
        <p:nvSpPr>
          <p:cNvPr id="284" name="Google Shape;284;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lang="en-US"/>
              <a:t>            Feature Construction</a:t>
            </a:r>
            <a:endParaRPr/>
          </a:p>
        </p:txBody>
      </p:sp>
      <p:sp>
        <p:nvSpPr>
          <p:cNvPr id="285" name="Google Shape;285;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marR="0" rtl="0" algn="l">
              <a:lnSpc>
                <a:spcPct val="107000"/>
              </a:lnSpc>
              <a:spcBef>
                <a:spcPts val="0"/>
              </a:spcBef>
              <a:spcAft>
                <a:spcPts val="0"/>
              </a:spcAft>
              <a:buClr>
                <a:schemeClr val="dk1"/>
              </a:buClr>
              <a:buSzPts val="1800"/>
              <a:buChar char="•"/>
            </a:pPr>
            <a:r>
              <a:rPr i="1" lang="en-US" sz="1800">
                <a:latin typeface="Times New Roman"/>
                <a:ea typeface="Times New Roman"/>
                <a:cs typeface="Times New Roman"/>
                <a:sym typeface="Times New Roman"/>
              </a:rPr>
              <a:t>There are numerous ways to build features, but some typical techniques include:</a:t>
            </a:r>
            <a:endParaRPr sz="1800">
              <a:latin typeface="Calibri"/>
              <a:ea typeface="Calibri"/>
              <a:cs typeface="Calibri"/>
              <a:sym typeface="Calibri"/>
            </a:endParaRPr>
          </a:p>
          <a:p>
            <a:pPr indent="-342900" lvl="0" marL="342900" marR="0" rtl="0" algn="l">
              <a:lnSpc>
                <a:spcPct val="107000"/>
              </a:lnSpc>
              <a:spcBef>
                <a:spcPts val="800"/>
              </a:spcBef>
              <a:spcAft>
                <a:spcPts val="0"/>
              </a:spcAft>
              <a:buClr>
                <a:schemeClr val="dk1"/>
              </a:buClr>
              <a:buSzPts val="1000"/>
              <a:buFont typeface="Noto Sans Symbols"/>
              <a:buChar char="∙"/>
            </a:pPr>
            <a:r>
              <a:rPr b="1" lang="en-US" sz="1800">
                <a:latin typeface="Times New Roman"/>
                <a:ea typeface="Times New Roman"/>
                <a:cs typeface="Times New Roman"/>
                <a:sym typeface="Times New Roman"/>
              </a:rPr>
              <a:t>Repurposing existing features</a:t>
            </a:r>
            <a:r>
              <a:rPr lang="en-US" sz="1800">
                <a:latin typeface="Times New Roman"/>
                <a:ea typeface="Times New Roman"/>
                <a:cs typeface="Times New Roman"/>
                <a:sym typeface="Times New Roman"/>
              </a:rPr>
              <a:t>: This is like remixing old songs. We can combine existing features in new ways to create something new and exciting. </a:t>
            </a:r>
            <a:r>
              <a:rPr b="1" i="1" lang="en-US" sz="1800">
                <a:latin typeface="Times New Roman"/>
                <a:ea typeface="Times New Roman"/>
                <a:cs typeface="Times New Roman"/>
                <a:sym typeface="Times New Roman"/>
              </a:rPr>
              <a:t>Combine, alter, or create new features from existing ones</a:t>
            </a:r>
            <a:r>
              <a:rPr b="1" lang="en-US" sz="1800">
                <a:latin typeface="Times New Roman"/>
                <a:ea typeface="Times New Roman"/>
                <a:cs typeface="Times New Roman"/>
                <a:sym typeface="Times New Roman"/>
              </a:rPr>
              <a:t>. </a:t>
            </a:r>
            <a:r>
              <a:rPr lang="en-US" sz="1800">
                <a:latin typeface="Times New Roman"/>
                <a:ea typeface="Times New Roman"/>
                <a:cs typeface="Times New Roman"/>
                <a:sym typeface="Times New Roman"/>
              </a:rPr>
              <a:t>For example, you could combine the features "sibsp" and "parch" in the Titanic dataset to create a new feature called "family."</a:t>
            </a:r>
            <a:endParaRPr sz="1800">
              <a:latin typeface="Calibri"/>
              <a:ea typeface="Calibri"/>
              <a:cs typeface="Calibri"/>
              <a:sym typeface="Calibri"/>
            </a:endParaRPr>
          </a:p>
          <a:p>
            <a:pPr indent="-342900" lvl="0" marL="342900" marR="0" rtl="0" algn="l">
              <a:lnSpc>
                <a:spcPct val="107000"/>
              </a:lnSpc>
              <a:spcBef>
                <a:spcPts val="800"/>
              </a:spcBef>
              <a:spcAft>
                <a:spcPts val="0"/>
              </a:spcAft>
              <a:buClr>
                <a:schemeClr val="dk1"/>
              </a:buClr>
              <a:buSzPts val="1000"/>
              <a:buFont typeface="Noto Sans Symbols"/>
              <a:buChar char="∙"/>
            </a:pPr>
            <a:r>
              <a:rPr b="1" lang="en-US" sz="1800">
                <a:latin typeface="Times New Roman"/>
                <a:ea typeface="Times New Roman"/>
                <a:cs typeface="Times New Roman"/>
                <a:sym typeface="Times New Roman"/>
              </a:rPr>
              <a:t>Using domain expertise</a:t>
            </a:r>
            <a:r>
              <a:rPr lang="en-US" sz="1800">
                <a:latin typeface="Times New Roman"/>
                <a:ea typeface="Times New Roman"/>
                <a:cs typeface="Times New Roman"/>
                <a:sym typeface="Times New Roman"/>
              </a:rPr>
              <a:t>: This is like consulting a chef. You can use your domain understanding to create new features essential to the task. </a:t>
            </a:r>
            <a:r>
              <a:rPr b="1" i="1" lang="en-US" sz="1800">
                <a:latin typeface="Times New Roman"/>
                <a:ea typeface="Times New Roman"/>
                <a:cs typeface="Times New Roman"/>
                <a:sym typeface="Times New Roman"/>
              </a:rPr>
              <a:t>Create new features that are important to the task based on our domain knowledge</a:t>
            </a:r>
            <a:r>
              <a:rPr lang="en-US" sz="1800">
                <a:latin typeface="Times New Roman"/>
                <a:ea typeface="Times New Roman"/>
                <a:cs typeface="Times New Roman"/>
                <a:sym typeface="Times New Roman"/>
              </a:rPr>
              <a:t>. For example, if you are developing a model to predict customer churn, you could add a new feature called "number of months since last purchase" if you know that customers who haven't purchased in a while are more likely to churn.</a:t>
            </a:r>
            <a:endParaRPr sz="1800">
              <a:latin typeface="Calibri"/>
              <a:ea typeface="Calibri"/>
              <a:cs typeface="Calibri"/>
              <a:sym typeface="Calibri"/>
            </a:endParaRPr>
          </a:p>
          <a:p>
            <a:pPr indent="-342900" lvl="0" marL="342900" marR="0" rtl="0" algn="l">
              <a:lnSpc>
                <a:spcPct val="107000"/>
              </a:lnSpc>
              <a:spcBef>
                <a:spcPts val="800"/>
              </a:spcBef>
              <a:spcAft>
                <a:spcPts val="0"/>
              </a:spcAft>
              <a:buClr>
                <a:schemeClr val="dk1"/>
              </a:buClr>
              <a:buSzPts val="1000"/>
              <a:buFont typeface="Noto Sans Symbols"/>
              <a:buChar char="∙"/>
            </a:pPr>
            <a:r>
              <a:rPr b="1" lang="en-US" sz="1800">
                <a:latin typeface="Times New Roman"/>
                <a:ea typeface="Times New Roman"/>
                <a:cs typeface="Times New Roman"/>
                <a:sym typeface="Times New Roman"/>
              </a:rPr>
              <a:t>Using feature selection algorithms</a:t>
            </a:r>
            <a:r>
              <a:rPr lang="en-US" sz="1800">
                <a:latin typeface="Times New Roman"/>
                <a:ea typeface="Times New Roman"/>
                <a:cs typeface="Times New Roman"/>
                <a:sym typeface="Times New Roman"/>
              </a:rPr>
              <a:t>: This is like hiring a personal shopper. You can use these algorithms </a:t>
            </a:r>
            <a:r>
              <a:rPr b="1" i="1" lang="en-US" sz="1800">
                <a:latin typeface="Times New Roman"/>
                <a:ea typeface="Times New Roman"/>
                <a:cs typeface="Times New Roman"/>
                <a:sym typeface="Times New Roman"/>
              </a:rPr>
              <a:t>to determine the most important features from a data set and then build new features based on those features</a:t>
            </a:r>
            <a:r>
              <a:rPr lang="en-US" sz="1800">
                <a:latin typeface="Times New Roman"/>
                <a:ea typeface="Times New Roman"/>
                <a:cs typeface="Times New Roman"/>
                <a:sym typeface="Times New Roman"/>
              </a:rPr>
              <a:t>. It's like curating the best attributes to create powerful new ones! </a:t>
            </a:r>
            <a:endParaRPr sz="1800">
              <a:latin typeface="Calibri"/>
              <a:ea typeface="Calibri"/>
              <a:cs typeface="Calibri"/>
              <a:sym typeface="Calibri"/>
            </a:endParaRPr>
          </a:p>
          <a:p>
            <a:pPr indent="-50800" lvl="0" marL="228600" rtl="0" algn="l">
              <a:lnSpc>
                <a:spcPct val="90000"/>
              </a:lnSpc>
              <a:spcBef>
                <a:spcPts val="1800"/>
              </a:spcBef>
              <a:spcAft>
                <a:spcPts val="0"/>
              </a:spcAft>
              <a:buClr>
                <a:schemeClr val="dk1"/>
              </a:buClr>
              <a:buSzPts val="2800"/>
              <a:buNone/>
            </a:pPr>
            <a:r>
              <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32"/>
          <p:cNvSpPr txBox="1"/>
          <p:nvPr>
            <p:ph type="title"/>
          </p:nvPr>
        </p:nvSpPr>
        <p:spPr>
          <a:xfrm>
            <a:off x="838200" y="365126"/>
            <a:ext cx="10515600" cy="677612"/>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Times New Roman"/>
              <a:buNone/>
            </a:pPr>
            <a:br>
              <a:rPr b="1" lang="en-US" sz="4400">
                <a:latin typeface="Times New Roman"/>
                <a:ea typeface="Times New Roman"/>
                <a:cs typeface="Times New Roman"/>
                <a:sym typeface="Times New Roman"/>
              </a:rPr>
            </a:br>
            <a:r>
              <a:rPr b="1" lang="en-US" sz="4400">
                <a:latin typeface="Times New Roman"/>
                <a:ea typeface="Times New Roman"/>
                <a:cs typeface="Times New Roman"/>
                <a:sym typeface="Times New Roman"/>
              </a:rPr>
              <a:t>Feature Extraction</a:t>
            </a:r>
            <a:br>
              <a:rPr lang="en-US" sz="4400">
                <a:latin typeface="Calibri"/>
                <a:ea typeface="Calibri"/>
                <a:cs typeface="Calibri"/>
                <a:sym typeface="Calibri"/>
              </a:rPr>
            </a:br>
            <a:endParaRPr/>
          </a:p>
        </p:txBody>
      </p:sp>
      <p:sp>
        <p:nvSpPr>
          <p:cNvPr id="291" name="Google Shape;291;p32"/>
          <p:cNvSpPr txBox="1"/>
          <p:nvPr>
            <p:ph idx="1" type="body"/>
          </p:nvPr>
        </p:nvSpPr>
        <p:spPr>
          <a:xfrm>
            <a:off x="902369" y="1042738"/>
            <a:ext cx="10515600" cy="5574630"/>
          </a:xfrm>
          <a:prstGeom prst="rect">
            <a:avLst/>
          </a:prstGeom>
          <a:noFill/>
          <a:ln>
            <a:noFill/>
          </a:ln>
        </p:spPr>
        <p:txBody>
          <a:bodyPr anchorCtr="0" anchor="t" bIns="45700" lIns="91425" spcFirstLastPara="1" rIns="91425" wrap="square" tIns="45700">
            <a:normAutofit fontScale="92500"/>
          </a:bodyPr>
          <a:lstStyle/>
          <a:p>
            <a:pPr indent="0" lvl="0" marL="0" marR="0" rtl="0" algn="l">
              <a:lnSpc>
                <a:spcPct val="107000"/>
              </a:lnSpc>
              <a:spcBef>
                <a:spcPts val="0"/>
              </a:spcBef>
              <a:spcAft>
                <a:spcPts val="0"/>
              </a:spcAft>
              <a:buClr>
                <a:schemeClr val="dk1"/>
              </a:buClr>
              <a:buSzPct val="100000"/>
              <a:buNone/>
            </a:pPr>
            <a:r>
              <a:rPr b="1" lang="en-US" sz="3000">
                <a:latin typeface="Times New Roman"/>
                <a:ea typeface="Times New Roman"/>
                <a:cs typeface="Times New Roman"/>
                <a:sym typeface="Times New Roman"/>
              </a:rPr>
              <a:t>Feature extraction is a process of reducing the dimensionality of data by identifying the most essential features.</a:t>
            </a:r>
            <a:endParaRPr b="1" sz="3000">
              <a:latin typeface="Calibri"/>
              <a:ea typeface="Calibri"/>
              <a:cs typeface="Calibri"/>
              <a:sym typeface="Calibri"/>
            </a:endParaRPr>
          </a:p>
          <a:p>
            <a:pPr indent="0" lvl="0" marL="0" marR="0" rtl="0" algn="l">
              <a:lnSpc>
                <a:spcPct val="107000"/>
              </a:lnSpc>
              <a:spcBef>
                <a:spcPts val="800"/>
              </a:spcBef>
              <a:spcAft>
                <a:spcPts val="0"/>
              </a:spcAft>
              <a:buClr>
                <a:schemeClr val="dk1"/>
              </a:buClr>
              <a:buSzPct val="100000"/>
              <a:buChar char="•"/>
            </a:pPr>
            <a:r>
              <a:rPr lang="en-US" sz="2600">
                <a:latin typeface="Times New Roman"/>
                <a:ea typeface="Times New Roman"/>
                <a:cs typeface="Times New Roman"/>
                <a:sym typeface="Times New Roman"/>
              </a:rPr>
              <a:t>The more features we have, the harder it is to find the important ones. "The curse of dimensionality occurs when the dataset contains an excessive number of features, making it difficult for Machine Learning algorithms to identify essential features." Dimensionality Reduction can be helpful in such a situation.</a:t>
            </a:r>
            <a:endParaRPr sz="2600">
              <a:latin typeface="Calibri"/>
              <a:ea typeface="Calibri"/>
              <a:cs typeface="Calibri"/>
              <a:sym typeface="Calibri"/>
            </a:endParaRPr>
          </a:p>
          <a:p>
            <a:pPr indent="0" lvl="0" marL="0" marR="0" rtl="0" algn="l">
              <a:lnSpc>
                <a:spcPct val="107000"/>
              </a:lnSpc>
              <a:spcBef>
                <a:spcPts val="800"/>
              </a:spcBef>
              <a:spcAft>
                <a:spcPts val="0"/>
              </a:spcAft>
              <a:buClr>
                <a:schemeClr val="dk1"/>
              </a:buClr>
              <a:buSzPct val="100000"/>
              <a:buChar char="•"/>
            </a:pPr>
            <a:r>
              <a:rPr lang="en-US" sz="2600">
                <a:latin typeface="Times New Roman"/>
                <a:ea typeface="Times New Roman"/>
                <a:cs typeface="Times New Roman"/>
                <a:sym typeface="Times New Roman"/>
              </a:rPr>
              <a:t>"Dimensionality reduction is a process of simplifying a dataset by reducing the number of features or dimensions. This can be done to improve the efficiency and accuracy of machine learning models."</a:t>
            </a:r>
            <a:endParaRPr sz="2600">
              <a:latin typeface="Calibri"/>
              <a:ea typeface="Calibri"/>
              <a:cs typeface="Calibri"/>
              <a:sym typeface="Calibri"/>
            </a:endParaRPr>
          </a:p>
          <a:p>
            <a:pPr indent="0" lvl="0" marL="0" marR="0" rtl="0" algn="l">
              <a:lnSpc>
                <a:spcPct val="107000"/>
              </a:lnSpc>
              <a:spcBef>
                <a:spcPts val="800"/>
              </a:spcBef>
              <a:spcAft>
                <a:spcPts val="0"/>
              </a:spcAft>
              <a:buClr>
                <a:schemeClr val="dk1"/>
              </a:buClr>
              <a:buSzPct val="100000"/>
              <a:buChar char="•"/>
            </a:pPr>
            <a:r>
              <a:rPr lang="en-US" sz="2600">
                <a:latin typeface="Times New Roman"/>
                <a:ea typeface="Times New Roman"/>
                <a:cs typeface="Times New Roman"/>
                <a:sym typeface="Times New Roman"/>
              </a:rPr>
              <a:t>Dimensionality reduction can be done in two ways:</a:t>
            </a:r>
            <a:endParaRPr sz="2600">
              <a:latin typeface="Calibri"/>
              <a:ea typeface="Calibri"/>
              <a:cs typeface="Calibri"/>
              <a:sym typeface="Calibri"/>
            </a:endParaRPr>
          </a:p>
          <a:p>
            <a:pPr indent="-342900" lvl="0" marL="342900" marR="0" rtl="0" algn="l">
              <a:lnSpc>
                <a:spcPct val="107000"/>
              </a:lnSpc>
              <a:spcBef>
                <a:spcPts val="800"/>
              </a:spcBef>
              <a:spcAft>
                <a:spcPts val="0"/>
              </a:spcAft>
              <a:buClr>
                <a:schemeClr val="dk1"/>
              </a:buClr>
              <a:buSzPct val="41580"/>
              <a:buFont typeface="Noto Sans Symbols"/>
              <a:buChar char="∙"/>
            </a:pPr>
            <a:r>
              <a:rPr lang="en-US" sz="2600">
                <a:latin typeface="Times New Roman"/>
                <a:ea typeface="Times New Roman"/>
                <a:cs typeface="Times New Roman"/>
                <a:sym typeface="Times New Roman"/>
              </a:rPr>
              <a:t>Feature Extraction</a:t>
            </a:r>
            <a:endParaRPr sz="2600">
              <a:latin typeface="Calibri"/>
              <a:ea typeface="Calibri"/>
              <a:cs typeface="Calibri"/>
              <a:sym typeface="Calibri"/>
            </a:endParaRPr>
          </a:p>
          <a:p>
            <a:pPr indent="-342900" lvl="0" marL="342900" marR="0" rtl="0" algn="l">
              <a:lnSpc>
                <a:spcPct val="107000"/>
              </a:lnSpc>
              <a:spcBef>
                <a:spcPts val="800"/>
              </a:spcBef>
              <a:spcAft>
                <a:spcPts val="0"/>
              </a:spcAft>
              <a:buClr>
                <a:schemeClr val="dk1"/>
              </a:buClr>
              <a:buSzPct val="41580"/>
              <a:buFont typeface="Noto Sans Symbols"/>
              <a:buChar char="∙"/>
            </a:pPr>
            <a:r>
              <a:rPr lang="en-US" sz="2600">
                <a:latin typeface="Times New Roman"/>
                <a:ea typeface="Times New Roman"/>
                <a:cs typeface="Times New Roman"/>
                <a:sym typeface="Times New Roman"/>
              </a:rPr>
              <a:t>Feature Selection </a:t>
            </a:r>
            <a:endParaRPr sz="2600">
              <a:latin typeface="Calibri"/>
              <a:ea typeface="Calibri"/>
              <a:cs typeface="Calibri"/>
              <a:sym typeface="Calibri"/>
            </a:endParaRPr>
          </a:p>
          <a:p>
            <a:pPr indent="-64135" lvl="0" marL="228600" rtl="0" algn="l">
              <a:lnSpc>
                <a:spcPct val="90000"/>
              </a:lnSpc>
              <a:spcBef>
                <a:spcPts val="1800"/>
              </a:spcBef>
              <a:spcAft>
                <a:spcPts val="0"/>
              </a:spcAft>
              <a:buClr>
                <a:schemeClr val="dk1"/>
              </a:buClr>
              <a:buSzPct val="100000"/>
              <a:buNone/>
            </a:pPr>
            <a:r>
              <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33"/>
          <p:cNvSpPr txBox="1"/>
          <p:nvPr>
            <p:ph type="title"/>
          </p:nvPr>
        </p:nvSpPr>
        <p:spPr>
          <a:xfrm>
            <a:off x="838200" y="365126"/>
            <a:ext cx="10515600" cy="661570"/>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Times New Roman"/>
              <a:buNone/>
            </a:pPr>
            <a:r>
              <a:rPr b="1" lang="en-US" sz="4400">
                <a:latin typeface="Times New Roman"/>
                <a:ea typeface="Times New Roman"/>
                <a:cs typeface="Times New Roman"/>
                <a:sym typeface="Times New Roman"/>
              </a:rPr>
              <a:t>Feature Extraction</a:t>
            </a:r>
            <a:endParaRPr/>
          </a:p>
        </p:txBody>
      </p:sp>
      <p:sp>
        <p:nvSpPr>
          <p:cNvPr id="297" name="Google Shape;297;p33"/>
          <p:cNvSpPr txBox="1"/>
          <p:nvPr>
            <p:ph idx="1" type="body"/>
          </p:nvPr>
        </p:nvSpPr>
        <p:spPr>
          <a:xfrm>
            <a:off x="838200" y="1411705"/>
            <a:ext cx="10078453" cy="4765258"/>
          </a:xfrm>
          <a:prstGeom prst="rect">
            <a:avLst/>
          </a:prstGeom>
          <a:noFill/>
          <a:ln>
            <a:noFill/>
          </a:ln>
        </p:spPr>
        <p:txBody>
          <a:bodyPr anchorCtr="0" anchor="t" bIns="45700" lIns="91425" spcFirstLastPara="1" rIns="91425" wrap="square" tIns="45700">
            <a:normAutofit/>
          </a:bodyPr>
          <a:lstStyle/>
          <a:p>
            <a:pPr indent="0" lvl="0" marL="0" marR="0" rtl="0" algn="l">
              <a:lnSpc>
                <a:spcPct val="107000"/>
              </a:lnSpc>
              <a:spcBef>
                <a:spcPts val="0"/>
              </a:spcBef>
              <a:spcAft>
                <a:spcPts val="0"/>
              </a:spcAft>
              <a:buClr>
                <a:schemeClr val="dk1"/>
              </a:buClr>
              <a:buSzPts val="2400"/>
              <a:buNone/>
            </a:pPr>
            <a:r>
              <a:rPr i="1" lang="en-US" sz="2400">
                <a:latin typeface="Times New Roman"/>
                <a:ea typeface="Times New Roman"/>
                <a:cs typeface="Times New Roman"/>
                <a:sym typeface="Times New Roman"/>
              </a:rPr>
              <a:t>The most frequently used approaches for </a:t>
            </a:r>
            <a:r>
              <a:rPr b="1" i="1" lang="en-US" sz="2400">
                <a:latin typeface="Times New Roman"/>
                <a:ea typeface="Times New Roman"/>
                <a:cs typeface="Times New Roman"/>
                <a:sym typeface="Times New Roman"/>
              </a:rPr>
              <a:t>dimensionality reduction</a:t>
            </a:r>
            <a:r>
              <a:rPr i="1" lang="en-US" sz="2400">
                <a:latin typeface="Times New Roman"/>
                <a:ea typeface="Times New Roman"/>
                <a:cs typeface="Times New Roman"/>
                <a:sym typeface="Times New Roman"/>
              </a:rPr>
              <a:t> are:</a:t>
            </a:r>
            <a:endParaRPr sz="2400">
              <a:latin typeface="Calibri"/>
              <a:ea typeface="Calibri"/>
              <a:cs typeface="Calibri"/>
              <a:sym typeface="Calibri"/>
            </a:endParaRPr>
          </a:p>
          <a:p>
            <a:pPr indent="-342900" lvl="0" marL="342900" marR="0" rtl="0" algn="l">
              <a:lnSpc>
                <a:spcPct val="107000"/>
              </a:lnSpc>
              <a:spcBef>
                <a:spcPts val="800"/>
              </a:spcBef>
              <a:spcAft>
                <a:spcPts val="0"/>
              </a:spcAft>
              <a:buClr>
                <a:schemeClr val="dk1"/>
              </a:buClr>
              <a:buSzPts val="1000"/>
              <a:buFont typeface="Noto Sans Symbols"/>
              <a:buChar char="∙"/>
            </a:pPr>
            <a:r>
              <a:rPr lang="en-US" sz="2400">
                <a:latin typeface="Times New Roman"/>
                <a:ea typeface="Times New Roman"/>
                <a:cs typeface="Times New Roman"/>
                <a:sym typeface="Times New Roman"/>
              </a:rPr>
              <a:t>Principal Component Analysis(PCA) </a:t>
            </a:r>
            <a:endParaRPr sz="2400">
              <a:latin typeface="Calibri"/>
              <a:ea typeface="Calibri"/>
              <a:cs typeface="Calibri"/>
              <a:sym typeface="Calibri"/>
            </a:endParaRPr>
          </a:p>
          <a:p>
            <a:pPr indent="-342900" lvl="0" marL="342900" marR="0" rtl="0" algn="l">
              <a:lnSpc>
                <a:spcPct val="107000"/>
              </a:lnSpc>
              <a:spcBef>
                <a:spcPts val="800"/>
              </a:spcBef>
              <a:spcAft>
                <a:spcPts val="0"/>
              </a:spcAft>
              <a:buClr>
                <a:schemeClr val="dk1"/>
              </a:buClr>
              <a:buSzPts val="1000"/>
              <a:buFont typeface="Noto Sans Symbols"/>
              <a:buChar char="∙"/>
            </a:pPr>
            <a:r>
              <a:rPr lang="en-US" sz="2400">
                <a:latin typeface="Times New Roman"/>
                <a:ea typeface="Times New Roman"/>
                <a:cs typeface="Times New Roman"/>
                <a:sym typeface="Times New Roman"/>
              </a:rPr>
              <a:t>Linear Discriminant Analysis(LDA) </a:t>
            </a:r>
            <a:endParaRPr sz="2400">
              <a:latin typeface="Calibri"/>
              <a:ea typeface="Calibri"/>
              <a:cs typeface="Calibri"/>
              <a:sym typeface="Calibri"/>
            </a:endParaRPr>
          </a:p>
          <a:p>
            <a:pPr indent="-342900" lvl="0" marL="342900" marR="0" rtl="0" algn="l">
              <a:lnSpc>
                <a:spcPct val="107000"/>
              </a:lnSpc>
              <a:spcBef>
                <a:spcPts val="800"/>
              </a:spcBef>
              <a:spcAft>
                <a:spcPts val="0"/>
              </a:spcAft>
              <a:buClr>
                <a:schemeClr val="dk1"/>
              </a:buClr>
              <a:buSzPts val="1000"/>
              <a:buFont typeface="Noto Sans Symbols"/>
              <a:buChar char="∙"/>
            </a:pPr>
            <a:r>
              <a:rPr lang="en-US" sz="2400">
                <a:latin typeface="Times New Roman"/>
                <a:ea typeface="Times New Roman"/>
                <a:cs typeface="Times New Roman"/>
                <a:sym typeface="Times New Roman"/>
              </a:rPr>
              <a:t>T-distributed Stochastic Neighbor Embedding (T-SNE) </a:t>
            </a:r>
            <a:endParaRPr sz="2400">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2400"/>
              <a:buNone/>
            </a:pPr>
            <a:r>
              <a:rPr lang="en-US" sz="2400">
                <a:latin typeface="Times New Roman"/>
                <a:ea typeface="Times New Roman"/>
                <a:cs typeface="Times New Roman"/>
                <a:sym typeface="Times New Roman"/>
              </a:rPr>
              <a:t>In feature selection, we choose a subset of features from the dataset to train machine learning algorithms while maintaining the original feature distribution.</a:t>
            </a:r>
            <a:endParaRPr sz="2400">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2400"/>
              <a:buNone/>
            </a:pPr>
            <a:r>
              <a:rPr lang="en-US" sz="2400">
                <a:latin typeface="Times New Roman"/>
                <a:ea typeface="Times New Roman"/>
                <a:cs typeface="Times New Roman"/>
                <a:sym typeface="Times New Roman"/>
              </a:rPr>
              <a:t>However, when using dimensionality reduction techniques such as PCA, the original representation of the variables is altered.</a:t>
            </a:r>
            <a:endParaRPr sz="2400">
              <a:latin typeface="Calibri"/>
              <a:ea typeface="Calibri"/>
              <a:cs typeface="Calibri"/>
              <a:sym typeface="Calibri"/>
            </a:endParaRPr>
          </a:p>
          <a:p>
            <a:pPr indent="-50800" lvl="0" marL="228600" rtl="0" algn="l">
              <a:lnSpc>
                <a:spcPct val="90000"/>
              </a:lnSpc>
              <a:spcBef>
                <a:spcPts val="1800"/>
              </a:spcBef>
              <a:spcAft>
                <a:spcPts val="0"/>
              </a:spcAft>
              <a:buClr>
                <a:schemeClr val="dk1"/>
              </a:buClr>
              <a:buSzPts val="2800"/>
              <a:buNone/>
            </a:pPr>
            <a:r>
              <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1" name="Shape 301"/>
        <p:cNvGrpSpPr/>
        <p:nvPr/>
      </p:nvGrpSpPr>
      <p:grpSpPr>
        <a:xfrm>
          <a:off x="0" y="0"/>
          <a:ext cx="0" cy="0"/>
          <a:chOff x="0" y="0"/>
          <a:chExt cx="0" cy="0"/>
        </a:xfrm>
      </p:grpSpPr>
      <p:sp>
        <p:nvSpPr>
          <p:cNvPr id="302" name="Google Shape;302;p3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600"/>
              <a:buFont typeface="Calibri"/>
              <a:buNone/>
            </a:pPr>
            <a:r>
              <a:rPr b="1" lang="en-US" sz="3600"/>
              <a:t>Feature Extraction: </a:t>
            </a:r>
            <a:r>
              <a:rPr b="1" i="1" lang="en-US" sz="3600">
                <a:latin typeface="Times New Roman"/>
                <a:ea typeface="Times New Roman"/>
                <a:cs typeface="Times New Roman"/>
                <a:sym typeface="Times New Roman"/>
              </a:rPr>
              <a:t>Principal Component Analysis</a:t>
            </a:r>
            <a:endParaRPr b="1" sz="3600"/>
          </a:p>
        </p:txBody>
      </p:sp>
      <p:sp>
        <p:nvSpPr>
          <p:cNvPr id="303" name="Google Shape;303;p3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marR="0" rtl="0" algn="l">
              <a:lnSpc>
                <a:spcPct val="107000"/>
              </a:lnSpc>
              <a:spcBef>
                <a:spcPts val="0"/>
              </a:spcBef>
              <a:spcAft>
                <a:spcPts val="0"/>
              </a:spcAft>
              <a:buClr>
                <a:schemeClr val="dk1"/>
              </a:buClr>
              <a:buSzPts val="1800"/>
              <a:buNone/>
            </a:pPr>
            <a:r>
              <a:rPr b="1" i="1" lang="en-US" sz="1800">
                <a:latin typeface="Times New Roman"/>
                <a:ea typeface="Times New Roman"/>
                <a:cs typeface="Times New Roman"/>
                <a:sym typeface="Times New Roman"/>
              </a:rPr>
              <a:t>Principal Component Analysis(PCA)</a:t>
            </a:r>
            <a:endParaRPr b="1" i="1" sz="1800">
              <a:latin typeface="Calibri"/>
              <a:ea typeface="Calibri"/>
              <a:cs typeface="Calibri"/>
              <a:sym typeface="Calibri"/>
            </a:endParaRPr>
          </a:p>
          <a:p>
            <a:pPr indent="0" lvl="0" marL="0" marR="0" rtl="0" algn="l">
              <a:lnSpc>
                <a:spcPct val="107000"/>
              </a:lnSpc>
              <a:spcBef>
                <a:spcPts val="800"/>
              </a:spcBef>
              <a:spcAft>
                <a:spcPts val="0"/>
              </a:spcAft>
              <a:buClr>
                <a:schemeClr val="dk1"/>
              </a:buClr>
              <a:buSzPts val="1800"/>
              <a:buNone/>
            </a:pPr>
            <a:r>
              <a:rPr lang="en-US" sz="1800">
                <a:latin typeface="Times New Roman"/>
                <a:ea typeface="Times New Roman"/>
                <a:cs typeface="Times New Roman"/>
                <a:sym typeface="Times New Roman"/>
              </a:rPr>
              <a:t>PCA is an unsupervised technique that reduces the dimensionality of data by finding the directions (called Principal Components) that capture the most variance in the data.</a:t>
            </a:r>
            <a:endParaRPr/>
          </a:p>
          <a:p>
            <a:pPr indent="0" lvl="0" marL="0" marR="0" rtl="0" algn="l">
              <a:lnSpc>
                <a:spcPct val="107000"/>
              </a:lnSpc>
              <a:spcBef>
                <a:spcPts val="800"/>
              </a:spcBef>
              <a:spcAft>
                <a:spcPts val="0"/>
              </a:spcAft>
              <a:buClr>
                <a:schemeClr val="dk1"/>
              </a:buClr>
              <a:buSzPts val="1800"/>
              <a:buNone/>
            </a:pPr>
            <a:r>
              <a:t/>
            </a:r>
            <a:endParaRPr sz="1800">
              <a:latin typeface="Calibri"/>
              <a:ea typeface="Calibri"/>
              <a:cs typeface="Calibri"/>
              <a:sym typeface="Calibri"/>
            </a:endParaRPr>
          </a:p>
          <a:p>
            <a:pPr indent="-50800" lvl="0" marL="228600" rtl="0" algn="l">
              <a:lnSpc>
                <a:spcPct val="90000"/>
              </a:lnSpc>
              <a:spcBef>
                <a:spcPts val="1800"/>
              </a:spcBef>
              <a:spcAft>
                <a:spcPts val="0"/>
              </a:spcAft>
              <a:buClr>
                <a:schemeClr val="dk1"/>
              </a:buClr>
              <a:buSzPts val="2800"/>
              <a:buNone/>
            </a:pPr>
            <a:r>
              <a:t/>
            </a:r>
            <a:endParaRPr/>
          </a:p>
        </p:txBody>
      </p:sp>
      <p:pic>
        <p:nvPicPr>
          <p:cNvPr id="304" name="Google Shape;304;p34"/>
          <p:cNvPicPr preferRelativeResize="0"/>
          <p:nvPr/>
        </p:nvPicPr>
        <p:blipFill rotWithShape="1">
          <a:blip r:embed="rId3">
            <a:alphaModFix/>
          </a:blip>
          <a:srcRect b="0" l="0" r="0" t="0"/>
          <a:stretch/>
        </p:blipFill>
        <p:spPr>
          <a:xfrm>
            <a:off x="1508743" y="3529246"/>
            <a:ext cx="8260899" cy="2647717"/>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35"/>
          <p:cNvSpPr txBox="1"/>
          <p:nvPr>
            <p:ph type="title"/>
          </p:nvPr>
        </p:nvSpPr>
        <p:spPr>
          <a:xfrm>
            <a:off x="838200" y="365125"/>
            <a:ext cx="10515600" cy="76584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b="1" lang="en-US" sz="3600"/>
            </a:br>
            <a:r>
              <a:rPr b="1" lang="en-US" sz="3600"/>
              <a:t>Feature Extraction: </a:t>
            </a:r>
            <a:r>
              <a:rPr b="1" i="1" lang="en-US" sz="3600">
                <a:latin typeface="Times New Roman"/>
                <a:ea typeface="Times New Roman"/>
                <a:cs typeface="Times New Roman"/>
                <a:sym typeface="Times New Roman"/>
              </a:rPr>
              <a:t>Linear Discriminant Analysis(LDA)</a:t>
            </a:r>
            <a:br>
              <a:rPr lang="en-US" sz="4400">
                <a:latin typeface="Calibri"/>
                <a:ea typeface="Calibri"/>
                <a:cs typeface="Calibri"/>
                <a:sym typeface="Calibri"/>
              </a:rPr>
            </a:br>
            <a:endParaRPr/>
          </a:p>
        </p:txBody>
      </p:sp>
      <p:sp>
        <p:nvSpPr>
          <p:cNvPr id="310" name="Google Shape;310;p35"/>
          <p:cNvSpPr txBox="1"/>
          <p:nvPr>
            <p:ph idx="1" type="body"/>
          </p:nvPr>
        </p:nvSpPr>
        <p:spPr>
          <a:xfrm>
            <a:off x="838200" y="1219200"/>
            <a:ext cx="10515600" cy="4957763"/>
          </a:xfrm>
          <a:prstGeom prst="rect">
            <a:avLst/>
          </a:prstGeom>
          <a:noFill/>
          <a:ln>
            <a:noFill/>
          </a:ln>
        </p:spPr>
        <p:txBody>
          <a:bodyPr anchorCtr="0" anchor="t" bIns="45700" lIns="91425" spcFirstLastPara="1" rIns="91425" wrap="square" tIns="45700">
            <a:normAutofit/>
          </a:bodyPr>
          <a:lstStyle/>
          <a:p>
            <a:pPr indent="0" lvl="0" marL="0" marR="0" rtl="0" algn="l">
              <a:lnSpc>
                <a:spcPct val="107000"/>
              </a:lnSpc>
              <a:spcBef>
                <a:spcPts val="0"/>
              </a:spcBef>
              <a:spcAft>
                <a:spcPts val="0"/>
              </a:spcAft>
              <a:buClr>
                <a:schemeClr val="dk1"/>
              </a:buClr>
              <a:buSzPts val="2400"/>
              <a:buNone/>
            </a:pPr>
            <a:r>
              <a:rPr lang="en-US" sz="2400">
                <a:latin typeface="Times New Roman"/>
                <a:ea typeface="Times New Roman"/>
                <a:cs typeface="Times New Roman"/>
                <a:sym typeface="Times New Roman"/>
              </a:rPr>
              <a:t>LDA is a supervised machine learning algorithm that seeks to find the directions in the data that best separate the different known categories.</a:t>
            </a:r>
            <a:endParaRPr sz="2400">
              <a:latin typeface="Calibri"/>
              <a:ea typeface="Calibri"/>
              <a:cs typeface="Calibri"/>
              <a:sym typeface="Calibri"/>
            </a:endParaRPr>
          </a:p>
          <a:p>
            <a:pPr indent="-50800" lvl="0" marL="228600" rtl="0" algn="l">
              <a:lnSpc>
                <a:spcPct val="90000"/>
              </a:lnSpc>
              <a:spcBef>
                <a:spcPts val="18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311" name="Google Shape;311;p35"/>
          <p:cNvPicPr preferRelativeResize="0"/>
          <p:nvPr/>
        </p:nvPicPr>
        <p:blipFill rotWithShape="1">
          <a:blip r:embed="rId3">
            <a:alphaModFix/>
          </a:blip>
          <a:srcRect b="0" l="0" r="0" t="0"/>
          <a:stretch/>
        </p:blipFill>
        <p:spPr>
          <a:xfrm>
            <a:off x="1805521" y="2650957"/>
            <a:ext cx="6671945" cy="320357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p36"/>
          <p:cNvSpPr txBox="1"/>
          <p:nvPr>
            <p:ph type="title"/>
          </p:nvPr>
        </p:nvSpPr>
        <p:spPr>
          <a:xfrm>
            <a:off x="838200" y="365125"/>
            <a:ext cx="10515600" cy="76584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b="1" lang="en-US" sz="3600"/>
            </a:br>
            <a:r>
              <a:rPr b="1" lang="en-US" sz="3600"/>
              <a:t>Feature Extraction: </a:t>
            </a:r>
            <a:r>
              <a:rPr b="1" i="1" lang="en-US" sz="3600">
                <a:latin typeface="Times New Roman"/>
                <a:ea typeface="Times New Roman"/>
                <a:cs typeface="Times New Roman"/>
                <a:sym typeface="Times New Roman"/>
              </a:rPr>
              <a:t>Linear Discriminant Analysis(LDA)</a:t>
            </a:r>
            <a:br>
              <a:rPr lang="en-US" sz="4400">
                <a:latin typeface="Calibri"/>
                <a:ea typeface="Calibri"/>
                <a:cs typeface="Calibri"/>
                <a:sym typeface="Calibri"/>
              </a:rPr>
            </a:br>
            <a:endParaRPr/>
          </a:p>
        </p:txBody>
      </p:sp>
      <p:sp>
        <p:nvSpPr>
          <p:cNvPr id="317" name="Google Shape;317;p36"/>
          <p:cNvSpPr txBox="1"/>
          <p:nvPr>
            <p:ph idx="1" type="body"/>
          </p:nvPr>
        </p:nvSpPr>
        <p:spPr>
          <a:xfrm>
            <a:off x="838200" y="1219200"/>
            <a:ext cx="10515600" cy="4957763"/>
          </a:xfrm>
          <a:prstGeom prst="rect">
            <a:avLst/>
          </a:prstGeom>
          <a:noFill/>
          <a:ln>
            <a:noFill/>
          </a:ln>
        </p:spPr>
        <p:txBody>
          <a:bodyPr anchorCtr="0" anchor="t" bIns="45700" lIns="91425" spcFirstLastPara="1" rIns="91425" wrap="square" tIns="45700">
            <a:normAutofit/>
          </a:bodyPr>
          <a:lstStyle/>
          <a:p>
            <a:pPr indent="0" lvl="0" marL="0" marR="0" rtl="0" algn="l">
              <a:lnSpc>
                <a:spcPct val="107000"/>
              </a:lnSpc>
              <a:spcBef>
                <a:spcPts val="0"/>
              </a:spcBef>
              <a:spcAft>
                <a:spcPts val="0"/>
              </a:spcAft>
              <a:buClr>
                <a:schemeClr val="dk1"/>
              </a:buClr>
              <a:buSzPts val="2400"/>
              <a:buNone/>
            </a:pPr>
            <a:r>
              <a:rPr lang="en-US" sz="2400">
                <a:latin typeface="Times New Roman"/>
                <a:ea typeface="Times New Roman"/>
                <a:cs typeface="Times New Roman"/>
                <a:sym typeface="Times New Roman"/>
              </a:rPr>
              <a:t>LDA is a supervised machine learning algorithm that seeks to find the directions in the data that best separate the different known categories.</a:t>
            </a:r>
            <a:endParaRPr sz="2400">
              <a:latin typeface="Calibri"/>
              <a:ea typeface="Calibri"/>
              <a:cs typeface="Calibri"/>
              <a:sym typeface="Calibri"/>
            </a:endParaRPr>
          </a:p>
          <a:p>
            <a:pPr indent="-50800" lvl="0" marL="228600" rtl="0" algn="l">
              <a:lnSpc>
                <a:spcPct val="90000"/>
              </a:lnSpc>
              <a:spcBef>
                <a:spcPts val="18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318" name="Google Shape;318;p36"/>
          <p:cNvPicPr preferRelativeResize="0"/>
          <p:nvPr/>
        </p:nvPicPr>
        <p:blipFill rotWithShape="1">
          <a:blip r:embed="rId3">
            <a:alphaModFix/>
          </a:blip>
          <a:srcRect b="0" l="0" r="0" t="0"/>
          <a:stretch/>
        </p:blipFill>
        <p:spPr>
          <a:xfrm>
            <a:off x="2711116" y="3312694"/>
            <a:ext cx="6317631" cy="3180181"/>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37"/>
          <p:cNvSpPr txBox="1"/>
          <p:nvPr>
            <p:ph type="title"/>
          </p:nvPr>
        </p:nvSpPr>
        <p:spPr>
          <a:xfrm>
            <a:off x="838200" y="365125"/>
            <a:ext cx="10515600" cy="1006475"/>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br>
              <a:rPr b="1" lang="en-US" sz="3600"/>
            </a:br>
            <a:r>
              <a:rPr b="1" lang="en-US" sz="3600"/>
              <a:t>Feaure Extraction: </a:t>
            </a:r>
            <a:r>
              <a:rPr b="1" lang="en-US" sz="3600">
                <a:latin typeface="Times New Roman"/>
                <a:ea typeface="Times New Roman"/>
                <a:cs typeface="Times New Roman"/>
                <a:sym typeface="Times New Roman"/>
              </a:rPr>
              <a:t>T-distributed Stochastic Neighbor Embedding(T-SNE)</a:t>
            </a:r>
            <a:br>
              <a:rPr lang="en-US" sz="4400">
                <a:latin typeface="Calibri"/>
                <a:ea typeface="Calibri"/>
                <a:cs typeface="Calibri"/>
                <a:sym typeface="Calibri"/>
              </a:rPr>
            </a:br>
            <a:endParaRPr/>
          </a:p>
        </p:txBody>
      </p:sp>
      <p:sp>
        <p:nvSpPr>
          <p:cNvPr id="324" name="Google Shape;324;p37"/>
          <p:cNvSpPr txBox="1"/>
          <p:nvPr>
            <p:ph idx="1" type="body"/>
          </p:nvPr>
        </p:nvSpPr>
        <p:spPr>
          <a:xfrm>
            <a:off x="838200" y="1475874"/>
            <a:ext cx="10515600" cy="4701089"/>
          </a:xfrm>
          <a:prstGeom prst="rect">
            <a:avLst/>
          </a:prstGeom>
          <a:noFill/>
          <a:ln>
            <a:noFill/>
          </a:ln>
        </p:spPr>
        <p:txBody>
          <a:bodyPr anchorCtr="0" anchor="t" bIns="45700" lIns="91425" spcFirstLastPara="1" rIns="91425" wrap="square" tIns="45700">
            <a:normAutofit/>
          </a:bodyPr>
          <a:lstStyle/>
          <a:p>
            <a:pPr indent="0" lvl="0" marL="0" marR="0" rtl="0" algn="l">
              <a:lnSpc>
                <a:spcPct val="107000"/>
              </a:lnSpc>
              <a:spcBef>
                <a:spcPts val="0"/>
              </a:spcBef>
              <a:spcAft>
                <a:spcPts val="0"/>
              </a:spcAft>
              <a:buClr>
                <a:schemeClr val="dk1"/>
              </a:buClr>
              <a:buSzPts val="2400"/>
              <a:buNone/>
            </a:pPr>
            <a:r>
              <a:rPr lang="en-US" sz="2400">
                <a:latin typeface="Times New Roman"/>
                <a:ea typeface="Times New Roman"/>
                <a:cs typeface="Times New Roman"/>
                <a:sym typeface="Times New Roman"/>
              </a:rPr>
              <a:t>T-SNE is a non-linear dimensionality reduction algorithm that can be used to separate data that a line cannot separate.</a:t>
            </a:r>
            <a:endParaRPr sz="2400">
              <a:latin typeface="Calibri"/>
              <a:ea typeface="Calibri"/>
              <a:cs typeface="Calibri"/>
              <a:sym typeface="Calibri"/>
            </a:endParaRPr>
          </a:p>
          <a:p>
            <a:pPr indent="-228600" lvl="0" marL="228600" rtl="0" algn="l">
              <a:lnSpc>
                <a:spcPct val="90000"/>
              </a:lnSpc>
              <a:spcBef>
                <a:spcPts val="1800"/>
              </a:spcBef>
              <a:spcAft>
                <a:spcPts val="0"/>
              </a:spcAft>
              <a:buClr>
                <a:schemeClr val="dk1"/>
              </a:buClr>
              <a:buSzPts val="2400"/>
              <a:buChar char="•"/>
            </a:pPr>
            <a:r>
              <a:rPr lang="en-US" sz="2400">
                <a:latin typeface="Times New Roman"/>
                <a:ea typeface="Times New Roman"/>
                <a:cs typeface="Times New Roman"/>
                <a:sym typeface="Times New Roman"/>
              </a:rPr>
              <a:t>It does this by projecting the data into a lower dimension</a:t>
            </a:r>
            <a:r>
              <a:rPr lang="en-US" sz="2400">
                <a:latin typeface="Quattrocento Sans"/>
                <a:ea typeface="Quattrocento Sans"/>
                <a:cs typeface="Quattrocento Sans"/>
                <a:sym typeface="Quattrocento Sans"/>
              </a:rPr>
              <a:t> </a:t>
            </a:r>
            <a:r>
              <a:rPr lang="en-US" sz="2400">
                <a:latin typeface="Times New Roman"/>
                <a:ea typeface="Times New Roman"/>
                <a:cs typeface="Times New Roman"/>
                <a:sym typeface="Times New Roman"/>
              </a:rPr>
              <a:t>while preserving the clustering in the high-dimensional space</a:t>
            </a:r>
            <a:endParaRPr sz="24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8" name="Shape 328"/>
        <p:cNvGrpSpPr/>
        <p:nvPr/>
      </p:nvGrpSpPr>
      <p:grpSpPr>
        <a:xfrm>
          <a:off x="0" y="0"/>
          <a:ext cx="0" cy="0"/>
          <a:chOff x="0" y="0"/>
          <a:chExt cx="0" cy="0"/>
        </a:xfrm>
      </p:grpSpPr>
      <p:sp>
        <p:nvSpPr>
          <p:cNvPr id="329" name="Google Shape;329;p38"/>
          <p:cNvSpPr txBox="1"/>
          <p:nvPr>
            <p:ph type="title"/>
          </p:nvPr>
        </p:nvSpPr>
        <p:spPr>
          <a:xfrm>
            <a:off x="838200" y="365125"/>
            <a:ext cx="10515600" cy="90220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Feature Selection</a:t>
            </a:r>
            <a:endParaRPr/>
          </a:p>
        </p:txBody>
      </p:sp>
      <p:sp>
        <p:nvSpPr>
          <p:cNvPr id="330" name="Google Shape;330;p38"/>
          <p:cNvSpPr txBox="1"/>
          <p:nvPr>
            <p:ph idx="1" type="body"/>
          </p:nvPr>
        </p:nvSpPr>
        <p:spPr>
          <a:xfrm>
            <a:off x="838200" y="1532021"/>
            <a:ext cx="10515600" cy="4644942"/>
          </a:xfrm>
          <a:prstGeom prst="rect">
            <a:avLst/>
          </a:prstGeom>
          <a:noFill/>
          <a:ln>
            <a:noFill/>
          </a:ln>
        </p:spPr>
        <p:txBody>
          <a:bodyPr anchorCtr="0" anchor="t" bIns="45700" lIns="91425" spcFirstLastPara="1" rIns="91425" wrap="square" tIns="45700">
            <a:normAutofit/>
          </a:bodyPr>
          <a:lstStyle/>
          <a:p>
            <a:pPr indent="0" lvl="0" marL="0" marR="0" rtl="0" algn="just">
              <a:lnSpc>
                <a:spcPct val="90000"/>
              </a:lnSpc>
              <a:spcBef>
                <a:spcPts val="0"/>
              </a:spcBef>
              <a:spcAft>
                <a:spcPts val="0"/>
              </a:spcAft>
              <a:buClr>
                <a:schemeClr val="dk1"/>
              </a:buClr>
              <a:buSzPts val="1800"/>
              <a:buNone/>
            </a:pPr>
            <a:r>
              <a:rPr lang="en-US" sz="1800">
                <a:latin typeface="Times New Roman"/>
                <a:ea typeface="Times New Roman"/>
                <a:cs typeface="Times New Roman"/>
                <a:sym typeface="Times New Roman"/>
              </a:rPr>
              <a:t>Feature selection is the process of identifying and selecting the most important features in a dataset relevant to predicting the target variable.</a:t>
            </a:r>
            <a:endParaRPr/>
          </a:p>
          <a:p>
            <a:pPr indent="0" lvl="0" marL="0" marR="0" rtl="0" algn="just">
              <a:lnSpc>
                <a:spcPct val="90000"/>
              </a:lnSpc>
              <a:spcBef>
                <a:spcPts val="1000"/>
              </a:spcBef>
              <a:spcAft>
                <a:spcPts val="0"/>
              </a:spcAft>
              <a:buClr>
                <a:schemeClr val="dk1"/>
              </a:buClr>
              <a:buSzPts val="1800"/>
              <a:buNone/>
            </a:pPr>
            <a:r>
              <a:rPr lang="en-US" sz="1800">
                <a:latin typeface="Times New Roman"/>
                <a:ea typeface="Times New Roman"/>
                <a:cs typeface="Times New Roman"/>
                <a:sym typeface="Times New Roman"/>
              </a:rPr>
              <a:t>There are mainly three techniques used for feature selection:</a:t>
            </a:r>
            <a:endParaRPr/>
          </a:p>
          <a:p>
            <a:pPr indent="-457200" lvl="0" marL="1082675" marR="0" rtl="0" algn="just">
              <a:lnSpc>
                <a:spcPct val="90000"/>
              </a:lnSpc>
              <a:spcBef>
                <a:spcPts val="1000"/>
              </a:spcBef>
              <a:spcAft>
                <a:spcPts val="0"/>
              </a:spcAft>
              <a:buClr>
                <a:schemeClr val="dk1"/>
              </a:buClr>
              <a:buSzPts val="1000"/>
              <a:buFont typeface="Noto Sans Symbols"/>
              <a:buChar char="❑"/>
            </a:pPr>
            <a:r>
              <a:rPr lang="en-US" sz="1800">
                <a:latin typeface="Times New Roman"/>
                <a:ea typeface="Times New Roman"/>
                <a:cs typeface="Times New Roman"/>
                <a:sym typeface="Times New Roman"/>
              </a:rPr>
              <a:t>Filter methods</a:t>
            </a:r>
            <a:endParaRPr/>
          </a:p>
          <a:p>
            <a:pPr indent="-457200" lvl="0" marL="1082675" marR="0" rtl="0" algn="just">
              <a:lnSpc>
                <a:spcPct val="90000"/>
              </a:lnSpc>
              <a:spcBef>
                <a:spcPts val="1000"/>
              </a:spcBef>
              <a:spcAft>
                <a:spcPts val="0"/>
              </a:spcAft>
              <a:buClr>
                <a:schemeClr val="dk1"/>
              </a:buClr>
              <a:buSzPts val="1000"/>
              <a:buFont typeface="Noto Sans Symbols"/>
              <a:buChar char="❑"/>
            </a:pPr>
            <a:r>
              <a:rPr lang="en-US" sz="1800">
                <a:latin typeface="Times New Roman"/>
                <a:ea typeface="Times New Roman"/>
                <a:cs typeface="Times New Roman"/>
                <a:sym typeface="Times New Roman"/>
              </a:rPr>
              <a:t>Wrapper methods</a:t>
            </a:r>
            <a:endParaRPr/>
          </a:p>
          <a:p>
            <a:pPr indent="-457200" lvl="0" marL="1082675" marR="0" rtl="0" algn="just">
              <a:lnSpc>
                <a:spcPct val="90000"/>
              </a:lnSpc>
              <a:spcBef>
                <a:spcPts val="1000"/>
              </a:spcBef>
              <a:spcAft>
                <a:spcPts val="0"/>
              </a:spcAft>
              <a:buClr>
                <a:schemeClr val="dk1"/>
              </a:buClr>
              <a:buSzPts val="1000"/>
              <a:buFont typeface="Noto Sans Symbols"/>
              <a:buChar char="❑"/>
            </a:pPr>
            <a:r>
              <a:rPr lang="en-US" sz="1800">
                <a:latin typeface="Times New Roman"/>
                <a:ea typeface="Times New Roman"/>
                <a:cs typeface="Times New Roman"/>
                <a:sym typeface="Times New Roman"/>
              </a:rPr>
              <a:t>Embedded methods.</a:t>
            </a:r>
            <a:endParaRPr/>
          </a:p>
          <a:p>
            <a:pPr indent="0" lvl="0" marL="0" marR="0" rtl="0" algn="just">
              <a:lnSpc>
                <a:spcPct val="90000"/>
              </a:lnSpc>
              <a:spcBef>
                <a:spcPts val="1000"/>
              </a:spcBef>
              <a:spcAft>
                <a:spcPts val="0"/>
              </a:spcAft>
              <a:buClr>
                <a:schemeClr val="dk1"/>
              </a:buClr>
              <a:buSzPts val="1000"/>
              <a:buNone/>
            </a:pPr>
            <a:r>
              <a:t/>
            </a:r>
            <a:endParaRPr sz="1800">
              <a:latin typeface="Times New Roman"/>
              <a:ea typeface="Times New Roman"/>
              <a:cs typeface="Times New Roman"/>
              <a:sym typeface="Times New Roman"/>
            </a:endParaRPr>
          </a:p>
          <a:p>
            <a:pPr indent="-50800" lvl="0" marL="228600" rtl="0" algn="l">
              <a:lnSpc>
                <a:spcPct val="90000"/>
              </a:lnSpc>
              <a:spcBef>
                <a:spcPts val="1000"/>
              </a:spcBef>
              <a:spcAft>
                <a:spcPts val="0"/>
              </a:spcAft>
              <a:buClr>
                <a:schemeClr val="dk1"/>
              </a:buClr>
              <a:buSzPts val="2800"/>
              <a:buNone/>
            </a:pPr>
            <a:r>
              <a:t/>
            </a:r>
            <a:endParaRPr/>
          </a:p>
        </p:txBody>
      </p:sp>
      <p:pic>
        <p:nvPicPr>
          <p:cNvPr id="331" name="Google Shape;331;p38"/>
          <p:cNvPicPr preferRelativeResize="0"/>
          <p:nvPr/>
        </p:nvPicPr>
        <p:blipFill rotWithShape="1">
          <a:blip r:embed="rId3">
            <a:alphaModFix/>
          </a:blip>
          <a:srcRect b="0" l="0" r="0" t="0"/>
          <a:stretch/>
        </p:blipFill>
        <p:spPr>
          <a:xfrm>
            <a:off x="2867527" y="3612281"/>
            <a:ext cx="6456946" cy="2283193"/>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5" name="Shape 335"/>
        <p:cNvGrpSpPr/>
        <p:nvPr/>
      </p:nvGrpSpPr>
      <p:grpSpPr>
        <a:xfrm>
          <a:off x="0" y="0"/>
          <a:ext cx="0" cy="0"/>
          <a:chOff x="0" y="0"/>
          <a:chExt cx="0" cy="0"/>
        </a:xfrm>
      </p:grpSpPr>
      <p:sp>
        <p:nvSpPr>
          <p:cNvPr id="336" name="Google Shape;336;p39"/>
          <p:cNvSpPr txBox="1"/>
          <p:nvPr>
            <p:ph type="title"/>
          </p:nvPr>
        </p:nvSpPr>
        <p:spPr>
          <a:xfrm>
            <a:off x="838200" y="365125"/>
            <a:ext cx="10515600" cy="90220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3200"/>
              <a:buFont typeface="Times New Roman"/>
              <a:buNone/>
            </a:pPr>
            <a:r>
              <a:rPr b="1" lang="en-US" sz="3200">
                <a:latin typeface="Times New Roman"/>
                <a:ea typeface="Times New Roman"/>
                <a:cs typeface="Times New Roman"/>
                <a:sym typeface="Times New Roman"/>
              </a:rPr>
              <a:t>Feature Selection: </a:t>
            </a:r>
            <a:r>
              <a:rPr b="1" lang="en-US" sz="3200" u="sng">
                <a:latin typeface="Times New Roman"/>
                <a:ea typeface="Times New Roman"/>
                <a:cs typeface="Times New Roman"/>
                <a:sym typeface="Times New Roman"/>
              </a:rPr>
              <a:t>Filter methods</a:t>
            </a:r>
            <a:r>
              <a:rPr b="1" lang="en-US" sz="3200">
                <a:latin typeface="Times New Roman"/>
                <a:ea typeface="Times New Roman"/>
                <a:cs typeface="Times New Roman"/>
                <a:sym typeface="Times New Roman"/>
              </a:rPr>
              <a:t> </a:t>
            </a:r>
            <a:endParaRPr b="1" sz="3200">
              <a:latin typeface="Times New Roman"/>
              <a:ea typeface="Times New Roman"/>
              <a:cs typeface="Times New Roman"/>
              <a:sym typeface="Times New Roman"/>
            </a:endParaRPr>
          </a:p>
        </p:txBody>
      </p:sp>
      <p:sp>
        <p:nvSpPr>
          <p:cNvPr id="337" name="Google Shape;337;p39"/>
          <p:cNvSpPr txBox="1"/>
          <p:nvPr>
            <p:ph idx="1" type="body"/>
          </p:nvPr>
        </p:nvSpPr>
        <p:spPr>
          <a:xfrm>
            <a:off x="838200" y="1515979"/>
            <a:ext cx="10515600" cy="4644942"/>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1800"/>
              <a:buChar char="•"/>
            </a:pPr>
            <a:r>
              <a:rPr b="1" lang="en-US" sz="1800" u="sng">
                <a:latin typeface="Calibri"/>
                <a:ea typeface="Calibri"/>
                <a:cs typeface="Calibri"/>
                <a:sym typeface="Calibri"/>
              </a:rPr>
              <a:t>Filter methods</a:t>
            </a:r>
            <a:r>
              <a:rPr lang="en-US" sz="1800">
                <a:latin typeface="Calibri"/>
                <a:ea typeface="Calibri"/>
                <a:cs typeface="Calibri"/>
                <a:sym typeface="Calibri"/>
              </a:rPr>
              <a:t> select features based on a statistical measure, and they do this by focusing on a single feature at a time and comparing it to the other features. The selection of features is not based on a learning algorithm.</a:t>
            </a:r>
            <a:endParaRPr/>
          </a:p>
          <a:p>
            <a:pPr indent="-50800" lvl="0" marL="228600" rtl="0" algn="l">
              <a:lnSpc>
                <a:spcPct val="90000"/>
              </a:lnSpc>
              <a:spcBef>
                <a:spcPts val="1000"/>
              </a:spcBef>
              <a:spcAft>
                <a:spcPts val="0"/>
              </a:spcAft>
              <a:buClr>
                <a:schemeClr val="dk1"/>
              </a:buClr>
              <a:buSzPts val="2800"/>
              <a:buNone/>
            </a:pPr>
            <a:r>
              <a:t/>
            </a:r>
            <a:endParaRPr/>
          </a:p>
        </p:txBody>
      </p:sp>
      <p:pic>
        <p:nvPicPr>
          <p:cNvPr id="338" name="Google Shape;338;p39"/>
          <p:cNvPicPr preferRelativeResize="0"/>
          <p:nvPr/>
        </p:nvPicPr>
        <p:blipFill rotWithShape="1">
          <a:blip r:embed="rId3">
            <a:alphaModFix/>
          </a:blip>
          <a:srcRect b="0" l="0" r="0" t="0"/>
          <a:stretch/>
        </p:blipFill>
        <p:spPr>
          <a:xfrm>
            <a:off x="2939716" y="2795370"/>
            <a:ext cx="5943600" cy="287147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2" name="Shape 342"/>
        <p:cNvGrpSpPr/>
        <p:nvPr/>
      </p:nvGrpSpPr>
      <p:grpSpPr>
        <a:xfrm>
          <a:off x="0" y="0"/>
          <a:ext cx="0" cy="0"/>
          <a:chOff x="0" y="0"/>
          <a:chExt cx="0" cy="0"/>
        </a:xfrm>
      </p:grpSpPr>
      <p:sp>
        <p:nvSpPr>
          <p:cNvPr id="343" name="Google Shape;343;p40"/>
          <p:cNvSpPr txBox="1"/>
          <p:nvPr>
            <p:ph type="title"/>
          </p:nvPr>
        </p:nvSpPr>
        <p:spPr>
          <a:xfrm>
            <a:off x="838200" y="168443"/>
            <a:ext cx="10515600" cy="90220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Feature Selection: Filter Method</a:t>
            </a:r>
            <a:endParaRPr/>
          </a:p>
        </p:txBody>
      </p:sp>
      <p:sp>
        <p:nvSpPr>
          <p:cNvPr id="344" name="Google Shape;344;p40"/>
          <p:cNvSpPr txBox="1"/>
          <p:nvPr>
            <p:ph idx="1" type="body"/>
          </p:nvPr>
        </p:nvSpPr>
        <p:spPr>
          <a:xfrm>
            <a:off x="838200" y="914400"/>
            <a:ext cx="10515600" cy="5775157"/>
          </a:xfrm>
          <a:prstGeom prst="rect">
            <a:avLst/>
          </a:prstGeom>
          <a:noFill/>
          <a:ln>
            <a:noFill/>
          </a:ln>
        </p:spPr>
        <p:txBody>
          <a:bodyPr anchorCtr="0" anchor="t" bIns="45700" lIns="91425" spcFirstLastPara="1" rIns="91425" wrap="square" tIns="45700">
            <a:noAutofit/>
          </a:bodyPr>
          <a:lstStyle/>
          <a:p>
            <a:pPr indent="0" lvl="0" marL="0" marR="0" rtl="0" algn="just">
              <a:lnSpc>
                <a:spcPct val="107000"/>
              </a:lnSpc>
              <a:spcBef>
                <a:spcPts val="0"/>
              </a:spcBef>
              <a:spcAft>
                <a:spcPts val="0"/>
              </a:spcAft>
              <a:buClr>
                <a:schemeClr val="dk1"/>
              </a:buClr>
              <a:buSzPts val="2200"/>
              <a:buNone/>
            </a:pPr>
            <a:r>
              <a:rPr i="1" lang="en-US" sz="2200">
                <a:latin typeface="Times New Roman"/>
                <a:ea typeface="Times New Roman"/>
                <a:cs typeface="Times New Roman"/>
                <a:sym typeface="Times New Roman"/>
              </a:rPr>
              <a:t>Filter methods can be done in the following ways:</a:t>
            </a:r>
            <a:endParaRPr sz="2200">
              <a:latin typeface="Calibri"/>
              <a:ea typeface="Calibri"/>
              <a:cs typeface="Calibri"/>
              <a:sym typeface="Calibri"/>
            </a:endParaRPr>
          </a:p>
          <a:p>
            <a:pPr indent="-457200" lvl="0" marL="457200" marR="0" rtl="0" algn="just">
              <a:lnSpc>
                <a:spcPct val="107000"/>
              </a:lnSpc>
              <a:spcBef>
                <a:spcPts val="800"/>
              </a:spcBef>
              <a:spcAft>
                <a:spcPts val="0"/>
              </a:spcAft>
              <a:buClr>
                <a:schemeClr val="dk1"/>
              </a:buClr>
              <a:buSzPts val="1000"/>
              <a:buNone/>
            </a:pPr>
            <a:r>
              <a:rPr b="1" lang="en-US" sz="2200">
                <a:latin typeface="Times New Roman"/>
                <a:ea typeface="Times New Roman"/>
                <a:cs typeface="Times New Roman"/>
                <a:sym typeface="Times New Roman"/>
              </a:rPr>
              <a:t>Correlation</a:t>
            </a:r>
            <a:r>
              <a:rPr lang="en-US" sz="2200">
                <a:latin typeface="Times New Roman"/>
                <a:ea typeface="Times New Roman"/>
                <a:cs typeface="Times New Roman"/>
                <a:sym typeface="Times New Roman"/>
              </a:rPr>
              <a:t>: This method is like a couple on a blind date. They're a match made in heaven if they have a high correlation. But if they have a low correlation, they're better off going their separate ways.</a:t>
            </a:r>
            <a:endParaRPr sz="2200">
              <a:latin typeface="Calibri"/>
              <a:ea typeface="Calibri"/>
              <a:cs typeface="Calibri"/>
              <a:sym typeface="Calibri"/>
            </a:endParaRPr>
          </a:p>
          <a:p>
            <a:pPr indent="-457200" lvl="0" marL="457200" marR="0" rtl="0" algn="just">
              <a:lnSpc>
                <a:spcPct val="107000"/>
              </a:lnSpc>
              <a:spcBef>
                <a:spcPts val="800"/>
              </a:spcBef>
              <a:spcAft>
                <a:spcPts val="0"/>
              </a:spcAft>
              <a:buClr>
                <a:schemeClr val="dk1"/>
              </a:buClr>
              <a:buSzPts val="2200"/>
              <a:buNone/>
            </a:pPr>
            <a:r>
              <a:rPr lang="en-US" sz="2200">
                <a:latin typeface="Times New Roman"/>
                <a:ea typeface="Times New Roman"/>
                <a:cs typeface="Times New Roman"/>
                <a:sym typeface="Times New Roman"/>
              </a:rPr>
              <a:t>This method calculates the correlation(using corr() ) between each feature and the target variable. If the correlation is below a certain value, we remove that feature from consideration, as it doesn't seem to impact the target variable significantly.</a:t>
            </a:r>
            <a:endParaRPr sz="2200">
              <a:latin typeface="Calibri"/>
              <a:ea typeface="Calibri"/>
              <a:cs typeface="Calibri"/>
              <a:sym typeface="Calibri"/>
            </a:endParaRPr>
          </a:p>
          <a:p>
            <a:pPr indent="-457200" lvl="0" marL="457200" marR="0" rtl="0" algn="just">
              <a:lnSpc>
                <a:spcPct val="107000"/>
              </a:lnSpc>
              <a:spcBef>
                <a:spcPts val="800"/>
              </a:spcBef>
              <a:spcAft>
                <a:spcPts val="0"/>
              </a:spcAft>
              <a:buClr>
                <a:schemeClr val="dk1"/>
              </a:buClr>
              <a:buSzPts val="1000"/>
              <a:buNone/>
            </a:pPr>
            <a:r>
              <a:rPr b="1" lang="en-US" sz="2200">
                <a:latin typeface="Times New Roman"/>
                <a:ea typeface="Times New Roman"/>
                <a:cs typeface="Times New Roman"/>
                <a:sym typeface="Times New Roman"/>
              </a:rPr>
              <a:t>Variance threshold:</a:t>
            </a:r>
            <a:r>
              <a:rPr lang="en-US" sz="2200">
                <a:latin typeface="Times New Roman"/>
                <a:ea typeface="Times New Roman"/>
                <a:cs typeface="Times New Roman"/>
                <a:sym typeface="Times New Roman"/>
              </a:rPr>
              <a:t> If a feature has low variance, it's not very interesting, so it gets kicked out.</a:t>
            </a:r>
            <a:endParaRPr sz="2200">
              <a:latin typeface="Calibri"/>
              <a:ea typeface="Calibri"/>
              <a:cs typeface="Calibri"/>
              <a:sym typeface="Calibri"/>
            </a:endParaRPr>
          </a:p>
          <a:p>
            <a:pPr indent="-457200" lvl="0" marL="457200" marR="0" rtl="0" algn="just">
              <a:lnSpc>
                <a:spcPct val="107000"/>
              </a:lnSpc>
              <a:spcBef>
                <a:spcPts val="800"/>
              </a:spcBef>
              <a:spcAft>
                <a:spcPts val="0"/>
              </a:spcAft>
              <a:buClr>
                <a:schemeClr val="dk1"/>
              </a:buClr>
              <a:buSzPts val="2200"/>
              <a:buNone/>
            </a:pPr>
            <a:r>
              <a:rPr b="1" lang="en-US" sz="2200">
                <a:latin typeface="Times New Roman"/>
                <a:ea typeface="Times New Roman"/>
                <a:cs typeface="Times New Roman"/>
                <a:sym typeface="Times New Roman"/>
              </a:rPr>
              <a:t>Chi-squared test:</a:t>
            </a:r>
            <a:r>
              <a:rPr lang="en-US" sz="2200">
                <a:latin typeface="Times New Roman"/>
                <a:ea typeface="Times New Roman"/>
                <a:cs typeface="Times New Roman"/>
                <a:sym typeface="Times New Roman"/>
              </a:rPr>
              <a:t> This method is like a detective. It looks for associations between two categorical variables and determines if they're guilty of being important features.</a:t>
            </a:r>
            <a:endParaRPr sz="2200">
              <a:latin typeface="Calibri"/>
              <a:ea typeface="Calibri"/>
              <a:cs typeface="Calibri"/>
              <a:sym typeface="Calibri"/>
            </a:endParaRPr>
          </a:p>
          <a:p>
            <a:pPr indent="-457200" lvl="0" marL="457200" marR="0" rtl="0" algn="just">
              <a:lnSpc>
                <a:spcPct val="107000"/>
              </a:lnSpc>
              <a:spcBef>
                <a:spcPts val="0"/>
              </a:spcBef>
              <a:spcAft>
                <a:spcPts val="0"/>
              </a:spcAft>
              <a:buClr>
                <a:schemeClr val="dk1"/>
              </a:buClr>
              <a:buSzPts val="2200"/>
              <a:buNone/>
            </a:pPr>
            <a:r>
              <a:t/>
            </a:r>
            <a:endParaRPr sz="2200">
              <a:latin typeface="Calibri"/>
              <a:ea typeface="Calibri"/>
              <a:cs typeface="Calibri"/>
              <a:sym typeface="Calibri"/>
            </a:endParaRPr>
          </a:p>
          <a:p>
            <a:pPr indent="-457200" lvl="0" marL="457200" marR="0" rtl="0" algn="just">
              <a:lnSpc>
                <a:spcPct val="107000"/>
              </a:lnSpc>
              <a:spcBef>
                <a:spcPts val="0"/>
              </a:spcBef>
              <a:spcAft>
                <a:spcPts val="0"/>
              </a:spcAft>
              <a:buClr>
                <a:schemeClr val="dk1"/>
              </a:buClr>
              <a:buSzPts val="1000"/>
              <a:buNone/>
            </a:pPr>
            <a:r>
              <a:rPr b="1" lang="en-US" sz="2200">
                <a:latin typeface="Times New Roman"/>
                <a:ea typeface="Times New Roman"/>
                <a:cs typeface="Times New Roman"/>
                <a:sym typeface="Times New Roman"/>
              </a:rPr>
              <a:t>ANOVA: </a:t>
            </a:r>
            <a:r>
              <a:rPr lang="en-US" sz="2200">
                <a:latin typeface="Times New Roman"/>
                <a:ea typeface="Times New Roman"/>
                <a:cs typeface="Times New Roman"/>
                <a:sym typeface="Times New Roman"/>
              </a:rPr>
              <a:t>This method is like a judge in a courtroom. It looks at the means of multiple groups and decides if there's enough evidence to convict them of being essential features</a:t>
            </a:r>
            <a:r>
              <a:rPr lang="en-US" sz="2200">
                <a:latin typeface="Quattrocento Sans"/>
                <a:ea typeface="Quattrocento Sans"/>
                <a:cs typeface="Quattrocento Sans"/>
                <a:sym typeface="Quattrocento Sans"/>
              </a:rPr>
              <a:t>.</a:t>
            </a:r>
            <a:endParaRPr sz="2200">
              <a:latin typeface="Calibri"/>
              <a:ea typeface="Calibri"/>
              <a:cs typeface="Calibri"/>
              <a:sym typeface="Calibri"/>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1"/>
          <p:cNvSpPr txBox="1"/>
          <p:nvPr>
            <p:ph type="title"/>
          </p:nvPr>
        </p:nvSpPr>
        <p:spPr>
          <a:xfrm>
            <a:off x="838200" y="365125"/>
            <a:ext cx="10515600" cy="717717"/>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br>
              <a:rPr b="1" lang="en-US"/>
            </a:br>
            <a:r>
              <a:rPr b="1" lang="en-US"/>
              <a:t>Feature Selection: </a:t>
            </a:r>
            <a:r>
              <a:rPr b="1" lang="en-US" sz="4400">
                <a:latin typeface="Times New Roman"/>
                <a:ea typeface="Times New Roman"/>
                <a:cs typeface="Times New Roman"/>
                <a:sym typeface="Times New Roman"/>
              </a:rPr>
              <a:t>Wrapper methods</a:t>
            </a:r>
            <a:br>
              <a:rPr lang="en-US" sz="4400">
                <a:latin typeface="Calibri"/>
                <a:ea typeface="Calibri"/>
                <a:cs typeface="Calibri"/>
                <a:sym typeface="Calibri"/>
              </a:rPr>
            </a:br>
            <a:endParaRPr b="1"/>
          </a:p>
        </p:txBody>
      </p:sp>
      <p:sp>
        <p:nvSpPr>
          <p:cNvPr id="350" name="Google Shape;350;p41"/>
          <p:cNvSpPr txBox="1"/>
          <p:nvPr>
            <p:ph idx="1" type="body"/>
          </p:nvPr>
        </p:nvSpPr>
        <p:spPr>
          <a:xfrm>
            <a:off x="838200" y="1532021"/>
            <a:ext cx="10515600" cy="4644942"/>
          </a:xfrm>
          <a:prstGeom prst="rect">
            <a:avLst/>
          </a:prstGeom>
          <a:noFill/>
          <a:ln>
            <a:noFill/>
          </a:ln>
        </p:spPr>
        <p:txBody>
          <a:bodyPr anchorCtr="0" anchor="t" bIns="45700" lIns="91425" spcFirstLastPara="1" rIns="91425" wrap="square" tIns="45700">
            <a:normAutofit/>
          </a:bodyPr>
          <a:lstStyle/>
          <a:p>
            <a:pPr indent="0" lvl="0" marL="0" marR="0" rtl="0" algn="just">
              <a:lnSpc>
                <a:spcPct val="107000"/>
              </a:lnSpc>
              <a:spcBef>
                <a:spcPts val="0"/>
              </a:spcBef>
              <a:spcAft>
                <a:spcPts val="0"/>
              </a:spcAft>
              <a:buClr>
                <a:schemeClr val="dk1"/>
              </a:buClr>
              <a:buSzPts val="2200"/>
              <a:buChar char="•"/>
            </a:pPr>
            <a:r>
              <a:rPr lang="en-US" sz="2200">
                <a:latin typeface="Times New Roman"/>
                <a:ea typeface="Times New Roman"/>
                <a:cs typeface="Times New Roman"/>
                <a:sym typeface="Times New Roman"/>
              </a:rPr>
              <a:t>Filter methods are a simple way to select features, but they do not consider the </a:t>
            </a:r>
            <a:r>
              <a:rPr b="1" i="1" lang="en-US" sz="2200">
                <a:latin typeface="Times New Roman"/>
                <a:ea typeface="Times New Roman"/>
                <a:cs typeface="Times New Roman"/>
                <a:sym typeface="Times New Roman"/>
              </a:rPr>
              <a:t>relationship between features</a:t>
            </a:r>
            <a:r>
              <a:rPr lang="en-US" sz="2200">
                <a:latin typeface="Times New Roman"/>
                <a:ea typeface="Times New Roman"/>
                <a:cs typeface="Times New Roman"/>
                <a:sym typeface="Times New Roman"/>
              </a:rPr>
              <a:t>. This can lead to the selection of features that are not relevant to the target variable.</a:t>
            </a:r>
            <a:endParaRPr sz="2200">
              <a:latin typeface="Calibri"/>
              <a:ea typeface="Calibri"/>
              <a:cs typeface="Calibri"/>
              <a:sym typeface="Calibri"/>
            </a:endParaRPr>
          </a:p>
          <a:p>
            <a:pPr indent="0" lvl="0" marL="0" marR="0" rtl="0" algn="just">
              <a:lnSpc>
                <a:spcPct val="107000"/>
              </a:lnSpc>
              <a:spcBef>
                <a:spcPts val="800"/>
              </a:spcBef>
              <a:spcAft>
                <a:spcPts val="0"/>
              </a:spcAft>
              <a:buClr>
                <a:schemeClr val="dk1"/>
              </a:buClr>
              <a:buSzPts val="2200"/>
              <a:buChar char="•"/>
            </a:pPr>
            <a:r>
              <a:rPr b="1" i="1" lang="en-US" sz="2200">
                <a:latin typeface="Times New Roman"/>
                <a:ea typeface="Times New Roman"/>
                <a:cs typeface="Times New Roman"/>
                <a:sym typeface="Times New Roman"/>
              </a:rPr>
              <a:t>The wrapper method </a:t>
            </a:r>
            <a:r>
              <a:rPr lang="en-US" sz="2200">
                <a:latin typeface="Times New Roman"/>
                <a:ea typeface="Times New Roman"/>
                <a:cs typeface="Times New Roman"/>
                <a:sym typeface="Times New Roman"/>
              </a:rPr>
              <a:t>is like a dating app for features. It takes many features out on dates with a machine learning algorithm and then sees which ones the algorithm likes the best. The feature that gets the most dates is the one that gets selected.</a:t>
            </a:r>
            <a:endParaRPr sz="2200">
              <a:latin typeface="Calibri"/>
              <a:ea typeface="Calibri"/>
              <a:cs typeface="Calibri"/>
              <a:sym typeface="Calibri"/>
            </a:endParaRPr>
          </a:p>
          <a:p>
            <a:pPr indent="0" lvl="0" marL="0" marR="0" rtl="0" algn="just">
              <a:lnSpc>
                <a:spcPct val="107000"/>
              </a:lnSpc>
              <a:spcBef>
                <a:spcPts val="800"/>
              </a:spcBef>
              <a:spcAft>
                <a:spcPts val="0"/>
              </a:spcAft>
              <a:buClr>
                <a:schemeClr val="dk1"/>
              </a:buClr>
              <a:buSzPts val="2200"/>
              <a:buNone/>
            </a:pPr>
            <a:r>
              <a:rPr lang="en-US" sz="2200">
                <a:latin typeface="Times New Roman"/>
                <a:ea typeface="Times New Roman"/>
                <a:cs typeface="Times New Roman"/>
                <a:sym typeface="Times New Roman"/>
              </a:rPr>
              <a:t>Wrapper method considers the relationship between features by training a machine learning algorithm on a subset of features and then evaluating the algorithm's performance."</a:t>
            </a:r>
            <a:endParaRPr sz="2200">
              <a:latin typeface="Calibri"/>
              <a:ea typeface="Calibri"/>
              <a:cs typeface="Calibri"/>
              <a:sym typeface="Calibri"/>
            </a:endParaRPr>
          </a:p>
          <a:p>
            <a:pPr indent="0" lvl="0" marL="0" marR="0" rtl="0" algn="just">
              <a:lnSpc>
                <a:spcPct val="107000"/>
              </a:lnSpc>
              <a:spcBef>
                <a:spcPts val="800"/>
              </a:spcBef>
              <a:spcAft>
                <a:spcPts val="0"/>
              </a:spcAft>
              <a:buClr>
                <a:schemeClr val="dk1"/>
              </a:buClr>
              <a:buSzPts val="2200"/>
              <a:buChar char="•"/>
            </a:pPr>
            <a:r>
              <a:rPr lang="en-US" sz="2200">
                <a:latin typeface="Times New Roman"/>
                <a:ea typeface="Times New Roman"/>
                <a:cs typeface="Times New Roman"/>
                <a:sym typeface="Times New Roman"/>
              </a:rPr>
              <a:t>This process is repeated for different subs</a:t>
            </a:r>
            <a:endParaRPr sz="2200">
              <a:latin typeface="Calibri"/>
              <a:ea typeface="Calibri"/>
              <a:cs typeface="Calibri"/>
              <a:sym typeface="Calibri"/>
            </a:endParaRPr>
          </a:p>
          <a:p>
            <a:pPr indent="0" lvl="0" marL="0" marR="0" rtl="0" algn="just">
              <a:lnSpc>
                <a:spcPct val="107000"/>
              </a:lnSpc>
              <a:spcBef>
                <a:spcPts val="800"/>
              </a:spcBef>
              <a:spcAft>
                <a:spcPts val="0"/>
              </a:spcAft>
              <a:buClr>
                <a:schemeClr val="dk1"/>
              </a:buClr>
              <a:buSzPts val="2200"/>
              <a:buChar char="•"/>
            </a:pPr>
            <a:r>
              <a:rPr lang="en-US" sz="2200">
                <a:latin typeface="Times New Roman"/>
                <a:ea typeface="Times New Roman"/>
                <a:cs typeface="Times New Roman"/>
                <a:sym typeface="Times New Roman"/>
              </a:rPr>
              <a:t>This process is repeated for different subsets of features, and the subset that results in the best performance is selected.</a:t>
            </a:r>
            <a:endParaRPr sz="2200">
              <a:latin typeface="Calibri"/>
              <a:ea typeface="Calibri"/>
              <a:cs typeface="Calibri"/>
              <a:sym typeface="Calibri"/>
            </a:endParaRPr>
          </a:p>
          <a:p>
            <a:pPr indent="-50800" lvl="0" marL="228600" rtl="0" algn="l">
              <a:lnSpc>
                <a:spcPct val="90000"/>
              </a:lnSpc>
              <a:spcBef>
                <a:spcPts val="1800"/>
              </a:spcBef>
              <a:spcAft>
                <a:spcPts val="0"/>
              </a:spcAft>
              <a:buClr>
                <a:schemeClr val="dk1"/>
              </a:buClr>
              <a:buSzPts val="2800"/>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55" name="Google Shape;355;p42"/>
          <p:cNvSpPr txBox="1"/>
          <p:nvPr>
            <p:ph type="title"/>
          </p:nvPr>
        </p:nvSpPr>
        <p:spPr>
          <a:xfrm>
            <a:off x="838200" y="365125"/>
            <a:ext cx="10515600" cy="902201"/>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Feature Selection: Wrapper Method</a:t>
            </a:r>
            <a:endParaRPr/>
          </a:p>
        </p:txBody>
      </p:sp>
      <p:pic>
        <p:nvPicPr>
          <p:cNvPr id="356" name="Google Shape;356;p42"/>
          <p:cNvPicPr preferRelativeResize="0"/>
          <p:nvPr>
            <p:ph idx="1" type="body"/>
          </p:nvPr>
        </p:nvPicPr>
        <p:blipFill rotWithShape="1">
          <a:blip r:embed="rId3">
            <a:alphaModFix/>
          </a:blip>
          <a:srcRect b="0" l="0" r="0" t="0"/>
          <a:stretch/>
        </p:blipFill>
        <p:spPr>
          <a:xfrm>
            <a:off x="2121397" y="1460704"/>
            <a:ext cx="7949206" cy="3263492"/>
          </a:xfrm>
          <a:prstGeom prst="rect">
            <a:avLst/>
          </a:prstGeom>
          <a:noFill/>
          <a:ln>
            <a:noFill/>
          </a:ln>
        </p:spPr>
      </p:pic>
      <p:sp>
        <p:nvSpPr>
          <p:cNvPr id="357" name="Google Shape;357;p42"/>
          <p:cNvSpPr txBox="1"/>
          <p:nvPr/>
        </p:nvSpPr>
        <p:spPr>
          <a:xfrm>
            <a:off x="573505" y="4946195"/>
            <a:ext cx="10515600" cy="902201"/>
          </a:xfrm>
          <a:prstGeom prst="rect">
            <a:avLst/>
          </a:prstGeom>
          <a:noFill/>
          <a:ln>
            <a:noFill/>
          </a:ln>
        </p:spPr>
        <p:txBody>
          <a:bodyPr anchorCtr="0" anchor="ctr" bIns="45700" lIns="91425" spcFirstLastPara="1" rIns="91425" wrap="square" tIns="45700">
            <a:normAutofit/>
          </a:bodyPr>
          <a:lstStyle/>
          <a:p>
            <a:pPr indent="0" lvl="0" marL="0" marR="0" rtl="0" algn="ctr">
              <a:lnSpc>
                <a:spcPct val="90000"/>
              </a:lnSpc>
              <a:spcBef>
                <a:spcPts val="0"/>
              </a:spcBef>
              <a:spcAft>
                <a:spcPts val="0"/>
              </a:spcAft>
              <a:buClr>
                <a:schemeClr val="dk1"/>
              </a:buClr>
              <a:buSzPts val="4400"/>
              <a:buFont typeface="Calibri"/>
              <a:buNone/>
            </a:pPr>
            <a:r>
              <a:t/>
            </a:r>
            <a:endParaRPr b="1" sz="4400">
              <a:solidFill>
                <a:schemeClr val="dk1"/>
              </a:solidFill>
              <a:latin typeface="Calibri"/>
              <a:ea typeface="Calibri"/>
              <a:cs typeface="Calibri"/>
              <a:sym typeface="Calibri"/>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1" name="Shape 361"/>
        <p:cNvGrpSpPr/>
        <p:nvPr/>
      </p:nvGrpSpPr>
      <p:grpSpPr>
        <a:xfrm>
          <a:off x="0" y="0"/>
          <a:ext cx="0" cy="0"/>
          <a:chOff x="0" y="0"/>
          <a:chExt cx="0" cy="0"/>
        </a:xfrm>
      </p:grpSpPr>
      <p:sp>
        <p:nvSpPr>
          <p:cNvPr id="362" name="Google Shape;362;p43"/>
          <p:cNvSpPr txBox="1"/>
          <p:nvPr>
            <p:ph type="title"/>
          </p:nvPr>
        </p:nvSpPr>
        <p:spPr>
          <a:xfrm>
            <a:off x="838200" y="365125"/>
            <a:ext cx="10515600" cy="717717"/>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br>
              <a:rPr b="1" lang="en-US"/>
            </a:br>
            <a:r>
              <a:rPr b="1" lang="en-US"/>
              <a:t>Feature Selection: </a:t>
            </a:r>
            <a:r>
              <a:rPr b="1" lang="en-US" sz="4400">
                <a:latin typeface="Times New Roman"/>
                <a:ea typeface="Times New Roman"/>
                <a:cs typeface="Times New Roman"/>
                <a:sym typeface="Times New Roman"/>
              </a:rPr>
              <a:t>Wrapper methods </a:t>
            </a:r>
            <a:r>
              <a:rPr i="1" lang="en-US" sz="4400">
                <a:latin typeface="Times New Roman"/>
                <a:ea typeface="Times New Roman"/>
                <a:cs typeface="Times New Roman"/>
                <a:sym typeface="Times New Roman"/>
              </a:rPr>
              <a:t>cont.</a:t>
            </a:r>
            <a:br>
              <a:rPr lang="en-US" sz="4400">
                <a:latin typeface="Calibri"/>
                <a:ea typeface="Calibri"/>
                <a:cs typeface="Calibri"/>
                <a:sym typeface="Calibri"/>
              </a:rPr>
            </a:br>
            <a:endParaRPr b="1"/>
          </a:p>
        </p:txBody>
      </p:sp>
      <p:sp>
        <p:nvSpPr>
          <p:cNvPr id="363" name="Google Shape;363;p43"/>
          <p:cNvSpPr txBox="1"/>
          <p:nvPr>
            <p:ph idx="1" type="body"/>
          </p:nvPr>
        </p:nvSpPr>
        <p:spPr>
          <a:xfrm>
            <a:off x="838200" y="1532021"/>
            <a:ext cx="10515600" cy="4644942"/>
          </a:xfrm>
          <a:prstGeom prst="rect">
            <a:avLst/>
          </a:prstGeom>
          <a:noFill/>
          <a:ln>
            <a:noFill/>
          </a:ln>
        </p:spPr>
        <p:txBody>
          <a:bodyPr anchorCtr="0" anchor="t" bIns="45700" lIns="91425" spcFirstLastPara="1" rIns="91425" wrap="square" tIns="45700">
            <a:normAutofit/>
          </a:bodyPr>
          <a:lstStyle/>
          <a:p>
            <a:pPr indent="0" lvl="0" marL="0" marR="0" rtl="0" algn="just">
              <a:lnSpc>
                <a:spcPct val="107000"/>
              </a:lnSpc>
              <a:spcBef>
                <a:spcPts val="0"/>
              </a:spcBef>
              <a:spcAft>
                <a:spcPts val="0"/>
              </a:spcAft>
              <a:buClr>
                <a:schemeClr val="dk1"/>
              </a:buClr>
              <a:buSzPts val="2000"/>
              <a:buNone/>
            </a:pPr>
            <a:r>
              <a:rPr lang="en-US" sz="2000">
                <a:latin typeface="Times New Roman"/>
                <a:ea typeface="Times New Roman"/>
                <a:cs typeface="Times New Roman"/>
                <a:sym typeface="Times New Roman"/>
              </a:rPr>
              <a:t>There are several common techniques of wrapper methods, including:</a:t>
            </a:r>
            <a:endParaRPr sz="2000">
              <a:latin typeface="Calibri"/>
              <a:ea typeface="Calibri"/>
              <a:cs typeface="Calibri"/>
              <a:sym typeface="Calibri"/>
            </a:endParaRPr>
          </a:p>
          <a:p>
            <a:pPr indent="-342900" lvl="0" marL="342900" marR="0" rtl="0" algn="just">
              <a:lnSpc>
                <a:spcPct val="107000"/>
              </a:lnSpc>
              <a:spcBef>
                <a:spcPts val="800"/>
              </a:spcBef>
              <a:spcAft>
                <a:spcPts val="0"/>
              </a:spcAft>
              <a:buClr>
                <a:schemeClr val="dk1"/>
              </a:buClr>
              <a:buSzPts val="1000"/>
              <a:buFont typeface="Noto Sans Symbols"/>
              <a:buChar char="∙"/>
            </a:pPr>
            <a:r>
              <a:rPr lang="en-US" sz="2000">
                <a:latin typeface="Times New Roman"/>
                <a:ea typeface="Times New Roman"/>
                <a:cs typeface="Times New Roman"/>
                <a:sym typeface="Times New Roman"/>
              </a:rPr>
              <a:t>Exhaustive Feature Selection/ Best Feature Selection</a:t>
            </a:r>
            <a:endParaRPr sz="2000">
              <a:latin typeface="Calibri"/>
              <a:ea typeface="Calibri"/>
              <a:cs typeface="Calibri"/>
              <a:sym typeface="Calibri"/>
            </a:endParaRPr>
          </a:p>
          <a:p>
            <a:pPr indent="-342900" lvl="0" marL="342900" marR="0" rtl="0" algn="just">
              <a:lnSpc>
                <a:spcPct val="107000"/>
              </a:lnSpc>
              <a:spcBef>
                <a:spcPts val="800"/>
              </a:spcBef>
              <a:spcAft>
                <a:spcPts val="0"/>
              </a:spcAft>
              <a:buClr>
                <a:schemeClr val="dk1"/>
              </a:buClr>
              <a:buSzPts val="1000"/>
              <a:buFont typeface="Noto Sans Symbols"/>
              <a:buChar char="∙"/>
            </a:pPr>
            <a:r>
              <a:rPr lang="en-US" sz="2000">
                <a:latin typeface="Times New Roman"/>
                <a:ea typeface="Times New Roman"/>
                <a:cs typeface="Times New Roman"/>
                <a:sym typeface="Times New Roman"/>
              </a:rPr>
              <a:t>Sequential Forward Feature Selection </a:t>
            </a:r>
            <a:endParaRPr sz="2000">
              <a:latin typeface="Calibri"/>
              <a:ea typeface="Calibri"/>
              <a:cs typeface="Calibri"/>
              <a:sym typeface="Calibri"/>
            </a:endParaRPr>
          </a:p>
          <a:p>
            <a:pPr indent="-342900" lvl="0" marL="342900" marR="0" rtl="0" algn="just">
              <a:lnSpc>
                <a:spcPct val="107000"/>
              </a:lnSpc>
              <a:spcBef>
                <a:spcPts val="800"/>
              </a:spcBef>
              <a:spcAft>
                <a:spcPts val="0"/>
              </a:spcAft>
              <a:buClr>
                <a:schemeClr val="dk1"/>
              </a:buClr>
              <a:buSzPts val="1000"/>
              <a:buFont typeface="Noto Sans Symbols"/>
              <a:buChar char="∙"/>
            </a:pPr>
            <a:r>
              <a:rPr lang="en-US" sz="2000">
                <a:latin typeface="Times New Roman"/>
                <a:ea typeface="Times New Roman"/>
                <a:cs typeface="Times New Roman"/>
                <a:sym typeface="Times New Roman"/>
              </a:rPr>
              <a:t>Sequential Backward Feature Selection </a:t>
            </a:r>
            <a:endParaRPr sz="2000">
              <a:latin typeface="Calibri"/>
              <a:ea typeface="Calibri"/>
              <a:cs typeface="Calibri"/>
              <a:sym typeface="Calibri"/>
            </a:endParaRPr>
          </a:p>
          <a:p>
            <a:pPr indent="0" lvl="0" marL="0" marR="0" rtl="0" algn="just">
              <a:lnSpc>
                <a:spcPct val="107000"/>
              </a:lnSpc>
              <a:spcBef>
                <a:spcPts val="800"/>
              </a:spcBef>
              <a:spcAft>
                <a:spcPts val="0"/>
              </a:spcAft>
              <a:buClr>
                <a:schemeClr val="dk1"/>
              </a:buClr>
              <a:buSzPts val="2000"/>
              <a:buNone/>
            </a:pPr>
            <a:r>
              <a:rPr b="1" i="1" lang="en-US" sz="2000">
                <a:latin typeface="Times New Roman"/>
                <a:ea typeface="Times New Roman"/>
                <a:cs typeface="Times New Roman"/>
                <a:sym typeface="Times New Roman"/>
              </a:rPr>
              <a:t>Exhaustive Feature Selection/ Best Feature Selection</a:t>
            </a:r>
            <a:endParaRPr sz="2000">
              <a:latin typeface="Calibri"/>
              <a:ea typeface="Calibri"/>
              <a:cs typeface="Calibri"/>
              <a:sym typeface="Calibri"/>
            </a:endParaRPr>
          </a:p>
          <a:p>
            <a:pPr indent="0" lvl="0" marL="0" marR="0" rtl="0" algn="just">
              <a:lnSpc>
                <a:spcPct val="107000"/>
              </a:lnSpc>
              <a:spcBef>
                <a:spcPts val="800"/>
              </a:spcBef>
              <a:spcAft>
                <a:spcPts val="0"/>
              </a:spcAft>
              <a:buClr>
                <a:schemeClr val="dk1"/>
              </a:buClr>
              <a:buSzPts val="2000"/>
              <a:buChar char="•"/>
            </a:pPr>
            <a:r>
              <a:rPr lang="en-US" sz="2000">
                <a:latin typeface="Times New Roman"/>
                <a:ea typeface="Times New Roman"/>
                <a:cs typeface="Times New Roman"/>
                <a:sym typeface="Times New Roman"/>
              </a:rPr>
              <a:t>"Exhaustive feature selection evaluates the performance of a machine learning algorithm on every possible subset of features, and then selects the subset that results in the best performance."</a:t>
            </a:r>
            <a:endParaRPr sz="2000">
              <a:latin typeface="Calibri"/>
              <a:ea typeface="Calibri"/>
              <a:cs typeface="Calibri"/>
              <a:sym typeface="Calibri"/>
            </a:endParaRPr>
          </a:p>
          <a:p>
            <a:pPr indent="0" lvl="0" marL="0" marR="0" rtl="0" algn="just">
              <a:lnSpc>
                <a:spcPct val="107000"/>
              </a:lnSpc>
              <a:spcBef>
                <a:spcPts val="800"/>
              </a:spcBef>
              <a:spcAft>
                <a:spcPts val="0"/>
              </a:spcAft>
              <a:buClr>
                <a:schemeClr val="dk1"/>
              </a:buClr>
              <a:buSzPts val="2000"/>
              <a:buChar char="•"/>
            </a:pPr>
            <a:r>
              <a:rPr lang="en-US" sz="2000">
                <a:latin typeface="Times New Roman"/>
                <a:ea typeface="Times New Roman"/>
                <a:cs typeface="Times New Roman"/>
                <a:sym typeface="Times New Roman"/>
              </a:rPr>
              <a:t>When we have n features, there are 2^n possible subsets of features. </a:t>
            </a:r>
            <a:endParaRPr sz="2000">
              <a:latin typeface="Calibri"/>
              <a:ea typeface="Calibri"/>
              <a:cs typeface="Calibri"/>
              <a:sym typeface="Calibri"/>
            </a:endParaRPr>
          </a:p>
          <a:p>
            <a:pPr indent="0" lvl="0" marL="0" marR="0" rtl="0" algn="just">
              <a:lnSpc>
                <a:spcPct val="107000"/>
              </a:lnSpc>
              <a:spcBef>
                <a:spcPts val="800"/>
              </a:spcBef>
              <a:spcAft>
                <a:spcPts val="0"/>
              </a:spcAft>
              <a:buClr>
                <a:schemeClr val="dk1"/>
              </a:buClr>
              <a:buSzPts val="2000"/>
              <a:buChar char="•"/>
            </a:pPr>
            <a:r>
              <a:rPr lang="en-US" sz="2000">
                <a:latin typeface="Times New Roman"/>
                <a:ea typeface="Times New Roman"/>
                <a:cs typeface="Times New Roman"/>
                <a:sym typeface="Times New Roman"/>
              </a:rPr>
              <a:t>As a result of this computational expense, other feature selection methods have been developed</a:t>
            </a:r>
            <a:r>
              <a:rPr lang="en-US" sz="1800">
                <a:latin typeface="Times New Roman"/>
                <a:ea typeface="Times New Roman"/>
                <a:cs typeface="Times New Roman"/>
                <a:sym typeface="Times New Roman"/>
              </a:rPr>
              <a:t>. </a:t>
            </a:r>
            <a:endParaRPr sz="1800">
              <a:latin typeface="Calibri"/>
              <a:ea typeface="Calibri"/>
              <a:cs typeface="Calibri"/>
              <a:sym typeface="Calibri"/>
            </a:endParaRPr>
          </a:p>
          <a:p>
            <a:pPr indent="0" lvl="0" marL="0" rtl="0" algn="l">
              <a:lnSpc>
                <a:spcPct val="90000"/>
              </a:lnSpc>
              <a:spcBef>
                <a:spcPts val="1800"/>
              </a:spcBef>
              <a:spcAft>
                <a:spcPts val="0"/>
              </a:spcAft>
              <a:buClr>
                <a:schemeClr val="dk1"/>
              </a:buClr>
              <a:buSzPts val="2800"/>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7" name="Shape 367"/>
        <p:cNvGrpSpPr/>
        <p:nvPr/>
      </p:nvGrpSpPr>
      <p:grpSpPr>
        <a:xfrm>
          <a:off x="0" y="0"/>
          <a:ext cx="0" cy="0"/>
          <a:chOff x="0" y="0"/>
          <a:chExt cx="0" cy="0"/>
        </a:xfrm>
      </p:grpSpPr>
      <p:sp>
        <p:nvSpPr>
          <p:cNvPr id="368" name="Google Shape;368;p44"/>
          <p:cNvSpPr txBox="1"/>
          <p:nvPr>
            <p:ph type="title"/>
          </p:nvPr>
        </p:nvSpPr>
        <p:spPr>
          <a:xfrm>
            <a:off x="838200" y="365125"/>
            <a:ext cx="10515600" cy="717717"/>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br>
              <a:rPr b="1" lang="en-US"/>
            </a:br>
            <a:r>
              <a:rPr b="1" lang="en-US" sz="4400">
                <a:latin typeface="Times New Roman"/>
                <a:ea typeface="Times New Roman"/>
                <a:cs typeface="Times New Roman"/>
                <a:sym typeface="Times New Roman"/>
              </a:rPr>
              <a:t>Wrapper methods</a:t>
            </a:r>
            <a:br>
              <a:rPr lang="en-US" sz="4400">
                <a:latin typeface="Calibri"/>
                <a:ea typeface="Calibri"/>
                <a:cs typeface="Calibri"/>
                <a:sym typeface="Calibri"/>
              </a:rPr>
            </a:br>
            <a:br>
              <a:rPr lang="en-US" sz="4400">
                <a:latin typeface="Calibri"/>
                <a:ea typeface="Calibri"/>
                <a:cs typeface="Calibri"/>
                <a:sym typeface="Calibri"/>
              </a:rPr>
            </a:br>
            <a:endParaRPr b="1"/>
          </a:p>
        </p:txBody>
      </p:sp>
      <p:sp>
        <p:nvSpPr>
          <p:cNvPr id="369" name="Google Shape;369;p44"/>
          <p:cNvSpPr txBox="1"/>
          <p:nvPr>
            <p:ph idx="1" type="body"/>
          </p:nvPr>
        </p:nvSpPr>
        <p:spPr>
          <a:xfrm>
            <a:off x="838200" y="1532021"/>
            <a:ext cx="10515600" cy="4644942"/>
          </a:xfrm>
          <a:prstGeom prst="rect">
            <a:avLst/>
          </a:prstGeom>
          <a:noFill/>
          <a:ln>
            <a:noFill/>
          </a:ln>
        </p:spPr>
        <p:txBody>
          <a:bodyPr anchorCtr="0" anchor="t" bIns="45700" lIns="91425" spcFirstLastPara="1" rIns="91425" wrap="square" tIns="45700">
            <a:normAutofit/>
          </a:bodyPr>
          <a:lstStyle/>
          <a:p>
            <a:pPr indent="0" lvl="0" marL="0" marR="0" rtl="0" algn="just">
              <a:lnSpc>
                <a:spcPct val="107000"/>
              </a:lnSpc>
              <a:spcBef>
                <a:spcPts val="0"/>
              </a:spcBef>
              <a:spcAft>
                <a:spcPts val="0"/>
              </a:spcAft>
              <a:buClr>
                <a:schemeClr val="dk1"/>
              </a:buClr>
              <a:buSzPts val="1800"/>
              <a:buNone/>
            </a:pPr>
            <a:r>
              <a:rPr b="1" i="1" lang="en-US" sz="1800">
                <a:latin typeface="Times New Roman"/>
                <a:ea typeface="Times New Roman"/>
                <a:cs typeface="Times New Roman"/>
                <a:sym typeface="Times New Roman"/>
              </a:rPr>
              <a:t>Forward Feature Selection</a:t>
            </a:r>
            <a:endParaRPr b="1" sz="1800">
              <a:latin typeface="Times New Roman"/>
              <a:ea typeface="Times New Roman"/>
              <a:cs typeface="Times New Roman"/>
              <a:sym typeface="Times New Roman"/>
            </a:endParaRPr>
          </a:p>
          <a:p>
            <a:pPr indent="0" lvl="0" marL="0" marR="0" rtl="0" algn="just">
              <a:lnSpc>
                <a:spcPct val="107000"/>
              </a:lnSpc>
              <a:spcBef>
                <a:spcPts val="800"/>
              </a:spcBef>
              <a:spcAft>
                <a:spcPts val="0"/>
              </a:spcAft>
              <a:buClr>
                <a:schemeClr val="dk1"/>
              </a:buClr>
              <a:buSzPts val="1800"/>
              <a:buNone/>
            </a:pPr>
            <a:r>
              <a:rPr b="1" lang="en-US" sz="1800">
                <a:latin typeface="Times New Roman"/>
                <a:ea typeface="Times New Roman"/>
                <a:cs typeface="Times New Roman"/>
                <a:sym typeface="Times New Roman"/>
              </a:rPr>
              <a:t>Forward Feature</a:t>
            </a:r>
            <a:r>
              <a:rPr lang="en-US" sz="1800">
                <a:latin typeface="Times New Roman"/>
                <a:ea typeface="Times New Roman"/>
                <a:cs typeface="Times New Roman"/>
                <a:sym typeface="Times New Roman"/>
              </a:rPr>
              <a:t> Selection starts with </a:t>
            </a:r>
            <a:r>
              <a:rPr b="1" lang="en-US" sz="1800">
                <a:latin typeface="Times New Roman"/>
                <a:ea typeface="Times New Roman"/>
                <a:cs typeface="Times New Roman"/>
                <a:sym typeface="Times New Roman"/>
              </a:rPr>
              <a:t>an empty set</a:t>
            </a:r>
            <a:r>
              <a:rPr lang="en-US" sz="1800">
                <a:latin typeface="Times New Roman"/>
                <a:ea typeface="Times New Roman"/>
                <a:cs typeface="Times New Roman"/>
                <a:sym typeface="Times New Roman"/>
              </a:rPr>
              <a:t> of features. It then </a:t>
            </a:r>
            <a:r>
              <a:rPr b="1" lang="en-US" sz="1800">
                <a:latin typeface="Times New Roman"/>
                <a:ea typeface="Times New Roman"/>
                <a:cs typeface="Times New Roman"/>
                <a:sym typeface="Times New Roman"/>
              </a:rPr>
              <a:t>adds </a:t>
            </a:r>
            <a:r>
              <a:rPr lang="en-US" sz="1800">
                <a:latin typeface="Times New Roman"/>
                <a:ea typeface="Times New Roman"/>
                <a:cs typeface="Times New Roman"/>
                <a:sym typeface="Times New Roman"/>
              </a:rPr>
              <a:t>the feature that most </a:t>
            </a:r>
            <a:r>
              <a:rPr b="1" lang="en-US" sz="1800">
                <a:latin typeface="Times New Roman"/>
                <a:ea typeface="Times New Roman"/>
                <a:cs typeface="Times New Roman"/>
                <a:sym typeface="Times New Roman"/>
              </a:rPr>
              <a:t>improves</a:t>
            </a:r>
            <a:r>
              <a:rPr lang="en-US" sz="1800">
                <a:latin typeface="Times New Roman"/>
                <a:ea typeface="Times New Roman"/>
                <a:cs typeface="Times New Roman"/>
                <a:sym typeface="Times New Roman"/>
              </a:rPr>
              <a:t> the accuracy of a machine learning algorithm."</a:t>
            </a:r>
            <a:endParaRPr sz="1800">
              <a:latin typeface="Calibri"/>
              <a:ea typeface="Calibri"/>
              <a:cs typeface="Calibri"/>
              <a:sym typeface="Calibri"/>
            </a:endParaRPr>
          </a:p>
          <a:p>
            <a:pPr indent="0" lvl="0" marL="0" marR="0" rtl="0" algn="just">
              <a:lnSpc>
                <a:spcPct val="107000"/>
              </a:lnSpc>
              <a:spcBef>
                <a:spcPts val="800"/>
              </a:spcBef>
              <a:spcAft>
                <a:spcPts val="0"/>
              </a:spcAft>
              <a:buClr>
                <a:schemeClr val="dk1"/>
              </a:buClr>
              <a:buSzPts val="1800"/>
              <a:buChar char="•"/>
            </a:pPr>
            <a:r>
              <a:rPr lang="en-US" sz="1800">
                <a:latin typeface="Times New Roman"/>
                <a:ea typeface="Times New Roman"/>
                <a:cs typeface="Times New Roman"/>
                <a:sym typeface="Times New Roman"/>
              </a:rPr>
              <a:t>The algorithm continues adding features until the accuracy of the algorithm no longer improves or until a maximum number of features is reached</a:t>
            </a:r>
            <a:r>
              <a:rPr lang="en-US" sz="1800">
                <a:latin typeface="Quattrocento Sans"/>
                <a:ea typeface="Quattrocento Sans"/>
                <a:cs typeface="Quattrocento Sans"/>
                <a:sym typeface="Quattrocento Sans"/>
              </a:rPr>
              <a:t>.</a:t>
            </a:r>
            <a:endParaRPr sz="1800">
              <a:latin typeface="Calibri"/>
              <a:ea typeface="Calibri"/>
              <a:cs typeface="Calibri"/>
              <a:sym typeface="Calibri"/>
            </a:endParaRPr>
          </a:p>
          <a:p>
            <a:pPr indent="0" lvl="0" marL="0" marR="0" rtl="0" algn="just">
              <a:lnSpc>
                <a:spcPct val="107000"/>
              </a:lnSpc>
              <a:spcBef>
                <a:spcPts val="800"/>
              </a:spcBef>
              <a:spcAft>
                <a:spcPts val="0"/>
              </a:spcAft>
              <a:buClr>
                <a:schemeClr val="dk1"/>
              </a:buClr>
              <a:buSzPts val="1800"/>
              <a:buNone/>
            </a:pPr>
            <a:r>
              <a:rPr b="1" i="1" lang="en-US" sz="1800">
                <a:latin typeface="Times New Roman"/>
                <a:ea typeface="Times New Roman"/>
                <a:cs typeface="Times New Roman"/>
                <a:sym typeface="Times New Roman"/>
              </a:rPr>
              <a:t>Backward Feature Selection</a:t>
            </a:r>
            <a:endParaRPr sz="1800">
              <a:latin typeface="Calibri"/>
              <a:ea typeface="Calibri"/>
              <a:cs typeface="Calibri"/>
              <a:sym typeface="Calibri"/>
            </a:endParaRPr>
          </a:p>
          <a:p>
            <a:pPr indent="0" lvl="0" marL="0" marR="0" rtl="0" algn="just">
              <a:lnSpc>
                <a:spcPct val="107000"/>
              </a:lnSpc>
              <a:spcBef>
                <a:spcPts val="800"/>
              </a:spcBef>
              <a:spcAft>
                <a:spcPts val="0"/>
              </a:spcAft>
              <a:buClr>
                <a:schemeClr val="dk1"/>
              </a:buClr>
              <a:buSzPts val="1800"/>
              <a:buChar char="•"/>
            </a:pPr>
            <a:r>
              <a:rPr lang="en-US" sz="1800">
                <a:latin typeface="Times New Roman"/>
                <a:ea typeface="Times New Roman"/>
                <a:cs typeface="Times New Roman"/>
                <a:sym typeface="Times New Roman"/>
              </a:rPr>
              <a:t>Backward feature selection is like the same chef</a:t>
            </a:r>
            <a:r>
              <a:rPr lang="en-US" sz="1800">
                <a:latin typeface="Quattrocento Sans"/>
                <a:ea typeface="Quattrocento Sans"/>
                <a:cs typeface="Quattrocento Sans"/>
                <a:sym typeface="Quattrocento Sans"/>
              </a:rPr>
              <a:t> </a:t>
            </a:r>
            <a:r>
              <a:rPr lang="en-US" sz="1800">
                <a:latin typeface="Times New Roman"/>
                <a:ea typeface="Times New Roman"/>
                <a:cs typeface="Times New Roman"/>
                <a:sym typeface="Times New Roman"/>
              </a:rPr>
              <a:t>who starts with a full pantry and then throws out the ingredients that make the dish taste the worst</a:t>
            </a:r>
            <a:r>
              <a:rPr lang="en-US" sz="1800">
                <a:latin typeface="Quattrocento Sans"/>
                <a:ea typeface="Quattrocento Sans"/>
                <a:cs typeface="Quattrocento Sans"/>
                <a:sym typeface="Quattrocento Sans"/>
              </a:rPr>
              <a:t>.</a:t>
            </a:r>
            <a:endParaRPr sz="1800">
              <a:latin typeface="Calibri"/>
              <a:ea typeface="Calibri"/>
              <a:cs typeface="Calibri"/>
              <a:sym typeface="Calibri"/>
            </a:endParaRPr>
          </a:p>
          <a:p>
            <a:pPr indent="0" lvl="0" marL="0" marR="0" rtl="0" algn="just">
              <a:lnSpc>
                <a:spcPct val="107000"/>
              </a:lnSpc>
              <a:spcBef>
                <a:spcPts val="800"/>
              </a:spcBef>
              <a:spcAft>
                <a:spcPts val="0"/>
              </a:spcAft>
              <a:buClr>
                <a:schemeClr val="dk1"/>
              </a:buClr>
              <a:buSzPts val="1800"/>
              <a:buChar char="•"/>
            </a:pPr>
            <a:r>
              <a:rPr lang="en-US" sz="1800">
                <a:latin typeface="Times New Roman"/>
                <a:ea typeface="Times New Roman"/>
                <a:cs typeface="Times New Roman"/>
                <a:sym typeface="Times New Roman"/>
              </a:rPr>
              <a:t>"</a:t>
            </a:r>
            <a:r>
              <a:rPr b="1" lang="en-US" sz="1800">
                <a:latin typeface="Times New Roman"/>
                <a:ea typeface="Times New Roman"/>
                <a:cs typeface="Times New Roman"/>
                <a:sym typeface="Times New Roman"/>
              </a:rPr>
              <a:t>Backward Feature</a:t>
            </a:r>
            <a:r>
              <a:rPr lang="en-US" sz="1800">
                <a:latin typeface="Times New Roman"/>
                <a:ea typeface="Times New Roman"/>
                <a:cs typeface="Times New Roman"/>
                <a:sym typeface="Times New Roman"/>
              </a:rPr>
              <a:t> Selection starts with </a:t>
            </a:r>
            <a:r>
              <a:rPr b="1" lang="en-US" sz="1800">
                <a:latin typeface="Times New Roman"/>
                <a:ea typeface="Times New Roman"/>
                <a:cs typeface="Times New Roman"/>
                <a:sym typeface="Times New Roman"/>
              </a:rPr>
              <a:t>all features</a:t>
            </a:r>
            <a:r>
              <a:rPr lang="en-US" sz="1800">
                <a:latin typeface="Times New Roman"/>
                <a:ea typeface="Times New Roman"/>
                <a:cs typeface="Times New Roman"/>
                <a:sym typeface="Times New Roman"/>
              </a:rPr>
              <a:t> included in the model. It then </a:t>
            </a:r>
            <a:r>
              <a:rPr b="1" lang="en-US" sz="1800">
                <a:latin typeface="Times New Roman"/>
                <a:ea typeface="Times New Roman"/>
                <a:cs typeface="Times New Roman"/>
                <a:sym typeface="Times New Roman"/>
              </a:rPr>
              <a:t>removes</a:t>
            </a:r>
            <a:r>
              <a:rPr lang="en-US" sz="1800">
                <a:latin typeface="Times New Roman"/>
                <a:ea typeface="Times New Roman"/>
                <a:cs typeface="Times New Roman"/>
                <a:sym typeface="Times New Roman"/>
              </a:rPr>
              <a:t> the feature that most </a:t>
            </a:r>
            <a:r>
              <a:rPr b="1" lang="en-US" sz="1800">
                <a:latin typeface="Times New Roman"/>
                <a:ea typeface="Times New Roman"/>
                <a:cs typeface="Times New Roman"/>
                <a:sym typeface="Times New Roman"/>
              </a:rPr>
              <a:t>decreases</a:t>
            </a:r>
            <a:r>
              <a:rPr lang="en-US" sz="1800">
                <a:latin typeface="Times New Roman"/>
                <a:ea typeface="Times New Roman"/>
                <a:cs typeface="Times New Roman"/>
                <a:sym typeface="Times New Roman"/>
              </a:rPr>
              <a:t> the accuracy of a machine learning algorithm."</a:t>
            </a:r>
            <a:endParaRPr sz="1800">
              <a:latin typeface="Calibri"/>
              <a:ea typeface="Calibri"/>
              <a:cs typeface="Calibri"/>
              <a:sym typeface="Calibri"/>
            </a:endParaRPr>
          </a:p>
          <a:p>
            <a:pPr indent="0" lvl="0" marL="0" marR="0" rtl="0" algn="just">
              <a:lnSpc>
                <a:spcPct val="107000"/>
              </a:lnSpc>
              <a:spcBef>
                <a:spcPts val="800"/>
              </a:spcBef>
              <a:spcAft>
                <a:spcPts val="0"/>
              </a:spcAft>
              <a:buClr>
                <a:schemeClr val="dk1"/>
              </a:buClr>
              <a:buSzPts val="1800"/>
              <a:buChar char="•"/>
            </a:pPr>
            <a:r>
              <a:rPr lang="en-US" sz="1800">
                <a:latin typeface="Times New Roman"/>
                <a:ea typeface="Times New Roman"/>
                <a:cs typeface="Times New Roman"/>
                <a:sym typeface="Times New Roman"/>
              </a:rPr>
              <a:t>The algorithm continues removing features until the accuracy of the algorithm no longer decreases or until a minimum number of features is reached.</a:t>
            </a:r>
            <a:endParaRPr sz="1800">
              <a:latin typeface="Calibri"/>
              <a:ea typeface="Calibri"/>
              <a:cs typeface="Calibri"/>
              <a:sym typeface="Calibri"/>
            </a:endParaRPr>
          </a:p>
          <a:p>
            <a:pPr indent="0" lvl="0" marL="0" rtl="0" algn="l">
              <a:lnSpc>
                <a:spcPct val="90000"/>
              </a:lnSpc>
              <a:spcBef>
                <a:spcPts val="1800"/>
              </a:spcBef>
              <a:spcAft>
                <a:spcPts val="0"/>
              </a:spcAft>
              <a:buClr>
                <a:schemeClr val="dk1"/>
              </a:buClr>
              <a:buSzPts val="2800"/>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sp>
        <p:nvSpPr>
          <p:cNvPr id="374" name="Google Shape;374;p45"/>
          <p:cNvSpPr txBox="1"/>
          <p:nvPr>
            <p:ph type="title"/>
          </p:nvPr>
        </p:nvSpPr>
        <p:spPr>
          <a:xfrm>
            <a:off x="838200" y="365125"/>
            <a:ext cx="10515600" cy="717717"/>
          </a:xfrm>
          <a:prstGeom prst="rect">
            <a:avLst/>
          </a:prstGeom>
          <a:noFill/>
          <a:ln>
            <a:noFill/>
          </a:ln>
        </p:spPr>
        <p:txBody>
          <a:bodyPr anchorCtr="0" anchor="ctr" bIns="45700" lIns="91425" spcFirstLastPara="1" rIns="91425" wrap="square" tIns="45700">
            <a:normAutofit fontScale="90000"/>
          </a:bodyPr>
          <a:lstStyle/>
          <a:p>
            <a:pPr indent="0" lvl="0" marL="0" rtl="0" algn="ctr">
              <a:lnSpc>
                <a:spcPct val="90000"/>
              </a:lnSpc>
              <a:spcBef>
                <a:spcPts val="0"/>
              </a:spcBef>
              <a:spcAft>
                <a:spcPts val="0"/>
              </a:spcAft>
              <a:buClr>
                <a:schemeClr val="dk1"/>
              </a:buClr>
              <a:buSzPct val="100000"/>
              <a:buFont typeface="Calibri"/>
              <a:buNone/>
            </a:pPr>
            <a:br>
              <a:rPr b="1" lang="en-US"/>
            </a:br>
            <a:r>
              <a:rPr b="1" lang="en-US" sz="4400">
                <a:latin typeface="Times New Roman"/>
                <a:ea typeface="Times New Roman"/>
                <a:cs typeface="Times New Roman"/>
                <a:sym typeface="Times New Roman"/>
              </a:rPr>
              <a:t>Wrapper methods: Embedded methods</a:t>
            </a:r>
            <a:br>
              <a:rPr lang="en-US" sz="4400">
                <a:latin typeface="Calibri"/>
                <a:ea typeface="Calibri"/>
                <a:cs typeface="Calibri"/>
                <a:sym typeface="Calibri"/>
              </a:rPr>
            </a:br>
            <a:br>
              <a:rPr lang="en-US" sz="4400">
                <a:latin typeface="Calibri"/>
                <a:ea typeface="Calibri"/>
                <a:cs typeface="Calibri"/>
                <a:sym typeface="Calibri"/>
              </a:rPr>
            </a:br>
            <a:endParaRPr b="1"/>
          </a:p>
        </p:txBody>
      </p:sp>
      <p:sp>
        <p:nvSpPr>
          <p:cNvPr id="375" name="Google Shape;375;p45"/>
          <p:cNvSpPr txBox="1"/>
          <p:nvPr>
            <p:ph idx="1" type="body"/>
          </p:nvPr>
        </p:nvSpPr>
        <p:spPr>
          <a:xfrm>
            <a:off x="838200" y="770021"/>
            <a:ext cx="10515600" cy="4933700"/>
          </a:xfrm>
          <a:prstGeom prst="rect">
            <a:avLst/>
          </a:prstGeom>
          <a:noFill/>
          <a:ln>
            <a:noFill/>
          </a:ln>
        </p:spPr>
        <p:txBody>
          <a:bodyPr anchorCtr="0" anchor="t" bIns="45700" lIns="91425" spcFirstLastPara="1" rIns="91425" wrap="square" tIns="45700">
            <a:normAutofit/>
          </a:bodyPr>
          <a:lstStyle/>
          <a:p>
            <a:pPr indent="0" lvl="0" marL="0" marR="0" rtl="0" algn="just">
              <a:lnSpc>
                <a:spcPct val="107000"/>
              </a:lnSpc>
              <a:spcBef>
                <a:spcPts val="0"/>
              </a:spcBef>
              <a:spcAft>
                <a:spcPts val="0"/>
              </a:spcAft>
              <a:buClr>
                <a:schemeClr val="dk1"/>
              </a:buClr>
              <a:buSzPts val="1800"/>
              <a:buChar char="•"/>
            </a:pPr>
            <a:r>
              <a:rPr lang="en-US" sz="1800">
                <a:latin typeface="Times New Roman"/>
                <a:ea typeface="Times New Roman"/>
                <a:cs typeface="Times New Roman"/>
                <a:sym typeface="Times New Roman"/>
              </a:rPr>
              <a:t>"Embedded methods integrate the feature selection process into the machine learning algorithm itself.“</a:t>
            </a:r>
            <a:endParaRPr/>
          </a:p>
          <a:p>
            <a:pPr indent="114300" lvl="0" marL="0" marR="0" rtl="0" algn="just">
              <a:lnSpc>
                <a:spcPct val="107000"/>
              </a:lnSpc>
              <a:spcBef>
                <a:spcPts val="800"/>
              </a:spcBef>
              <a:spcAft>
                <a:spcPts val="0"/>
              </a:spcAft>
              <a:buClr>
                <a:schemeClr val="dk1"/>
              </a:buClr>
              <a:buSzPts val="1800"/>
              <a:buNone/>
            </a:pPr>
            <a:r>
              <a:t/>
            </a:r>
            <a:endParaRPr sz="1800">
              <a:latin typeface="Calibri"/>
              <a:ea typeface="Calibri"/>
              <a:cs typeface="Calibri"/>
              <a:sym typeface="Calibri"/>
            </a:endParaRPr>
          </a:p>
          <a:p>
            <a:pPr indent="0" lvl="0" marL="0" rtl="0" algn="l">
              <a:lnSpc>
                <a:spcPct val="90000"/>
              </a:lnSpc>
              <a:spcBef>
                <a:spcPts val="1800"/>
              </a:spcBef>
              <a:spcAft>
                <a:spcPts val="0"/>
              </a:spcAft>
              <a:buClr>
                <a:schemeClr val="dk1"/>
              </a:buClr>
              <a:buSzPts val="2800"/>
              <a:buNone/>
            </a:pPr>
            <a:r>
              <a:t/>
            </a:r>
            <a:endParaRPr/>
          </a:p>
        </p:txBody>
      </p:sp>
      <p:pic>
        <p:nvPicPr>
          <p:cNvPr id="376" name="Google Shape;376;p45"/>
          <p:cNvPicPr preferRelativeResize="0"/>
          <p:nvPr/>
        </p:nvPicPr>
        <p:blipFill rotWithShape="1">
          <a:blip r:embed="rId3">
            <a:alphaModFix/>
          </a:blip>
          <a:srcRect b="0" l="0" r="0" t="0"/>
          <a:stretch/>
        </p:blipFill>
        <p:spPr>
          <a:xfrm>
            <a:off x="2543459" y="1182353"/>
            <a:ext cx="6671945" cy="2085975"/>
          </a:xfrm>
          <a:prstGeom prst="rect">
            <a:avLst/>
          </a:prstGeom>
          <a:noFill/>
          <a:ln>
            <a:noFill/>
          </a:ln>
        </p:spPr>
      </p:pic>
      <p:sp>
        <p:nvSpPr>
          <p:cNvPr id="377" name="Google Shape;377;p45"/>
          <p:cNvSpPr txBox="1"/>
          <p:nvPr/>
        </p:nvSpPr>
        <p:spPr>
          <a:xfrm>
            <a:off x="1134980" y="3288632"/>
            <a:ext cx="10515600" cy="3569367"/>
          </a:xfrm>
          <a:prstGeom prst="rect">
            <a:avLst/>
          </a:prstGeom>
          <a:noFill/>
          <a:ln>
            <a:noFill/>
          </a:ln>
        </p:spPr>
        <p:txBody>
          <a:bodyPr anchorCtr="0" anchor="ctr" bIns="45700" lIns="91425" spcFirstLastPara="1" rIns="91425" wrap="square" tIns="45700">
            <a:normAutofit fontScale="25000" lnSpcReduction="20000"/>
          </a:bodyPr>
          <a:lstStyle/>
          <a:p>
            <a:pPr indent="0" lvl="0" marL="0" marR="0" rtl="0" algn="just">
              <a:lnSpc>
                <a:spcPct val="107000"/>
              </a:lnSpc>
              <a:spcBef>
                <a:spcPts val="0"/>
              </a:spcBef>
              <a:spcAft>
                <a:spcPts val="0"/>
              </a:spcAft>
              <a:buClr>
                <a:schemeClr val="dk1"/>
              </a:buClr>
              <a:buSzPct val="100000"/>
              <a:buFont typeface="Calibri"/>
              <a:buNone/>
            </a:pPr>
            <a:br>
              <a:rPr b="1" lang="en-US" sz="6200">
                <a:solidFill>
                  <a:schemeClr val="dk1"/>
                </a:solidFill>
                <a:latin typeface="Calibri"/>
                <a:ea typeface="Calibri"/>
                <a:cs typeface="Calibri"/>
                <a:sym typeface="Calibri"/>
              </a:rPr>
            </a:br>
            <a:r>
              <a:rPr lang="en-US" sz="6200">
                <a:solidFill>
                  <a:schemeClr val="dk1"/>
                </a:solidFill>
                <a:latin typeface="Times New Roman"/>
                <a:ea typeface="Times New Roman"/>
                <a:cs typeface="Times New Roman"/>
                <a:sym typeface="Times New Roman"/>
              </a:rPr>
              <a:t>The most common types of embedded methods are,</a:t>
            </a:r>
            <a:endParaRPr sz="6200">
              <a:solidFill>
                <a:schemeClr val="dk1"/>
              </a:solidFill>
              <a:latin typeface="Calibri"/>
              <a:ea typeface="Calibri"/>
              <a:cs typeface="Calibri"/>
              <a:sym typeface="Calibri"/>
            </a:endParaRPr>
          </a:p>
          <a:p>
            <a:pPr indent="-342900" lvl="0" marL="342900" marR="0" rtl="0" algn="just">
              <a:lnSpc>
                <a:spcPct val="107000"/>
              </a:lnSpc>
              <a:spcBef>
                <a:spcPts val="800"/>
              </a:spcBef>
              <a:spcAft>
                <a:spcPts val="0"/>
              </a:spcAft>
              <a:buClr>
                <a:schemeClr val="dk1"/>
              </a:buClr>
              <a:buSzPct val="64516"/>
              <a:buFont typeface="Noto Sans Symbols"/>
              <a:buChar char="∙"/>
            </a:pPr>
            <a:r>
              <a:rPr lang="en-US" sz="6200">
                <a:solidFill>
                  <a:schemeClr val="dk1"/>
                </a:solidFill>
                <a:latin typeface="Times New Roman"/>
                <a:ea typeface="Times New Roman"/>
                <a:cs typeface="Times New Roman"/>
                <a:sym typeface="Times New Roman"/>
              </a:rPr>
              <a:t>Regularization</a:t>
            </a:r>
            <a:endParaRPr sz="6200">
              <a:solidFill>
                <a:schemeClr val="dk1"/>
              </a:solidFill>
              <a:latin typeface="Calibri"/>
              <a:ea typeface="Calibri"/>
              <a:cs typeface="Calibri"/>
              <a:sym typeface="Calibri"/>
            </a:endParaRPr>
          </a:p>
          <a:p>
            <a:pPr indent="-342900" lvl="0" marL="342900" marR="0" rtl="0" algn="just">
              <a:lnSpc>
                <a:spcPct val="107000"/>
              </a:lnSpc>
              <a:spcBef>
                <a:spcPts val="800"/>
              </a:spcBef>
              <a:spcAft>
                <a:spcPts val="0"/>
              </a:spcAft>
              <a:buClr>
                <a:schemeClr val="dk1"/>
              </a:buClr>
              <a:buSzPct val="64516"/>
              <a:buFont typeface="Noto Sans Symbols"/>
              <a:buChar char="∙"/>
            </a:pPr>
            <a:r>
              <a:rPr lang="en-US" sz="6200">
                <a:solidFill>
                  <a:schemeClr val="dk1"/>
                </a:solidFill>
                <a:latin typeface="Times New Roman"/>
                <a:ea typeface="Times New Roman"/>
                <a:cs typeface="Times New Roman"/>
                <a:sym typeface="Times New Roman"/>
              </a:rPr>
              <a:t>Tree Based algorithms</a:t>
            </a:r>
            <a:endParaRPr sz="6200">
              <a:solidFill>
                <a:schemeClr val="dk1"/>
              </a:solidFill>
              <a:latin typeface="Calibri"/>
              <a:ea typeface="Calibri"/>
              <a:cs typeface="Calibri"/>
              <a:sym typeface="Calibri"/>
            </a:endParaRPr>
          </a:p>
          <a:p>
            <a:pPr indent="0" lvl="0" marL="0" marR="0" rtl="0" algn="just">
              <a:lnSpc>
                <a:spcPct val="107000"/>
              </a:lnSpc>
              <a:spcBef>
                <a:spcPts val="800"/>
              </a:spcBef>
              <a:spcAft>
                <a:spcPts val="0"/>
              </a:spcAft>
              <a:buClr>
                <a:schemeClr val="dk1"/>
              </a:buClr>
              <a:buSzPct val="100000"/>
              <a:buFont typeface="Times New Roman"/>
              <a:buNone/>
            </a:pPr>
            <a:r>
              <a:rPr b="1" i="1" lang="en-US" sz="6200">
                <a:solidFill>
                  <a:schemeClr val="dk1"/>
                </a:solidFill>
                <a:latin typeface="Times New Roman"/>
                <a:ea typeface="Times New Roman"/>
                <a:cs typeface="Times New Roman"/>
                <a:sym typeface="Times New Roman"/>
              </a:rPr>
              <a:t>Regularization</a:t>
            </a:r>
            <a:endParaRPr sz="6200">
              <a:solidFill>
                <a:schemeClr val="dk1"/>
              </a:solidFill>
              <a:latin typeface="Calibri"/>
              <a:ea typeface="Calibri"/>
              <a:cs typeface="Calibri"/>
              <a:sym typeface="Calibri"/>
            </a:endParaRPr>
          </a:p>
          <a:p>
            <a:pPr indent="0" lvl="0" marL="0" marR="0" rtl="0" algn="just">
              <a:lnSpc>
                <a:spcPct val="107000"/>
              </a:lnSpc>
              <a:spcBef>
                <a:spcPts val="800"/>
              </a:spcBef>
              <a:spcAft>
                <a:spcPts val="0"/>
              </a:spcAft>
              <a:buClr>
                <a:schemeClr val="dk1"/>
              </a:buClr>
              <a:buSzPct val="100000"/>
              <a:buFont typeface="Times New Roman"/>
              <a:buNone/>
            </a:pPr>
            <a:r>
              <a:rPr lang="en-US" sz="6200">
                <a:solidFill>
                  <a:schemeClr val="dk1"/>
                </a:solidFill>
                <a:latin typeface="Times New Roman"/>
                <a:ea typeface="Times New Roman"/>
                <a:cs typeface="Times New Roman"/>
                <a:sym typeface="Times New Roman"/>
              </a:rPr>
              <a:t>"R</a:t>
            </a:r>
            <a:r>
              <a:rPr b="1" lang="en-US" sz="6200">
                <a:solidFill>
                  <a:schemeClr val="dk1"/>
                </a:solidFill>
                <a:latin typeface="Times New Roman"/>
                <a:ea typeface="Times New Roman"/>
                <a:cs typeface="Times New Roman"/>
                <a:sym typeface="Times New Roman"/>
              </a:rPr>
              <a:t>egularization in embedded methods can be done by adding a regularization term to the loss function of the machine learning algorithm. "</a:t>
            </a:r>
            <a:endParaRPr sz="6200">
              <a:solidFill>
                <a:schemeClr val="dk1"/>
              </a:solidFill>
              <a:latin typeface="Calibri"/>
              <a:ea typeface="Calibri"/>
              <a:cs typeface="Calibri"/>
              <a:sym typeface="Calibri"/>
            </a:endParaRPr>
          </a:p>
          <a:p>
            <a:pPr indent="0" lvl="0" marL="0" marR="0" rtl="0" algn="just">
              <a:lnSpc>
                <a:spcPct val="107000"/>
              </a:lnSpc>
              <a:spcBef>
                <a:spcPts val="800"/>
              </a:spcBef>
              <a:spcAft>
                <a:spcPts val="0"/>
              </a:spcAft>
              <a:buClr>
                <a:schemeClr val="dk1"/>
              </a:buClr>
              <a:buSzPct val="100000"/>
              <a:buFont typeface="Times New Roman"/>
              <a:buNone/>
            </a:pPr>
            <a:r>
              <a:rPr lang="en-US" sz="6200">
                <a:solidFill>
                  <a:schemeClr val="dk1"/>
                </a:solidFill>
                <a:latin typeface="Times New Roman"/>
                <a:ea typeface="Times New Roman"/>
                <a:cs typeface="Times New Roman"/>
                <a:sym typeface="Times New Roman"/>
              </a:rPr>
              <a:t>The features with the largest coefficients will be penalized the most and may be excluded from the model.</a:t>
            </a:r>
            <a:endParaRPr/>
          </a:p>
          <a:p>
            <a:pPr indent="0" lvl="0" marL="0" marR="0" rtl="0" algn="just">
              <a:lnSpc>
                <a:spcPct val="107000"/>
              </a:lnSpc>
              <a:spcBef>
                <a:spcPts val="800"/>
              </a:spcBef>
              <a:spcAft>
                <a:spcPts val="0"/>
              </a:spcAft>
              <a:buClr>
                <a:schemeClr val="dk1"/>
              </a:buClr>
              <a:buSzPct val="100000"/>
              <a:buFont typeface="Times New Roman"/>
              <a:buNone/>
            </a:pPr>
            <a:r>
              <a:rPr lang="en-US" sz="8000">
                <a:solidFill>
                  <a:schemeClr val="dk1"/>
                </a:solidFill>
                <a:latin typeface="Times New Roman"/>
                <a:ea typeface="Times New Roman"/>
                <a:cs typeface="Times New Roman"/>
                <a:sym typeface="Times New Roman"/>
              </a:rPr>
              <a:t>Following regularization techniques are used</a:t>
            </a:r>
            <a:endParaRPr sz="8000">
              <a:solidFill>
                <a:schemeClr val="dk1"/>
              </a:solidFill>
              <a:latin typeface="Calibri"/>
              <a:ea typeface="Calibri"/>
              <a:cs typeface="Calibri"/>
              <a:sym typeface="Calibri"/>
            </a:endParaRPr>
          </a:p>
          <a:p>
            <a:pPr indent="-342900" lvl="0" marL="342900" marR="0" rtl="0" algn="just">
              <a:lnSpc>
                <a:spcPct val="107000"/>
              </a:lnSpc>
              <a:spcBef>
                <a:spcPts val="800"/>
              </a:spcBef>
              <a:spcAft>
                <a:spcPts val="0"/>
              </a:spcAft>
              <a:buClr>
                <a:schemeClr val="dk1"/>
              </a:buClr>
              <a:buSzPct val="50000"/>
              <a:buFont typeface="Noto Sans Symbols"/>
              <a:buChar char="∙"/>
            </a:pPr>
            <a:r>
              <a:rPr i="1" lang="en-US" sz="8000">
                <a:solidFill>
                  <a:schemeClr val="dk1"/>
                </a:solidFill>
                <a:latin typeface="Times New Roman"/>
                <a:ea typeface="Times New Roman"/>
                <a:cs typeface="Times New Roman"/>
                <a:sym typeface="Times New Roman"/>
              </a:rPr>
              <a:t>Lasso Regularization(L1)</a:t>
            </a:r>
            <a:r>
              <a:rPr lang="en-US" sz="8000">
                <a:solidFill>
                  <a:schemeClr val="dk1"/>
                </a:solidFill>
                <a:latin typeface="Times New Roman"/>
                <a:ea typeface="Times New Roman"/>
                <a:cs typeface="Times New Roman"/>
                <a:sym typeface="Times New Roman"/>
              </a:rPr>
              <a:t>:</a:t>
            </a:r>
            <a:endParaRPr sz="8000">
              <a:solidFill>
                <a:schemeClr val="dk1"/>
              </a:solidFill>
              <a:latin typeface="Calibri"/>
              <a:ea typeface="Calibri"/>
              <a:cs typeface="Calibri"/>
              <a:sym typeface="Calibri"/>
            </a:endParaRPr>
          </a:p>
          <a:p>
            <a:pPr indent="-342900" lvl="0" marL="342900" marR="0" rtl="0" algn="just">
              <a:lnSpc>
                <a:spcPct val="107000"/>
              </a:lnSpc>
              <a:spcBef>
                <a:spcPts val="800"/>
              </a:spcBef>
              <a:spcAft>
                <a:spcPts val="0"/>
              </a:spcAft>
              <a:buClr>
                <a:schemeClr val="dk1"/>
              </a:buClr>
              <a:buSzPct val="50000"/>
              <a:buFont typeface="Noto Sans Symbols"/>
              <a:buChar char="∙"/>
            </a:pPr>
            <a:r>
              <a:rPr i="1" lang="en-US" sz="8000">
                <a:solidFill>
                  <a:schemeClr val="dk1"/>
                </a:solidFill>
                <a:latin typeface="Times New Roman"/>
                <a:ea typeface="Times New Roman"/>
                <a:cs typeface="Times New Roman"/>
                <a:sym typeface="Times New Roman"/>
              </a:rPr>
              <a:t>Ridge Regularization(L2):</a:t>
            </a:r>
            <a:endParaRPr sz="8000">
              <a:solidFill>
                <a:schemeClr val="dk1"/>
              </a:solidFill>
              <a:latin typeface="Calibri"/>
              <a:ea typeface="Calibri"/>
              <a:cs typeface="Calibri"/>
              <a:sym typeface="Calibri"/>
            </a:endParaRPr>
          </a:p>
          <a:p>
            <a:pPr indent="-342900" lvl="0" marL="342900" marR="0" rtl="0" algn="just">
              <a:lnSpc>
                <a:spcPct val="107000"/>
              </a:lnSpc>
              <a:spcBef>
                <a:spcPts val="800"/>
              </a:spcBef>
              <a:spcAft>
                <a:spcPts val="0"/>
              </a:spcAft>
              <a:buClr>
                <a:schemeClr val="dk1"/>
              </a:buClr>
              <a:buSzPct val="50000"/>
              <a:buFont typeface="Noto Sans Symbols"/>
              <a:buChar char="∙"/>
            </a:pPr>
            <a:r>
              <a:rPr i="1" lang="en-US" sz="8000">
                <a:solidFill>
                  <a:schemeClr val="dk1"/>
                </a:solidFill>
                <a:latin typeface="Times New Roman"/>
                <a:ea typeface="Times New Roman"/>
                <a:cs typeface="Times New Roman"/>
                <a:sym typeface="Times New Roman"/>
              </a:rPr>
              <a:t>Elastic-Net Regularization(L1+L2):</a:t>
            </a:r>
            <a:endParaRPr sz="8000">
              <a:solidFill>
                <a:schemeClr val="dk1"/>
              </a:solidFill>
              <a:latin typeface="Calibri"/>
              <a:ea typeface="Calibri"/>
              <a:cs typeface="Calibri"/>
              <a:sym typeface="Calibri"/>
            </a:endParaRPr>
          </a:p>
          <a:p>
            <a:pPr indent="0" lvl="0" marL="0" marR="0" rtl="0" algn="just">
              <a:lnSpc>
                <a:spcPct val="107000"/>
              </a:lnSpc>
              <a:spcBef>
                <a:spcPts val="800"/>
              </a:spcBef>
              <a:spcAft>
                <a:spcPts val="0"/>
              </a:spcAft>
              <a:buClr>
                <a:schemeClr val="dk1"/>
              </a:buClr>
              <a:buSzPct val="100000"/>
              <a:buFont typeface="Calibri"/>
              <a:buNone/>
            </a:pPr>
            <a:r>
              <a:t/>
            </a:r>
            <a:endParaRPr sz="6200">
              <a:solidFill>
                <a:schemeClr val="dk1"/>
              </a:solidFill>
              <a:latin typeface="Calibri"/>
              <a:ea typeface="Calibri"/>
              <a:cs typeface="Calibri"/>
              <a:sym typeface="Calibri"/>
            </a:endParaRPr>
          </a:p>
          <a:p>
            <a:pPr indent="0" lvl="0" marL="0" marR="0" rtl="0" algn="ctr">
              <a:lnSpc>
                <a:spcPct val="90000"/>
              </a:lnSpc>
              <a:spcBef>
                <a:spcPts val="800"/>
              </a:spcBef>
              <a:spcAft>
                <a:spcPts val="0"/>
              </a:spcAft>
              <a:buClr>
                <a:schemeClr val="dk1"/>
              </a:buClr>
              <a:buSzPct val="100000"/>
              <a:buFont typeface="Calibri"/>
              <a:buNone/>
            </a:pPr>
            <a:br>
              <a:rPr lang="en-US" sz="6200">
                <a:solidFill>
                  <a:schemeClr val="dk1"/>
                </a:solidFill>
                <a:latin typeface="Calibri"/>
                <a:ea typeface="Calibri"/>
                <a:cs typeface="Calibri"/>
                <a:sym typeface="Calibri"/>
              </a:rPr>
            </a:br>
            <a:br>
              <a:rPr lang="en-US" sz="4400">
                <a:solidFill>
                  <a:schemeClr val="dk1"/>
                </a:solidFill>
                <a:latin typeface="Calibri"/>
                <a:ea typeface="Calibri"/>
                <a:cs typeface="Calibri"/>
                <a:sym typeface="Calibri"/>
              </a:rPr>
            </a:br>
            <a:endParaRPr b="1" sz="4400">
              <a:solidFill>
                <a:schemeClr val="dk1"/>
              </a:solidFill>
              <a:latin typeface="Calibri"/>
              <a:ea typeface="Calibri"/>
              <a:cs typeface="Calibri"/>
              <a:sym typeface="Calibri"/>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1" name="Shape 381"/>
        <p:cNvGrpSpPr/>
        <p:nvPr/>
      </p:nvGrpSpPr>
      <p:grpSpPr>
        <a:xfrm>
          <a:off x="0" y="0"/>
          <a:ext cx="0" cy="0"/>
          <a:chOff x="0" y="0"/>
          <a:chExt cx="0" cy="0"/>
        </a:xfrm>
      </p:grpSpPr>
      <p:sp>
        <p:nvSpPr>
          <p:cNvPr id="382" name="Google Shape;382;p4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Times New Roman"/>
              <a:buNone/>
            </a:pPr>
            <a:r>
              <a:rPr b="1" i="1" lang="en-US" sz="4400">
                <a:latin typeface="Times New Roman"/>
                <a:ea typeface="Times New Roman"/>
                <a:cs typeface="Times New Roman"/>
                <a:sym typeface="Times New Roman"/>
              </a:rPr>
              <a:t>Tree Based algorithms</a:t>
            </a:r>
            <a:endParaRPr/>
          </a:p>
        </p:txBody>
      </p:sp>
      <p:sp>
        <p:nvSpPr>
          <p:cNvPr id="383" name="Google Shape;383;p4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marR="0" rtl="0" algn="just">
              <a:lnSpc>
                <a:spcPct val="107000"/>
              </a:lnSpc>
              <a:spcBef>
                <a:spcPts val="0"/>
              </a:spcBef>
              <a:spcAft>
                <a:spcPts val="0"/>
              </a:spcAft>
              <a:buClr>
                <a:schemeClr val="dk1"/>
              </a:buClr>
              <a:buSzPts val="1800"/>
              <a:buNone/>
            </a:pPr>
            <a:r>
              <a:rPr b="1" lang="en-US" sz="1800">
                <a:latin typeface="Times New Roman"/>
                <a:ea typeface="Times New Roman"/>
                <a:cs typeface="Times New Roman"/>
                <a:sym typeface="Times New Roman"/>
              </a:rPr>
              <a:t>Tree-based algorithms build a tree-like structure of decisions, where each decision is based on the importance of a feature."</a:t>
            </a:r>
            <a:endParaRPr sz="1800">
              <a:latin typeface="Calibri"/>
              <a:ea typeface="Calibri"/>
              <a:cs typeface="Calibri"/>
              <a:sym typeface="Calibri"/>
            </a:endParaRPr>
          </a:p>
          <a:p>
            <a:pPr indent="0" lvl="0" marL="0" marR="0" rtl="0" algn="just">
              <a:lnSpc>
                <a:spcPct val="107000"/>
              </a:lnSpc>
              <a:spcBef>
                <a:spcPts val="800"/>
              </a:spcBef>
              <a:spcAft>
                <a:spcPts val="0"/>
              </a:spcAft>
              <a:buClr>
                <a:schemeClr val="dk1"/>
              </a:buClr>
              <a:buSzPts val="1800"/>
              <a:buNone/>
            </a:pPr>
            <a:r>
              <a:rPr lang="en-US" sz="1800">
                <a:latin typeface="Times New Roman"/>
                <a:ea typeface="Times New Roman"/>
                <a:cs typeface="Times New Roman"/>
                <a:sym typeface="Times New Roman"/>
              </a:rPr>
              <a:t>The model will likely include the most essential features for splitting the data. Tree-based algorithms that can be used in embedded methods are,</a:t>
            </a:r>
            <a:endParaRPr sz="1800">
              <a:latin typeface="Calibri"/>
              <a:ea typeface="Calibri"/>
              <a:cs typeface="Calibri"/>
              <a:sym typeface="Calibri"/>
            </a:endParaRPr>
          </a:p>
          <a:p>
            <a:pPr indent="-342900" lvl="0" marL="342900" marR="0" rtl="0" algn="just">
              <a:lnSpc>
                <a:spcPct val="107000"/>
              </a:lnSpc>
              <a:spcBef>
                <a:spcPts val="800"/>
              </a:spcBef>
              <a:spcAft>
                <a:spcPts val="0"/>
              </a:spcAft>
              <a:buClr>
                <a:schemeClr val="dk1"/>
              </a:buClr>
              <a:buSzPts val="1000"/>
              <a:buFont typeface="Noto Sans Symbols"/>
              <a:buChar char="∙"/>
            </a:pPr>
            <a:r>
              <a:rPr lang="en-US" sz="1800">
                <a:latin typeface="Times New Roman"/>
                <a:ea typeface="Times New Roman"/>
                <a:cs typeface="Times New Roman"/>
                <a:sym typeface="Times New Roman"/>
              </a:rPr>
              <a:t>Decision trees:</a:t>
            </a:r>
            <a:endParaRPr sz="1800">
              <a:latin typeface="Calibri"/>
              <a:ea typeface="Calibri"/>
              <a:cs typeface="Calibri"/>
              <a:sym typeface="Calibri"/>
            </a:endParaRPr>
          </a:p>
          <a:p>
            <a:pPr indent="-228600" lvl="0" marL="228600" rtl="0" algn="l">
              <a:lnSpc>
                <a:spcPct val="90000"/>
              </a:lnSpc>
              <a:spcBef>
                <a:spcPts val="1800"/>
              </a:spcBef>
              <a:spcAft>
                <a:spcPts val="0"/>
              </a:spcAft>
              <a:buClr>
                <a:schemeClr val="dk1"/>
              </a:buClr>
              <a:buSzPts val="1800"/>
              <a:buChar char="•"/>
            </a:pPr>
            <a:r>
              <a:rPr lang="en-US" sz="1800">
                <a:latin typeface="Times New Roman"/>
                <a:ea typeface="Times New Roman"/>
                <a:cs typeface="Times New Roman"/>
                <a:sym typeface="Times New Roman"/>
              </a:rPr>
              <a:t>Random forests</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4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t/>
            </a:r>
            <a:endParaRPr/>
          </a:p>
        </p:txBody>
      </p:sp>
      <p:pic>
        <p:nvPicPr>
          <p:cNvPr id="389" name="Google Shape;389;p47"/>
          <p:cNvPicPr preferRelativeResize="0"/>
          <p:nvPr>
            <p:ph idx="1" type="body"/>
          </p:nvPr>
        </p:nvPicPr>
        <p:blipFill rotWithShape="1">
          <a:blip r:embed="rId3">
            <a:alphaModFix/>
          </a:blip>
          <a:srcRect b="0" l="0" r="0" t="0"/>
          <a:stretch/>
        </p:blipFill>
        <p:spPr>
          <a:xfrm>
            <a:off x="2286476" y="1855262"/>
            <a:ext cx="7619047" cy="4292063"/>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48"/>
          <p:cNvSpPr txBox="1"/>
          <p:nvPr>
            <p:ph type="title"/>
          </p:nvPr>
        </p:nvSpPr>
        <p:spPr>
          <a:xfrm>
            <a:off x="838200" y="172621"/>
            <a:ext cx="10515600" cy="573338"/>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lang="en-US"/>
              <a:t>Test for feature selection</a:t>
            </a:r>
            <a:endParaRPr/>
          </a:p>
        </p:txBody>
      </p:sp>
      <p:sp>
        <p:nvSpPr>
          <p:cNvPr id="395" name="Google Shape;395;p48"/>
          <p:cNvSpPr txBox="1"/>
          <p:nvPr>
            <p:ph idx="1" type="body"/>
          </p:nvPr>
        </p:nvSpPr>
        <p:spPr>
          <a:xfrm>
            <a:off x="838200" y="898358"/>
            <a:ext cx="10515600" cy="5278605"/>
          </a:xfrm>
          <a:prstGeom prst="rect">
            <a:avLst/>
          </a:prstGeom>
          <a:noFill/>
          <a:ln>
            <a:noFill/>
          </a:ln>
        </p:spPr>
        <p:txBody>
          <a:bodyPr anchorCtr="0" anchor="t" bIns="45700" lIns="91425" spcFirstLastPara="1" rIns="91425" wrap="square" tIns="45700">
            <a:normAutofit/>
          </a:bodyPr>
          <a:lstStyle/>
          <a:p>
            <a:pPr indent="-228600" lvl="0" marL="228600" rtl="0" algn="just">
              <a:lnSpc>
                <a:spcPct val="90000"/>
              </a:lnSpc>
              <a:spcBef>
                <a:spcPts val="0"/>
              </a:spcBef>
              <a:spcAft>
                <a:spcPts val="0"/>
              </a:spcAft>
              <a:buClr>
                <a:srgbClr val="000000"/>
              </a:buClr>
              <a:buSzPts val="2000"/>
              <a:buChar char="•"/>
            </a:pPr>
            <a:r>
              <a:rPr lang="en-US" sz="2000">
                <a:solidFill>
                  <a:srgbClr val="000000"/>
                </a:solidFill>
                <a:latin typeface="Arial"/>
                <a:ea typeface="Arial"/>
                <a:cs typeface="Arial"/>
                <a:sym typeface="Arial"/>
              </a:rPr>
              <a:t>In the case of filter-based methods, statistical tests are used to determine the strength of correlation of the feature with the target variable. The choice of the test depends on the data type of both input and output variable (i.e. whether they are categorical or numerical.). You can see the most popular tests in the table below.</a:t>
            </a:r>
            <a:endParaRPr sz="2000">
              <a:latin typeface="Calibri"/>
              <a:ea typeface="Calibri"/>
              <a:cs typeface="Calibri"/>
              <a:sym typeface="Calibri"/>
            </a:endParaRPr>
          </a:p>
          <a:p>
            <a:pPr indent="-50800" lvl="0" marL="228600" rtl="0" algn="l">
              <a:lnSpc>
                <a:spcPct val="90000"/>
              </a:lnSpc>
              <a:spcBef>
                <a:spcPts val="1000"/>
              </a:spcBef>
              <a:spcAft>
                <a:spcPts val="0"/>
              </a:spcAft>
              <a:buClr>
                <a:schemeClr val="dk1"/>
              </a:buClr>
              <a:buSzPts val="2800"/>
              <a:buNone/>
            </a:pPr>
            <a:r>
              <a:t/>
            </a:r>
            <a:endParaRPr/>
          </a:p>
        </p:txBody>
      </p:sp>
      <p:pic>
        <p:nvPicPr>
          <p:cNvPr descr="Feature selection process" id="396" name="Google Shape;396;p48"/>
          <p:cNvPicPr preferRelativeResize="0"/>
          <p:nvPr/>
        </p:nvPicPr>
        <p:blipFill rotWithShape="1">
          <a:blip r:embed="rId3">
            <a:alphaModFix/>
          </a:blip>
          <a:srcRect b="0" l="0" r="0" t="0"/>
          <a:stretch/>
        </p:blipFill>
        <p:spPr>
          <a:xfrm>
            <a:off x="2974841" y="2148322"/>
            <a:ext cx="6891053" cy="4396857"/>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4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lang="en-US"/>
              <a:t>Test (cont)</a:t>
            </a:r>
            <a:endParaRPr/>
          </a:p>
        </p:txBody>
      </p:sp>
      <p:graphicFrame>
        <p:nvGraphicFramePr>
          <p:cNvPr id="402" name="Google Shape;402;p49"/>
          <p:cNvGraphicFramePr/>
          <p:nvPr/>
        </p:nvGraphicFramePr>
        <p:xfrm>
          <a:off x="1251285" y="1990281"/>
          <a:ext cx="3000000" cy="3000000"/>
        </p:xfrm>
        <a:graphic>
          <a:graphicData uri="http://schemas.openxmlformats.org/drawingml/2006/table">
            <a:tbl>
              <a:tblPr bandRow="1" firstCol="1" firstRow="1">
                <a:noFill/>
                <a:tableStyleId>{D800DA60-C0CE-4EA3-9BE5-66FB3202CD5A}</a:tableStyleId>
              </a:tblPr>
              <a:tblGrid>
                <a:gridCol w="1796725"/>
                <a:gridCol w="2197775"/>
                <a:gridCol w="6477000"/>
              </a:tblGrid>
              <a:tr h="177800">
                <a:tc>
                  <a:txBody>
                    <a:bodyPr/>
                    <a:lstStyle/>
                    <a:p>
                      <a:pPr indent="0" lvl="0" marL="0" marR="0" rtl="0" algn="just">
                        <a:lnSpc>
                          <a:spcPct val="107000"/>
                        </a:lnSpc>
                        <a:spcBef>
                          <a:spcPts val="0"/>
                        </a:spcBef>
                        <a:spcAft>
                          <a:spcPts val="0"/>
                        </a:spcAft>
                        <a:buNone/>
                      </a:pPr>
                      <a:r>
                        <a:rPr lang="en-US" sz="1400" u="none" cap="none" strike="noStrike"/>
                        <a:t>Input</a:t>
                      </a:r>
                      <a:endParaRPr sz="1100" u="none" cap="none" strike="noStrike">
                        <a:latin typeface="Calibri"/>
                        <a:ea typeface="Calibri"/>
                        <a:cs typeface="Calibri"/>
                        <a:sym typeface="Calibri"/>
                      </a:endParaRPr>
                    </a:p>
                  </a:txBody>
                  <a:tcPr marT="47625" marB="47625" marR="95250" marL="95250" anchor="ctr"/>
                </a:tc>
                <a:tc>
                  <a:txBody>
                    <a:bodyPr/>
                    <a:lstStyle/>
                    <a:p>
                      <a:pPr indent="0" lvl="0" marL="0" marR="0" rtl="0" algn="just">
                        <a:lnSpc>
                          <a:spcPct val="107000"/>
                        </a:lnSpc>
                        <a:spcBef>
                          <a:spcPts val="0"/>
                        </a:spcBef>
                        <a:spcAft>
                          <a:spcPts val="0"/>
                        </a:spcAft>
                        <a:buNone/>
                      </a:pPr>
                      <a:r>
                        <a:rPr lang="en-US" sz="1400" u="none" cap="none" strike="noStrike"/>
                        <a:t>Output</a:t>
                      </a:r>
                      <a:endParaRPr sz="1100" u="none" cap="none" strike="noStrike">
                        <a:latin typeface="Calibri"/>
                        <a:ea typeface="Calibri"/>
                        <a:cs typeface="Calibri"/>
                        <a:sym typeface="Calibri"/>
                      </a:endParaRPr>
                    </a:p>
                  </a:txBody>
                  <a:tcPr marT="47625" marB="47625" marR="95250" marL="95250" anchor="ctr"/>
                </a:tc>
                <a:tc>
                  <a:txBody>
                    <a:bodyPr/>
                    <a:lstStyle/>
                    <a:p>
                      <a:pPr indent="0" lvl="0" marL="0" marR="0" rtl="0" algn="just">
                        <a:lnSpc>
                          <a:spcPct val="107000"/>
                        </a:lnSpc>
                        <a:spcBef>
                          <a:spcPts val="0"/>
                        </a:spcBef>
                        <a:spcAft>
                          <a:spcPts val="0"/>
                        </a:spcAft>
                        <a:buNone/>
                      </a:pPr>
                      <a:r>
                        <a:rPr lang="en-US" sz="1400" u="none" cap="none" strike="noStrike"/>
                        <a:t>Feature Selection Model</a:t>
                      </a:r>
                      <a:endParaRPr sz="1100" u="none" cap="none" strike="noStrike">
                        <a:latin typeface="Calibri"/>
                        <a:ea typeface="Calibri"/>
                        <a:cs typeface="Calibri"/>
                        <a:sym typeface="Calibri"/>
                      </a:endParaRPr>
                    </a:p>
                  </a:txBody>
                  <a:tcPr marT="47625" marB="47625" marR="95250" marL="95250" anchor="ctr"/>
                </a:tc>
              </a:tr>
              <a:tr h="254000">
                <a:tc>
                  <a:txBody>
                    <a:bodyPr/>
                    <a:lstStyle/>
                    <a:p>
                      <a:pPr indent="0" lvl="0" marL="0" marR="0" rtl="0" algn="just">
                        <a:lnSpc>
                          <a:spcPct val="107000"/>
                        </a:lnSpc>
                        <a:spcBef>
                          <a:spcPts val="0"/>
                        </a:spcBef>
                        <a:spcAft>
                          <a:spcPts val="0"/>
                        </a:spcAft>
                        <a:buNone/>
                      </a:pPr>
                      <a:r>
                        <a:rPr lang="en-US" sz="2000" u="none" cap="none" strike="noStrike"/>
                        <a:t>Numerical</a:t>
                      </a:r>
                      <a:endParaRPr sz="2000" u="none" cap="none" strike="noStrike">
                        <a:latin typeface="Calibri"/>
                        <a:ea typeface="Calibri"/>
                        <a:cs typeface="Calibri"/>
                        <a:sym typeface="Calibri"/>
                      </a:endParaRPr>
                    </a:p>
                  </a:txBody>
                  <a:tcPr marT="47625" marB="47625" marR="95250" marL="95250" anchor="ctr"/>
                </a:tc>
                <a:tc>
                  <a:txBody>
                    <a:bodyPr/>
                    <a:lstStyle/>
                    <a:p>
                      <a:pPr indent="0" lvl="0" marL="0" marR="0" rtl="0" algn="just">
                        <a:lnSpc>
                          <a:spcPct val="107000"/>
                        </a:lnSpc>
                        <a:spcBef>
                          <a:spcPts val="0"/>
                        </a:spcBef>
                        <a:spcAft>
                          <a:spcPts val="0"/>
                        </a:spcAft>
                        <a:buNone/>
                      </a:pPr>
                      <a:r>
                        <a:rPr lang="en-US" sz="2000" u="none" cap="none" strike="noStrike"/>
                        <a:t>Numerical</a:t>
                      </a:r>
                      <a:endParaRPr sz="2000" u="none" cap="none" strike="noStrike">
                        <a:latin typeface="Calibri"/>
                        <a:ea typeface="Calibri"/>
                        <a:cs typeface="Calibri"/>
                        <a:sym typeface="Calibri"/>
                      </a:endParaRPr>
                    </a:p>
                  </a:txBody>
                  <a:tcPr marT="47625" marB="47625" marR="95250" marL="95250" anchor="ctr"/>
                </a:tc>
                <a:tc>
                  <a:txBody>
                    <a:bodyPr/>
                    <a:lstStyle/>
                    <a:p>
                      <a:pPr indent="-342900" lvl="0" marL="342900" marR="0" rtl="0" algn="just">
                        <a:lnSpc>
                          <a:spcPct val="107000"/>
                        </a:lnSpc>
                        <a:spcBef>
                          <a:spcPts val="0"/>
                        </a:spcBef>
                        <a:spcAft>
                          <a:spcPts val="0"/>
                        </a:spcAft>
                        <a:buClr>
                          <a:schemeClr val="dk1"/>
                        </a:buClr>
                        <a:buSzPts val="1000"/>
                        <a:buFont typeface="Noto Sans Symbols"/>
                        <a:buChar char="∙"/>
                      </a:pPr>
                      <a:r>
                        <a:rPr lang="en-US" sz="2000" u="none" cap="none" strike="noStrike"/>
                        <a:t>Pearson’s correlation coefficient</a:t>
                      </a:r>
                      <a:endParaRPr/>
                    </a:p>
                    <a:p>
                      <a:pPr indent="-342900" lvl="0" marL="342900" marR="0" rtl="0" algn="just">
                        <a:lnSpc>
                          <a:spcPct val="107000"/>
                        </a:lnSpc>
                        <a:spcBef>
                          <a:spcPts val="800"/>
                        </a:spcBef>
                        <a:spcAft>
                          <a:spcPts val="0"/>
                        </a:spcAft>
                        <a:buClr>
                          <a:schemeClr val="dk1"/>
                        </a:buClr>
                        <a:buSzPts val="1000"/>
                        <a:buFont typeface="Noto Sans Symbols"/>
                        <a:buChar char="∙"/>
                      </a:pPr>
                      <a:r>
                        <a:rPr lang="en-US" sz="2000" u="none" cap="none" strike="noStrike"/>
                        <a:t>Spearman’s rank coefficient</a:t>
                      </a:r>
                      <a:endParaRPr/>
                    </a:p>
                    <a:p>
                      <a:pPr indent="-342900" lvl="0" marL="342900" marR="0" rtl="0" algn="just">
                        <a:lnSpc>
                          <a:spcPct val="107000"/>
                        </a:lnSpc>
                        <a:spcBef>
                          <a:spcPts val="800"/>
                        </a:spcBef>
                        <a:spcAft>
                          <a:spcPts val="0"/>
                        </a:spcAft>
                        <a:buClr>
                          <a:schemeClr val="dk1"/>
                        </a:buClr>
                        <a:buSzPts val="1000"/>
                        <a:buFont typeface="Noto Sans Symbols"/>
                        <a:buChar char="∙"/>
                      </a:pPr>
                      <a:r>
                        <a:rPr lang="en-US" sz="2000" u="none" cap="none" strike="noStrike"/>
                        <a:t>Trace ratio criterion</a:t>
                      </a:r>
                      <a:endParaRPr/>
                    </a:p>
                    <a:p>
                      <a:pPr indent="-342900" lvl="0" marL="342900" marR="0" rtl="0" algn="just">
                        <a:lnSpc>
                          <a:spcPct val="107000"/>
                        </a:lnSpc>
                        <a:spcBef>
                          <a:spcPts val="800"/>
                        </a:spcBef>
                        <a:spcAft>
                          <a:spcPts val="0"/>
                        </a:spcAft>
                        <a:buClr>
                          <a:schemeClr val="dk1"/>
                        </a:buClr>
                        <a:buSzPts val="1000"/>
                        <a:buFont typeface="Noto Sans Symbols"/>
                        <a:buChar char="∙"/>
                      </a:pPr>
                      <a:r>
                        <a:rPr lang="en-US" sz="2000" u="none" cap="none" strike="noStrike"/>
                        <a:t>Mutual information</a:t>
                      </a:r>
                      <a:endParaRPr sz="2000" u="none" cap="none" strike="noStrike">
                        <a:latin typeface="Calibri"/>
                        <a:ea typeface="Calibri"/>
                        <a:cs typeface="Calibri"/>
                        <a:sym typeface="Calibri"/>
                      </a:endParaRPr>
                    </a:p>
                  </a:txBody>
                  <a:tcPr marT="47625" marB="47625" marR="95250" marL="95250" anchor="ctr"/>
                </a:tc>
              </a:tr>
              <a:tr h="254000">
                <a:tc>
                  <a:txBody>
                    <a:bodyPr/>
                    <a:lstStyle/>
                    <a:p>
                      <a:pPr indent="0" lvl="0" marL="0" marR="0" rtl="0" algn="just">
                        <a:lnSpc>
                          <a:spcPct val="107000"/>
                        </a:lnSpc>
                        <a:spcBef>
                          <a:spcPts val="0"/>
                        </a:spcBef>
                        <a:spcAft>
                          <a:spcPts val="0"/>
                        </a:spcAft>
                        <a:buNone/>
                      </a:pPr>
                      <a:r>
                        <a:rPr lang="en-US" sz="2000" u="none" cap="none" strike="noStrike"/>
                        <a:t>Numerical</a:t>
                      </a:r>
                      <a:endParaRPr sz="2000" u="none" cap="none" strike="noStrike">
                        <a:latin typeface="Calibri"/>
                        <a:ea typeface="Calibri"/>
                        <a:cs typeface="Calibri"/>
                        <a:sym typeface="Calibri"/>
                      </a:endParaRPr>
                    </a:p>
                  </a:txBody>
                  <a:tcPr marT="47625" marB="47625" marR="95250" marL="95250" anchor="ctr"/>
                </a:tc>
                <a:tc>
                  <a:txBody>
                    <a:bodyPr/>
                    <a:lstStyle/>
                    <a:p>
                      <a:pPr indent="0" lvl="0" marL="0" marR="0" rtl="0" algn="just">
                        <a:lnSpc>
                          <a:spcPct val="107000"/>
                        </a:lnSpc>
                        <a:spcBef>
                          <a:spcPts val="0"/>
                        </a:spcBef>
                        <a:spcAft>
                          <a:spcPts val="0"/>
                        </a:spcAft>
                        <a:buNone/>
                      </a:pPr>
                      <a:r>
                        <a:rPr lang="en-US" sz="2000" u="none" cap="none" strike="noStrike"/>
                        <a:t>Categorical</a:t>
                      </a:r>
                      <a:endParaRPr sz="2000" u="none" cap="none" strike="noStrike">
                        <a:latin typeface="Calibri"/>
                        <a:ea typeface="Calibri"/>
                        <a:cs typeface="Calibri"/>
                        <a:sym typeface="Calibri"/>
                      </a:endParaRPr>
                    </a:p>
                  </a:txBody>
                  <a:tcPr marT="47625" marB="47625" marR="95250" marL="95250" anchor="ctr"/>
                </a:tc>
                <a:tc>
                  <a:txBody>
                    <a:bodyPr/>
                    <a:lstStyle/>
                    <a:p>
                      <a:pPr indent="-342900" lvl="0" marL="342900" marR="0" rtl="0" algn="just">
                        <a:lnSpc>
                          <a:spcPct val="107000"/>
                        </a:lnSpc>
                        <a:spcBef>
                          <a:spcPts val="0"/>
                        </a:spcBef>
                        <a:spcAft>
                          <a:spcPts val="0"/>
                        </a:spcAft>
                        <a:buClr>
                          <a:schemeClr val="dk1"/>
                        </a:buClr>
                        <a:buSzPts val="1000"/>
                        <a:buFont typeface="Noto Sans Symbols"/>
                        <a:buChar char="∙"/>
                      </a:pPr>
                      <a:r>
                        <a:rPr lang="en-US" sz="2000" u="none" cap="none" strike="noStrike"/>
                        <a:t>ANOVA correlation coefficient</a:t>
                      </a:r>
                      <a:endParaRPr/>
                    </a:p>
                    <a:p>
                      <a:pPr indent="-342900" lvl="0" marL="342900" marR="0" rtl="0" algn="just">
                        <a:lnSpc>
                          <a:spcPct val="107000"/>
                        </a:lnSpc>
                        <a:spcBef>
                          <a:spcPts val="800"/>
                        </a:spcBef>
                        <a:spcAft>
                          <a:spcPts val="0"/>
                        </a:spcAft>
                        <a:buClr>
                          <a:schemeClr val="dk1"/>
                        </a:buClr>
                        <a:buSzPts val="1000"/>
                        <a:buFont typeface="Noto Sans Symbols"/>
                        <a:buChar char="∙"/>
                      </a:pPr>
                      <a:r>
                        <a:rPr lang="en-US" sz="2000" u="none" cap="none" strike="noStrike"/>
                        <a:t>Kendall’s rank coefficient</a:t>
                      </a:r>
                      <a:endParaRPr sz="2000" u="none" cap="none" strike="noStrike">
                        <a:latin typeface="Calibri"/>
                        <a:ea typeface="Calibri"/>
                        <a:cs typeface="Calibri"/>
                        <a:sym typeface="Calibri"/>
                      </a:endParaRPr>
                    </a:p>
                  </a:txBody>
                  <a:tcPr marT="47625" marB="47625" marR="95250" marL="95250" anchor="ctr"/>
                </a:tc>
              </a:tr>
              <a:tr h="254000">
                <a:tc>
                  <a:txBody>
                    <a:bodyPr/>
                    <a:lstStyle/>
                    <a:p>
                      <a:pPr indent="0" lvl="0" marL="0" marR="0" rtl="0" algn="just">
                        <a:lnSpc>
                          <a:spcPct val="107000"/>
                        </a:lnSpc>
                        <a:spcBef>
                          <a:spcPts val="0"/>
                        </a:spcBef>
                        <a:spcAft>
                          <a:spcPts val="0"/>
                        </a:spcAft>
                        <a:buNone/>
                      </a:pPr>
                      <a:r>
                        <a:rPr lang="en-US" sz="2000" u="none" cap="none" strike="noStrike"/>
                        <a:t>Categorical</a:t>
                      </a:r>
                      <a:endParaRPr sz="2000" u="none" cap="none" strike="noStrike">
                        <a:latin typeface="Calibri"/>
                        <a:ea typeface="Calibri"/>
                        <a:cs typeface="Calibri"/>
                        <a:sym typeface="Calibri"/>
                      </a:endParaRPr>
                    </a:p>
                  </a:txBody>
                  <a:tcPr marT="47625" marB="47625" marR="95250" marL="95250" anchor="ctr"/>
                </a:tc>
                <a:tc>
                  <a:txBody>
                    <a:bodyPr/>
                    <a:lstStyle/>
                    <a:p>
                      <a:pPr indent="0" lvl="0" marL="0" marR="0" rtl="0" algn="just">
                        <a:lnSpc>
                          <a:spcPct val="107000"/>
                        </a:lnSpc>
                        <a:spcBef>
                          <a:spcPts val="0"/>
                        </a:spcBef>
                        <a:spcAft>
                          <a:spcPts val="0"/>
                        </a:spcAft>
                        <a:buNone/>
                      </a:pPr>
                      <a:r>
                        <a:rPr lang="en-US" sz="2000" u="none" cap="none" strike="noStrike"/>
                        <a:t>Numerical</a:t>
                      </a:r>
                      <a:endParaRPr sz="2000" u="none" cap="none" strike="noStrike">
                        <a:latin typeface="Calibri"/>
                        <a:ea typeface="Calibri"/>
                        <a:cs typeface="Calibri"/>
                        <a:sym typeface="Calibri"/>
                      </a:endParaRPr>
                    </a:p>
                  </a:txBody>
                  <a:tcPr marT="47625" marB="47625" marR="95250" marL="95250" anchor="ctr"/>
                </a:tc>
                <a:tc>
                  <a:txBody>
                    <a:bodyPr/>
                    <a:lstStyle/>
                    <a:p>
                      <a:pPr indent="-342900" lvl="0" marL="342900" marR="0" rtl="0" algn="just">
                        <a:lnSpc>
                          <a:spcPct val="107000"/>
                        </a:lnSpc>
                        <a:spcBef>
                          <a:spcPts val="0"/>
                        </a:spcBef>
                        <a:spcAft>
                          <a:spcPts val="0"/>
                        </a:spcAft>
                        <a:buClr>
                          <a:schemeClr val="dk1"/>
                        </a:buClr>
                        <a:buSzPts val="1000"/>
                        <a:buFont typeface="Noto Sans Symbols"/>
                        <a:buChar char="∙"/>
                      </a:pPr>
                      <a:r>
                        <a:rPr lang="en-US" sz="2000" u="none" cap="none" strike="noStrike"/>
                        <a:t>Kendall’s rank coefficient</a:t>
                      </a:r>
                      <a:endParaRPr/>
                    </a:p>
                    <a:p>
                      <a:pPr indent="-342900" lvl="0" marL="342900" marR="0" rtl="0" algn="just">
                        <a:lnSpc>
                          <a:spcPct val="107000"/>
                        </a:lnSpc>
                        <a:spcBef>
                          <a:spcPts val="800"/>
                        </a:spcBef>
                        <a:spcAft>
                          <a:spcPts val="0"/>
                        </a:spcAft>
                        <a:buClr>
                          <a:schemeClr val="dk1"/>
                        </a:buClr>
                        <a:buSzPts val="1000"/>
                        <a:buFont typeface="Noto Sans Symbols"/>
                        <a:buChar char="∙"/>
                      </a:pPr>
                      <a:r>
                        <a:rPr lang="en-US" sz="2000" u="none" cap="none" strike="noStrike"/>
                        <a:t>ANOVA correlation coefficient</a:t>
                      </a:r>
                      <a:endParaRPr sz="2000" u="none" cap="none" strike="noStrike">
                        <a:latin typeface="Calibri"/>
                        <a:ea typeface="Calibri"/>
                        <a:cs typeface="Calibri"/>
                        <a:sym typeface="Calibri"/>
                      </a:endParaRPr>
                    </a:p>
                  </a:txBody>
                  <a:tcPr marT="47625" marB="47625" marR="95250" marL="95250" anchor="ctr"/>
                </a:tc>
              </a:tr>
              <a:tr h="254000">
                <a:tc>
                  <a:txBody>
                    <a:bodyPr/>
                    <a:lstStyle/>
                    <a:p>
                      <a:pPr indent="0" lvl="0" marL="0" marR="0" rtl="0" algn="just">
                        <a:lnSpc>
                          <a:spcPct val="107000"/>
                        </a:lnSpc>
                        <a:spcBef>
                          <a:spcPts val="0"/>
                        </a:spcBef>
                        <a:spcAft>
                          <a:spcPts val="0"/>
                        </a:spcAft>
                        <a:buNone/>
                      </a:pPr>
                      <a:r>
                        <a:rPr lang="en-US" sz="2000" u="none" cap="none" strike="noStrike"/>
                        <a:t>Categorical</a:t>
                      </a:r>
                      <a:endParaRPr sz="2000" u="none" cap="none" strike="noStrike">
                        <a:latin typeface="Calibri"/>
                        <a:ea typeface="Calibri"/>
                        <a:cs typeface="Calibri"/>
                        <a:sym typeface="Calibri"/>
                      </a:endParaRPr>
                    </a:p>
                  </a:txBody>
                  <a:tcPr marT="47625" marB="47625" marR="95250" marL="95250" anchor="ctr"/>
                </a:tc>
                <a:tc>
                  <a:txBody>
                    <a:bodyPr/>
                    <a:lstStyle/>
                    <a:p>
                      <a:pPr indent="0" lvl="0" marL="0" marR="0" rtl="0" algn="just">
                        <a:lnSpc>
                          <a:spcPct val="107000"/>
                        </a:lnSpc>
                        <a:spcBef>
                          <a:spcPts val="0"/>
                        </a:spcBef>
                        <a:spcAft>
                          <a:spcPts val="0"/>
                        </a:spcAft>
                        <a:buNone/>
                      </a:pPr>
                      <a:r>
                        <a:rPr lang="en-US" sz="2000" u="none" cap="none" strike="noStrike"/>
                        <a:t>Categorical</a:t>
                      </a:r>
                      <a:endParaRPr sz="2000" u="none" cap="none" strike="noStrike">
                        <a:latin typeface="Calibri"/>
                        <a:ea typeface="Calibri"/>
                        <a:cs typeface="Calibri"/>
                        <a:sym typeface="Calibri"/>
                      </a:endParaRPr>
                    </a:p>
                  </a:txBody>
                  <a:tcPr marT="47625" marB="47625" marR="95250" marL="95250" anchor="ctr"/>
                </a:tc>
                <a:tc>
                  <a:txBody>
                    <a:bodyPr/>
                    <a:lstStyle/>
                    <a:p>
                      <a:pPr indent="-342900" lvl="0" marL="342900" marR="0" rtl="0" algn="just">
                        <a:lnSpc>
                          <a:spcPct val="107000"/>
                        </a:lnSpc>
                        <a:spcBef>
                          <a:spcPts val="0"/>
                        </a:spcBef>
                        <a:spcAft>
                          <a:spcPts val="0"/>
                        </a:spcAft>
                        <a:buClr>
                          <a:schemeClr val="dk1"/>
                        </a:buClr>
                        <a:buSzPts val="1000"/>
                        <a:buFont typeface="Noto Sans Symbols"/>
                        <a:buChar char="∙"/>
                      </a:pPr>
                      <a:r>
                        <a:rPr lang="en-US" sz="2000" u="none" cap="none" strike="noStrike"/>
                        <a:t>Chi-Squared test (contingency tables).</a:t>
                      </a:r>
                      <a:endParaRPr/>
                    </a:p>
                    <a:p>
                      <a:pPr indent="-342900" lvl="0" marL="342900" marR="0" rtl="0" algn="just">
                        <a:lnSpc>
                          <a:spcPct val="107000"/>
                        </a:lnSpc>
                        <a:spcBef>
                          <a:spcPts val="800"/>
                        </a:spcBef>
                        <a:spcAft>
                          <a:spcPts val="0"/>
                        </a:spcAft>
                        <a:buClr>
                          <a:schemeClr val="dk1"/>
                        </a:buClr>
                        <a:buSzPts val="1000"/>
                        <a:buFont typeface="Noto Sans Symbols"/>
                        <a:buChar char="∙"/>
                      </a:pPr>
                      <a:r>
                        <a:rPr lang="en-US" sz="2000" u="none" cap="none" strike="noStrike"/>
                        <a:t>Mutual Information.</a:t>
                      </a:r>
                      <a:endParaRPr sz="2000" u="none" cap="none" strike="noStrike">
                        <a:latin typeface="Calibri"/>
                        <a:ea typeface="Calibri"/>
                        <a:cs typeface="Calibri"/>
                        <a:sym typeface="Calibri"/>
                      </a:endParaRPr>
                    </a:p>
                  </a:txBody>
                  <a:tcPr marT="47625" marB="47625" marR="95250" marL="95250" anchor="ct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2024-01-23T07:25:36Z</dcterms:created>
  <dc:creator>RAKA-PC</dc:creator>
</cp:coreProperties>
</file>