
<file path=[Content_Types].xml><?xml version="1.0" encoding="utf-8"?>
<Types xmlns="http://schemas.openxmlformats.org/package/2006/content-types">
  <Default Extension="jpeg" ContentType="image/jpeg"/>
  <Default Extension="wmf" ContentType="image/x-wmf"/>
  <Default Extension="xls" ContentType="application/vnd.ms-excel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5201" r:id="rId1"/>
  </p:sldMasterIdLst>
  <p:notesMasterIdLst>
    <p:notesMasterId r:id="rId15"/>
  </p:notesMasterIdLst>
  <p:handoutMasterIdLst>
    <p:handoutMasterId r:id="rId16"/>
  </p:handoutMasterIdLst>
  <p:sldIdLst>
    <p:sldId id="498" r:id="rId2"/>
    <p:sldId id="696" r:id="rId3"/>
    <p:sldId id="697" r:id="rId4"/>
    <p:sldId id="698" r:id="rId5"/>
    <p:sldId id="699" r:id="rId6"/>
    <p:sldId id="700" r:id="rId7"/>
    <p:sldId id="765" r:id="rId8"/>
    <p:sldId id="702" r:id="rId9"/>
    <p:sldId id="766" r:id="rId10"/>
    <p:sldId id="762" r:id="rId11"/>
    <p:sldId id="694" r:id="rId12"/>
    <p:sldId id="618" r:id="rId13"/>
    <p:sldId id="619" r:id="rId14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60000"/>
    <a:srgbClr val="600000"/>
    <a:srgbClr val="0066FF"/>
    <a:srgbClr val="FF0000"/>
    <a:srgbClr val="CCCC00"/>
    <a:srgbClr val="FFCCFF"/>
    <a:srgbClr val="FF99CC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015" autoAdjust="0"/>
    <p:restoredTop sz="82975" autoAdjust="0"/>
  </p:normalViewPr>
  <p:slideViewPr>
    <p:cSldViewPr snapToObjects="1">
      <p:cViewPr varScale="1">
        <p:scale>
          <a:sx n="75" d="100"/>
          <a:sy n="75" d="100"/>
        </p:scale>
        <p:origin x="1950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36" y="0"/>
    </p:cViewPr>
    <p:sldLst>
      <p:sld r:id="rId1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Objects="1">
      <p:cViewPr varScale="1">
        <p:scale>
          <a:sx n="66" d="100"/>
          <a:sy n="66" d="100"/>
        </p:scale>
        <p:origin x="-3300" y="-114"/>
      </p:cViewPr>
      <p:guideLst>
        <p:guide orient="horz" pos="2880"/>
        <p:guide pos="2160"/>
      </p:guideLst>
    </p:cSldViewPr>
  </p:notesViewPr>
  <p:gridSpacing cx="38405" cy="3840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imes New Roman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379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imes New Roman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379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 charset="0"/>
              </a:defRPr>
            </a:lvl1pPr>
          </a:lstStyle>
          <a:p>
            <a:pPr>
              <a:defRPr/>
            </a:pPr>
            <a:fld id="{AF764578-1022-457E-970E-09A795A6B1F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41633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035C318C-336E-46A2-B1AF-9F06AE4B4A6E}" type="datetimeFigureOut">
              <a:rPr lang="en-US"/>
              <a:pPr>
                <a:defRPr/>
              </a:pPr>
              <a:t>3/29/2026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0FECC6E5-F5FA-4943-B013-1B88880A822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039286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FECC6E5-F5FA-4943-B013-1B88880A822E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3069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FF1F6AD-647D-401C-9C14-D2412335F7DC}" type="slidenum">
              <a:rPr lang="en-US" smtClean="0"/>
              <a:pPr/>
              <a:t>2</a:t>
            </a:fld>
            <a:endParaRPr lang="en-US" smtClean="0"/>
          </a:p>
        </p:txBody>
      </p:sp>
      <p:sp>
        <p:nvSpPr>
          <p:cNvPr id="890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4113" y="692150"/>
            <a:ext cx="4552950" cy="3416300"/>
          </a:xfrm>
          <a:ln w="12700" cap="flat">
            <a:solidFill>
              <a:schemeClr val="tx1"/>
            </a:solidFill>
          </a:ln>
        </p:spPr>
      </p:sp>
      <p:sp>
        <p:nvSpPr>
          <p:cNvPr id="890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711" y="4344108"/>
            <a:ext cx="5028579" cy="4116215"/>
          </a:xfrm>
          <a:noFill/>
          <a:ln/>
        </p:spPr>
        <p:txBody>
          <a:bodyPr lIns="86029" tIns="43014" rIns="86029" bIns="43014"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9906963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8ABCFD3-F322-446C-8C6C-2F2E6E6B49B5}" type="slidenum">
              <a:rPr lang="en-US" smtClean="0"/>
              <a:pPr/>
              <a:t>3</a:t>
            </a:fld>
            <a:endParaRPr lang="en-US" smtClean="0"/>
          </a:p>
        </p:txBody>
      </p:sp>
      <p:sp>
        <p:nvSpPr>
          <p:cNvPr id="901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4113" y="692150"/>
            <a:ext cx="4552950" cy="3416300"/>
          </a:xfrm>
          <a:ln w="12700" cap="flat">
            <a:solidFill>
              <a:schemeClr val="tx1"/>
            </a:solidFill>
          </a:ln>
        </p:spPr>
      </p:sp>
      <p:sp>
        <p:nvSpPr>
          <p:cNvPr id="901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711" y="4344108"/>
            <a:ext cx="5028579" cy="4116215"/>
          </a:xfrm>
          <a:noFill/>
          <a:ln/>
        </p:spPr>
        <p:txBody>
          <a:bodyPr lIns="86029" tIns="43014" rIns="86029" bIns="43014"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24769174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1C0D5A2-24A7-40A3-B521-77A7C2F07010}" type="slidenum">
              <a:rPr lang="en-US" smtClean="0"/>
              <a:pPr/>
              <a:t>4</a:t>
            </a:fld>
            <a:endParaRPr lang="en-US" smtClean="0"/>
          </a:p>
        </p:txBody>
      </p:sp>
      <p:sp>
        <p:nvSpPr>
          <p:cNvPr id="911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873008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25E379A-2BA9-4490-A33D-986A02FDE6F8}" type="slidenum">
              <a:rPr lang="en-US" smtClean="0"/>
              <a:pPr/>
              <a:t>5</a:t>
            </a:fld>
            <a:endParaRPr lang="en-US" smtClean="0"/>
          </a:p>
        </p:txBody>
      </p:sp>
      <p:sp>
        <p:nvSpPr>
          <p:cNvPr id="921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21992939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59D1DC2-0B60-4BA6-9D99-169193D32F7F}" type="slidenum">
              <a:rPr lang="en-US" smtClean="0"/>
              <a:pPr/>
              <a:t>6</a:t>
            </a:fld>
            <a:endParaRPr lang="en-US" smtClean="0"/>
          </a:p>
        </p:txBody>
      </p:sp>
      <p:sp>
        <p:nvSpPr>
          <p:cNvPr id="931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5683992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7"/>
          <p:cNvSpPr txBox="1">
            <a:spLocks noGrp="1" noChangeArrowheads="1"/>
          </p:cNvSpPr>
          <p:nvPr/>
        </p:nvSpPr>
        <p:spPr bwMode="auto">
          <a:xfrm>
            <a:off x="3885579" y="8686643"/>
            <a:ext cx="2972421" cy="4573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763" tIns="45883" rIns="91763" bIns="45883" anchor="b"/>
          <a:lstStyle/>
          <a:p>
            <a:pPr algn="r" defTabSz="917792"/>
            <a:fld id="{D7450BE2-CD82-44E1-87D8-89131E24FFFD}" type="slidenum">
              <a:rPr lang="en-US" sz="1200">
                <a:latin typeface="Times New Roman" pitchFamily="18" charset="0"/>
              </a:rPr>
              <a:pPr algn="r" defTabSz="917792"/>
              <a:t>7</a:t>
            </a:fld>
            <a:endParaRPr lang="en-US" sz="1200" dirty="0">
              <a:latin typeface="Times New Roman" pitchFamily="18" charset="0"/>
            </a:endParaRPr>
          </a:p>
        </p:txBody>
      </p:sp>
      <p:sp>
        <p:nvSpPr>
          <p:cNvPr id="942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6722656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E258012-6DB2-4CC9-8072-08F07F0EC1C4}" type="slidenum">
              <a:rPr lang="en-US" smtClean="0"/>
              <a:pPr/>
              <a:t>8</a:t>
            </a:fld>
            <a:endParaRPr lang="en-US" smtClean="0"/>
          </a:p>
        </p:txBody>
      </p:sp>
      <p:sp>
        <p:nvSpPr>
          <p:cNvPr id="952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6264922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7"/>
          <p:cNvSpPr txBox="1">
            <a:spLocks noGrp="1" noChangeArrowheads="1"/>
          </p:cNvSpPr>
          <p:nvPr/>
        </p:nvSpPr>
        <p:spPr bwMode="auto">
          <a:xfrm>
            <a:off x="3885579" y="8686643"/>
            <a:ext cx="2972421" cy="4573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763" tIns="45883" rIns="91763" bIns="45883" anchor="b"/>
          <a:lstStyle/>
          <a:p>
            <a:pPr algn="r" defTabSz="917792"/>
            <a:fld id="{D7450BE2-CD82-44E1-87D8-89131E24FFFD}" type="slidenum">
              <a:rPr lang="en-US" sz="1200">
                <a:latin typeface="Times New Roman" pitchFamily="18" charset="0"/>
              </a:rPr>
              <a:pPr algn="r" defTabSz="917792"/>
              <a:t>9</a:t>
            </a:fld>
            <a:endParaRPr lang="en-US" sz="1200" dirty="0">
              <a:latin typeface="Times New Roman" pitchFamily="18" charset="0"/>
            </a:endParaRPr>
          </a:p>
        </p:txBody>
      </p:sp>
      <p:sp>
        <p:nvSpPr>
          <p:cNvPr id="942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2522715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667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6234747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45D3131-574A-4C83-B42B-C2C7F6201AAC}" type="slidenum">
              <a:rPr lang="en-US" smtClean="0"/>
              <a:pPr/>
              <a:t>11</a:t>
            </a:fld>
            <a:endParaRPr lang="en-US" smtClean="0"/>
          </a:p>
        </p:txBody>
      </p:sp>
      <p:sp>
        <p:nvSpPr>
          <p:cNvPr id="1361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61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48949246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4"/>
          <p:cNvSpPr>
            <a:spLocks noGrp="1" noChangeArrowheads="1"/>
          </p:cNvSpPr>
          <p:nvPr>
            <p:ph type="ftr" sz="quarter" idx="4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CS252 S05</a:t>
            </a:r>
          </a:p>
        </p:txBody>
      </p:sp>
      <p:sp>
        <p:nvSpPr>
          <p:cNvPr id="74755" name="Rectangle 5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81E8ECEB-82CC-4598-934F-541F9CB94AD6}" type="slidenum">
              <a:rPr lang="en-US" smtClean="0"/>
              <a:pPr/>
              <a:t>12</a:t>
            </a:fld>
            <a:endParaRPr lang="en-US" smtClean="0"/>
          </a:p>
        </p:txBody>
      </p:sp>
      <p:sp>
        <p:nvSpPr>
          <p:cNvPr id="7475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7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40337465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ounded Rectangle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dirty="0" smtClean="0"/>
              <a:t>Click to edit Master subtitle style</a:t>
            </a:r>
            <a:endParaRPr kumimoji="0" lang="en-US" dirty="0"/>
          </a:p>
        </p:txBody>
      </p:sp>
      <p:sp>
        <p:nvSpPr>
          <p:cNvPr id="7" name="Rectangle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CSE, BUET</a:t>
            </a:r>
            <a:endParaRPr lang="en-US" dirty="0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635AE12-246C-49B1-92D7-252397D611F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en-US" dirty="0" smtClean="0"/>
              <a:t>Click to edit Master text styles</a:t>
            </a:r>
          </a:p>
          <a:p>
            <a:pPr lvl="1" eaLnBrk="1" latinLnBrk="0" hangingPunct="1"/>
            <a:r>
              <a:rPr lang="en-US" dirty="0" smtClean="0"/>
              <a:t>Second level</a:t>
            </a:r>
          </a:p>
          <a:p>
            <a:pPr lvl="2" eaLnBrk="1" latinLnBrk="0" hangingPunct="1"/>
            <a:r>
              <a:rPr lang="en-US" dirty="0" smtClean="0"/>
              <a:t>Third level</a:t>
            </a:r>
          </a:p>
          <a:p>
            <a:pPr lvl="3" eaLnBrk="1" latinLnBrk="0" hangingPunct="1"/>
            <a:r>
              <a:rPr lang="en-US" dirty="0" smtClean="0"/>
              <a:t>Fourth level</a:t>
            </a:r>
          </a:p>
          <a:p>
            <a:pPr lvl="4" eaLnBrk="1" latinLnBrk="0" hangingPunct="1"/>
            <a:r>
              <a:rPr lang="en-US" dirty="0" smtClean="0"/>
              <a:t>Fifth level</a:t>
            </a:r>
            <a:endParaRPr kumimoji="0"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CSE, BUET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635AE12-246C-49B1-92D7-252397D611F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Rounded Rectangle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CSE, BUET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Rectangle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pPr>
              <a:defRPr/>
            </a:pPr>
            <a:fld id="{E628056B-CBF0-4D1B-9AF4-CB0D4FC4021D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CSE, BUET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03F0DF0-5EF9-43CE-A54F-AA7EC7B02B7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CSE, BUET</a:t>
            </a: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26C81D0-E5EA-4741-BF96-1B512E5203A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CSE, BUET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8A57868-5B4B-4F42-A149-19F358BE3B7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CSE, BUET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613613-FD62-4FDA-8444-F94981C0198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CSE, BUET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449DBAF-ABB6-4C4C-86E1-4F26F4DC021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CSE, BUET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pPr>
              <a:defRPr/>
            </a:pPr>
            <a:fld id="{C30E7E5F-8AA3-46B7-8167-7FA4D3F79E5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CSE, BUET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87684B-5EF0-462D-8601-D49A9018B9D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CSE, BUET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51293E-5ADB-4D59-A36F-681BF25DCB0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 dirty="0" smtClean="0"/>
              <a:t>Click to edit Master text styles</a:t>
            </a:r>
          </a:p>
          <a:p>
            <a:pPr lvl="1" eaLnBrk="1" latinLnBrk="0" hangingPunct="1"/>
            <a:r>
              <a:rPr kumimoji="0" lang="en-US" dirty="0" smtClean="0"/>
              <a:t>Second level</a:t>
            </a:r>
          </a:p>
          <a:p>
            <a:pPr lvl="2" eaLnBrk="1" latinLnBrk="0" hangingPunct="1"/>
            <a:r>
              <a:rPr kumimoji="0" lang="en-US" dirty="0" smtClean="0"/>
              <a:t>Third level</a:t>
            </a:r>
          </a:p>
          <a:p>
            <a:pPr lvl="3" eaLnBrk="1" latinLnBrk="0" hangingPunct="1"/>
            <a:r>
              <a:rPr kumimoji="0" lang="en-US" dirty="0" smtClean="0"/>
              <a:t>Fourth level</a:t>
            </a:r>
          </a:p>
          <a:p>
            <a:pPr lvl="4" eaLnBrk="1" latinLnBrk="0" hangingPunct="1"/>
            <a:r>
              <a:rPr kumimoji="0" lang="en-US" dirty="0" smtClean="0"/>
              <a:t>Fifth level</a:t>
            </a:r>
            <a:endParaRPr kumimoji="0" lang="en-US" dirty="0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r>
              <a:rPr lang="en-US" smtClean="0"/>
              <a:t>CSE, BUET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fld id="{4635AE12-246C-49B1-92D7-252397D611F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10" name="Text Box 7"/>
          <p:cNvSpPr txBox="1">
            <a:spLocks noChangeArrowheads="1"/>
          </p:cNvSpPr>
          <p:nvPr userDrawn="1"/>
        </p:nvSpPr>
        <p:spPr bwMode="ltGray">
          <a:xfrm>
            <a:off x="7212013" y="250825"/>
            <a:ext cx="184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endParaRPr lang="en-US">
              <a:solidFill>
                <a:schemeClr val="bg1"/>
              </a:solidFill>
              <a:latin typeface="Monotype Corsiva" pitchFamily="66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202" r:id="rId1"/>
    <p:sldLayoutId id="2147485203" r:id="rId2"/>
    <p:sldLayoutId id="2147485204" r:id="rId3"/>
    <p:sldLayoutId id="2147485205" r:id="rId4"/>
    <p:sldLayoutId id="2147485206" r:id="rId5"/>
    <p:sldLayoutId id="2147485207" r:id="rId6"/>
    <p:sldLayoutId id="2147485208" r:id="rId7"/>
    <p:sldLayoutId id="2147485209" r:id="rId8"/>
    <p:sldLayoutId id="2147485210" r:id="rId9"/>
    <p:sldLayoutId id="2147485211" r:id="rId10"/>
    <p:sldLayoutId id="2147485212" r:id="rId11"/>
  </p:sldLayoutIdLst>
  <p:hf sldNum="0" hdr="0" ftr="0"/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7" Type="http://schemas.openxmlformats.org/officeDocument/2006/relationships/image" Target="../media/image4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wmf"/><Relationship Id="rId5" Type="http://schemas.openxmlformats.org/officeDocument/2006/relationships/oleObject" Target="../embeddings/Microsoft_Excel_97-2003_Worksheet1.xls"/><Relationship Id="rId4" Type="http://schemas.openxmlformats.org/officeDocument/2006/relationships/image" Target="../media/image3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3" Type="http://schemas.openxmlformats.org/officeDocument/2006/relationships/notesSlide" Target="../notesSlides/notesSlide6.xml"/><Relationship Id="rId7" Type="http://schemas.openxmlformats.org/officeDocument/2006/relationships/image" Target="../media/image5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Microsoft_Excel_97-2003_Worksheet2.xls"/><Relationship Id="rId5" Type="http://schemas.openxmlformats.org/officeDocument/2006/relationships/image" Target="../media/image7.wmf"/><Relationship Id="rId4" Type="http://schemas.openxmlformats.org/officeDocument/2006/relationships/image" Target="../media/image6.wmf"/><Relationship Id="rId9" Type="http://schemas.openxmlformats.org/officeDocument/2006/relationships/image" Target="../media/image9.wmf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10.emf"/><Relationship Id="rId4" Type="http://schemas.openxmlformats.org/officeDocument/2006/relationships/oleObject" Target="../embeddings/Microsoft_Excel_97-2003_Worksheet3.xls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buFont typeface="Wingdings 3" pitchFamily="18" charset="2"/>
              <a:buNone/>
              <a:defRPr/>
            </a:pPr>
            <a:r>
              <a:rPr lang="en-US" sz="3600" dirty="0" smtClean="0"/>
              <a:t>Classification</a:t>
            </a:r>
          </a:p>
          <a:p>
            <a:pPr eaLnBrk="1" fontAlgn="auto" hangingPunct="1">
              <a:spcAft>
                <a:spcPts val="0"/>
              </a:spcAft>
              <a:buFont typeface="Wingdings 3" pitchFamily="18" charset="2"/>
              <a:buNone/>
              <a:defRPr/>
            </a:pPr>
            <a:endParaRPr lang="en-US" sz="2800" dirty="0" smtClean="0"/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Supervised Learning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371600"/>
            <a:ext cx="8305800" cy="5181600"/>
          </a:xfrm>
          <a:noFill/>
        </p:spPr>
        <p:txBody>
          <a:bodyPr lIns="92075" tIns="46038" rIns="92075" bIns="46038"/>
          <a:lstStyle/>
          <a:p>
            <a:pPr eaLnBrk="1" hangingPunct="1">
              <a:lnSpc>
                <a:spcPct val="130000"/>
              </a:lnSpc>
            </a:pPr>
            <a:r>
              <a:rPr lang="en-US" sz="2400" dirty="0" smtClean="0">
                <a:solidFill>
                  <a:srgbClr val="F83F24"/>
                </a:solidFill>
              </a:rPr>
              <a:t>Supervised learning (classification)</a:t>
            </a:r>
            <a:endParaRPr lang="en-US" sz="2400" dirty="0" smtClean="0"/>
          </a:p>
          <a:p>
            <a:pPr lvl="1" eaLnBrk="1" hangingPunct="1">
              <a:lnSpc>
                <a:spcPct val="130000"/>
              </a:lnSpc>
            </a:pPr>
            <a:r>
              <a:rPr lang="en-US" sz="2400" dirty="0" smtClean="0"/>
              <a:t>Supervision: The training data (observations, measurements, etc.) are accompanied by </a:t>
            </a:r>
            <a:r>
              <a:rPr lang="en-US" sz="2400" b="1" dirty="0" smtClean="0"/>
              <a:t>labels</a:t>
            </a:r>
            <a:r>
              <a:rPr lang="en-US" sz="2400" dirty="0" smtClean="0"/>
              <a:t> indicating the class of the observations</a:t>
            </a:r>
          </a:p>
          <a:p>
            <a:pPr lvl="1" eaLnBrk="1" hangingPunct="1">
              <a:lnSpc>
                <a:spcPct val="130000"/>
              </a:lnSpc>
            </a:pPr>
            <a:r>
              <a:rPr lang="en-US" sz="2400" dirty="0" smtClean="0"/>
              <a:t>New data is classified based on the training set</a:t>
            </a:r>
          </a:p>
          <a:p>
            <a:pPr eaLnBrk="1" hangingPunct="1">
              <a:lnSpc>
                <a:spcPct val="130000"/>
              </a:lnSpc>
            </a:pPr>
            <a:r>
              <a:rPr lang="en-US" sz="2400" dirty="0" smtClean="0">
                <a:solidFill>
                  <a:srgbClr val="F83F24"/>
                </a:solidFill>
              </a:rPr>
              <a:t>Unsupervised learning</a:t>
            </a:r>
            <a:r>
              <a:rPr lang="en-US" sz="2400" dirty="0" smtClean="0"/>
              <a:t> </a:t>
            </a:r>
            <a:r>
              <a:rPr lang="en-US" sz="2400" dirty="0" smtClean="0">
                <a:solidFill>
                  <a:srgbClr val="FF3300"/>
                </a:solidFill>
              </a:rPr>
              <a:t>(clustering)</a:t>
            </a:r>
          </a:p>
          <a:p>
            <a:pPr lvl="1" eaLnBrk="1" hangingPunct="1">
              <a:lnSpc>
                <a:spcPct val="130000"/>
              </a:lnSpc>
            </a:pPr>
            <a:r>
              <a:rPr lang="en-US" sz="2400" dirty="0" smtClean="0"/>
              <a:t>The class labels of training data is unknown</a:t>
            </a:r>
          </a:p>
          <a:p>
            <a:pPr lvl="1" eaLnBrk="1" hangingPunct="1">
              <a:lnSpc>
                <a:spcPct val="130000"/>
              </a:lnSpc>
            </a:pPr>
            <a:r>
              <a:rPr lang="en-US" sz="2400" dirty="0" smtClean="0"/>
              <a:t>Given a set of measurements, observations, etc. with the aim of establishing the existence of classes or clusters in the data</a:t>
            </a: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0" y="381000"/>
            <a:ext cx="9144000" cy="609600"/>
          </a:xfrm>
          <a:prstGeom prst="rect">
            <a:avLst/>
          </a:prstGeom>
          <a:noFill/>
        </p:spPr>
        <p:txBody>
          <a:bodyPr lIns="92075" tIns="46038" rIns="92075" bIns="46038" anchor="ctr" anchorCtr="0">
            <a:noAutofit/>
          </a:bodyPr>
          <a:lstStyle/>
          <a:p>
            <a:pPr lvl="0" eaLnBrk="1" fontAlgn="auto" hangingPunct="1">
              <a:spcAft>
                <a:spcPts val="0"/>
              </a:spcAft>
            </a:pPr>
            <a:r>
              <a:rPr lang="en-US" sz="3600" dirty="0" smtClean="0">
                <a:solidFill>
                  <a:schemeClr val="tx2"/>
                </a:solidFill>
                <a:latin typeface="+mj-lt"/>
              </a:rPr>
              <a:t>Supervised vs. Unsupervised Learning</a:t>
            </a:r>
            <a:endParaRPr kumimoji="0" lang="en-US" sz="3600" b="0" i="0" u="none" strike="noStrike" kern="120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CSE, BUET</a:t>
            </a:r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81000" y="1447800"/>
            <a:ext cx="8305800" cy="5029200"/>
          </a:xfrm>
          <a:noFill/>
        </p:spPr>
        <p:txBody>
          <a:bodyPr lIns="92075" tIns="46038" rIns="92075" bIns="46038"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sz="2400" dirty="0" smtClean="0">
                <a:solidFill>
                  <a:schemeClr val="hlink"/>
                </a:solidFill>
              </a:rPr>
              <a:t>Classification</a:t>
            </a:r>
            <a:r>
              <a:rPr lang="en-US" sz="2000" dirty="0" smtClean="0"/>
              <a:t>  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dirty="0" smtClean="0"/>
              <a:t>predicts categorical class labels (discrete or nominal)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dirty="0" smtClean="0"/>
              <a:t>classifies data (constructs a model) based on the training set and the values (</a:t>
            </a:r>
            <a:r>
              <a:rPr lang="en-US" sz="2400" dirty="0" smtClean="0">
                <a:solidFill>
                  <a:schemeClr val="hlink"/>
                </a:solidFill>
              </a:rPr>
              <a:t>class labels</a:t>
            </a:r>
            <a:r>
              <a:rPr lang="en-US" sz="2400" dirty="0" smtClean="0"/>
              <a:t>) in a classifying attribute and uses it in classifying new data</a:t>
            </a:r>
            <a:endParaRPr lang="en-US" sz="2400" dirty="0" smtClean="0">
              <a:solidFill>
                <a:srgbClr val="FFC000"/>
              </a:solidFill>
            </a:endParaRPr>
          </a:p>
          <a:p>
            <a:pPr>
              <a:lnSpc>
                <a:spcPct val="90000"/>
              </a:lnSpc>
            </a:pPr>
            <a:r>
              <a:rPr lang="en-US" sz="2400" dirty="0" smtClean="0">
                <a:solidFill>
                  <a:schemeClr val="hlink"/>
                </a:solidFill>
              </a:rPr>
              <a:t>Regression/Numeric Prediction</a:t>
            </a:r>
            <a:r>
              <a:rPr lang="en-US" sz="2400" dirty="0" smtClean="0"/>
              <a:t> </a:t>
            </a:r>
            <a:endParaRPr lang="en-US" sz="2200" dirty="0" smtClean="0"/>
          </a:p>
          <a:p>
            <a:pPr lvl="1" eaLnBrk="1" hangingPunct="1">
              <a:lnSpc>
                <a:spcPct val="90000"/>
              </a:lnSpc>
            </a:pPr>
            <a:r>
              <a:rPr lang="en-US" sz="2400" dirty="0" smtClean="0"/>
              <a:t>models continuous-valued functions, i.e., predicts numerical values (unknown or missing values )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 smtClean="0"/>
              <a:t>Typical applications</a:t>
            </a:r>
          </a:p>
          <a:p>
            <a:pPr lvl="1" eaLnBrk="1" hangingPunct="1">
              <a:lnSpc>
                <a:spcPct val="90000"/>
              </a:lnSpc>
              <a:buClr>
                <a:srgbClr val="0000CC"/>
              </a:buClr>
            </a:pPr>
            <a:r>
              <a:rPr lang="en-US" sz="2400" dirty="0" smtClean="0"/>
              <a:t>Credit/loan approval:</a:t>
            </a:r>
          </a:p>
          <a:p>
            <a:pPr lvl="1" eaLnBrk="1" hangingPunct="1">
              <a:lnSpc>
                <a:spcPct val="90000"/>
              </a:lnSpc>
              <a:buClr>
                <a:srgbClr val="0000CC"/>
              </a:buClr>
            </a:pPr>
            <a:r>
              <a:rPr lang="en-US" sz="2400" dirty="0" smtClean="0"/>
              <a:t>Medical diagnosis: if a tumor is cancerous or benign</a:t>
            </a:r>
          </a:p>
          <a:p>
            <a:pPr lvl="1" eaLnBrk="1" hangingPunct="1">
              <a:lnSpc>
                <a:spcPct val="90000"/>
              </a:lnSpc>
              <a:buClr>
                <a:srgbClr val="0000CC"/>
              </a:buClr>
            </a:pPr>
            <a:r>
              <a:rPr lang="en-US" sz="2400" dirty="0" smtClean="0"/>
              <a:t>Fraud detection: if a transaction is fraudulent</a:t>
            </a:r>
          </a:p>
          <a:p>
            <a:pPr lvl="1" eaLnBrk="1" hangingPunct="1">
              <a:lnSpc>
                <a:spcPct val="90000"/>
              </a:lnSpc>
              <a:buClr>
                <a:srgbClr val="0000CC"/>
              </a:buClr>
            </a:pPr>
            <a:r>
              <a:rPr lang="en-US" sz="2400" dirty="0" smtClean="0"/>
              <a:t>Web page categorization: which category it is</a:t>
            </a: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0" y="381000"/>
            <a:ext cx="9144000" cy="609600"/>
          </a:xfrm>
          <a:prstGeom prst="rect">
            <a:avLst/>
          </a:prstGeom>
          <a:noFill/>
        </p:spPr>
        <p:txBody>
          <a:bodyPr lIns="92075" tIns="46038" rIns="92075" bIns="46038" anchor="ctr" anchorCtr="0">
            <a:noAutofit/>
          </a:bodyPr>
          <a:lstStyle/>
          <a:p>
            <a:pPr lvl="0" eaLnBrk="1" fontAlgn="auto" hangingPunct="1">
              <a:spcAft>
                <a:spcPts val="0"/>
              </a:spcAft>
            </a:pPr>
            <a:r>
              <a:rPr lang="en-US" sz="3600" dirty="0" smtClean="0">
                <a:solidFill>
                  <a:schemeClr val="tx2"/>
                </a:solidFill>
                <a:latin typeface="+mj-lt"/>
              </a:rPr>
              <a:t>Prediction Problems: Classification vs. Numeric Prediction</a:t>
            </a:r>
            <a:endParaRPr kumimoji="0" lang="en-US" sz="3600" b="0" i="0" u="none" strike="noStrike" kern="120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CSE, BUET</a:t>
            </a:r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0" y="381000"/>
            <a:ext cx="9144000" cy="609600"/>
          </a:xfrm>
          <a:prstGeom prst="rect">
            <a:avLst/>
          </a:prstGeom>
          <a:noFill/>
        </p:spPr>
        <p:txBody>
          <a:bodyPr lIns="92075" tIns="46038" rIns="92075" bIns="46038" anchor="ctr" anchorCtr="0">
            <a:noAutofit/>
          </a:bodyPr>
          <a:lstStyle/>
          <a:p>
            <a:pPr lvl="0" eaLnBrk="1" fontAlgn="auto" hangingPunct="1">
              <a:spcAft>
                <a:spcPts val="0"/>
              </a:spcAft>
            </a:pPr>
            <a:r>
              <a:rPr lang="en-US" sz="3600" dirty="0" smtClean="0">
                <a:solidFill>
                  <a:schemeClr val="tx2"/>
                </a:solidFill>
                <a:latin typeface="+mj-lt"/>
              </a:rPr>
              <a:t>Classification—A Two-Step Process</a:t>
            </a:r>
            <a:endParaRPr kumimoji="0" lang="en-US" sz="3600" b="0" i="0" u="none" strike="noStrike" kern="120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81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371600"/>
            <a:ext cx="8382000" cy="5257800"/>
          </a:xfrm>
        </p:spPr>
        <p:txBody>
          <a:bodyPr/>
          <a:lstStyle/>
          <a:p>
            <a:pPr eaLnBrk="1" hangingPunct="1"/>
            <a:r>
              <a:rPr lang="en-US" sz="2000" dirty="0" smtClean="0">
                <a:solidFill>
                  <a:schemeClr val="hlink"/>
                </a:solidFill>
              </a:rPr>
              <a:t>Model construction</a:t>
            </a:r>
            <a:r>
              <a:rPr lang="en-US" sz="2000" dirty="0" smtClean="0"/>
              <a:t>: describing a set of predetermined classes</a:t>
            </a:r>
          </a:p>
          <a:p>
            <a:pPr lvl="1" eaLnBrk="1" hangingPunct="1"/>
            <a:r>
              <a:rPr lang="en-US" sz="2000" dirty="0" smtClean="0"/>
              <a:t>Each </a:t>
            </a:r>
            <a:r>
              <a:rPr lang="en-US" sz="2000" dirty="0" err="1" smtClean="0"/>
              <a:t>tuple</a:t>
            </a:r>
            <a:r>
              <a:rPr lang="en-US" sz="2000" dirty="0" smtClean="0"/>
              <a:t>/sample is assumed to belong to a predefined class, as determined by the </a:t>
            </a:r>
            <a:r>
              <a:rPr lang="en-US" sz="2000" dirty="0" smtClean="0">
                <a:solidFill>
                  <a:schemeClr val="hlink"/>
                </a:solidFill>
              </a:rPr>
              <a:t>class label attribute</a:t>
            </a:r>
          </a:p>
          <a:p>
            <a:pPr lvl="1" eaLnBrk="1" hangingPunct="1"/>
            <a:r>
              <a:rPr lang="en-US" sz="2000" dirty="0" smtClean="0"/>
              <a:t>The set of </a:t>
            </a:r>
            <a:r>
              <a:rPr lang="en-US" sz="2000" dirty="0" err="1" smtClean="0"/>
              <a:t>tuples</a:t>
            </a:r>
            <a:r>
              <a:rPr lang="en-US" sz="2000" dirty="0" smtClean="0"/>
              <a:t> used for model construction is </a:t>
            </a:r>
            <a:r>
              <a:rPr lang="en-US" sz="2000" dirty="0" smtClean="0">
                <a:solidFill>
                  <a:schemeClr val="hlink"/>
                </a:solidFill>
              </a:rPr>
              <a:t>training set</a:t>
            </a:r>
          </a:p>
          <a:p>
            <a:pPr lvl="1" eaLnBrk="1" hangingPunct="1"/>
            <a:r>
              <a:rPr lang="en-US" sz="2000" dirty="0" smtClean="0"/>
              <a:t>The model is represented as classification rules, decision trees, or mathematical formulae</a:t>
            </a:r>
          </a:p>
          <a:p>
            <a:pPr eaLnBrk="1" hangingPunct="1"/>
            <a:r>
              <a:rPr lang="en-US" sz="2000" dirty="0" smtClean="0">
                <a:solidFill>
                  <a:schemeClr val="hlink"/>
                </a:solidFill>
              </a:rPr>
              <a:t>Model usage</a:t>
            </a:r>
            <a:r>
              <a:rPr lang="en-US" sz="2000" dirty="0" smtClean="0"/>
              <a:t>: for classifying future or unknown objects</a:t>
            </a:r>
          </a:p>
          <a:p>
            <a:pPr lvl="1" eaLnBrk="1" hangingPunct="1"/>
            <a:r>
              <a:rPr lang="en-US" sz="2000" dirty="0" smtClean="0">
                <a:solidFill>
                  <a:schemeClr val="hlink"/>
                </a:solidFill>
              </a:rPr>
              <a:t>Estimate accuracy</a:t>
            </a:r>
            <a:r>
              <a:rPr lang="en-US" sz="2000" dirty="0" smtClean="0"/>
              <a:t> of the model</a:t>
            </a:r>
          </a:p>
          <a:p>
            <a:pPr lvl="2" eaLnBrk="1" hangingPunct="1"/>
            <a:r>
              <a:rPr lang="en-US" sz="2000" dirty="0" smtClean="0"/>
              <a:t>The known label of test sample is compared with the classified result from the model</a:t>
            </a:r>
          </a:p>
          <a:p>
            <a:pPr lvl="2" eaLnBrk="1" hangingPunct="1"/>
            <a:r>
              <a:rPr lang="en-US" sz="2000" dirty="0" smtClean="0">
                <a:solidFill>
                  <a:schemeClr val="hlink"/>
                </a:solidFill>
              </a:rPr>
              <a:t>Accuracy</a:t>
            </a:r>
            <a:r>
              <a:rPr lang="en-US" sz="2000" dirty="0" smtClean="0"/>
              <a:t> rate is the percentage of test set samples that are correctly classified by the model</a:t>
            </a:r>
          </a:p>
          <a:p>
            <a:pPr lvl="2" eaLnBrk="1" hangingPunct="1"/>
            <a:r>
              <a:rPr lang="en-US" sz="2000" dirty="0" smtClean="0">
                <a:solidFill>
                  <a:schemeClr val="hlink"/>
                </a:solidFill>
              </a:rPr>
              <a:t>Test set</a:t>
            </a:r>
            <a:r>
              <a:rPr lang="en-US" sz="2000" dirty="0" smtClean="0"/>
              <a:t> is independent of training set (otherwise </a:t>
            </a:r>
            <a:r>
              <a:rPr lang="en-US" sz="2000" dirty="0" err="1" smtClean="0"/>
              <a:t>overfitting</a:t>
            </a:r>
            <a:r>
              <a:rPr lang="en-US" sz="2000" dirty="0" smtClean="0"/>
              <a:t>) </a:t>
            </a:r>
          </a:p>
          <a:p>
            <a:pPr lvl="1" eaLnBrk="1" hangingPunct="1"/>
            <a:r>
              <a:rPr lang="en-US" sz="2000" dirty="0" smtClean="0"/>
              <a:t>If the accuracy is acceptable, use the model to </a:t>
            </a:r>
            <a:r>
              <a:rPr lang="en-US" sz="2000" dirty="0" smtClean="0">
                <a:solidFill>
                  <a:schemeClr val="hlink"/>
                </a:solidFill>
              </a:rPr>
              <a:t>classify new data</a:t>
            </a:r>
          </a:p>
          <a:p>
            <a:pPr eaLnBrk="1" hangingPunct="1"/>
            <a:r>
              <a:rPr lang="en-US" sz="2000" dirty="0" smtClean="0"/>
              <a:t>Note: If </a:t>
            </a:r>
            <a:r>
              <a:rPr lang="en-US" sz="2000" i="1" dirty="0" smtClean="0"/>
              <a:t>the test set </a:t>
            </a:r>
            <a:r>
              <a:rPr lang="en-US" sz="2000" dirty="0" smtClean="0"/>
              <a:t>is used to select models, it is called </a:t>
            </a:r>
            <a:r>
              <a:rPr lang="en-US" sz="2000" dirty="0" smtClean="0">
                <a:solidFill>
                  <a:srgbClr val="C00000"/>
                </a:solidFill>
              </a:rPr>
              <a:t>validation (test) set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CSE, BUET</a:t>
            </a:r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2"/>
          <p:cNvSpPr txBox="1">
            <a:spLocks noChangeArrowheads="1"/>
          </p:cNvSpPr>
          <p:nvPr/>
        </p:nvSpPr>
        <p:spPr>
          <a:xfrm>
            <a:off x="0" y="381000"/>
            <a:ext cx="9144000" cy="609600"/>
          </a:xfrm>
          <a:prstGeom prst="rect">
            <a:avLst/>
          </a:prstGeom>
          <a:noFill/>
        </p:spPr>
        <p:txBody>
          <a:bodyPr lIns="92075" tIns="46038" rIns="92075" bIns="46038" anchor="ctr" anchorCtr="0">
            <a:noAutofit/>
          </a:bodyPr>
          <a:lstStyle/>
          <a:p>
            <a:pPr lvl="0" eaLnBrk="1" fontAlgn="auto" hangingPunct="1">
              <a:spcAft>
                <a:spcPts val="0"/>
              </a:spcAft>
            </a:pPr>
            <a:r>
              <a:rPr lang="en-US" sz="3600" dirty="0" smtClean="0">
                <a:solidFill>
                  <a:schemeClr val="tx2"/>
                </a:solidFill>
                <a:latin typeface="+mj-lt"/>
              </a:rPr>
              <a:t>Process (1): Model Construction</a:t>
            </a:r>
            <a:endParaRPr kumimoji="0" lang="en-US" sz="3600" b="0" i="0" u="none" strike="noStrike" kern="120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2036763" y="1774825"/>
            <a:ext cx="1698625" cy="1506538"/>
            <a:chOff x="1283" y="1118"/>
            <a:chExt cx="1070" cy="949"/>
          </a:xfrm>
        </p:grpSpPr>
        <p:pic>
          <p:nvPicPr>
            <p:cNvPr id="9233" name="Picture 4"/>
            <p:cNvPicPr>
              <a:picLocks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1283" y="1118"/>
              <a:ext cx="1070" cy="9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9234" name="Rectangle 5"/>
            <p:cNvSpPr>
              <a:spLocks noChangeArrowheads="1"/>
            </p:cNvSpPr>
            <p:nvPr/>
          </p:nvSpPr>
          <p:spPr bwMode="auto">
            <a:xfrm>
              <a:off x="1347" y="1427"/>
              <a:ext cx="934" cy="4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2075" tIns="46038" rIns="92075" bIns="46038" anchor="ctr">
              <a:spAutoFit/>
            </a:bodyPr>
            <a:lstStyle/>
            <a:p>
              <a:pPr algn="ctr" eaLnBrk="0" hangingPunct="0"/>
              <a:r>
                <a:rPr lang="en-US" sz="2400">
                  <a:latin typeface="Times New Roman" pitchFamily="18" charset="0"/>
                </a:rPr>
                <a:t>Training</a:t>
              </a:r>
            </a:p>
            <a:p>
              <a:pPr algn="ctr" eaLnBrk="0" hangingPunct="0"/>
              <a:r>
                <a:rPr lang="en-US" sz="2400">
                  <a:latin typeface="Times New Roman" pitchFamily="18" charset="0"/>
                </a:rPr>
                <a:t>Data</a:t>
              </a:r>
            </a:p>
          </p:txBody>
        </p:sp>
      </p:grpSp>
      <p:graphicFrame>
        <p:nvGraphicFramePr>
          <p:cNvPr id="9221" name="Object 0"/>
          <p:cNvGraphicFramePr>
            <a:graphicFrameLocks/>
          </p:cNvGraphicFramePr>
          <p:nvPr/>
        </p:nvGraphicFramePr>
        <p:xfrm>
          <a:off x="288925" y="3825875"/>
          <a:ext cx="5437188" cy="2495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6" name="Worksheet" r:id="rId5" imgW="5437188" imgH="2495550" progId="">
                  <p:embed/>
                </p:oleObj>
              </mc:Choice>
              <mc:Fallback>
                <p:oleObj name="Worksheet" r:id="rId5" imgW="5437188" imgH="2495550" progId="">
                  <p:embed/>
                  <p:pic>
                    <p:nvPicPr>
                      <p:cNvPr id="0" name="Object 0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8925" y="3825875"/>
                        <a:ext cx="5437188" cy="2495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2" name="Line 7"/>
          <p:cNvSpPr>
            <a:spLocks noChangeShapeType="1"/>
          </p:cNvSpPr>
          <p:nvPr/>
        </p:nvSpPr>
        <p:spPr bwMode="auto">
          <a:xfrm flipH="1">
            <a:off x="306388" y="3111500"/>
            <a:ext cx="1644650" cy="70008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223" name="Line 8"/>
          <p:cNvSpPr>
            <a:spLocks noChangeShapeType="1"/>
          </p:cNvSpPr>
          <p:nvPr/>
        </p:nvSpPr>
        <p:spPr bwMode="auto">
          <a:xfrm>
            <a:off x="3736975" y="3111500"/>
            <a:ext cx="2025650" cy="70008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224" name="Rectangle 9"/>
          <p:cNvSpPr>
            <a:spLocks noChangeArrowheads="1"/>
          </p:cNvSpPr>
          <p:nvPr/>
        </p:nvSpPr>
        <p:spPr bwMode="auto">
          <a:xfrm>
            <a:off x="6481763" y="1622425"/>
            <a:ext cx="1870075" cy="835025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>
            <a:spAutoFit/>
          </a:bodyPr>
          <a:lstStyle/>
          <a:p>
            <a:pPr algn="ctr" eaLnBrk="0" hangingPunct="0"/>
            <a:r>
              <a:rPr lang="en-US" sz="2400">
                <a:latin typeface="Times New Roman" pitchFamily="18" charset="0"/>
              </a:rPr>
              <a:t>Classification</a:t>
            </a:r>
          </a:p>
          <a:p>
            <a:pPr algn="ctr" eaLnBrk="0" hangingPunct="0"/>
            <a:r>
              <a:rPr lang="en-US" sz="2400">
                <a:latin typeface="Times New Roman" pitchFamily="18" charset="0"/>
              </a:rPr>
              <a:t>Algorithms</a:t>
            </a:r>
          </a:p>
        </p:txBody>
      </p:sp>
      <p:sp>
        <p:nvSpPr>
          <p:cNvPr id="9225" name="AutoShape 10"/>
          <p:cNvSpPr>
            <a:spLocks noChangeArrowheads="1"/>
          </p:cNvSpPr>
          <p:nvPr/>
        </p:nvSpPr>
        <p:spPr bwMode="auto">
          <a:xfrm rot="-1140000">
            <a:off x="4235450" y="2074863"/>
            <a:ext cx="1657350" cy="484187"/>
          </a:xfrm>
          <a:prstGeom prst="rightArrow">
            <a:avLst>
              <a:gd name="adj1" fmla="val 50000"/>
              <a:gd name="adj2" fmla="val 85606"/>
            </a:avLst>
          </a:prstGeom>
          <a:solidFill>
            <a:srgbClr val="2597B8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226" name="Rectangle 11"/>
          <p:cNvSpPr>
            <a:spLocks noChangeArrowheads="1"/>
          </p:cNvSpPr>
          <p:nvPr/>
        </p:nvSpPr>
        <p:spPr bwMode="auto">
          <a:xfrm>
            <a:off x="5948363" y="5311775"/>
            <a:ext cx="3008312" cy="1200150"/>
          </a:xfrm>
          <a:prstGeom prst="rect">
            <a:avLst/>
          </a:prstGeom>
          <a:solidFill>
            <a:srgbClr val="CCFFCC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>
            <a:spAutoFit/>
          </a:bodyPr>
          <a:lstStyle/>
          <a:p>
            <a:pPr eaLnBrk="0" hangingPunct="0"/>
            <a:r>
              <a:rPr lang="en-US" sz="2400">
                <a:latin typeface="Times New Roman" pitchFamily="18" charset="0"/>
              </a:rPr>
              <a:t>IF rank = ‘professor’</a:t>
            </a:r>
          </a:p>
          <a:p>
            <a:pPr eaLnBrk="0" hangingPunct="0"/>
            <a:r>
              <a:rPr lang="en-US" sz="2400">
                <a:latin typeface="Times New Roman" pitchFamily="18" charset="0"/>
              </a:rPr>
              <a:t>OR years &gt; 6</a:t>
            </a:r>
          </a:p>
          <a:p>
            <a:pPr eaLnBrk="0" hangingPunct="0"/>
            <a:r>
              <a:rPr lang="en-US" sz="2400">
                <a:latin typeface="Times New Roman" pitchFamily="18" charset="0"/>
              </a:rPr>
              <a:t>THEN tenured = ‘yes’ </a:t>
            </a:r>
          </a:p>
        </p:txBody>
      </p:sp>
      <p:grpSp>
        <p:nvGrpSpPr>
          <p:cNvPr id="3" name="Group 12"/>
          <p:cNvGrpSpPr>
            <a:grpSpLocks/>
          </p:cNvGrpSpPr>
          <p:nvPr/>
        </p:nvGrpSpPr>
        <p:grpSpPr bwMode="auto">
          <a:xfrm>
            <a:off x="6478588" y="3216275"/>
            <a:ext cx="1889125" cy="1506538"/>
            <a:chOff x="4081" y="2026"/>
            <a:chExt cx="1190" cy="949"/>
          </a:xfrm>
        </p:grpSpPr>
        <p:pic>
          <p:nvPicPr>
            <p:cNvPr id="9231" name="Picture 13"/>
            <p:cNvPicPr>
              <a:picLocks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4081" y="2026"/>
              <a:ext cx="1190" cy="9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9232" name="Rectangle 14"/>
            <p:cNvSpPr>
              <a:spLocks noChangeArrowheads="1"/>
            </p:cNvSpPr>
            <p:nvPr/>
          </p:nvSpPr>
          <p:spPr bwMode="auto">
            <a:xfrm>
              <a:off x="4245" y="2306"/>
              <a:ext cx="851" cy="51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 anchor="ctr">
              <a:spAutoFit/>
            </a:bodyPr>
            <a:lstStyle/>
            <a:p>
              <a:pPr algn="ctr" eaLnBrk="0" hangingPunct="0"/>
              <a:r>
                <a:rPr lang="en-US" sz="2400">
                  <a:latin typeface="Times New Roman" pitchFamily="18" charset="0"/>
                </a:rPr>
                <a:t>Classifier</a:t>
              </a:r>
            </a:p>
            <a:p>
              <a:pPr algn="ctr" eaLnBrk="0" hangingPunct="0"/>
              <a:r>
                <a:rPr lang="en-US" sz="2400">
                  <a:latin typeface="Times New Roman" pitchFamily="18" charset="0"/>
                </a:rPr>
                <a:t>(Model)</a:t>
              </a:r>
            </a:p>
          </p:txBody>
        </p:sp>
      </p:grpSp>
      <p:sp>
        <p:nvSpPr>
          <p:cNvPr id="9228" name="Line 15"/>
          <p:cNvSpPr>
            <a:spLocks noChangeShapeType="1"/>
          </p:cNvSpPr>
          <p:nvPr/>
        </p:nvSpPr>
        <p:spPr bwMode="auto">
          <a:xfrm flipH="1">
            <a:off x="5946775" y="4621213"/>
            <a:ext cx="531813" cy="71437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229" name="Line 16"/>
          <p:cNvSpPr>
            <a:spLocks noChangeShapeType="1"/>
          </p:cNvSpPr>
          <p:nvPr/>
        </p:nvSpPr>
        <p:spPr bwMode="auto">
          <a:xfrm>
            <a:off x="8369300" y="4543425"/>
            <a:ext cx="577850" cy="79057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230" name="AutoShape 17"/>
          <p:cNvSpPr>
            <a:spLocks noChangeArrowheads="1"/>
          </p:cNvSpPr>
          <p:nvPr/>
        </p:nvSpPr>
        <p:spPr bwMode="auto">
          <a:xfrm>
            <a:off x="7143750" y="2576513"/>
            <a:ext cx="546100" cy="592137"/>
          </a:xfrm>
          <a:prstGeom prst="downArrow">
            <a:avLst>
              <a:gd name="adj1" fmla="val 50000"/>
              <a:gd name="adj2" fmla="val 27118"/>
            </a:avLst>
          </a:prstGeom>
          <a:solidFill>
            <a:srgbClr val="2597B8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CSE, BUET</a:t>
            </a:r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28600"/>
            <a:ext cx="9144000" cy="762000"/>
          </a:xfrm>
          <a:noFill/>
        </p:spPr>
        <p:txBody>
          <a:bodyPr lIns="92075" tIns="46038" rIns="92075" bIns="46038">
            <a:normAutofit/>
          </a:bodyPr>
          <a:lstStyle/>
          <a:p>
            <a:pPr eaLnBrk="1" hangingPunct="1"/>
            <a:r>
              <a:rPr lang="en-US" sz="3600" dirty="0" smtClean="0"/>
              <a:t>Process (2): Using the Model in Prediction 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4445000" y="1570038"/>
            <a:ext cx="1889125" cy="1506537"/>
            <a:chOff x="2800" y="989"/>
            <a:chExt cx="1190" cy="949"/>
          </a:xfrm>
        </p:grpSpPr>
        <p:pic>
          <p:nvPicPr>
            <p:cNvPr id="10262" name="Picture 4"/>
            <p:cNvPicPr>
              <a:picLocks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2800" y="989"/>
              <a:ext cx="1190" cy="9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0263" name="Rectangle 5"/>
            <p:cNvSpPr>
              <a:spLocks noChangeArrowheads="1"/>
            </p:cNvSpPr>
            <p:nvPr/>
          </p:nvSpPr>
          <p:spPr bwMode="auto">
            <a:xfrm>
              <a:off x="2964" y="1384"/>
              <a:ext cx="851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 anchor="ctr">
              <a:spAutoFit/>
            </a:bodyPr>
            <a:lstStyle/>
            <a:p>
              <a:pPr algn="ctr" eaLnBrk="0" hangingPunct="0"/>
              <a:r>
                <a:rPr lang="en-US" sz="2400">
                  <a:latin typeface="Times New Roman" pitchFamily="18" charset="0"/>
                </a:rPr>
                <a:t>Classifier</a:t>
              </a:r>
            </a:p>
          </p:txBody>
        </p:sp>
      </p:grpSp>
      <p:grpSp>
        <p:nvGrpSpPr>
          <p:cNvPr id="3" name="Group 6"/>
          <p:cNvGrpSpPr>
            <a:grpSpLocks/>
          </p:cNvGrpSpPr>
          <p:nvPr/>
        </p:nvGrpSpPr>
        <p:grpSpPr bwMode="auto">
          <a:xfrm>
            <a:off x="2157413" y="2735263"/>
            <a:ext cx="1698625" cy="1506537"/>
            <a:chOff x="1359" y="1723"/>
            <a:chExt cx="1070" cy="949"/>
          </a:xfrm>
        </p:grpSpPr>
        <p:pic>
          <p:nvPicPr>
            <p:cNvPr id="10260" name="Picture 7"/>
            <p:cNvPicPr>
              <a:picLocks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1359" y="1723"/>
              <a:ext cx="1070" cy="9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0261" name="Rectangle 8"/>
            <p:cNvSpPr>
              <a:spLocks noChangeArrowheads="1"/>
            </p:cNvSpPr>
            <p:nvPr/>
          </p:nvSpPr>
          <p:spPr bwMode="auto">
            <a:xfrm>
              <a:off x="1423" y="2032"/>
              <a:ext cx="934" cy="4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2075" tIns="46038" rIns="92075" bIns="46038" anchor="ctr">
              <a:spAutoFit/>
            </a:bodyPr>
            <a:lstStyle/>
            <a:p>
              <a:pPr algn="ctr" eaLnBrk="0" hangingPunct="0"/>
              <a:r>
                <a:rPr lang="en-US" sz="2400">
                  <a:latin typeface="Times New Roman" pitchFamily="18" charset="0"/>
                </a:rPr>
                <a:t>Testing</a:t>
              </a:r>
            </a:p>
            <a:p>
              <a:pPr algn="ctr" eaLnBrk="0" hangingPunct="0"/>
              <a:r>
                <a:rPr lang="en-US" sz="2400">
                  <a:latin typeface="Times New Roman" pitchFamily="18" charset="0"/>
                </a:rPr>
                <a:t>Data</a:t>
              </a:r>
            </a:p>
          </p:txBody>
        </p:sp>
      </p:grpSp>
      <p:graphicFrame>
        <p:nvGraphicFramePr>
          <p:cNvPr id="10246" name="Object 1024"/>
          <p:cNvGraphicFramePr>
            <a:graphicFrameLocks/>
          </p:cNvGraphicFramePr>
          <p:nvPr/>
        </p:nvGraphicFramePr>
        <p:xfrm>
          <a:off x="457200" y="4800600"/>
          <a:ext cx="5438775" cy="176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0" name="Worksheet" r:id="rId6" imgW="5438775" imgH="1765300" progId="">
                  <p:embed/>
                </p:oleObj>
              </mc:Choice>
              <mc:Fallback>
                <p:oleObj name="Worksheet" r:id="rId6" imgW="5438775" imgH="1765300" progId="">
                  <p:embed/>
                  <p:pic>
                    <p:nvPicPr>
                      <p:cNvPr id="0" name="Object 1024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4800600"/>
                        <a:ext cx="5438775" cy="176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7" name="Line 10"/>
          <p:cNvSpPr>
            <a:spLocks noChangeShapeType="1"/>
          </p:cNvSpPr>
          <p:nvPr/>
        </p:nvSpPr>
        <p:spPr bwMode="auto">
          <a:xfrm flipH="1">
            <a:off x="427038" y="4071938"/>
            <a:ext cx="1644650" cy="700087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248" name="Line 11"/>
          <p:cNvSpPr>
            <a:spLocks noChangeShapeType="1"/>
          </p:cNvSpPr>
          <p:nvPr/>
        </p:nvSpPr>
        <p:spPr bwMode="auto">
          <a:xfrm>
            <a:off x="3857625" y="4071938"/>
            <a:ext cx="2025650" cy="700087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249" name="AutoShape 12"/>
          <p:cNvSpPr>
            <a:spLocks noChangeArrowheads="1"/>
          </p:cNvSpPr>
          <p:nvPr/>
        </p:nvSpPr>
        <p:spPr bwMode="auto">
          <a:xfrm>
            <a:off x="7793038" y="5000625"/>
            <a:ext cx="546100" cy="592138"/>
          </a:xfrm>
          <a:prstGeom prst="downArrow">
            <a:avLst>
              <a:gd name="adj1" fmla="val 50000"/>
              <a:gd name="adj2" fmla="val 27118"/>
            </a:avLst>
          </a:prstGeom>
          <a:solidFill>
            <a:srgbClr val="2597B8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250" name="Freeform 13"/>
          <p:cNvSpPr>
            <a:spLocks/>
          </p:cNvSpPr>
          <p:nvPr/>
        </p:nvSpPr>
        <p:spPr bwMode="auto">
          <a:xfrm>
            <a:off x="6523038" y="2173288"/>
            <a:ext cx="941387" cy="766762"/>
          </a:xfrm>
          <a:custGeom>
            <a:avLst/>
            <a:gdLst>
              <a:gd name="T0" fmla="*/ 0 w 593"/>
              <a:gd name="T1" fmla="*/ 2147483647 h 483"/>
              <a:gd name="T2" fmla="*/ 2147483647 w 593"/>
              <a:gd name="T3" fmla="*/ 0 h 483"/>
              <a:gd name="T4" fmla="*/ 2147483647 w 593"/>
              <a:gd name="T5" fmla="*/ 2147483647 h 483"/>
              <a:gd name="T6" fmla="*/ 2147483647 w 593"/>
              <a:gd name="T7" fmla="*/ 2147483647 h 483"/>
              <a:gd name="T8" fmla="*/ 2147483647 w 593"/>
              <a:gd name="T9" fmla="*/ 2147483647 h 483"/>
              <a:gd name="T10" fmla="*/ 2147483647 w 593"/>
              <a:gd name="T11" fmla="*/ 2147483647 h 483"/>
              <a:gd name="T12" fmla="*/ 2147483647 w 593"/>
              <a:gd name="T13" fmla="*/ 2147483647 h 483"/>
              <a:gd name="T14" fmla="*/ 2147483647 w 593"/>
              <a:gd name="T15" fmla="*/ 2147483647 h 483"/>
              <a:gd name="T16" fmla="*/ 2147483647 w 593"/>
              <a:gd name="T17" fmla="*/ 2147483647 h 483"/>
              <a:gd name="T18" fmla="*/ 2147483647 w 593"/>
              <a:gd name="T19" fmla="*/ 2147483647 h 483"/>
              <a:gd name="T20" fmla="*/ 0 w 593"/>
              <a:gd name="T21" fmla="*/ 2147483647 h 483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593"/>
              <a:gd name="T34" fmla="*/ 0 h 483"/>
              <a:gd name="T35" fmla="*/ 593 w 593"/>
              <a:gd name="T36" fmla="*/ 483 h 483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593" h="483">
                <a:moveTo>
                  <a:pt x="0" y="34"/>
                </a:moveTo>
                <a:lnTo>
                  <a:pt x="200" y="0"/>
                </a:lnTo>
                <a:lnTo>
                  <a:pt x="159" y="58"/>
                </a:lnTo>
                <a:lnTo>
                  <a:pt x="515" y="306"/>
                </a:lnTo>
                <a:lnTo>
                  <a:pt x="555" y="248"/>
                </a:lnTo>
                <a:lnTo>
                  <a:pt x="592" y="448"/>
                </a:lnTo>
                <a:lnTo>
                  <a:pt x="392" y="482"/>
                </a:lnTo>
                <a:lnTo>
                  <a:pt x="433" y="424"/>
                </a:lnTo>
                <a:lnTo>
                  <a:pt x="77" y="176"/>
                </a:lnTo>
                <a:lnTo>
                  <a:pt x="37" y="234"/>
                </a:lnTo>
                <a:lnTo>
                  <a:pt x="0" y="34"/>
                </a:lnTo>
              </a:path>
            </a:pathLst>
          </a:custGeom>
          <a:solidFill>
            <a:srgbClr val="2597B8"/>
          </a:solidFill>
          <a:ln w="12700" cap="rnd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grpSp>
        <p:nvGrpSpPr>
          <p:cNvPr id="4" name="Group 14"/>
          <p:cNvGrpSpPr>
            <a:grpSpLocks/>
          </p:cNvGrpSpPr>
          <p:nvPr/>
        </p:nvGrpSpPr>
        <p:grpSpPr bwMode="auto">
          <a:xfrm>
            <a:off x="6646863" y="3187700"/>
            <a:ext cx="1781175" cy="815975"/>
            <a:chOff x="4187" y="2008"/>
            <a:chExt cx="1122" cy="514"/>
          </a:xfrm>
        </p:grpSpPr>
        <p:pic>
          <p:nvPicPr>
            <p:cNvPr id="10258" name="Picture 15"/>
            <p:cNvPicPr>
              <a:picLocks noChangeArrowheads="1"/>
            </p:cNvPicPr>
            <p:nvPr/>
          </p:nvPicPr>
          <p:blipFill>
            <a:blip r:embed="rId8" cstate="print"/>
            <a:srcRect/>
            <a:stretch>
              <a:fillRect/>
            </a:stretch>
          </p:blipFill>
          <p:spPr bwMode="auto">
            <a:xfrm>
              <a:off x="4187" y="2008"/>
              <a:ext cx="1122" cy="51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0259" name="Rectangle 16"/>
            <p:cNvSpPr>
              <a:spLocks noChangeArrowheads="1"/>
            </p:cNvSpPr>
            <p:nvPr/>
          </p:nvSpPr>
          <p:spPr bwMode="auto">
            <a:xfrm>
              <a:off x="4251" y="2180"/>
              <a:ext cx="986" cy="2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 anchor="ctr">
              <a:spAutoFit/>
            </a:bodyPr>
            <a:lstStyle/>
            <a:p>
              <a:pPr algn="ctr" eaLnBrk="0" hangingPunct="0"/>
              <a:r>
                <a:rPr lang="en-US" sz="2400">
                  <a:latin typeface="Times New Roman" pitchFamily="18" charset="0"/>
                </a:rPr>
                <a:t>Unseen Data</a:t>
              </a:r>
            </a:p>
          </p:txBody>
        </p:sp>
      </p:grpSp>
      <p:sp>
        <p:nvSpPr>
          <p:cNvPr id="10252" name="Rectangle 17"/>
          <p:cNvSpPr>
            <a:spLocks noChangeArrowheads="1"/>
          </p:cNvSpPr>
          <p:nvPr/>
        </p:nvSpPr>
        <p:spPr bwMode="auto">
          <a:xfrm>
            <a:off x="6305550" y="4262438"/>
            <a:ext cx="2454275" cy="457200"/>
          </a:xfrm>
          <a:prstGeom prst="rect">
            <a:avLst/>
          </a:prstGeom>
          <a:solidFill>
            <a:srgbClr val="FFCC99"/>
          </a:solidFill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algn="ctr" eaLnBrk="0" hangingPunct="0"/>
            <a:r>
              <a:rPr lang="en-US" sz="2400">
                <a:latin typeface="Times New Roman" pitchFamily="18" charset="0"/>
              </a:rPr>
              <a:t>(Jeff, Professor, 4)</a:t>
            </a:r>
          </a:p>
        </p:txBody>
      </p:sp>
      <p:sp>
        <p:nvSpPr>
          <p:cNvPr id="10253" name="Line 18"/>
          <p:cNvSpPr>
            <a:spLocks noChangeShapeType="1"/>
          </p:cNvSpPr>
          <p:nvPr/>
        </p:nvSpPr>
        <p:spPr bwMode="auto">
          <a:xfrm flipH="1">
            <a:off x="6167438" y="3903663"/>
            <a:ext cx="471487" cy="3937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254" name="Line 19"/>
          <p:cNvSpPr>
            <a:spLocks noChangeShapeType="1"/>
          </p:cNvSpPr>
          <p:nvPr/>
        </p:nvSpPr>
        <p:spPr bwMode="auto">
          <a:xfrm>
            <a:off x="8448675" y="3903663"/>
            <a:ext cx="363538" cy="34925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255" name="Freeform 20"/>
          <p:cNvSpPr>
            <a:spLocks/>
          </p:cNvSpPr>
          <p:nvPr/>
        </p:nvSpPr>
        <p:spPr bwMode="auto">
          <a:xfrm>
            <a:off x="3360738" y="2032000"/>
            <a:ext cx="901700" cy="593725"/>
          </a:xfrm>
          <a:custGeom>
            <a:avLst/>
            <a:gdLst>
              <a:gd name="T0" fmla="*/ 2147483647 w 568"/>
              <a:gd name="T1" fmla="*/ 2147483647 h 374"/>
              <a:gd name="T2" fmla="*/ 2147483647 w 568"/>
              <a:gd name="T3" fmla="*/ 2147483647 h 374"/>
              <a:gd name="T4" fmla="*/ 2147483647 w 568"/>
              <a:gd name="T5" fmla="*/ 2147483647 h 374"/>
              <a:gd name="T6" fmla="*/ 2147483647 w 568"/>
              <a:gd name="T7" fmla="*/ 2147483647 h 374"/>
              <a:gd name="T8" fmla="*/ 2147483647 w 568"/>
              <a:gd name="T9" fmla="*/ 2147483647 h 374"/>
              <a:gd name="T10" fmla="*/ 0 w 568"/>
              <a:gd name="T11" fmla="*/ 2147483647 h 374"/>
              <a:gd name="T12" fmla="*/ 2147483647 w 568"/>
              <a:gd name="T13" fmla="*/ 2147483647 h 374"/>
              <a:gd name="T14" fmla="*/ 2147483647 w 568"/>
              <a:gd name="T15" fmla="*/ 2147483647 h 374"/>
              <a:gd name="T16" fmla="*/ 2147483647 w 568"/>
              <a:gd name="T17" fmla="*/ 2147483647 h 374"/>
              <a:gd name="T18" fmla="*/ 2147483647 w 568"/>
              <a:gd name="T19" fmla="*/ 0 h 374"/>
              <a:gd name="T20" fmla="*/ 2147483647 w 568"/>
              <a:gd name="T21" fmla="*/ 2147483647 h 374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568"/>
              <a:gd name="T34" fmla="*/ 0 h 374"/>
              <a:gd name="T35" fmla="*/ 568 w 568"/>
              <a:gd name="T36" fmla="*/ 374 h 374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568" h="374">
                <a:moveTo>
                  <a:pt x="567" y="59"/>
                </a:moveTo>
                <a:lnTo>
                  <a:pt x="503" y="220"/>
                </a:lnTo>
                <a:lnTo>
                  <a:pt x="478" y="165"/>
                </a:lnTo>
                <a:lnTo>
                  <a:pt x="138" y="318"/>
                </a:lnTo>
                <a:lnTo>
                  <a:pt x="163" y="373"/>
                </a:lnTo>
                <a:lnTo>
                  <a:pt x="0" y="314"/>
                </a:lnTo>
                <a:lnTo>
                  <a:pt x="64" y="153"/>
                </a:lnTo>
                <a:lnTo>
                  <a:pt x="89" y="208"/>
                </a:lnTo>
                <a:lnTo>
                  <a:pt x="429" y="55"/>
                </a:lnTo>
                <a:lnTo>
                  <a:pt x="404" y="0"/>
                </a:lnTo>
                <a:lnTo>
                  <a:pt x="567" y="59"/>
                </a:lnTo>
              </a:path>
            </a:pathLst>
          </a:custGeom>
          <a:solidFill>
            <a:srgbClr val="2597B8"/>
          </a:solidFill>
          <a:ln w="12700" cap="rnd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pic>
        <p:nvPicPr>
          <p:cNvPr id="10256" name="Picture 21"/>
          <p:cNvPicPr>
            <a:picLocks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7720013" y="5738813"/>
            <a:ext cx="720725" cy="628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57" name="Rectangle 22"/>
          <p:cNvSpPr>
            <a:spLocks noChangeArrowheads="1"/>
          </p:cNvSpPr>
          <p:nvPr/>
        </p:nvSpPr>
        <p:spPr bwMode="auto">
          <a:xfrm>
            <a:off x="6221413" y="4959350"/>
            <a:ext cx="1525587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algn="ctr" eaLnBrk="0" hangingPunct="0"/>
            <a:r>
              <a:rPr lang="en-US" sz="2800">
                <a:latin typeface="Times New Roman" pitchFamily="18" charset="0"/>
              </a:rPr>
              <a:t>Tenured?</a:t>
            </a:r>
          </a:p>
        </p:txBody>
      </p:sp>
      <p:sp>
        <p:nvSpPr>
          <p:cNvPr id="23" name="Date Placeholder 2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CSE, BUET</a:t>
            </a:r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81000"/>
            <a:ext cx="9144000" cy="609600"/>
          </a:xfrm>
          <a:noFill/>
        </p:spPr>
        <p:txBody>
          <a:bodyPr lIns="92075" tIns="46038" rIns="92075" bIns="46038" anchor="ctr">
            <a:normAutofit fontScale="90000"/>
          </a:bodyPr>
          <a:lstStyle/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dirty="0" smtClean="0"/>
              <a:t>What is decision tree? </a:t>
            </a: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dirty="0" smtClean="0"/>
              <a:t/>
            </a:r>
            <a:br>
              <a:rPr lang="en-US" dirty="0" smtClean="0"/>
            </a:br>
            <a:endParaRPr lang="en-US" dirty="0" smtClean="0"/>
          </a:p>
        </p:txBody>
      </p:sp>
      <p:sp>
        <p:nvSpPr>
          <p:cNvPr id="11268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304800" y="1447800"/>
            <a:ext cx="8382000" cy="5105400"/>
          </a:xfrm>
          <a:noFill/>
        </p:spPr>
        <p:txBody>
          <a:bodyPr lIns="92075" tIns="46038" rIns="92075" bIns="46038">
            <a:normAutofit/>
          </a:bodyPr>
          <a:lstStyle/>
          <a:p>
            <a:r>
              <a:rPr lang="en-US" dirty="0" smtClean="0"/>
              <a:t>Decision tree is a flow-chart-like tree structure</a:t>
            </a:r>
          </a:p>
          <a:p>
            <a:pPr lvl="1"/>
            <a:r>
              <a:rPr lang="en-US" dirty="0" smtClean="0"/>
              <a:t>each internal node denotes a test on an attribute </a:t>
            </a:r>
          </a:p>
          <a:p>
            <a:pPr lvl="1"/>
            <a:r>
              <a:rPr lang="en-US" dirty="0" smtClean="0"/>
              <a:t>each branch represents an outcome of the test, and </a:t>
            </a:r>
          </a:p>
          <a:p>
            <a:pPr lvl="1"/>
            <a:r>
              <a:rPr lang="en-US" dirty="0" smtClean="0"/>
              <a:t>each leaf represents a class or class distribution</a:t>
            </a:r>
          </a:p>
          <a:p>
            <a:r>
              <a:rPr lang="en-US" dirty="0" smtClean="0"/>
              <a:t>To classify an unseen instance </a:t>
            </a:r>
          </a:p>
          <a:p>
            <a:pPr lvl="1"/>
            <a:r>
              <a:rPr lang="en-US" dirty="0" smtClean="0"/>
              <a:t>the attribute values of the instance are tested against the decision tree </a:t>
            </a:r>
          </a:p>
          <a:p>
            <a:pPr lvl="1"/>
            <a:r>
              <a:rPr lang="en-US" dirty="0" smtClean="0"/>
              <a:t>a path is traced from the root to a leaf which holds the class prediction for the instance</a:t>
            </a:r>
          </a:p>
          <a:p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CSE, BUET</a:t>
            </a:r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"/>
          <p:cNvSpPr txBox="1">
            <a:spLocks noChangeArrowheads="1"/>
          </p:cNvSpPr>
          <p:nvPr/>
        </p:nvSpPr>
        <p:spPr>
          <a:xfrm>
            <a:off x="304800" y="1447800"/>
            <a:ext cx="8382000" cy="5105400"/>
          </a:xfrm>
          <a:prstGeom prst="rect">
            <a:avLst/>
          </a:prstGeom>
          <a:noFill/>
        </p:spPr>
        <p:txBody>
          <a:bodyPr lIns="92075" tIns="46038" rIns="92075" bIns="46038">
            <a:normAutofit/>
          </a:bodyPr>
          <a:lstStyle/>
          <a:p>
            <a:pPr marL="274320" marR="0" lvl="0" indent="-274320" algn="l" defTabSz="914400" rtl="0" eaLnBrk="1" fontAlgn="auto" latinLnBrk="0" hangingPunct="1">
              <a:lnSpc>
                <a:spcPct val="130000"/>
              </a:lnSpc>
              <a:spcBef>
                <a:spcPts val="580"/>
              </a:spcBef>
              <a:spcAft>
                <a:spcPts val="0"/>
              </a:spcAft>
              <a:buClr>
                <a:schemeClr val="accent1"/>
              </a:buClr>
              <a:buSzPct val="85000"/>
              <a:buFont typeface="Wingdings 2"/>
              <a:buChar char=""/>
              <a:tabLst/>
              <a:defRPr/>
            </a:pPr>
            <a:r>
              <a:rPr lang="en-US" sz="2800" dirty="0" smtClean="0">
                <a:latin typeface="+mn-lt"/>
              </a:rPr>
              <a:t>Training data set: </a:t>
            </a:r>
            <a:r>
              <a:rPr lang="en-US" sz="2800" dirty="0" err="1" smtClean="0">
                <a:latin typeface="+mn-lt"/>
              </a:rPr>
              <a:t>Buys_computer</a:t>
            </a:r>
            <a:endParaRPr lang="en-US" sz="2800" dirty="0" smtClean="0">
              <a:latin typeface="+mn-lt"/>
            </a:endParaRPr>
          </a:p>
          <a:p>
            <a:pPr marL="274320" marR="0" lvl="0" indent="-274320" algn="l" defTabSz="914400" rtl="0" eaLnBrk="1" fontAlgn="auto" latinLnBrk="0" hangingPunct="1">
              <a:lnSpc>
                <a:spcPct val="130000"/>
              </a:lnSpc>
              <a:spcBef>
                <a:spcPts val="580"/>
              </a:spcBef>
              <a:spcAft>
                <a:spcPts val="0"/>
              </a:spcAft>
              <a:buClr>
                <a:schemeClr val="accent1"/>
              </a:buClr>
              <a:buSzPct val="85000"/>
              <a:buFont typeface="Wingdings 2"/>
              <a:buChar char=""/>
              <a:tabLst/>
              <a:defRPr/>
            </a:pPr>
            <a:r>
              <a:rPr lang="en-US" sz="2800" dirty="0" smtClean="0">
                <a:latin typeface="+mn-lt"/>
              </a:rPr>
              <a:t>Resulting tree:</a:t>
            </a:r>
          </a:p>
        </p:txBody>
      </p:sp>
      <p:sp>
        <p:nvSpPr>
          <p:cNvPr id="32" name="Rectangle 2"/>
          <p:cNvSpPr txBox="1">
            <a:spLocks noChangeArrowheads="1"/>
          </p:cNvSpPr>
          <p:nvPr/>
        </p:nvSpPr>
        <p:spPr>
          <a:xfrm>
            <a:off x="0" y="381000"/>
            <a:ext cx="9144000" cy="609600"/>
          </a:xfrm>
          <a:prstGeom prst="rect">
            <a:avLst/>
          </a:prstGeom>
          <a:noFill/>
        </p:spPr>
        <p:txBody>
          <a:bodyPr lIns="92075" tIns="46038" rIns="92075" bIns="46038" anchor="ctr" anchorCtr="0">
            <a:noAutofit/>
          </a:bodyPr>
          <a:lstStyle/>
          <a:p>
            <a:pPr lvl="0" eaLnBrk="1" fontAlgn="auto" hangingPunct="1">
              <a:spcAft>
                <a:spcPts val="0"/>
              </a:spcAft>
            </a:pPr>
            <a:r>
              <a:rPr lang="en-US" sz="3600" dirty="0" smtClean="0">
                <a:solidFill>
                  <a:schemeClr val="tx2"/>
                </a:solidFill>
                <a:latin typeface="+mj-lt"/>
              </a:rPr>
              <a:t>Decision Tree Induction: An Example</a:t>
            </a:r>
            <a:endParaRPr kumimoji="0" lang="en-US" sz="3600" i="0" u="none" strike="noStrike" kern="120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grpSp>
        <p:nvGrpSpPr>
          <p:cNvPr id="2" name="Group 63"/>
          <p:cNvGrpSpPr>
            <a:grpSpLocks/>
          </p:cNvGrpSpPr>
          <p:nvPr/>
        </p:nvGrpSpPr>
        <p:grpSpPr bwMode="auto">
          <a:xfrm>
            <a:off x="95250" y="2819400"/>
            <a:ext cx="6305550" cy="3810000"/>
            <a:chOff x="768" y="1152"/>
            <a:chExt cx="3972" cy="2400"/>
          </a:xfrm>
        </p:grpSpPr>
        <p:sp>
          <p:nvSpPr>
            <p:cNvPr id="12295" name="Rectangle 3"/>
            <p:cNvSpPr>
              <a:spLocks noChangeArrowheads="1"/>
            </p:cNvSpPr>
            <p:nvPr/>
          </p:nvSpPr>
          <p:spPr bwMode="auto">
            <a:xfrm>
              <a:off x="2387" y="1152"/>
              <a:ext cx="475" cy="296"/>
            </a:xfrm>
            <a:prstGeom prst="rect">
              <a:avLst/>
            </a:prstGeom>
            <a:solidFill>
              <a:srgbClr val="00CC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algn="ctr" eaLnBrk="0" hangingPunct="0"/>
              <a:r>
                <a:rPr lang="en-US" sz="2400">
                  <a:latin typeface="Times New Roman" pitchFamily="18" charset="0"/>
                </a:rPr>
                <a:t>age?</a:t>
              </a:r>
            </a:p>
          </p:txBody>
        </p:sp>
        <p:sp>
          <p:nvSpPr>
            <p:cNvPr id="12296" name="Rectangle 4"/>
            <p:cNvSpPr>
              <a:spLocks noChangeArrowheads="1"/>
            </p:cNvSpPr>
            <p:nvPr/>
          </p:nvSpPr>
          <p:spPr bwMode="auto">
            <a:xfrm>
              <a:off x="2245" y="1766"/>
              <a:ext cx="755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algn="ctr" eaLnBrk="0" hangingPunct="0"/>
              <a:r>
                <a:rPr lang="en-US" sz="2400">
                  <a:latin typeface="Times New Roman" pitchFamily="18" charset="0"/>
                </a:rPr>
                <a:t>overcast</a:t>
              </a:r>
            </a:p>
          </p:txBody>
        </p:sp>
        <p:sp>
          <p:nvSpPr>
            <p:cNvPr id="12297" name="Rectangle 5"/>
            <p:cNvSpPr>
              <a:spLocks noChangeArrowheads="1"/>
            </p:cNvSpPr>
            <p:nvPr/>
          </p:nvSpPr>
          <p:spPr bwMode="auto">
            <a:xfrm>
              <a:off x="1229" y="2342"/>
              <a:ext cx="763" cy="296"/>
            </a:xfrm>
            <a:prstGeom prst="rect">
              <a:avLst/>
            </a:prstGeom>
            <a:solidFill>
              <a:srgbClr val="00FFC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algn="ctr" eaLnBrk="0" hangingPunct="0"/>
              <a:r>
                <a:rPr lang="en-US" sz="2400">
                  <a:latin typeface="Times New Roman" pitchFamily="18" charset="0"/>
                </a:rPr>
                <a:t>student?</a:t>
              </a:r>
            </a:p>
          </p:txBody>
        </p:sp>
        <p:sp>
          <p:nvSpPr>
            <p:cNvPr id="12298" name="Rectangle 6"/>
            <p:cNvSpPr>
              <a:spLocks noChangeArrowheads="1"/>
            </p:cNvSpPr>
            <p:nvPr/>
          </p:nvSpPr>
          <p:spPr bwMode="auto">
            <a:xfrm>
              <a:off x="3432" y="2342"/>
              <a:ext cx="1140" cy="296"/>
            </a:xfrm>
            <a:prstGeom prst="rect">
              <a:avLst/>
            </a:prstGeom>
            <a:solidFill>
              <a:srgbClr val="99CC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algn="ctr" eaLnBrk="0" hangingPunct="0"/>
              <a:r>
                <a:rPr lang="en-US" sz="2400">
                  <a:latin typeface="Times New Roman" pitchFamily="18" charset="0"/>
                </a:rPr>
                <a:t>credit rating?</a:t>
              </a:r>
            </a:p>
          </p:txBody>
        </p:sp>
        <p:sp>
          <p:nvSpPr>
            <p:cNvPr id="12299" name="Line 11"/>
            <p:cNvSpPr>
              <a:spLocks noChangeShapeType="1"/>
            </p:cNvSpPr>
            <p:nvPr/>
          </p:nvSpPr>
          <p:spPr bwMode="auto">
            <a:xfrm flipH="1">
              <a:off x="1619" y="1462"/>
              <a:ext cx="625" cy="83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00" name="Line 12"/>
            <p:cNvSpPr>
              <a:spLocks noChangeShapeType="1"/>
            </p:cNvSpPr>
            <p:nvPr/>
          </p:nvSpPr>
          <p:spPr bwMode="auto">
            <a:xfrm flipH="1">
              <a:off x="2622" y="1491"/>
              <a:ext cx="1" cy="34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01" name="Line 13"/>
            <p:cNvSpPr>
              <a:spLocks noChangeShapeType="1"/>
            </p:cNvSpPr>
            <p:nvPr/>
          </p:nvSpPr>
          <p:spPr bwMode="auto">
            <a:xfrm>
              <a:off x="2928" y="1440"/>
              <a:ext cx="1051" cy="89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02" name="Rectangle 14"/>
            <p:cNvSpPr>
              <a:spLocks noChangeArrowheads="1"/>
            </p:cNvSpPr>
            <p:nvPr/>
          </p:nvSpPr>
          <p:spPr bwMode="auto">
            <a:xfrm>
              <a:off x="1513" y="1730"/>
              <a:ext cx="534" cy="296"/>
            </a:xfrm>
            <a:prstGeom prst="rect">
              <a:avLst/>
            </a:prstGeom>
            <a:solidFill>
              <a:srgbClr val="FFFF00"/>
            </a:solidFill>
            <a:ln w="1270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algn="ctr" eaLnBrk="0" hangingPunct="0"/>
              <a:r>
                <a:rPr lang="en-US" sz="2400" b="1">
                  <a:latin typeface="Times New Roman" pitchFamily="18" charset="0"/>
                </a:rPr>
                <a:t>&lt;=30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12303" name="Rectangle 15"/>
            <p:cNvSpPr>
              <a:spLocks noChangeArrowheads="1"/>
            </p:cNvSpPr>
            <p:nvPr/>
          </p:nvSpPr>
          <p:spPr bwMode="auto">
            <a:xfrm>
              <a:off x="3364" y="1804"/>
              <a:ext cx="417" cy="288"/>
            </a:xfrm>
            <a:prstGeom prst="rect">
              <a:avLst/>
            </a:prstGeom>
            <a:solidFill>
              <a:srgbClr val="FFFF00"/>
            </a:solidFill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algn="ctr" eaLnBrk="0" hangingPunct="0"/>
              <a:r>
                <a:rPr lang="en-US" sz="2400" b="1">
                  <a:latin typeface="Times New Roman" pitchFamily="18" charset="0"/>
                </a:rPr>
                <a:t>&gt;40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12304" name="Line 16"/>
            <p:cNvSpPr>
              <a:spLocks noChangeShapeType="1"/>
            </p:cNvSpPr>
            <p:nvPr/>
          </p:nvSpPr>
          <p:spPr bwMode="auto">
            <a:xfrm flipH="1">
              <a:off x="960" y="2640"/>
              <a:ext cx="528" cy="62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05" name="Line 17"/>
            <p:cNvSpPr>
              <a:spLocks noChangeShapeType="1"/>
            </p:cNvSpPr>
            <p:nvPr/>
          </p:nvSpPr>
          <p:spPr bwMode="auto">
            <a:xfrm>
              <a:off x="1728" y="2640"/>
              <a:ext cx="480" cy="62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06" name="Line 18"/>
            <p:cNvSpPr>
              <a:spLocks noChangeShapeType="1"/>
            </p:cNvSpPr>
            <p:nvPr/>
          </p:nvSpPr>
          <p:spPr bwMode="auto">
            <a:xfrm flipH="1">
              <a:off x="3360" y="2640"/>
              <a:ext cx="480" cy="57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07" name="Line 19"/>
            <p:cNvSpPr>
              <a:spLocks noChangeShapeType="1"/>
            </p:cNvSpPr>
            <p:nvPr/>
          </p:nvSpPr>
          <p:spPr bwMode="auto">
            <a:xfrm>
              <a:off x="4128" y="2640"/>
              <a:ext cx="432" cy="57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08" name="Line 24"/>
            <p:cNvSpPr>
              <a:spLocks noChangeShapeType="1"/>
            </p:cNvSpPr>
            <p:nvPr/>
          </p:nvSpPr>
          <p:spPr bwMode="auto">
            <a:xfrm>
              <a:off x="2623" y="2029"/>
              <a:ext cx="0" cy="27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09" name="Rectangle 25"/>
            <p:cNvSpPr>
              <a:spLocks noChangeArrowheads="1"/>
            </p:cNvSpPr>
            <p:nvPr/>
          </p:nvSpPr>
          <p:spPr bwMode="auto">
            <a:xfrm>
              <a:off x="768" y="3264"/>
              <a:ext cx="308" cy="288"/>
            </a:xfrm>
            <a:prstGeom prst="rect">
              <a:avLst/>
            </a:prstGeom>
            <a:solidFill>
              <a:srgbClr val="FFCC99"/>
            </a:solidFill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algn="ctr" eaLnBrk="0" hangingPunct="0"/>
              <a:r>
                <a:rPr lang="en-US" sz="2400">
                  <a:latin typeface="Times New Roman" pitchFamily="18" charset="0"/>
                </a:rPr>
                <a:t>no</a:t>
              </a:r>
            </a:p>
          </p:txBody>
        </p:sp>
        <p:sp>
          <p:nvSpPr>
            <p:cNvPr id="12310" name="Rectangle 27"/>
            <p:cNvSpPr>
              <a:spLocks noChangeArrowheads="1"/>
            </p:cNvSpPr>
            <p:nvPr/>
          </p:nvSpPr>
          <p:spPr bwMode="auto">
            <a:xfrm>
              <a:off x="2028" y="3264"/>
              <a:ext cx="372" cy="288"/>
            </a:xfrm>
            <a:prstGeom prst="rect">
              <a:avLst/>
            </a:prstGeom>
            <a:solidFill>
              <a:srgbClr val="00FF00"/>
            </a:solidFill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algn="ctr" eaLnBrk="0" hangingPunct="0"/>
              <a:r>
                <a:rPr lang="en-US" sz="2400">
                  <a:latin typeface="Times New Roman" pitchFamily="18" charset="0"/>
                </a:rPr>
                <a:t>yes</a:t>
              </a:r>
            </a:p>
          </p:txBody>
        </p:sp>
        <p:sp>
          <p:nvSpPr>
            <p:cNvPr id="12311" name="Rectangle 28"/>
            <p:cNvSpPr>
              <a:spLocks noChangeArrowheads="1"/>
            </p:cNvSpPr>
            <p:nvPr/>
          </p:nvSpPr>
          <p:spPr bwMode="auto">
            <a:xfrm>
              <a:off x="4368" y="3216"/>
              <a:ext cx="372" cy="288"/>
            </a:xfrm>
            <a:prstGeom prst="rect">
              <a:avLst/>
            </a:prstGeom>
            <a:solidFill>
              <a:srgbClr val="00FF00"/>
            </a:solidFill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algn="ctr" eaLnBrk="0" hangingPunct="0"/>
              <a:r>
                <a:rPr lang="en-US" sz="2400">
                  <a:latin typeface="Times New Roman" pitchFamily="18" charset="0"/>
                </a:rPr>
                <a:t>yes</a:t>
              </a:r>
            </a:p>
          </p:txBody>
        </p:sp>
        <p:sp>
          <p:nvSpPr>
            <p:cNvPr id="12312" name="Rectangle 29"/>
            <p:cNvSpPr>
              <a:spLocks noChangeArrowheads="1"/>
            </p:cNvSpPr>
            <p:nvPr/>
          </p:nvSpPr>
          <p:spPr bwMode="auto">
            <a:xfrm>
              <a:off x="2437" y="2344"/>
              <a:ext cx="372" cy="288"/>
            </a:xfrm>
            <a:prstGeom prst="rect">
              <a:avLst/>
            </a:prstGeom>
            <a:solidFill>
              <a:srgbClr val="00FF00"/>
            </a:solidFill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algn="ctr" eaLnBrk="0" hangingPunct="0"/>
              <a:r>
                <a:rPr lang="en-US" sz="2400">
                  <a:latin typeface="Times New Roman" pitchFamily="18" charset="0"/>
                </a:rPr>
                <a:t>yes</a:t>
              </a:r>
            </a:p>
          </p:txBody>
        </p:sp>
        <p:sp>
          <p:nvSpPr>
            <p:cNvPr id="12313" name="Rectangle 30"/>
            <p:cNvSpPr>
              <a:spLocks noChangeArrowheads="1"/>
            </p:cNvSpPr>
            <p:nvPr/>
          </p:nvSpPr>
          <p:spPr bwMode="auto">
            <a:xfrm>
              <a:off x="2256" y="1824"/>
              <a:ext cx="672" cy="192"/>
            </a:xfrm>
            <a:prstGeom prst="rect">
              <a:avLst/>
            </a:prstGeom>
            <a:solidFill>
              <a:srgbClr val="FFFF00"/>
            </a:solidFill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000" b="1">
                  <a:latin typeface="Times New Roman" pitchFamily="18" charset="0"/>
                </a:rPr>
                <a:t>31..40</a:t>
              </a:r>
              <a:endParaRPr lang="en-US">
                <a:latin typeface="Times New Roman" pitchFamily="18" charset="0"/>
              </a:endParaRPr>
            </a:p>
          </p:txBody>
        </p:sp>
        <p:sp>
          <p:nvSpPr>
            <p:cNvPr id="12314" name="Rectangle 62"/>
            <p:cNvSpPr>
              <a:spLocks noChangeArrowheads="1"/>
            </p:cNvSpPr>
            <p:nvPr/>
          </p:nvSpPr>
          <p:spPr bwMode="auto">
            <a:xfrm rot="-143156">
              <a:off x="3168" y="3216"/>
              <a:ext cx="308" cy="288"/>
            </a:xfrm>
            <a:prstGeom prst="rect">
              <a:avLst/>
            </a:prstGeom>
            <a:solidFill>
              <a:srgbClr val="FFCC99"/>
            </a:solidFill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algn="ctr" eaLnBrk="0" hangingPunct="0"/>
              <a:r>
                <a:rPr lang="en-US" sz="2400">
                  <a:latin typeface="Times New Roman" pitchFamily="18" charset="0"/>
                </a:rPr>
                <a:t>no</a:t>
              </a:r>
            </a:p>
          </p:txBody>
        </p:sp>
        <p:sp>
          <p:nvSpPr>
            <p:cNvPr id="12315" name="Rectangle 9"/>
            <p:cNvSpPr>
              <a:spLocks noChangeArrowheads="1"/>
            </p:cNvSpPr>
            <p:nvPr/>
          </p:nvSpPr>
          <p:spPr bwMode="auto">
            <a:xfrm>
              <a:off x="4176" y="2784"/>
              <a:ext cx="382" cy="288"/>
            </a:xfrm>
            <a:prstGeom prst="rect">
              <a:avLst/>
            </a:prstGeom>
            <a:solidFill>
              <a:srgbClr val="FFFF00"/>
            </a:solidFill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algn="ctr" eaLnBrk="0" hangingPunct="0"/>
              <a:r>
                <a:rPr lang="en-US" sz="2400">
                  <a:latin typeface="Times New Roman" pitchFamily="18" charset="0"/>
                </a:rPr>
                <a:t>fair</a:t>
              </a:r>
            </a:p>
          </p:txBody>
        </p:sp>
        <p:sp>
          <p:nvSpPr>
            <p:cNvPr id="12316" name="Rectangle 10"/>
            <p:cNvSpPr>
              <a:spLocks noChangeArrowheads="1"/>
            </p:cNvSpPr>
            <p:nvPr/>
          </p:nvSpPr>
          <p:spPr bwMode="auto">
            <a:xfrm>
              <a:off x="3072" y="2784"/>
              <a:ext cx="807" cy="288"/>
            </a:xfrm>
            <a:prstGeom prst="rect">
              <a:avLst/>
            </a:prstGeom>
            <a:solidFill>
              <a:srgbClr val="FFFF00"/>
            </a:solidFill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algn="ctr" eaLnBrk="0" hangingPunct="0"/>
              <a:r>
                <a:rPr lang="en-US" sz="2400">
                  <a:latin typeface="Times New Roman" pitchFamily="18" charset="0"/>
                </a:rPr>
                <a:t>excellent</a:t>
              </a:r>
            </a:p>
          </p:txBody>
        </p:sp>
        <p:sp>
          <p:nvSpPr>
            <p:cNvPr id="12317" name="Rectangle 8"/>
            <p:cNvSpPr>
              <a:spLocks noChangeArrowheads="1"/>
            </p:cNvSpPr>
            <p:nvPr/>
          </p:nvSpPr>
          <p:spPr bwMode="auto">
            <a:xfrm>
              <a:off x="1872" y="2832"/>
              <a:ext cx="372" cy="288"/>
            </a:xfrm>
            <a:prstGeom prst="rect">
              <a:avLst/>
            </a:prstGeom>
            <a:solidFill>
              <a:srgbClr val="FFFF00"/>
            </a:solidFill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algn="ctr" eaLnBrk="0" hangingPunct="0"/>
              <a:r>
                <a:rPr lang="en-US" sz="2400">
                  <a:latin typeface="Times New Roman" pitchFamily="18" charset="0"/>
                </a:rPr>
                <a:t>yes</a:t>
              </a:r>
            </a:p>
          </p:txBody>
        </p:sp>
        <p:sp>
          <p:nvSpPr>
            <p:cNvPr id="12318" name="Rectangle 7"/>
            <p:cNvSpPr>
              <a:spLocks noChangeArrowheads="1"/>
            </p:cNvSpPr>
            <p:nvPr/>
          </p:nvSpPr>
          <p:spPr bwMode="auto">
            <a:xfrm>
              <a:off x="960" y="2832"/>
              <a:ext cx="432" cy="288"/>
            </a:xfrm>
            <a:prstGeom prst="rect">
              <a:avLst/>
            </a:prstGeom>
            <a:solidFill>
              <a:srgbClr val="FFFF00"/>
            </a:solidFill>
            <a:ln w="9525">
              <a:noFill/>
              <a:miter lim="800000"/>
              <a:headEnd/>
              <a:tailEnd/>
            </a:ln>
          </p:spPr>
          <p:txBody>
            <a:bodyPr lIns="92075" tIns="46038" rIns="92075" bIns="46038">
              <a:spAutoFit/>
            </a:bodyPr>
            <a:lstStyle/>
            <a:p>
              <a:pPr algn="ctr" eaLnBrk="0" hangingPunct="0"/>
              <a:r>
                <a:rPr lang="en-US" sz="2400">
                  <a:latin typeface="Times New Roman" pitchFamily="18" charset="0"/>
                </a:rPr>
                <a:t>no</a:t>
              </a:r>
            </a:p>
          </p:txBody>
        </p:sp>
      </p:grpSp>
      <p:graphicFrame>
        <p:nvGraphicFramePr>
          <p:cNvPr id="12293" name="Object 1024"/>
          <p:cNvGraphicFramePr>
            <a:graphicFrameLocks/>
          </p:cNvGraphicFramePr>
          <p:nvPr/>
        </p:nvGraphicFramePr>
        <p:xfrm>
          <a:off x="5192713" y="1143000"/>
          <a:ext cx="3951287" cy="342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" name="Worksheet" r:id="rId4" imgW="5772150" imgH="4457700" progId="">
                  <p:embed/>
                </p:oleObj>
              </mc:Choice>
              <mc:Fallback>
                <p:oleObj name="Worksheet" r:id="rId4" imgW="5772150" imgH="4457700" progId="">
                  <p:embed/>
                  <p:pic>
                    <p:nvPicPr>
                      <p:cNvPr id="0" name="Object 1024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92713" y="1143000"/>
                        <a:ext cx="3951287" cy="3429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CSE, BUET</a:t>
            </a:r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81000"/>
            <a:ext cx="9144000" cy="609600"/>
          </a:xfrm>
          <a:noFill/>
        </p:spPr>
        <p:txBody>
          <a:bodyPr lIns="92075" tIns="46038" rIns="92075" bIns="46038" anchor="ctr">
            <a:normAutofit fontScale="90000"/>
          </a:bodyPr>
          <a:lstStyle/>
          <a:p>
            <a:pPr eaLnBrk="1" hangingPunct="1"/>
            <a:r>
              <a:rPr lang="en-US" dirty="0" smtClean="0"/>
              <a:t>Classification Methods</a:t>
            </a:r>
            <a:endParaRPr lang="en-US" dirty="0" smtClean="0"/>
          </a:p>
        </p:txBody>
      </p:sp>
      <p:sp>
        <p:nvSpPr>
          <p:cNvPr id="11268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304800" y="1447800"/>
            <a:ext cx="8382000" cy="5105400"/>
          </a:xfrm>
          <a:noFill/>
        </p:spPr>
        <p:txBody>
          <a:bodyPr lIns="92075" tIns="46038" rIns="92075" bIns="46038"/>
          <a:lstStyle/>
          <a:p>
            <a:pPr>
              <a:lnSpc>
                <a:spcPct val="130000"/>
              </a:lnSpc>
            </a:pPr>
            <a:r>
              <a:rPr lang="en-US" dirty="0" smtClean="0"/>
              <a:t>Logistic Regression</a:t>
            </a:r>
          </a:p>
          <a:p>
            <a:pPr>
              <a:lnSpc>
                <a:spcPct val="130000"/>
              </a:lnSpc>
            </a:pPr>
            <a:r>
              <a:rPr lang="en-US" dirty="0" smtClean="0"/>
              <a:t>Decision </a:t>
            </a:r>
            <a:r>
              <a:rPr lang="en-US" dirty="0" smtClean="0"/>
              <a:t>Tree Induction</a:t>
            </a:r>
          </a:p>
          <a:p>
            <a:pPr>
              <a:lnSpc>
                <a:spcPct val="130000"/>
              </a:lnSpc>
            </a:pPr>
            <a:r>
              <a:rPr lang="en-US" dirty="0" err="1" smtClean="0"/>
              <a:t>Bayes</a:t>
            </a:r>
            <a:r>
              <a:rPr lang="en-US" dirty="0" smtClean="0"/>
              <a:t> Classification Methods</a:t>
            </a:r>
          </a:p>
          <a:p>
            <a:pPr>
              <a:lnSpc>
                <a:spcPct val="130000"/>
              </a:lnSpc>
            </a:pPr>
            <a:r>
              <a:rPr lang="en-US" dirty="0" smtClean="0"/>
              <a:t>Rule-Based </a:t>
            </a:r>
            <a:r>
              <a:rPr lang="en-US" dirty="0" smtClean="0"/>
              <a:t>Classification</a:t>
            </a:r>
          </a:p>
          <a:p>
            <a:pPr>
              <a:lnSpc>
                <a:spcPct val="130000"/>
              </a:lnSpc>
            </a:pPr>
            <a:r>
              <a:rPr lang="en-US" dirty="0" smtClean="0"/>
              <a:t>KNN Classification</a:t>
            </a:r>
            <a:endParaRPr lang="en-US" dirty="0" smtClean="0"/>
          </a:p>
          <a:p>
            <a:pPr>
              <a:lnSpc>
                <a:spcPct val="130000"/>
              </a:lnSpc>
            </a:pPr>
            <a:r>
              <a:rPr lang="en-US" dirty="0" smtClean="0"/>
              <a:t>Model Evaluation and </a:t>
            </a:r>
            <a:r>
              <a:rPr lang="en-US" dirty="0" smtClean="0"/>
              <a:t>Selection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CSE, BUET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699510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0" y="381000"/>
            <a:ext cx="9144000" cy="609600"/>
          </a:xfrm>
          <a:prstGeom prst="rect">
            <a:avLst/>
          </a:prstGeom>
          <a:noFill/>
        </p:spPr>
        <p:txBody>
          <a:bodyPr lIns="92075" tIns="46038" rIns="92075" bIns="46038" anchor="ctr" anchorCtr="0">
            <a:noAutofit/>
          </a:bodyPr>
          <a:lstStyle/>
          <a:p>
            <a:pPr lvl="0" eaLnBrk="1" fontAlgn="auto" hangingPunct="1">
              <a:spcAft>
                <a:spcPts val="0"/>
              </a:spcAft>
            </a:pPr>
            <a:r>
              <a:rPr lang="en-US" sz="3600" dirty="0" smtClean="0">
                <a:solidFill>
                  <a:schemeClr val="tx2"/>
                </a:solidFill>
                <a:latin typeface="+mj-lt"/>
              </a:rPr>
              <a:t>Summary</a:t>
            </a:r>
            <a:endParaRPr kumimoji="0" lang="en-US" sz="3600" b="0" i="0" u="none" strike="noStrike" kern="120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737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295400"/>
            <a:ext cx="8763000" cy="4419600"/>
          </a:xfrm>
        </p:spPr>
        <p:txBody>
          <a:bodyPr>
            <a:normAutofit/>
          </a:bodyPr>
          <a:lstStyle/>
          <a:p>
            <a:pPr eaLnBrk="1" hangingPunct="1">
              <a:lnSpc>
                <a:spcPct val="120000"/>
              </a:lnSpc>
            </a:pPr>
            <a:r>
              <a:rPr lang="en-US" sz="2400" dirty="0" smtClean="0">
                <a:solidFill>
                  <a:schemeClr val="hlink"/>
                </a:solidFill>
              </a:rPr>
              <a:t>Classification </a:t>
            </a:r>
            <a:r>
              <a:rPr lang="en-US" sz="2400" dirty="0" smtClean="0"/>
              <a:t>is a form of data analysis that extracts </a:t>
            </a:r>
            <a:r>
              <a:rPr lang="en-US" sz="2400" dirty="0" smtClean="0">
                <a:solidFill>
                  <a:schemeClr val="hlink"/>
                </a:solidFill>
              </a:rPr>
              <a:t>models</a:t>
            </a:r>
            <a:r>
              <a:rPr lang="en-US" sz="2400" dirty="0" smtClean="0"/>
              <a:t> describing important data classes. </a:t>
            </a:r>
          </a:p>
          <a:p>
            <a:pPr eaLnBrk="1" hangingPunct="1">
              <a:lnSpc>
                <a:spcPct val="120000"/>
              </a:lnSpc>
            </a:pPr>
            <a:r>
              <a:rPr lang="en-US" sz="2400" dirty="0" smtClean="0"/>
              <a:t>Effective and scalable methods have been developed for </a:t>
            </a:r>
            <a:r>
              <a:rPr lang="en-US" sz="2400" dirty="0" smtClean="0">
                <a:solidFill>
                  <a:schemeClr val="hlink"/>
                </a:solidFill>
              </a:rPr>
              <a:t>decision tree induction, Naive Bayesian classification, rule-based classification</a:t>
            </a:r>
            <a:r>
              <a:rPr lang="en-US" sz="2400" dirty="0" smtClean="0"/>
              <a:t>.</a:t>
            </a:r>
          </a:p>
          <a:p>
            <a:pPr eaLnBrk="1" hangingPunct="1">
              <a:lnSpc>
                <a:spcPct val="120000"/>
              </a:lnSpc>
            </a:pPr>
            <a:r>
              <a:rPr lang="en-US" sz="2400" dirty="0" smtClean="0">
                <a:solidFill>
                  <a:schemeClr val="hlink"/>
                </a:solidFill>
              </a:rPr>
              <a:t>Evaluation metrics</a:t>
            </a:r>
            <a:r>
              <a:rPr lang="en-US" sz="2400" dirty="0" smtClean="0"/>
              <a:t> include: accuracy, sensitivity, specificity, precision, recall, </a:t>
            </a:r>
            <a:r>
              <a:rPr lang="en-US" sz="2400" i="1" dirty="0" smtClean="0"/>
              <a:t>F</a:t>
            </a:r>
            <a:r>
              <a:rPr lang="en-US" sz="2400" dirty="0" smtClean="0"/>
              <a:t> measure, and </a:t>
            </a:r>
            <a:r>
              <a:rPr lang="en-US" sz="2400" i="1" dirty="0" err="1" smtClean="0"/>
              <a:t>F</a:t>
            </a:r>
            <a:r>
              <a:rPr lang="en-US" sz="2400" i="1" baseline="-25000" dirty="0" err="1" smtClean="0">
                <a:cs typeface="Tahoma" pitchFamily="34" charset="0"/>
              </a:rPr>
              <a:t>ß</a:t>
            </a:r>
            <a:r>
              <a:rPr lang="en-US" sz="2400" baseline="-25000" dirty="0" smtClean="0"/>
              <a:t> </a:t>
            </a:r>
            <a:r>
              <a:rPr lang="en-US" sz="2400" dirty="0" smtClean="0"/>
              <a:t>measure.</a:t>
            </a:r>
          </a:p>
          <a:p>
            <a:pPr eaLnBrk="1" hangingPunct="1">
              <a:lnSpc>
                <a:spcPct val="120000"/>
              </a:lnSpc>
            </a:pPr>
            <a:r>
              <a:rPr lang="en-US" sz="2400" dirty="0" smtClean="0">
                <a:solidFill>
                  <a:schemeClr val="hlink"/>
                </a:solidFill>
              </a:rPr>
              <a:t>Stratified k-fold cross-validation</a:t>
            </a:r>
            <a:r>
              <a:rPr lang="en-US" sz="2400" dirty="0" smtClean="0"/>
              <a:t> is recommended for accuracy estimation.  </a:t>
            </a:r>
            <a:r>
              <a:rPr lang="en-US" sz="2400" dirty="0" smtClean="0">
                <a:solidFill>
                  <a:schemeClr val="hlink"/>
                </a:solidFill>
              </a:rPr>
              <a:t>Bagging </a:t>
            </a:r>
            <a:r>
              <a:rPr lang="en-US" sz="2400" dirty="0" smtClean="0"/>
              <a:t>and </a:t>
            </a:r>
            <a:r>
              <a:rPr lang="en-US" sz="2400" dirty="0" smtClean="0">
                <a:solidFill>
                  <a:schemeClr val="hlink"/>
                </a:solidFill>
              </a:rPr>
              <a:t>boosting</a:t>
            </a:r>
            <a:r>
              <a:rPr lang="en-US" sz="2400" dirty="0" smtClean="0"/>
              <a:t> can be used to increase overall accuracy by learning and combining a series of individual models.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CSE, BUET</a:t>
            </a:r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CSE, BUET</a:t>
            </a:r>
            <a:endParaRPr lang="en-US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Reading Material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pPr marL="400050">
              <a:lnSpc>
                <a:spcPct val="90000"/>
              </a:lnSpc>
            </a:pPr>
            <a:r>
              <a:rPr lang="en-US" sz="2400" dirty="0" smtClean="0"/>
              <a:t>Class Lecture</a:t>
            </a:r>
          </a:p>
          <a:p>
            <a:pPr marL="400050">
              <a:lnSpc>
                <a:spcPct val="90000"/>
              </a:lnSpc>
            </a:pPr>
            <a:r>
              <a:rPr lang="en-US" sz="2400" dirty="0" smtClean="0"/>
              <a:t>Text Book: Chapter 8</a:t>
            </a:r>
          </a:p>
          <a:p>
            <a:endParaRPr lang="en-US" sz="22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Acknowledgements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These slides contain material developed and copyright by:</a:t>
            </a:r>
          </a:p>
          <a:p>
            <a:pPr lvl="1" eaLnBrk="1" hangingPunct="1"/>
            <a:r>
              <a:rPr lang="en-US" sz="2600" dirty="0" err="1" smtClean="0"/>
              <a:t>Jiawei</a:t>
            </a:r>
            <a:r>
              <a:rPr lang="en-US" sz="2600" dirty="0" smtClean="0"/>
              <a:t> Han (UIUC)  (CS412)</a:t>
            </a:r>
          </a:p>
          <a:p>
            <a:pPr lvl="1" eaLnBrk="1" hangingPunct="1"/>
            <a:r>
              <a:rPr lang="en-US" sz="2600" dirty="0" err="1" smtClean="0"/>
              <a:t>Yizhou</a:t>
            </a:r>
            <a:r>
              <a:rPr lang="en-US" sz="2600" dirty="0" smtClean="0"/>
              <a:t> Sun (Northeastern University) (CS6220)</a:t>
            </a:r>
            <a:endParaRPr lang="en-US" dirty="0" smtClean="0"/>
          </a:p>
          <a:p>
            <a:pPr lvl="1"/>
            <a:r>
              <a:rPr lang="en-US" dirty="0" err="1" smtClean="0"/>
              <a:t>Zhi-Hua</a:t>
            </a:r>
            <a:r>
              <a:rPr lang="en-US" dirty="0" smtClean="0"/>
              <a:t> Zhou (Nanjing University)</a:t>
            </a:r>
          </a:p>
          <a:p>
            <a:pPr lvl="1" eaLnBrk="1" hangingPunct="1"/>
            <a:endParaRPr lang="en-US" sz="2600" dirty="0" smtClean="0"/>
          </a:p>
          <a:p>
            <a:pPr lvl="1" eaLnBrk="1" hangingPunct="1"/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CSE, BUET</a:t>
            </a:r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9"/>
          <p:cNvSpPr>
            <a:spLocks noGrp="1" noChangeArrowheads="1"/>
          </p:cNvSpPr>
          <p:nvPr>
            <p:ph type="subTitle" idx="1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buFont typeface="Wingdings 3" pitchFamily="18" charset="2"/>
              <a:buNone/>
              <a:defRPr/>
            </a:pPr>
            <a:endParaRPr lang="en-US" smtClean="0"/>
          </a:p>
        </p:txBody>
      </p:sp>
      <p:sp>
        <p:nvSpPr>
          <p:cNvPr id="39938" name="Rectangle 5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The End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12398</TotalTime>
  <Words>674</Words>
  <Application>Microsoft Office PowerPoint</Application>
  <PresentationFormat>On-screen Show (4:3)</PresentationFormat>
  <Paragraphs>120</Paragraphs>
  <Slides>13</Slides>
  <Notes>12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3" baseType="lpstr">
      <vt:lpstr>Calibri</vt:lpstr>
      <vt:lpstr>Franklin Gothic Book</vt:lpstr>
      <vt:lpstr>Monotype Corsiva</vt:lpstr>
      <vt:lpstr>Perpetua</vt:lpstr>
      <vt:lpstr>Tahoma</vt:lpstr>
      <vt:lpstr>Times New Roman</vt:lpstr>
      <vt:lpstr>Wingdings 2</vt:lpstr>
      <vt:lpstr>Wingdings 3</vt:lpstr>
      <vt:lpstr>Equity</vt:lpstr>
      <vt:lpstr>Worksheet</vt:lpstr>
      <vt:lpstr>Supervised Learning</vt:lpstr>
      <vt:lpstr>PowerPoint Presentation</vt:lpstr>
      <vt:lpstr>PowerPoint Presentation</vt:lpstr>
      <vt:lpstr>PowerPoint Presentation</vt:lpstr>
      <vt:lpstr>PowerPoint Presentation</vt:lpstr>
      <vt:lpstr>Process (2): Using the Model in Prediction </vt:lpstr>
      <vt:lpstr>  What is decision tree?   </vt:lpstr>
      <vt:lpstr>PowerPoint Presentation</vt:lpstr>
      <vt:lpstr>Classification Methods</vt:lpstr>
      <vt:lpstr>PowerPoint Presentation</vt:lpstr>
      <vt:lpstr>Reading Material</vt:lpstr>
      <vt:lpstr>Acknowledgements</vt:lpstr>
      <vt:lpstr>The End</vt:lpstr>
    </vt:vector>
  </TitlesOfParts>
  <Company>CSE, BUET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</dc:title>
  <dc:creator>User</dc:creator>
  <cp:lastModifiedBy>USER</cp:lastModifiedBy>
  <cp:revision>1494</cp:revision>
  <dcterms:created xsi:type="dcterms:W3CDTF">2002-08-18T16:43:01Z</dcterms:created>
  <dcterms:modified xsi:type="dcterms:W3CDTF">2026-03-29T05:46:15Z</dcterms:modified>
</cp:coreProperties>
</file>