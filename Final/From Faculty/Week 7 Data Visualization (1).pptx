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645" r:id="rId3"/>
    <p:sldId id="689" r:id="rId4"/>
    <p:sldId id="629" r:id="rId5"/>
    <p:sldId id="690" r:id="rId6"/>
    <p:sldId id="632" r:id="rId7"/>
    <p:sldId id="646" r:id="rId8"/>
    <p:sldId id="633" r:id="rId9"/>
    <p:sldId id="636" r:id="rId10"/>
    <p:sldId id="691" r:id="rId11"/>
    <p:sldId id="637" r:id="rId12"/>
    <p:sldId id="638" r:id="rId13"/>
    <p:sldId id="692" r:id="rId14"/>
    <p:sldId id="277" r:id="rId15"/>
    <p:sldId id="693" r:id="rId16"/>
    <p:sldId id="639" r:id="rId17"/>
    <p:sldId id="640" r:id="rId18"/>
    <p:sldId id="641" r:id="rId19"/>
    <p:sldId id="642" r:id="rId20"/>
    <p:sldId id="643" r:id="rId21"/>
    <p:sldId id="273" r:id="rId22"/>
    <p:sldId id="275" r:id="rId23"/>
    <p:sldId id="276" r:id="rId24"/>
    <p:sldId id="694" r:id="rId25"/>
    <p:sldId id="282" r:id="rId26"/>
    <p:sldId id="649" r:id="rId27"/>
    <p:sldId id="650" r:id="rId28"/>
    <p:sldId id="652" r:id="rId29"/>
    <p:sldId id="657" r:id="rId30"/>
    <p:sldId id="660" r:id="rId31"/>
    <p:sldId id="661" r:id="rId32"/>
    <p:sldId id="6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B53A4-BE7A-4ACC-9A6D-11C796A5DE3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F309B-3710-4D2D-9144-00D62F4FD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9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8/8b/Tree_Map.png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2EA32B-C320-4B43-9A33-08D97326D9C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95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2EA32B-C320-4B43-9A33-08D97326D9C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23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A0BE49-D165-458C-9879-323F1629E0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29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A0BE49-D165-458C-9879-323F1629E0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550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1E6C7E-5F99-4919-94EF-95B1C124BE5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10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1E6C7E-5F99-4919-94EF-95B1C124BE5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1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76D4DA-81A0-4DDB-BE62-6F5999CF88A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405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9EDBBD-7277-4356-B8C2-7DD238718C7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601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9EDBBD-7277-4356-B8C2-7DD238718C7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85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6D0E9C-A343-4CFC-87AC-3F9A53D91EE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62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07A88B-5BD8-4940-9F4C-F7668F3CD26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3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9EDBBD-7277-4356-B8C2-7DD238718C7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72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9EDBBD-7277-4356-B8C2-7DD238718C7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3375" y="666750"/>
            <a:ext cx="6191250" cy="3482975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908" y="4373693"/>
            <a:ext cx="5048184" cy="4077012"/>
          </a:xfrm>
          <a:noFill/>
          <a:ln/>
        </p:spPr>
        <p:txBody>
          <a:bodyPr lIns="90267" tIns="45134" rIns="90267" bIns="4513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575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42DC06-1C75-4D07-8B73-2C8767D1D48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11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F41E7B-EF88-4A64-92E3-339A689CE80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688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97FA7F-B612-45DA-8EB2-4465C349F70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6587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6ABAD-C5D6-48E4-83AF-4BFA8ED7E0A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26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E85959-CC95-4F2A-AC58-6289DEA85C9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85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7D81EF-A7CE-4F99-8F1A-2288530F672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6A02DE-C817-4B66-B3EB-127D71A924A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9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FE645E-B6F5-46AE-A9C8-A784C6FE70C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074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C4E3E2-97C6-4415-986E-75C82BA30EE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45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43FF37-C1D1-4A77-BE94-1CFE2BFAF08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190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157EBD-CCAB-4F1F-BC62-C6A7EB59E75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Picture</a:t>
            </a:r>
            <a:r>
              <a:rPr lang="en-US" b="1" dirty="0">
                <a:solidFill>
                  <a:srgbClr val="121328"/>
                </a:solidFill>
              </a:rPr>
              <a:t>: </a:t>
            </a:r>
            <a:r>
              <a:rPr lang="en-US" dirty="0">
                <a:hlinkClick r:id="rId3"/>
              </a:rPr>
              <a:t>http://upload.wikimedia.org/wikipedia/commons/8/8b/Tree_Map.png</a:t>
            </a:r>
            <a:endParaRPr lang="en-US" b="1" dirty="0">
              <a:solidFill>
                <a:srgbClr val="121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671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DADE82-74CA-4617-824B-7458E92121B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http://nadeausoftware.com/articles/visualization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05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0B9076-238F-4895-87DD-57BF4A47B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EF0EF06-6504-4CB8-BC92-A3C1153EF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F0B8301-2EF5-48DD-A1FB-2ACB8BC73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B2BDD6-A7E5-49BD-8A04-9C6A19AF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CB0FE5E-1867-48AB-9282-C2DD7CB1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5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06A0C0-E18F-4BB5-B562-9AD71E54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5B7BB4B-D29C-422A-BAD4-6CD838591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0B53139-BC16-4FD2-B4C9-1DEDFA63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845211-BE25-47A0-BBAE-BAF08FB7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4990E52-E811-4BA7-B5CD-C787B593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2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171B6D-C0E1-478B-9B32-784B8D4C0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A4BDAF6-7F1F-4535-B5D4-558E0131D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D87EDE5-9B8D-4382-AC30-4129CEA4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3F43C0A-9B41-4358-A8BD-877A16F3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7C8855-165D-4065-89FC-8ED3E531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6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455961-E5A0-47B1-A7FB-631C339AC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00B79E-6F27-4E5F-925F-2A1BD8918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EC2CBE1-B4C9-4F66-B85C-C9E5C1110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C8ED810-53BA-48FB-ADB5-78387490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3E2B772-8362-4EC6-97E3-2200EF4B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6349FED-86FC-4075-8E6F-623AAB57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6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29627E-75CB-4B36-9F4C-4FC8D3AB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CB984-60F4-4BB7-836C-5C050B542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E01FF2B-95AF-4F08-A217-47F365C13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ADA0D97-D68E-4263-B2AC-CA0C00BA3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2A0DAE6-E954-4F69-9D46-A686E08AB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084BA07-14CD-4C3F-A42E-35BAECD2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1CA1E9F-F359-451C-83CF-7F3CCEBA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D44FF62-946C-441F-B0E3-BEF434B2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40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A8B371-CB15-44B6-9102-2E0E5205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B5248E6-06F3-4B4F-8284-D2F1E4A5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8AD58CD-6BAB-48BF-B827-56ADBB82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F4FDB32-9609-4DEE-80E8-75A78EB0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0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CB5A468-6DB7-461B-95F1-30B44E2B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95FC5E4-B1F9-4F40-B9C0-993DBAA3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E064995-2A90-4924-8EBA-9BB1BCCAD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1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13E52A-E749-4BAD-BA0C-E84B90B9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64C8B8-6AA5-4888-A5C0-BEA2F6E6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8FCB69C-8C68-46E5-AA20-B729C4A82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78D192-2792-47BC-A00A-88AFFFDC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CC06826-7E8F-4653-A156-3DA92971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4EBB854-7800-4AE5-9F5C-1F84A0E3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6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24CFC3-E0A2-4BA3-96D6-7D4AA6DE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AE96263-26FE-4491-BDC6-FF9850E91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3C37C77-B325-418B-B2CF-5D88C0182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7E990C6-C929-4C1B-B988-9C988D00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F4584B9-DFA5-4BE2-AD12-C5293358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1311614-A987-41F1-802F-27A5EBF4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8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3EB7FE-4805-47F0-8542-8D8675DFF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168C28D-5C64-455B-AA2B-4BD606CED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0FA475E-7B5A-4AA3-B72C-A2F4448F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3108C1B-E20F-46E9-B5C0-5D8546C8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8DE7927-784B-4DDC-BBF8-98146BFB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7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E0D566E-A6A1-49C8-A196-E1C123F81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12423DF-2855-4375-A683-7DBC7E99A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74638F2-BB23-471B-ADD6-0BE2E835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555FF0A-130B-466A-88D5-77CB7EA5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E9B37B-AE1F-4BDF-84F7-91DA278F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68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0A707-6CB3-463A-A32E-1FD90977B6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71681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BC001-F914-4C38-B9D4-4EFA9C76F9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35437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64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064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CE564-1B92-4F89-AD52-A85A38C6DC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36550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4067DAB-326F-4167-87B3-2569EB85F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74CD3BC-C748-4242-9616-32A9D568A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68B644-93C4-45BE-B7F1-0F041D32A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20991-F34F-4B63-9956-78A28A3DE2B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9AD414F-77DB-490E-A8BD-42D58F2F1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60462D3-3F6B-4FBB-8E18-A6A050C98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F0DC9-94CF-4B51-92A1-A9A9BEC6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5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5C73EA6-0B34-964E-6DDA-FD6CC1B80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Data Visualization and Graphical Representation of Data </a:t>
            </a:r>
          </a:p>
        </p:txBody>
      </p:sp>
    </p:spTree>
    <p:extLst>
      <p:ext uri="{BB962C8B-B14F-4D97-AF65-F5344CB8AC3E}">
        <p14:creationId xmlns:p14="http://schemas.microsoft.com/office/powerpoint/2010/main" val="2224586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600" dirty="0"/>
              <a:t>Data Visualization is the process of representing data using graphical elements such as charts, graphs, and plots to make the data easier to understand and analyze.</a:t>
            </a:r>
          </a:p>
          <a:p>
            <a:pPr>
              <a:lnSpc>
                <a:spcPct val="110000"/>
              </a:lnSpc>
            </a:pPr>
            <a:r>
              <a:rPr lang="en-US" sz="2600" dirty="0"/>
              <a:t>Humans understand pictures much faster than numbers.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It transforms </a:t>
            </a:r>
            <a:r>
              <a:rPr lang="en-US" sz="2400" b="1" dirty="0"/>
              <a:t>raw data → visual representation </a:t>
            </a:r>
            <a:r>
              <a:rPr lang="en-US" sz="2400" dirty="0"/>
              <a:t>so that humans can quickly detect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Patterns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Trends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Relationships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outliers</a:t>
            </a:r>
          </a:p>
        </p:txBody>
      </p:sp>
    </p:spTree>
    <p:extLst>
      <p:ext uri="{BB962C8B-B14F-4D97-AF65-F5344CB8AC3E}">
        <p14:creationId xmlns:p14="http://schemas.microsoft.com/office/powerpoint/2010/main" val="310775973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Visualization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tx2"/>
                </a:solidFill>
              </a:rPr>
              <a:t>Gain insight</a:t>
            </a:r>
            <a:r>
              <a:rPr lang="en-US" dirty="0"/>
              <a:t> into an information space by mapping data onto graphical primitives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tx2"/>
                </a:solidFill>
              </a:rPr>
              <a:t>Provide qualitative overview</a:t>
            </a:r>
            <a:r>
              <a:rPr lang="en-US" dirty="0"/>
              <a:t> of large data sets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tx2"/>
                </a:solidFill>
              </a:rPr>
              <a:t>Search</a:t>
            </a:r>
            <a:r>
              <a:rPr lang="en-US" dirty="0"/>
              <a:t> for patterns, trends, structure, irregularities, relationships among data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tx2"/>
                </a:solidFill>
              </a:rPr>
              <a:t>Help find interesting regions and suitable parameters</a:t>
            </a:r>
            <a:r>
              <a:rPr lang="en-US" dirty="0"/>
              <a:t> for further quantitative analysis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tx2"/>
                </a:solidFill>
              </a:rPr>
              <a:t>Provide a visual proof</a:t>
            </a:r>
            <a:r>
              <a:rPr lang="en-US" dirty="0"/>
              <a:t> of computer representations derived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74943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Central Tendency</a:t>
            </a:r>
          </a:p>
          <a:p>
            <a:r>
              <a:rPr lang="en-US" dirty="0"/>
              <a:t>Dispersion of Data</a:t>
            </a:r>
          </a:p>
          <a:p>
            <a:r>
              <a:rPr lang="en-US" dirty="0"/>
              <a:t>Graphic Displays</a:t>
            </a:r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Statistical Descriptions of Data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</a:t>
            </a:r>
          </a:p>
          <a:p>
            <a:r>
              <a:rPr lang="en-US" dirty="0"/>
              <a:t>Median</a:t>
            </a:r>
          </a:p>
          <a:p>
            <a:r>
              <a:rPr lang="en-US" dirty="0"/>
              <a:t>Mode</a:t>
            </a:r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Central Tendency</a:t>
            </a:r>
          </a:p>
        </p:txBody>
      </p:sp>
    </p:spTree>
    <p:extLst>
      <p:ext uri="{BB962C8B-B14F-4D97-AF65-F5344CB8AC3E}">
        <p14:creationId xmlns:p14="http://schemas.microsoft.com/office/powerpoint/2010/main" val="43295862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/>
              <a:t>Measuring the Dispersion of Data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6106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  <a:buSzPct val="80000"/>
            </a:pPr>
            <a:r>
              <a:rPr lang="en-US" sz="2000" dirty="0"/>
              <a:t>Quartiles, outliers and </a:t>
            </a:r>
            <a:r>
              <a:rPr lang="en-US" sz="2000" dirty="0" err="1"/>
              <a:t>boxplots</a:t>
            </a:r>
            <a:endParaRPr lang="en-US" sz="2000" dirty="0"/>
          </a:p>
          <a:p>
            <a:pPr lvl="1">
              <a:lnSpc>
                <a:spcPct val="130000"/>
              </a:lnSpc>
              <a:buSzPct val="80000"/>
            </a:pPr>
            <a:r>
              <a:rPr lang="en-US" sz="2000" b="1" dirty="0" err="1"/>
              <a:t>Quantile</a:t>
            </a:r>
            <a:r>
              <a:rPr lang="en-US" sz="2000" dirty="0"/>
              <a:t>:  data points that split the data distribution into equal-size consecutive sets.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b="1" dirty="0"/>
              <a:t>Quartiles</a:t>
            </a:r>
            <a:r>
              <a:rPr lang="en-US" sz="2000" dirty="0"/>
              <a:t>: Q</a:t>
            </a:r>
            <a:r>
              <a:rPr lang="en-US" sz="2000" baseline="-25000" dirty="0"/>
              <a:t>1</a:t>
            </a:r>
            <a:r>
              <a:rPr lang="en-US" sz="2000" dirty="0"/>
              <a:t> (25</a:t>
            </a:r>
            <a:r>
              <a:rPr lang="en-US" sz="2000" baseline="30000" dirty="0"/>
              <a:t>th</a:t>
            </a:r>
            <a:r>
              <a:rPr lang="en-US" sz="2000" dirty="0"/>
              <a:t> percentile), Q</a:t>
            </a:r>
            <a:r>
              <a:rPr lang="en-US" sz="2000" baseline="-25000" dirty="0"/>
              <a:t>3</a:t>
            </a:r>
            <a:r>
              <a:rPr lang="en-US" sz="2000" dirty="0"/>
              <a:t> (75</a:t>
            </a:r>
            <a:r>
              <a:rPr lang="en-US" sz="2000" baseline="30000" dirty="0"/>
              <a:t>th</a:t>
            </a:r>
            <a:r>
              <a:rPr lang="en-US" sz="2000" dirty="0"/>
              <a:t> percentile)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b="1" dirty="0"/>
              <a:t>Inter-quartile range</a:t>
            </a:r>
            <a:r>
              <a:rPr lang="en-US" sz="2000" dirty="0"/>
              <a:t>: IQR = Q</a:t>
            </a:r>
            <a:r>
              <a:rPr lang="en-US" sz="2000" baseline="-25000" dirty="0"/>
              <a:t>3 </a:t>
            </a:r>
            <a:r>
              <a:rPr lang="en-US" sz="2000" dirty="0"/>
              <a:t>–</a:t>
            </a:r>
            <a:r>
              <a:rPr lang="en-US" sz="2000" baseline="-25000" dirty="0"/>
              <a:t> </a:t>
            </a:r>
            <a:r>
              <a:rPr lang="en-US" sz="2000" dirty="0"/>
              <a:t>Q</a:t>
            </a:r>
            <a:r>
              <a:rPr lang="en-US" sz="2000" baseline="-25000" dirty="0"/>
              <a:t>1 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b="1" dirty="0"/>
              <a:t>Five number summary</a:t>
            </a:r>
            <a:r>
              <a:rPr lang="en-US" sz="2000" dirty="0"/>
              <a:t>: min, Q</a:t>
            </a:r>
            <a:r>
              <a:rPr lang="en-US" sz="2000" baseline="-25000" dirty="0"/>
              <a:t>1</a:t>
            </a:r>
            <a:r>
              <a:rPr lang="en-US" sz="2000" dirty="0"/>
              <a:t>, median,</a:t>
            </a:r>
            <a:r>
              <a:rPr lang="en-US" sz="2000" baseline="-25000" dirty="0"/>
              <a:t> </a:t>
            </a:r>
            <a:r>
              <a:rPr lang="en-US" sz="2000" dirty="0"/>
              <a:t>Q</a:t>
            </a:r>
            <a:r>
              <a:rPr lang="en-US" sz="2000" baseline="-25000" dirty="0"/>
              <a:t>3</a:t>
            </a:r>
            <a:r>
              <a:rPr lang="en-US" sz="2000" dirty="0"/>
              <a:t>, max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b="1" dirty="0" err="1"/>
              <a:t>Boxplot</a:t>
            </a:r>
            <a:r>
              <a:rPr lang="en-US" sz="2000" dirty="0"/>
              <a:t>: ends of the box are the quartiles; median is marked; add whiskers, and plot outliers individually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b="1" dirty="0"/>
              <a:t>Outlier</a:t>
            </a:r>
            <a:r>
              <a:rPr lang="en-US" sz="2000" dirty="0"/>
              <a:t>: usually, a value higher/lower than 1.5 x IQR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/>
              <a:t>Measuring the Dispersion of Data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6106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  <a:buSzPct val="80000"/>
            </a:pPr>
            <a:r>
              <a:rPr lang="en-US" sz="2000" dirty="0"/>
              <a:t>Variance and standard deviation (</a:t>
            </a:r>
            <a:r>
              <a:rPr lang="en-US" sz="2000" i="1" dirty="0"/>
              <a:t>sample:</a:t>
            </a:r>
            <a:r>
              <a:rPr lang="en-US" sz="2000" dirty="0"/>
              <a:t> </a:t>
            </a:r>
            <a:r>
              <a:rPr lang="en-US" sz="2000" i="1" dirty="0"/>
              <a:t>s, population: </a:t>
            </a:r>
            <a:r>
              <a:rPr lang="el-GR" sz="2000" i="1" dirty="0"/>
              <a:t>σ</a:t>
            </a:r>
            <a:r>
              <a:rPr lang="en-US" sz="2000" i="1" dirty="0"/>
              <a:t>)</a:t>
            </a:r>
            <a:endParaRPr lang="en-US" sz="2000" dirty="0"/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b="1" dirty="0"/>
              <a:t>Variance</a:t>
            </a:r>
            <a:r>
              <a:rPr lang="en-US" sz="2000" dirty="0"/>
              <a:t>: (algebraic, scalable computation)</a:t>
            </a:r>
          </a:p>
          <a:p>
            <a:pPr lvl="1" eaLnBrk="1" hangingPunct="1">
              <a:lnSpc>
                <a:spcPct val="130000"/>
              </a:lnSpc>
              <a:buSzPct val="80000"/>
              <a:buNone/>
            </a:pPr>
            <a:endParaRPr lang="en-US" sz="2000" dirty="0"/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b="1" dirty="0"/>
              <a:t>Standard deviation</a:t>
            </a:r>
            <a:r>
              <a:rPr lang="en-US" sz="2000" i="1" dirty="0"/>
              <a:t> s (or </a:t>
            </a:r>
            <a:r>
              <a:rPr lang="el-GR" sz="2000" i="1" dirty="0"/>
              <a:t>σ</a:t>
            </a:r>
            <a:r>
              <a:rPr lang="en-US" sz="2000" i="1" dirty="0"/>
              <a:t>) </a:t>
            </a:r>
            <a:r>
              <a:rPr lang="en-US" sz="2000" dirty="0"/>
              <a:t>is the square root of variance </a:t>
            </a:r>
            <a:r>
              <a:rPr lang="en-US" sz="2000" i="1" dirty="0"/>
              <a:t>s</a:t>
            </a:r>
            <a:r>
              <a:rPr lang="en-US" sz="2000" i="1" baseline="30000" dirty="0"/>
              <a:t>2 (</a:t>
            </a:r>
            <a:r>
              <a:rPr lang="en-US" sz="2000" i="1" dirty="0"/>
              <a:t>or</a:t>
            </a:r>
            <a:r>
              <a:rPr lang="en-US" sz="2000" i="1" baseline="30000" dirty="0"/>
              <a:t> </a:t>
            </a:r>
            <a:r>
              <a:rPr lang="el-GR" sz="2000" i="1" dirty="0"/>
              <a:t>σ</a:t>
            </a:r>
            <a:r>
              <a:rPr lang="en-US" sz="2000" i="1" baseline="30000" dirty="0"/>
              <a:t>2)</a:t>
            </a:r>
          </a:p>
        </p:txBody>
      </p:sp>
      <p:graphicFrame>
        <p:nvGraphicFramePr>
          <p:cNvPr id="1843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327114"/>
              </p:ext>
            </p:extLst>
          </p:nvPr>
        </p:nvGraphicFramePr>
        <p:xfrm>
          <a:off x="1905000" y="4082193"/>
          <a:ext cx="42672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4" imgW="2959100" imgH="431800" progId="Equation.3">
                  <p:embed/>
                </p:oleObj>
              </mc:Choice>
              <mc:Fallback>
                <p:oleObj name="Equation" r:id="rId4" imgW="2959100" imgH="431800" progId="Equation.3">
                  <p:embed/>
                  <p:pic>
                    <p:nvPicPr>
                      <p:cNvPr id="1843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082193"/>
                        <a:ext cx="4267200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90124194"/>
              </p:ext>
            </p:extLst>
          </p:nvPr>
        </p:nvGraphicFramePr>
        <p:xfrm>
          <a:off x="6629400" y="4118705"/>
          <a:ext cx="36639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6" imgW="2235200" imgH="431800" progId="Equation.3">
                  <p:embed/>
                </p:oleObj>
              </mc:Choice>
              <mc:Fallback>
                <p:oleObj name="Equation" r:id="rId6" imgW="2235200" imgH="431800" progId="Equation.3">
                  <p:embed/>
                  <p:pic>
                    <p:nvPicPr>
                      <p:cNvPr id="1843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118705"/>
                        <a:ext cx="366395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99631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1035" descr="box plo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36610" y="2362200"/>
            <a:ext cx="2830512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5181600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 </a:t>
            </a:r>
            <a:r>
              <a:rPr lang="en-US" dirty="0" err="1"/>
              <a:t>Boxplot</a:t>
            </a:r>
            <a:r>
              <a:rPr lang="en-US" dirty="0"/>
              <a:t> Analysis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168402"/>
            <a:ext cx="7791938" cy="51816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sz="2400" b="1" dirty="0"/>
              <a:t>Five-number summary</a:t>
            </a:r>
            <a:r>
              <a:rPr lang="en-US" sz="2400" dirty="0"/>
              <a:t> of a distribution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dirty="0"/>
              <a:t>Minimum, Q1, Median, Q3, Maximum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1" dirty="0" err="1"/>
              <a:t>Boxplot</a:t>
            </a:r>
            <a:endParaRPr lang="en-US" sz="2400" b="1" dirty="0"/>
          </a:p>
          <a:p>
            <a:pPr lvl="1" eaLnBrk="1" hangingPunct="1">
              <a:lnSpc>
                <a:spcPct val="120000"/>
              </a:lnSpc>
            </a:pPr>
            <a:r>
              <a:rPr lang="en-US" dirty="0"/>
              <a:t>Data is represented with a box</a:t>
            </a:r>
          </a:p>
          <a:p>
            <a:pPr lvl="1" eaLnBrk="1" hangingPunct="1">
              <a:lnSpc>
                <a:spcPct val="120000"/>
              </a:lnSpc>
            </a:pPr>
            <a:r>
              <a:rPr lang="en-US" dirty="0"/>
              <a:t>The ends of the box are at the first and third quartiles, i.e., the height of the box is IQR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dirty="0"/>
              <a:t>The median is marked by a line within the box</a:t>
            </a:r>
          </a:p>
          <a:p>
            <a:pPr lvl="1" eaLnBrk="1" hangingPunct="1">
              <a:lnSpc>
                <a:spcPct val="120000"/>
              </a:lnSpc>
            </a:pPr>
            <a:r>
              <a:rPr lang="en-US" dirty="0"/>
              <a:t>Whiskers: two lines outside the box extended to Minimum and Maximum</a:t>
            </a:r>
          </a:p>
          <a:p>
            <a:pPr lvl="1" eaLnBrk="1" hangingPunct="1">
              <a:lnSpc>
                <a:spcPct val="120000"/>
              </a:lnSpc>
            </a:pPr>
            <a:r>
              <a:rPr lang="en-US" dirty="0"/>
              <a:t>Outliers: points beyond a specified outlier threshold, plotted individually</a:t>
            </a:r>
          </a:p>
        </p:txBody>
      </p:sp>
      <p:pic>
        <p:nvPicPr>
          <p:cNvPr id="19462" name="Picture 1038" descr="thre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81776" y="152400"/>
            <a:ext cx="3933825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  <a:buSzPct val="80000"/>
            </a:pPr>
            <a:r>
              <a:rPr lang="en-US" b="1" dirty="0" err="1"/>
              <a:t>Boxplot</a:t>
            </a:r>
            <a:r>
              <a:rPr lang="en-US" dirty="0"/>
              <a:t>: graphic display of five-number summary</a:t>
            </a:r>
          </a:p>
          <a:p>
            <a:pPr>
              <a:lnSpc>
                <a:spcPct val="140000"/>
              </a:lnSpc>
              <a:buSzPct val="80000"/>
            </a:pPr>
            <a:r>
              <a:rPr lang="en-US" b="1" dirty="0"/>
              <a:t>Histogram</a:t>
            </a:r>
            <a:r>
              <a:rPr lang="en-US" dirty="0"/>
              <a:t>: x-axis are values, y-axis </a:t>
            </a:r>
            <a:r>
              <a:rPr lang="en-US" dirty="0" smtClean="0"/>
              <a:t>represents </a:t>
            </a:r>
            <a:r>
              <a:rPr lang="en-US" dirty="0"/>
              <a:t>frequencies </a:t>
            </a:r>
          </a:p>
          <a:p>
            <a:pPr>
              <a:lnSpc>
                <a:spcPct val="140000"/>
              </a:lnSpc>
              <a:buSzPct val="80000"/>
            </a:pPr>
            <a:r>
              <a:rPr lang="en-US" b="1" dirty="0" err="1"/>
              <a:t>Quantile</a:t>
            </a:r>
            <a:r>
              <a:rPr lang="en-US" b="1" dirty="0"/>
              <a:t> plot</a:t>
            </a:r>
            <a:r>
              <a:rPr lang="en-US" dirty="0"/>
              <a:t>:  each value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baseline="-25000" dirty="0"/>
              <a:t>  </a:t>
            </a:r>
            <a:r>
              <a:rPr lang="en-US" dirty="0"/>
              <a:t>is paired with </a:t>
            </a:r>
            <a:r>
              <a:rPr lang="en-US" i="1" dirty="0" err="1"/>
              <a:t>f</a:t>
            </a:r>
            <a:r>
              <a:rPr lang="en-US" i="1" baseline="-25000" dirty="0" err="1"/>
              <a:t>i</a:t>
            </a:r>
            <a:r>
              <a:rPr lang="en-US" i="1" baseline="-25000" dirty="0"/>
              <a:t> </a:t>
            </a:r>
            <a:r>
              <a:rPr lang="en-US" dirty="0"/>
              <a:t> indicating that approximately 100 </a:t>
            </a:r>
            <a:r>
              <a:rPr lang="en-US" i="1" dirty="0" err="1"/>
              <a:t>f</a:t>
            </a:r>
            <a:r>
              <a:rPr lang="en-US" i="1" baseline="-25000" dirty="0" err="1"/>
              <a:t>i</a:t>
            </a:r>
            <a:r>
              <a:rPr lang="en-US" i="1" baseline="-25000" dirty="0"/>
              <a:t> </a:t>
            </a:r>
            <a:r>
              <a:rPr lang="en-US" dirty="0"/>
              <a:t>% of data  are </a:t>
            </a:r>
            <a:r>
              <a:rPr lang="en-US" dirty="0">
                <a:sym typeface="Symbol" pitchFamily="18" charset="2"/>
              </a:rPr>
              <a:t></a:t>
            </a:r>
            <a:r>
              <a:rPr lang="en-US" dirty="0"/>
              <a:t>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baseline="-25000" dirty="0"/>
              <a:t> </a:t>
            </a:r>
            <a:endParaRPr lang="en-US" dirty="0"/>
          </a:p>
          <a:p>
            <a:pPr>
              <a:lnSpc>
                <a:spcPct val="140000"/>
              </a:lnSpc>
              <a:buSzPct val="80000"/>
            </a:pPr>
            <a:r>
              <a:rPr lang="en-US" b="1" dirty="0"/>
              <a:t>Quantile-quantile (q-q) plot</a:t>
            </a:r>
            <a:r>
              <a:rPr lang="en-US" dirty="0"/>
              <a:t>: graphs the quantiles of one </a:t>
            </a:r>
            <a:r>
              <a:rPr lang="en-US" dirty="0" smtClean="0"/>
              <a:t>univariate </a:t>
            </a:r>
            <a:r>
              <a:rPr lang="en-US" dirty="0"/>
              <a:t>distribution against the corresponding quantiles of another</a:t>
            </a:r>
          </a:p>
          <a:p>
            <a:pPr>
              <a:lnSpc>
                <a:spcPct val="140000"/>
              </a:lnSpc>
              <a:buSzPct val="80000"/>
            </a:pPr>
            <a:r>
              <a:rPr lang="en-US" b="1" dirty="0"/>
              <a:t>Scatter plot</a:t>
            </a:r>
            <a:r>
              <a:rPr lang="en-US" dirty="0"/>
              <a:t>: each pair of values is a pair of coordinates and plotted as points in the plane</a:t>
            </a:r>
          </a:p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Graphic Displays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Histogram</a:t>
            </a:r>
          </a:p>
          <a:p>
            <a:pPr lvl="1"/>
            <a:r>
              <a:rPr lang="en-US" dirty="0"/>
              <a:t>A histogram is a graphical representation of the frequency distribution of continuous data.</a:t>
            </a:r>
          </a:p>
          <a:p>
            <a:pPr lvl="1"/>
            <a:r>
              <a:rPr lang="en-US" dirty="0"/>
              <a:t>Represented using rectangular bars</a:t>
            </a:r>
          </a:p>
          <a:p>
            <a:pPr lvl="1"/>
            <a:r>
              <a:rPr lang="en-US" dirty="0"/>
              <a:t>Shows how data is distributed across value ranges</a:t>
            </a:r>
          </a:p>
          <a:p>
            <a:pPr lvl="1"/>
            <a:r>
              <a:rPr lang="en-US" dirty="0"/>
              <a:t>X-axis: intervals (bins) of continuous values</a:t>
            </a:r>
          </a:p>
          <a:p>
            <a:pPr lvl="1"/>
            <a:r>
              <a:rPr lang="en-US" dirty="0"/>
              <a:t>Y-axis: frequency of observations</a:t>
            </a:r>
          </a:p>
          <a:p>
            <a:pPr lvl="1"/>
            <a:r>
              <a:rPr lang="en-US" dirty="0"/>
              <a:t>Used to visualize the distribution of numerical data</a:t>
            </a:r>
          </a:p>
          <a:p>
            <a:pPr lvl="1"/>
            <a:r>
              <a:rPr lang="en-US" dirty="0"/>
              <a:t>Bars touch each other because the data is continuous</a:t>
            </a:r>
          </a:p>
          <a:p>
            <a:pPr marL="457200" lvl="1" indent="0">
              <a:buNone/>
            </a:pPr>
            <a:r>
              <a:rPr lang="en-US" dirty="0"/>
              <a:t>Example: Distribution of students’ marks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Visualization of Data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2897815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/>
              <a:t>Histogram Analysis</a:t>
            </a:r>
          </a:p>
        </p:txBody>
      </p:sp>
      <p:graphicFrame>
        <p:nvGraphicFramePr>
          <p:cNvPr id="23557" name="Object 102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45084761"/>
              </p:ext>
            </p:extLst>
          </p:nvPr>
        </p:nvGraphicFramePr>
        <p:xfrm>
          <a:off x="6096000" y="1447799"/>
          <a:ext cx="6096000" cy="484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Chart" r:id="rId4" imgW="9893864" imgH="4810079" progId="MSGraph.Chart.8">
                  <p:embed followColorScheme="full"/>
                </p:oleObj>
              </mc:Choice>
              <mc:Fallback>
                <p:oleObj name="Chart" r:id="rId4" imgW="9893864" imgH="4810079" progId="MSGraph.Chart.8">
                  <p:embed followColorScheme="full"/>
                  <p:pic>
                    <p:nvPicPr>
                      <p:cNvPr id="23557" name="Object 1029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447799"/>
                        <a:ext cx="6096000" cy="4840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700" dirty="0"/>
              <a:t> Graph display of tabulated frequencies, shown as bars</a:t>
            </a:r>
          </a:p>
          <a:p>
            <a:pPr>
              <a:lnSpc>
                <a:spcPct val="110000"/>
              </a:lnSpc>
            </a:pPr>
            <a:r>
              <a:rPr lang="en-US" sz="3700" dirty="0"/>
              <a:t>It shows what proportion of cases fall into each of several categories</a:t>
            </a:r>
          </a:p>
          <a:p>
            <a:pPr>
              <a:lnSpc>
                <a:spcPct val="110000"/>
              </a:lnSpc>
            </a:pPr>
            <a:r>
              <a:rPr lang="en-US" sz="3700" dirty="0"/>
              <a:t>The categories are usually specified as non-overlapping intervals of some variable. The categories (bars) must be adjacent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52400"/>
            <a:ext cx="88392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/>
              <a:t>Histograms Often Tell More than </a:t>
            </a:r>
            <a:r>
              <a:rPr lang="en-US" sz="3600" dirty="0" err="1"/>
              <a:t>Boxplots</a:t>
            </a:r>
            <a:endParaRPr lang="en-US" sz="3600" dirty="0"/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981200" y="1295401"/>
          <a:ext cx="3962400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SmartDraw" r:id="rId4" imgW="3063240" imgH="1691640" progId="">
                  <p:embed/>
                </p:oleObj>
              </mc:Choice>
              <mc:Fallback>
                <p:oleObj name="SmartDraw" r:id="rId4" imgW="3063240" imgH="1691640" progId="">
                  <p:embed/>
                  <p:pic>
                    <p:nvPicPr>
                      <p:cNvPr id="24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95401"/>
                        <a:ext cx="3962400" cy="241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7"/>
          <p:cNvGraphicFramePr>
            <a:graphicFrameLocks noGrp="1" noChangeAspect="1"/>
          </p:cNvGraphicFramePr>
          <p:nvPr>
            <p:ph sz="half" idx="1"/>
          </p:nvPr>
        </p:nvGraphicFramePr>
        <p:xfrm>
          <a:off x="1981200" y="4043364"/>
          <a:ext cx="3886200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SmartDraw" r:id="rId6" imgW="3063240" imgH="1691640" progId="">
                  <p:embed/>
                </p:oleObj>
              </mc:Choice>
              <mc:Fallback>
                <p:oleObj name="SmartDraw" r:id="rId6" imgW="3063240" imgH="1691640" progId="">
                  <p:embed/>
                  <p:pic>
                    <p:nvPicPr>
                      <p:cNvPr id="2458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043364"/>
                        <a:ext cx="3886200" cy="243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9"/>
          <p:cNvSpPr>
            <a:spLocks noChangeArrowheads="1"/>
          </p:cNvSpPr>
          <p:nvPr/>
        </p:nvSpPr>
        <p:spPr bwMode="auto">
          <a:xfrm>
            <a:off x="6400800" y="1522414"/>
            <a:ext cx="3657600" cy="472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600" dirty="0"/>
              <a:t>The two histograms shown in the left may have the same </a:t>
            </a:r>
            <a:r>
              <a:rPr lang="en-US" sz="2600" dirty="0" err="1"/>
              <a:t>boxplot</a:t>
            </a:r>
            <a:r>
              <a:rPr lang="en-US" sz="2600" dirty="0"/>
              <a:t> representation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dirty="0"/>
              <a:t>The same values for: min, Q1, median, Q3, max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600" dirty="0"/>
              <a:t>But they have rather different data distributions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  <a:buSzPct val="80000"/>
            </a:pPr>
            <a:r>
              <a:rPr lang="en-US" dirty="0"/>
              <a:t>Bar Chart</a:t>
            </a:r>
          </a:p>
          <a:p>
            <a:pPr lvl="1"/>
            <a:r>
              <a:rPr lang="en-US" dirty="0"/>
              <a:t>Categorical data</a:t>
            </a:r>
          </a:p>
          <a:p>
            <a:pPr lvl="1"/>
            <a:r>
              <a:rPr lang="en-US" dirty="0"/>
              <a:t>Comparison between groups</a:t>
            </a:r>
          </a:p>
          <a:p>
            <a:pPr lvl="1"/>
            <a:r>
              <a:rPr lang="en-US" dirty="0"/>
              <a:t>Bars have gaps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Departments and the number of students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Categorical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4846168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74973A-AF4A-165E-61EC-C680DB89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Barchart</a:t>
            </a:r>
            <a:r>
              <a:rPr lang="en-US" dirty="0"/>
              <a:t>/bar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002CDEC-7D6C-1ECA-F415-A9D1ECA68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021136" cy="4050792"/>
          </a:xfrm>
        </p:spPr>
        <p:txBody>
          <a:bodyPr>
            <a:normAutofit/>
          </a:bodyPr>
          <a:lstStyle/>
          <a:p>
            <a:r>
              <a:rPr lang="en-US" sz="2800" dirty="0"/>
              <a:t>Bar diagram consists of a series of rectangular bars of equal width</a:t>
            </a:r>
          </a:p>
          <a:p>
            <a:r>
              <a:rPr lang="en-US" sz="2800" dirty="0"/>
              <a:t>The bars stand on common base line with equal gap between one bar and another</a:t>
            </a:r>
          </a:p>
          <a:p>
            <a:r>
              <a:rPr lang="en-US" sz="2800" dirty="0"/>
              <a:t>The bar may be either horizontal or vertical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191525E-6237-904E-B219-CACDA01CE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567" y="1618472"/>
            <a:ext cx="5371585" cy="455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7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Histogram vs Bar Chart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706AA62E-F4FE-4A64-8E65-0EF408D604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5501"/>
              </p:ext>
            </p:extLst>
          </p:nvPr>
        </p:nvGraphicFramePr>
        <p:xfrm>
          <a:off x="838200" y="2229853"/>
          <a:ext cx="11000874" cy="2685840"/>
        </p:xfrm>
        <a:graphic>
          <a:graphicData uri="http://schemas.openxmlformats.org/drawingml/2006/table">
            <a:tbl>
              <a:tblPr/>
              <a:tblGrid>
                <a:gridCol w="3666958">
                  <a:extLst>
                    <a:ext uri="{9D8B030D-6E8A-4147-A177-3AD203B41FA5}">
                      <a16:colId xmlns="" xmlns:a16="http://schemas.microsoft.com/office/drawing/2014/main" val="4044157682"/>
                    </a:ext>
                  </a:extLst>
                </a:gridCol>
                <a:gridCol w="3666958">
                  <a:extLst>
                    <a:ext uri="{9D8B030D-6E8A-4147-A177-3AD203B41FA5}">
                      <a16:colId xmlns="" xmlns:a16="http://schemas.microsoft.com/office/drawing/2014/main" val="2915352848"/>
                    </a:ext>
                  </a:extLst>
                </a:gridCol>
                <a:gridCol w="3666958">
                  <a:extLst>
                    <a:ext uri="{9D8B030D-6E8A-4147-A177-3AD203B41FA5}">
                      <a16:colId xmlns="" xmlns:a16="http://schemas.microsoft.com/office/drawing/2014/main" val="2899826153"/>
                    </a:ext>
                  </a:extLst>
                </a:gridCol>
              </a:tblGrid>
              <a:tr h="537168">
                <a:tc>
                  <a:txBody>
                    <a:bodyPr/>
                    <a:lstStyle/>
                    <a:p>
                      <a:r>
                        <a:rPr lang="en-US" sz="2800" b="1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Histogram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Bar Chart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40199244"/>
                  </a:ext>
                </a:extLst>
              </a:tr>
              <a:tr h="537168">
                <a:tc>
                  <a:txBody>
                    <a:bodyPr/>
                    <a:lstStyle/>
                    <a:p>
                      <a:r>
                        <a:rPr lang="en-US" sz="240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Categorical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5301504"/>
                  </a:ext>
                </a:extLst>
              </a:tr>
              <a:tr h="537168">
                <a:tc>
                  <a:txBody>
                    <a:bodyPr/>
                    <a:lstStyle/>
                    <a:p>
                      <a:r>
                        <a:rPr lang="en-US" sz="2400"/>
                        <a:t>Bars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Touch each 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Have gaps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7812571"/>
                  </a:ext>
                </a:extLst>
              </a:tr>
              <a:tr h="537168">
                <a:tc>
                  <a:txBody>
                    <a:bodyPr/>
                    <a:lstStyle/>
                    <a:p>
                      <a:r>
                        <a:rPr lang="en-US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Comparison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46881667"/>
                  </a:ext>
                </a:extLst>
              </a:tr>
              <a:tr h="537168">
                <a:tc>
                  <a:txBody>
                    <a:bodyPr/>
                    <a:lstStyle/>
                    <a:p>
                      <a:r>
                        <a:rPr lang="en-US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Exam 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Department enrollment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34627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8431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26" y="3943350"/>
            <a:ext cx="498157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Displays all of the data (allowing the user to assess both the overall behavior and unusual occurrences)</a:t>
            </a:r>
          </a:p>
          <a:p>
            <a:pPr>
              <a:lnSpc>
                <a:spcPct val="90000"/>
              </a:lnSpc>
            </a:pPr>
            <a:r>
              <a:rPr lang="en-US" dirty="0"/>
              <a:t>Plots </a:t>
            </a:r>
            <a:r>
              <a:rPr lang="en-US" b="1" dirty="0" err="1"/>
              <a:t>quantile</a:t>
            </a:r>
            <a:r>
              <a:rPr lang="en-US" dirty="0"/>
              <a:t> information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For a data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data sorted in increasing order, </a:t>
            </a:r>
            <a:r>
              <a:rPr lang="en-US" i="1" dirty="0" err="1"/>
              <a:t>f</a:t>
            </a:r>
            <a:r>
              <a:rPr lang="en-US" i="1" baseline="-25000" dirty="0" err="1"/>
              <a:t>i</a:t>
            </a:r>
            <a:r>
              <a:rPr lang="en-US" i="1" dirty="0"/>
              <a:t> </a:t>
            </a:r>
            <a:r>
              <a:rPr lang="en-US" dirty="0"/>
              <a:t>indicates that approximately 100 </a:t>
            </a:r>
            <a:r>
              <a:rPr lang="en-US" i="1" dirty="0" err="1"/>
              <a:t>f</a:t>
            </a:r>
            <a:r>
              <a:rPr lang="en-US" i="1" baseline="-25000" dirty="0" err="1"/>
              <a:t>i</a:t>
            </a:r>
            <a:r>
              <a:rPr lang="en-US" dirty="0"/>
              <a:t>% of the data are below or equal to the value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</a:p>
          <a:p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Quantile Based Visualization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Quantile-Quantile (Q-Q) Plot</a:t>
            </a:r>
          </a:p>
        </p:txBody>
      </p:sp>
      <p:pic>
        <p:nvPicPr>
          <p:cNvPr id="2662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1" y="3738562"/>
            <a:ext cx="4505325" cy="258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Graphs the quantiles of one univariate distribution against the corresponding quantiles of another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View: Is there is a shift in going from one distribution to another?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Example shows unit price of items sold at Branch 1 vs. Branch 2 for each quantile.  Unit prices of items sold at Branch 1 tend to be lower than those at Branch 2.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3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38450" y="3452812"/>
            <a:ext cx="5505450" cy="264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Visualization: Scatter plot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Provides a first look at bivariate data to see clusters of points, outliers, etc</a:t>
            </a:r>
          </a:p>
          <a:p>
            <a:r>
              <a:rPr lang="en-US" dirty="0"/>
              <a:t>Each pair of values is treated as a pair of coordinates and plotted as points in the plane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144000" cy="9144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dirty="0"/>
              <a:t>Positively and Negatively Correlated Data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53100" y="4610101"/>
            <a:ext cx="4724400" cy="141287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sz="2400" dirty="0"/>
              <a:t>The left half fragment is positively correlated</a:t>
            </a:r>
          </a:p>
          <a:p>
            <a:pPr eaLnBrk="1" hangingPunct="1">
              <a:lnSpc>
                <a:spcPct val="140000"/>
              </a:lnSpc>
            </a:pPr>
            <a:r>
              <a:rPr lang="en-US" sz="2400" dirty="0"/>
              <a:t>The right half is negative correlated</a:t>
            </a:r>
            <a:endParaRPr lang="en-US" sz="2400" dirty="0">
              <a:solidFill>
                <a:schemeClr val="hlink"/>
              </a:solidFill>
            </a:endParaRPr>
          </a:p>
        </p:txBody>
      </p:sp>
      <p:pic>
        <p:nvPicPr>
          <p:cNvPr id="28677" name="Picture 4" descr="ha02correl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295400"/>
            <a:ext cx="3365500" cy="276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5" descr="ha02correl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1219200"/>
            <a:ext cx="38100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6" descr="fig4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09800" y="4114800"/>
            <a:ext cx="35052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 descr="fig18-1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6324600" y="0"/>
            <a:ext cx="4038600" cy="3733800"/>
          </a:xfrm>
          <a:noFill/>
        </p:spPr>
      </p:pic>
      <p:pic>
        <p:nvPicPr>
          <p:cNvPr id="29700" name="Picture 4" descr="fig18-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6324600" y="3352800"/>
            <a:ext cx="4191000" cy="3505200"/>
          </a:xfrm>
          <a:noFill/>
        </p:spPr>
      </p:pic>
      <p:pic>
        <p:nvPicPr>
          <p:cNvPr id="29701" name="Picture 5" descr="fig18-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2057400" y="2001838"/>
            <a:ext cx="4267200" cy="3606800"/>
          </a:xfrm>
          <a:noFill/>
        </p:spPr>
      </p:pic>
      <p:sp>
        <p:nvSpPr>
          <p:cNvPr id="29702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 </a:t>
            </a:r>
            <a:r>
              <a:rPr lang="en-US" dirty="0"/>
              <a:t>Uncorrelated Data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DBB8FB-3080-5F95-1095-43533468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128771C-F3ED-5AF5-F431-39A5DBCE9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663687" cy="4050792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Variables is taken along the X-axis and frequencies along Y-axis</a:t>
            </a:r>
          </a:p>
          <a:p>
            <a:r>
              <a:rPr lang="en-US" sz="2800" dirty="0"/>
              <a:t>Frequencies are plotted against the class mid-values and then these points are joined by a smooth curve</a:t>
            </a:r>
          </a:p>
          <a:p>
            <a:r>
              <a:rPr lang="en-US" sz="2800" dirty="0"/>
              <a:t>Total area under the frequency curve represents total frequency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12502F4-8422-DD4E-82BE-01A8A7051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069" y="598117"/>
            <a:ext cx="5096357" cy="2991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7ECDB79-F859-C6CB-7B33-7AF082345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804" y="3589835"/>
            <a:ext cx="5682196" cy="329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656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EB821D-A178-BB77-B3FF-1360CFA5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3F2BE1-98A2-0200-8D64-F2C3CB76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726368" cy="4050792"/>
          </a:xfrm>
        </p:spPr>
        <p:txBody>
          <a:bodyPr>
            <a:normAutofit/>
          </a:bodyPr>
          <a:lstStyle/>
          <a:p>
            <a:r>
              <a:rPr lang="en-US" sz="2400" dirty="0"/>
              <a:t>Line graphs are used to display the comparison between two variables which are plotted on the X-axis and Y-axis</a:t>
            </a:r>
          </a:p>
          <a:p>
            <a:r>
              <a:rPr lang="en-US" sz="2400" dirty="0"/>
              <a:t>The X-axis represents measures of time, while the Y-axis represents percentage or measures of quantity</a:t>
            </a:r>
          </a:p>
          <a:p>
            <a:r>
              <a:rPr lang="en-US" sz="2400" dirty="0"/>
              <a:t>Line graphs displays a change in direction</a:t>
            </a:r>
          </a:p>
          <a:p>
            <a:r>
              <a:rPr lang="en-US" sz="2400" dirty="0"/>
              <a:t>It shows trend of an event occurring over a period of time to know whether it is increased or decreased.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A7B5DAE-7E11-E2B1-CD20-731BAC989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216" y="1829912"/>
            <a:ext cx="5711027" cy="31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43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3329BC-01A1-7F69-0EB8-F8BB1720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32F29DA-FE84-A8D7-74BF-E9BEA3E6B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638974" cy="4050792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Presenting discrete data of qualitative characteristics such as blood groups, Age group, causes of mortality etc.</a:t>
            </a:r>
          </a:p>
          <a:p>
            <a:r>
              <a:rPr lang="en-US" sz="2800" dirty="0"/>
              <a:t>The frequencies of the groups are shown in a circle</a:t>
            </a:r>
          </a:p>
          <a:p>
            <a:r>
              <a:rPr lang="en-US" sz="2800" dirty="0"/>
              <a:t>Degrees of angle denote the frequency and area of the sector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C8623AE-F331-3C5A-41D8-35C3169EB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9439"/>
            <a:ext cx="5864352" cy="360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50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4CFF2C1-6569-1049-F7ED-94258D4E08EA}"/>
              </a:ext>
            </a:extLst>
          </p:cNvPr>
          <p:cNvSpPr txBox="1"/>
          <p:nvPr/>
        </p:nvSpPr>
        <p:spPr>
          <a:xfrm>
            <a:off x="0" y="26365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0A0A0A"/>
                </a:solidFill>
                <a:effectLst/>
                <a:latin typeface="Google Sans"/>
              </a:rPr>
              <a:t>Heat Map</a:t>
            </a:r>
            <a:endParaRPr lang="en-US" sz="2800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838200" y="106686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 err="1"/>
              <a:t>heatmap</a:t>
            </a:r>
            <a:r>
              <a:rPr lang="en-US" dirty="0"/>
              <a:t> is a data visualization technique that represents </a:t>
            </a:r>
            <a:r>
              <a:rPr lang="en-US" b="1" dirty="0"/>
              <a:t>values using colors</a:t>
            </a:r>
            <a:r>
              <a:rPr lang="en-US" dirty="0" smtClean="0"/>
              <a:t>.</a:t>
            </a:r>
          </a:p>
          <a:p>
            <a:r>
              <a:rPr lang="en-US" dirty="0" err="1"/>
              <a:t>Heatmaps</a:t>
            </a:r>
            <a:r>
              <a:rPr lang="en-US" dirty="0"/>
              <a:t> are often used to visualize correlation matrices in machine learning.</a:t>
            </a:r>
          </a:p>
          <a:p>
            <a:r>
              <a:rPr lang="en-US" dirty="0"/>
              <a:t>It helps quickly identify </a:t>
            </a:r>
            <a:r>
              <a:rPr lang="en-US" b="1" dirty="0"/>
              <a:t>patterns, relationships, or intensity of values</a:t>
            </a:r>
            <a:r>
              <a:rPr lang="en-US" dirty="0"/>
              <a:t> in a dataset.</a:t>
            </a:r>
          </a:p>
          <a:p>
            <a:r>
              <a:rPr lang="en-US" b="1" dirty="0"/>
              <a:t>Key Characteristics</a:t>
            </a:r>
          </a:p>
          <a:p>
            <a:pPr lvl="1"/>
            <a:r>
              <a:rPr lang="en-US" dirty="0" smtClean="0"/>
              <a:t>Data </a:t>
            </a:r>
            <a:r>
              <a:rPr lang="en-US" dirty="0"/>
              <a:t>values are represented by </a:t>
            </a:r>
            <a:r>
              <a:rPr lang="en-US" b="1" dirty="0"/>
              <a:t>different </a:t>
            </a:r>
            <a:r>
              <a:rPr lang="en-US" b="1" dirty="0" smtClean="0"/>
              <a:t>colors</a:t>
            </a:r>
          </a:p>
          <a:p>
            <a:pPr lvl="1"/>
            <a:r>
              <a:rPr lang="en-US" dirty="0" smtClean="0"/>
              <a:t>Each </a:t>
            </a:r>
            <a:r>
              <a:rPr lang="en-US" dirty="0"/>
              <a:t>cell represents a </a:t>
            </a:r>
            <a:r>
              <a:rPr lang="en-US" b="1" dirty="0"/>
              <a:t>value in a matrix or </a:t>
            </a:r>
            <a:r>
              <a:rPr lang="en-US" b="1" dirty="0" smtClean="0"/>
              <a:t>table</a:t>
            </a:r>
          </a:p>
          <a:p>
            <a:pPr lvl="1"/>
            <a:r>
              <a:rPr lang="en-US" dirty="0" smtClean="0"/>
              <a:t>Darker </a:t>
            </a:r>
            <a:r>
              <a:rPr lang="en-US" dirty="0"/>
              <a:t>or stronger colors indicate </a:t>
            </a:r>
            <a:r>
              <a:rPr lang="en-US" b="1" dirty="0"/>
              <a:t>higher </a:t>
            </a:r>
            <a:r>
              <a:rPr lang="en-US" b="1" dirty="0" smtClean="0"/>
              <a:t>values</a:t>
            </a:r>
          </a:p>
          <a:p>
            <a:pPr lvl="1"/>
            <a:r>
              <a:rPr lang="en-US" dirty="0" smtClean="0"/>
              <a:t>Lighter </a:t>
            </a:r>
            <a:r>
              <a:rPr lang="en-US" dirty="0"/>
              <a:t>colors indicate </a:t>
            </a:r>
            <a:r>
              <a:rPr lang="en-US" b="1" dirty="0"/>
              <a:t>lower </a:t>
            </a:r>
            <a:r>
              <a:rPr lang="en-US" b="1" dirty="0" smtClean="0"/>
              <a:t>values</a:t>
            </a:r>
          </a:p>
          <a:p>
            <a:r>
              <a:rPr lang="en-US" b="1" dirty="0" smtClean="0"/>
              <a:t>Common Use: correlation matrix, confusion matrix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9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94" y="945924"/>
            <a:ext cx="8761445" cy="45157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4CFF2C1-6569-1049-F7ED-94258D4E08EA}"/>
              </a:ext>
            </a:extLst>
          </p:cNvPr>
          <p:cNvSpPr txBox="1"/>
          <p:nvPr/>
        </p:nvSpPr>
        <p:spPr>
          <a:xfrm>
            <a:off x="0" y="26365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0A0A0A"/>
                </a:solidFill>
                <a:effectLst/>
                <a:latin typeface="Google Sans"/>
              </a:rPr>
              <a:t>Heat Map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76902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Geometric Projection Visualization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DE" sz="3000" dirty="0"/>
              <a:t>Visualization of geometric transformations and projections of the data</a:t>
            </a:r>
          </a:p>
          <a:p>
            <a:pPr>
              <a:lnSpc>
                <a:spcPct val="110000"/>
              </a:lnSpc>
            </a:pPr>
            <a:r>
              <a:rPr lang="de-DE" sz="3000" dirty="0"/>
              <a:t>Challenge</a:t>
            </a:r>
          </a:p>
          <a:p>
            <a:pPr lvl="1">
              <a:lnSpc>
                <a:spcPct val="110000"/>
              </a:lnSpc>
            </a:pPr>
            <a:r>
              <a:rPr lang="de-DE" dirty="0"/>
              <a:t>How to visualize a high-dimensional spaceon a 2-D display?</a:t>
            </a:r>
          </a:p>
          <a:p>
            <a:pPr>
              <a:lnSpc>
                <a:spcPct val="110000"/>
              </a:lnSpc>
            </a:pPr>
            <a:r>
              <a:rPr lang="de-DE" sz="3000" dirty="0"/>
              <a:t>Methods</a:t>
            </a:r>
          </a:p>
          <a:p>
            <a:pPr lvl="1">
              <a:lnSpc>
                <a:spcPct val="110000"/>
              </a:lnSpc>
            </a:pPr>
            <a:r>
              <a:rPr lang="de-DE" dirty="0"/>
              <a:t>Scatterplot and scatterplot matrices</a:t>
            </a:r>
          </a:p>
          <a:p>
            <a:pPr lvl="1">
              <a:lnSpc>
                <a:spcPct val="110000"/>
              </a:lnSpc>
            </a:pPr>
            <a:r>
              <a:rPr lang="de-DE" dirty="0"/>
              <a:t>Parallel coordinates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6172200"/>
            <a:ext cx="8382000" cy="3048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600"/>
              <a:t>Matrix </a:t>
            </a:r>
            <a:r>
              <a:rPr lang="de-DE" sz="1600"/>
              <a:t>of scatterplots (x-y-diagrams) of the k-dim. data [total of (k2/2-k) scatterplots]</a:t>
            </a:r>
            <a:endParaRPr lang="en-US" sz="1600"/>
          </a:p>
        </p:txBody>
      </p:sp>
      <p:pic>
        <p:nvPicPr>
          <p:cNvPr id="36869" name="Picture 4" descr="scatplo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1356360"/>
            <a:ext cx="4602480" cy="4625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0" name="Text Box 5"/>
          <p:cNvSpPr txBox="1">
            <a:spLocks noChangeArrowheads="1"/>
          </p:cNvSpPr>
          <p:nvPr/>
        </p:nvSpPr>
        <p:spPr bwMode="auto">
          <a:xfrm rot="-5400000">
            <a:off x="750889" y="3438933"/>
            <a:ext cx="4564064" cy="276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de-DE" sz="1200" dirty="0">
                <a:solidFill>
                  <a:schemeClr val="accent1"/>
                </a:solidFill>
                <a:latin typeface="Arial" charset="0"/>
              </a:rPr>
              <a:t>Used by</a:t>
            </a:r>
            <a:r>
              <a:rPr lang="de-DE" sz="1200" u="sng" dirty="0">
                <a:solidFill>
                  <a:schemeClr val="accent1"/>
                </a:solidFill>
                <a:latin typeface="Arial" charset="0"/>
              </a:rPr>
              <a:t> </a:t>
            </a:r>
            <a:r>
              <a:rPr lang="de-DE" sz="1200" dirty="0">
                <a:solidFill>
                  <a:schemeClr val="accent1"/>
                </a:solidFill>
                <a:latin typeface="Arial" charset="0"/>
              </a:rPr>
              <a:t>ermission of M. Ward, Worcester Polytechnic Institute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Scatterplot Matrices</a:t>
            </a:r>
            <a:endParaRPr 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1" y="4243744"/>
            <a:ext cx="6036363" cy="242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Parallel Coordinates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n equidistant axes which are parallel to one of the screen axes and correspond to the attributes </a:t>
            </a:r>
          </a:p>
          <a:p>
            <a:r>
              <a:rPr lang="de-DE" sz="2400" dirty="0"/>
              <a:t>The axes are scaled to the [minimum, maximum]: range of the corresponding attribute</a:t>
            </a:r>
          </a:p>
          <a:p>
            <a:r>
              <a:rPr lang="de-DE" sz="2400" dirty="0"/>
              <a:t>Every data item corresponds to a polygonal line which intersects each of the axes at the point which corresponds to the value for the attribute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de-DE" dirty="0"/>
              <a:t>Visualization of the data using a hierarchical partitioning into subspaces</a:t>
            </a:r>
          </a:p>
          <a:p>
            <a:pPr eaLnBrk="1" hangingPunct="1">
              <a:lnSpc>
                <a:spcPct val="110000"/>
              </a:lnSpc>
            </a:pPr>
            <a:r>
              <a:rPr lang="de-DE" dirty="0"/>
              <a:t>Example Methods</a:t>
            </a:r>
          </a:p>
          <a:p>
            <a:pPr lvl="1" eaLnBrk="1" hangingPunct="1">
              <a:lnSpc>
                <a:spcPct val="110000"/>
              </a:lnSpc>
            </a:pPr>
            <a:r>
              <a:rPr lang="de-DE" dirty="0"/>
              <a:t>Worlds-within-Worlds</a:t>
            </a:r>
          </a:p>
          <a:p>
            <a:pPr lvl="1" eaLnBrk="1" hangingPunct="1">
              <a:lnSpc>
                <a:spcPct val="110000"/>
              </a:lnSpc>
            </a:pPr>
            <a:r>
              <a:rPr lang="de-DE" dirty="0"/>
              <a:t>Tree-Map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Hierarchical Visualization Techniques</a:t>
            </a:r>
            <a:endParaRPr lang="en-US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1181100"/>
            <a:ext cx="8839200" cy="22860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10000"/>
              </a:lnSpc>
            </a:pPr>
            <a:r>
              <a:rPr lang="de-DE" sz="2400" dirty="0"/>
              <a:t>Assign </a:t>
            </a:r>
            <a:r>
              <a:rPr lang="en-US" sz="2400" dirty="0"/>
              <a:t>the function and two most important parameters to innermost world </a:t>
            </a:r>
          </a:p>
          <a:p>
            <a:pPr marL="457200" indent="-457200">
              <a:lnSpc>
                <a:spcPct val="110000"/>
              </a:lnSpc>
            </a:pPr>
            <a:r>
              <a:rPr lang="en-US" sz="2400" dirty="0"/>
              <a:t>Fix all other parameters at constant values - draw other (1 or 2 or 3 dimensional worlds choosing these as the axes)</a:t>
            </a:r>
          </a:p>
          <a:p>
            <a:pPr marL="457200" indent="-457200">
              <a:lnSpc>
                <a:spcPct val="110000"/>
              </a:lnSpc>
            </a:pPr>
            <a:r>
              <a:rPr lang="en-US" sz="2400" dirty="0"/>
              <a:t>Software that uses this paradigm</a:t>
            </a:r>
          </a:p>
          <a:p>
            <a:pPr marL="457200" indent="-457200">
              <a:lnSpc>
                <a:spcPct val="110000"/>
              </a:lnSpc>
            </a:pPr>
            <a:endParaRPr lang="en-US" sz="2000" dirty="0"/>
          </a:p>
        </p:txBody>
      </p:sp>
      <p:pic>
        <p:nvPicPr>
          <p:cNvPr id="47110" name="Picture 4" descr="pic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8531" y="3238500"/>
            <a:ext cx="3657600" cy="292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381000"/>
            <a:ext cx="9144000" cy="609600"/>
          </a:xfrm>
          <a:prstGeom prst="rect">
            <a:avLst/>
          </a:prstGeom>
        </p:spPr>
        <p:txBody>
          <a:bodyPr bIns="91440" anchor="b" anchorCtr="0">
            <a:noAutofit/>
          </a:bodyPr>
          <a:lstStyle/>
          <a:p>
            <a:r>
              <a:rPr lang="de-DE" sz="4000" dirty="0">
                <a:solidFill>
                  <a:schemeClr val="tx2"/>
                </a:solidFill>
              </a:rPr>
              <a:t>Worlds-within-Worlds</a:t>
            </a:r>
            <a:endParaRPr lang="en-US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828800" y="1078528"/>
            <a:ext cx="8610600" cy="1600200"/>
          </a:xfrm>
        </p:spPr>
        <p:txBody>
          <a:bodyPr>
            <a:normAutofit/>
          </a:bodyPr>
          <a:lstStyle/>
          <a:p>
            <a:r>
              <a:rPr lang="en-US" sz="2400" dirty="0" err="1"/>
              <a:t>Treemaps</a:t>
            </a:r>
            <a:r>
              <a:rPr lang="en-US" sz="2400" dirty="0"/>
              <a:t> display hierarchical (tree-structured) data as a set of nested rectangles. Each branch of the tree is given a rectangle, which is then tiled with smaller rectangles representing sub-branches.</a:t>
            </a:r>
            <a:endParaRPr lang="de-DE" sz="240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1524000" y="381000"/>
            <a:ext cx="9144000" cy="609600"/>
          </a:xfrm>
          <a:prstGeom prst="rect">
            <a:avLst/>
          </a:prstGeom>
        </p:spPr>
        <p:txBody>
          <a:bodyPr bIns="91440" anchor="b" anchorCtr="0">
            <a:noAutofit/>
          </a:bodyPr>
          <a:lstStyle/>
          <a:p>
            <a:r>
              <a:rPr lang="de-DE" sz="4000" dirty="0">
                <a:solidFill>
                  <a:schemeClr val="tx2"/>
                </a:solidFill>
              </a:rPr>
              <a:t>Tree-Maps</a:t>
            </a:r>
            <a:endParaRPr lang="en-US" sz="4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0770" name="Picture 2" descr="http://upload.wikimedia.org/wikipedia/commons/8/8b/Tree_Ma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5224" y="2324642"/>
            <a:ext cx="5517461" cy="434285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8877300" cy="609600"/>
          </a:xfrm>
        </p:spPr>
        <p:txBody>
          <a:bodyPr>
            <a:noAutofit/>
          </a:bodyPr>
          <a:lstStyle/>
          <a:p>
            <a:r>
              <a:rPr lang="en-US" dirty="0"/>
              <a:t>Visualizing Complex Data and Relations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91138" y="1295400"/>
            <a:ext cx="9456616" cy="5181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Visualizing non-numerical data: text and social networks</a:t>
            </a:r>
          </a:p>
          <a:p>
            <a:pPr>
              <a:lnSpc>
                <a:spcPct val="90000"/>
              </a:lnSpc>
            </a:pPr>
            <a:r>
              <a:rPr lang="en-US" dirty="0"/>
              <a:t>Tag cloud: visualizing user-generated tags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importance of tag is represented by font size/color</a:t>
            </a:r>
          </a:p>
          <a:p>
            <a:pPr>
              <a:lnSpc>
                <a:spcPct val="90000"/>
              </a:lnSpc>
            </a:pPr>
            <a:r>
              <a:rPr lang="en-US" dirty="0"/>
              <a:t>Besides text data, there are also methods to visualize relationships, such as visualizing social networks</a:t>
            </a:r>
          </a:p>
          <a:p>
            <a:pPr>
              <a:lnSpc>
                <a:spcPct val="90000"/>
              </a:lnSpc>
              <a:buNone/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de-DE" sz="23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2" y="3632496"/>
            <a:ext cx="3610789" cy="3052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1425</Words>
  <Application>Microsoft Office PowerPoint</Application>
  <PresentationFormat>Widescreen</PresentationFormat>
  <Paragraphs>213</Paragraphs>
  <Slides>32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Google Sans</vt:lpstr>
      <vt:lpstr>Symbol</vt:lpstr>
      <vt:lpstr>Wingdings</vt:lpstr>
      <vt:lpstr>Office Theme</vt:lpstr>
      <vt:lpstr>Equation</vt:lpstr>
      <vt:lpstr>Chart</vt:lpstr>
      <vt:lpstr>SmartDraw</vt:lpstr>
      <vt:lpstr>Data Visualization and Graphical Representation of Data </vt:lpstr>
      <vt:lpstr>Data Visualization</vt:lpstr>
      <vt:lpstr>Why Data Visualization</vt:lpstr>
      <vt:lpstr>Basic Statistical Descriptions of Data</vt:lpstr>
      <vt:lpstr>Central Tendency</vt:lpstr>
      <vt:lpstr>Measuring the Dispersion of Data</vt:lpstr>
      <vt:lpstr>Measuring the Dispersion of Data</vt:lpstr>
      <vt:lpstr> Boxplot Analysis</vt:lpstr>
      <vt:lpstr>Graphic Displays</vt:lpstr>
      <vt:lpstr>Visualization of Data Distribution</vt:lpstr>
      <vt:lpstr>Histogram Analysis</vt:lpstr>
      <vt:lpstr>Histograms Often Tell More than Boxplots</vt:lpstr>
      <vt:lpstr>Categorical Data Visualization</vt:lpstr>
      <vt:lpstr>Barchart/bar diagram</vt:lpstr>
      <vt:lpstr>Histogram vs Bar Chart</vt:lpstr>
      <vt:lpstr>Quantile Based Visualization</vt:lpstr>
      <vt:lpstr>Quantile-Quantile (Q-Q) Plot</vt:lpstr>
      <vt:lpstr>Relationship Visualization: Scatter plot</vt:lpstr>
      <vt:lpstr>Positively and Negatively Correlated Data</vt:lpstr>
      <vt:lpstr> Uncorrelated Data</vt:lpstr>
      <vt:lpstr>Frequency curve</vt:lpstr>
      <vt:lpstr>Line graphs</vt:lpstr>
      <vt:lpstr>Pie diagram</vt:lpstr>
      <vt:lpstr>PowerPoint Presentation</vt:lpstr>
      <vt:lpstr>PowerPoint Presentation</vt:lpstr>
      <vt:lpstr>Geometric Projection Visualization</vt:lpstr>
      <vt:lpstr>Scatterplot Matrices</vt:lpstr>
      <vt:lpstr>Parallel Coordinates</vt:lpstr>
      <vt:lpstr>Hierarchical Visualization Techniques</vt:lpstr>
      <vt:lpstr>PowerPoint Presentation</vt:lpstr>
      <vt:lpstr>PowerPoint Presentation</vt:lpstr>
      <vt:lpstr>Visualizing Complex Data and Relations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</dc:title>
  <dc:creator>Samia Nawshin</dc:creator>
  <cp:lastModifiedBy>USER</cp:lastModifiedBy>
  <cp:revision>27</cp:revision>
  <dcterms:created xsi:type="dcterms:W3CDTF">2026-03-07T14:10:57Z</dcterms:created>
  <dcterms:modified xsi:type="dcterms:W3CDTF">2026-03-11T06:30:04Z</dcterms:modified>
</cp:coreProperties>
</file>